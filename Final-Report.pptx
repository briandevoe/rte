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>
  <p:sldMasterIdLst>
    <p:sldMasterId id="2147483660" r:id="rId1"/>
  </p:sldMasterIdLst>
  <p:notesMasterIdLst>
    <p:notesMasterId r:id="rId15"/>
  </p:notesMasterIdLst>
  <p:sldIdLst>
    <p:sldId id="762" r:id="rId2"/>
    <p:sldId id="799" r:id="rId3"/>
    <p:sldId id="805" r:id="rId4"/>
    <p:sldId id="806" r:id="rId5"/>
    <p:sldId id="807" r:id="rId6"/>
    <p:sldId id="808" r:id="rId7"/>
    <p:sldId id="802" r:id="rId8"/>
    <p:sldId id="804" r:id="rId9"/>
    <p:sldId id="779" r:id="rId10"/>
    <p:sldId id="780" r:id="rId11"/>
    <p:sldId id="800" r:id="rId12"/>
    <p:sldId id="803" r:id="rId13"/>
    <p:sldId id="809" r:id="rId14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1200" kern="1200">
        <a:solidFill>
          <a:schemeClr val="bg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sz="1200" kern="1200">
        <a:solidFill>
          <a:schemeClr val="bg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sz="1200" kern="1200">
        <a:solidFill>
          <a:schemeClr val="bg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sz="1200" kern="1200">
        <a:solidFill>
          <a:schemeClr val="bg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sz="1200" kern="1200">
        <a:solidFill>
          <a:schemeClr val="bg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1200" kern="1200">
        <a:solidFill>
          <a:schemeClr val="bg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sz="1200" kern="1200">
        <a:solidFill>
          <a:schemeClr val="bg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sz="1200" kern="1200">
        <a:solidFill>
          <a:schemeClr val="bg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sz="1200" kern="1200">
        <a:solidFill>
          <a:schemeClr val="bg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1542">
          <p15:clr>
            <a:srgbClr val="A4A3A4"/>
          </p15:clr>
        </p15:guide>
        <p15:guide id="2" pos="7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1F28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201"/>
    <p:restoredTop sz="94660"/>
  </p:normalViewPr>
  <p:slideViewPr>
    <p:cSldViewPr snapToGrid="0">
      <p:cViewPr varScale="1">
        <p:scale>
          <a:sx n="127" d="100"/>
          <a:sy n="127" d="100"/>
        </p:scale>
        <p:origin x="1448" y="192"/>
      </p:cViewPr>
      <p:guideLst>
        <p:guide orient="horz" pos="1542"/>
        <p:guide pos="70"/>
      </p:guideLst>
    </p:cSldViewPr>
  </p:slideViewPr>
  <p:outlineViewPr>
    <p:cViewPr>
      <p:scale>
        <a:sx n="33" d="100"/>
        <a:sy n="33" d="100"/>
      </p:scale>
      <p:origin x="42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87" d="100"/>
          <a:sy n="87" d="100"/>
        </p:scale>
        <p:origin x="-1744" y="-12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882" name="Rectangle 2">
            <a:extLst>
              <a:ext uri="{FF2B5EF4-FFF2-40B4-BE49-F238E27FC236}">
                <a16:creationId xmlns:a16="http://schemas.microsoft.com/office/drawing/2014/main" id="{67E6101E-259F-3714-BCB1-D3166843708D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defRPr b="1">
                <a:solidFill>
                  <a:schemeClr val="tx1"/>
                </a:solidFill>
                <a:latin typeface="Times" pitchFamily="84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34883" name="Rectangle 3">
            <a:extLst>
              <a:ext uri="{FF2B5EF4-FFF2-40B4-BE49-F238E27FC236}">
                <a16:creationId xmlns:a16="http://schemas.microsoft.com/office/drawing/2014/main" id="{89928C29-1A27-BFD7-E56C-85B7C4EF3687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b="1">
                <a:solidFill>
                  <a:schemeClr val="tx1"/>
                </a:solidFill>
                <a:latin typeface="Times" pitchFamily="84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316" name="Rectangle 4">
            <a:extLst>
              <a:ext uri="{FF2B5EF4-FFF2-40B4-BE49-F238E27FC236}">
                <a16:creationId xmlns:a16="http://schemas.microsoft.com/office/drawing/2014/main" id="{636C801B-0D7A-5EB3-F5A0-87F13CDED808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34885" name="Rectangle 5">
            <a:extLst>
              <a:ext uri="{FF2B5EF4-FFF2-40B4-BE49-F238E27FC236}">
                <a16:creationId xmlns:a16="http://schemas.microsoft.com/office/drawing/2014/main" id="{614AAF7F-C590-CAE6-EA65-088F2D3C0DF4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34886" name="Rectangle 6">
            <a:extLst>
              <a:ext uri="{FF2B5EF4-FFF2-40B4-BE49-F238E27FC236}">
                <a16:creationId xmlns:a16="http://schemas.microsoft.com/office/drawing/2014/main" id="{9A448705-7C1D-1A2C-5628-DC6D7EE6B5F2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0" hangingPunct="0">
              <a:defRPr b="1">
                <a:solidFill>
                  <a:schemeClr val="tx1"/>
                </a:solidFill>
                <a:latin typeface="Times" pitchFamily="84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34887" name="Rectangle 7">
            <a:extLst>
              <a:ext uri="{FF2B5EF4-FFF2-40B4-BE49-F238E27FC236}">
                <a16:creationId xmlns:a16="http://schemas.microsoft.com/office/drawing/2014/main" id="{6010A7ED-3BC0-1981-5A21-8F8FAE60C06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1pPr>
          </a:lstStyle>
          <a:p>
            <a:pPr>
              <a:defRPr/>
            </a:pPr>
            <a:fld id="{D244CD94-4F3F-3643-A497-3346C0BF524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84" charset="0"/>
        <a:ea typeface="ＭＳ Ｐゴシック" pitchFamily="-110" charset="-128"/>
        <a:cs typeface="ＭＳ Ｐゴシック" pitchFamily="-110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84" charset="0"/>
        <a:ea typeface="ＭＳ Ｐゴシック" pitchFamily="34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84" charset="0"/>
        <a:ea typeface="ＭＳ Ｐゴシック" pitchFamily="34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84" charset="0"/>
        <a:ea typeface="ＭＳ Ｐゴシック" pitchFamily="34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84" charset="0"/>
        <a:ea typeface="ＭＳ Ｐゴシック" pitchFamily="34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Rectangle 7">
            <a:extLst>
              <a:ext uri="{FF2B5EF4-FFF2-40B4-BE49-F238E27FC236}">
                <a16:creationId xmlns:a16="http://schemas.microsoft.com/office/drawing/2014/main" id="{5EAE1120-8C31-7A50-327E-E67303BC9E4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BE172C6D-1122-404E-877B-23EB2EE95B0D}" type="slidenum">
              <a:rPr lang="en-US" altLang="en-US" smtClean="0"/>
              <a:pPr>
                <a:spcBef>
                  <a:spcPct val="0"/>
                </a:spcBef>
              </a:pPr>
              <a:t>1</a:t>
            </a:fld>
            <a:endParaRPr lang="en-US" altLang="en-US"/>
          </a:p>
        </p:txBody>
      </p:sp>
      <p:sp>
        <p:nvSpPr>
          <p:cNvPr id="15362" name="Rectangle 2">
            <a:extLst>
              <a:ext uri="{FF2B5EF4-FFF2-40B4-BE49-F238E27FC236}">
                <a16:creationId xmlns:a16="http://schemas.microsoft.com/office/drawing/2014/main" id="{7BF91F5A-D79A-9D81-B7A9-582509346B1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11999AE8-C064-F23D-186D-36A4B571601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A0E771-BB96-E50A-86B0-033F8AC2F2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29" name="Rectangle 7">
            <a:extLst>
              <a:ext uri="{FF2B5EF4-FFF2-40B4-BE49-F238E27FC236}">
                <a16:creationId xmlns:a16="http://schemas.microsoft.com/office/drawing/2014/main" id="{CEF9FF96-977D-8A0A-CADA-48B5574F1A5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F48E2001-E425-464F-8FB3-E0A6B617D693}" type="slidenum">
              <a:rPr lang="en-US" altLang="en-US" smtClean="0"/>
              <a:pPr>
                <a:spcBef>
                  <a:spcPct val="0"/>
                </a:spcBef>
              </a:pPr>
              <a:t>2</a:t>
            </a:fld>
            <a:endParaRPr lang="en-US" altLang="en-US"/>
          </a:p>
        </p:txBody>
      </p:sp>
      <p:sp>
        <p:nvSpPr>
          <p:cNvPr id="48130" name="Rectangle 2">
            <a:extLst>
              <a:ext uri="{FF2B5EF4-FFF2-40B4-BE49-F238E27FC236}">
                <a16:creationId xmlns:a16="http://schemas.microsoft.com/office/drawing/2014/main" id="{9E7FAE43-2FB8-C752-23A2-1BE8E2346BC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131" name="Rectangle 3">
            <a:extLst>
              <a:ext uri="{FF2B5EF4-FFF2-40B4-BE49-F238E27FC236}">
                <a16:creationId xmlns:a16="http://schemas.microsoft.com/office/drawing/2014/main" id="{EF2AEAB1-E8CF-9BB5-46D8-9254B412141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07774662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82238A-206F-78CF-FE90-654315F8FD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29" name="Rectangle 7">
            <a:extLst>
              <a:ext uri="{FF2B5EF4-FFF2-40B4-BE49-F238E27FC236}">
                <a16:creationId xmlns:a16="http://schemas.microsoft.com/office/drawing/2014/main" id="{4D3D10BA-2633-E34E-2086-F9B70C48EA9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F48E2001-E425-464F-8FB3-E0A6B617D693}" type="slidenum">
              <a:rPr lang="en-US" altLang="en-US" smtClean="0"/>
              <a:pPr>
                <a:spcBef>
                  <a:spcPct val="0"/>
                </a:spcBef>
              </a:pPr>
              <a:t>3</a:t>
            </a:fld>
            <a:endParaRPr lang="en-US" altLang="en-US"/>
          </a:p>
        </p:txBody>
      </p:sp>
      <p:sp>
        <p:nvSpPr>
          <p:cNvPr id="48130" name="Rectangle 2">
            <a:extLst>
              <a:ext uri="{FF2B5EF4-FFF2-40B4-BE49-F238E27FC236}">
                <a16:creationId xmlns:a16="http://schemas.microsoft.com/office/drawing/2014/main" id="{6F919222-0A11-80C7-EE79-CC246809780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131" name="Rectangle 3">
            <a:extLst>
              <a:ext uri="{FF2B5EF4-FFF2-40B4-BE49-F238E27FC236}">
                <a16:creationId xmlns:a16="http://schemas.microsoft.com/office/drawing/2014/main" id="{FC78FA7B-EF2A-8F9E-CF96-46D22A20F42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68671099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89C1DD-8ED6-7953-77E8-35464EC5E7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29" name="Rectangle 7">
            <a:extLst>
              <a:ext uri="{FF2B5EF4-FFF2-40B4-BE49-F238E27FC236}">
                <a16:creationId xmlns:a16="http://schemas.microsoft.com/office/drawing/2014/main" id="{F8DF0649-C0A1-4F3F-4949-BF0EF51031A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F48E2001-E425-464F-8FB3-E0A6B617D693}" type="slidenum">
              <a:rPr lang="en-US" altLang="en-US" smtClean="0"/>
              <a:pPr>
                <a:spcBef>
                  <a:spcPct val="0"/>
                </a:spcBef>
              </a:pPr>
              <a:t>4</a:t>
            </a:fld>
            <a:endParaRPr lang="en-US" altLang="en-US"/>
          </a:p>
        </p:txBody>
      </p:sp>
      <p:sp>
        <p:nvSpPr>
          <p:cNvPr id="48130" name="Rectangle 2">
            <a:extLst>
              <a:ext uri="{FF2B5EF4-FFF2-40B4-BE49-F238E27FC236}">
                <a16:creationId xmlns:a16="http://schemas.microsoft.com/office/drawing/2014/main" id="{5837E6EE-1EFF-365B-1485-7643CC1B005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131" name="Rectangle 3">
            <a:extLst>
              <a:ext uri="{FF2B5EF4-FFF2-40B4-BE49-F238E27FC236}">
                <a16:creationId xmlns:a16="http://schemas.microsoft.com/office/drawing/2014/main" id="{7F09F2B6-26C7-14E9-E21F-16A3F65D815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23936245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01D66B-5F0E-7CFF-37AF-997A12E415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29" name="Rectangle 7">
            <a:extLst>
              <a:ext uri="{FF2B5EF4-FFF2-40B4-BE49-F238E27FC236}">
                <a16:creationId xmlns:a16="http://schemas.microsoft.com/office/drawing/2014/main" id="{D6655A98-37EC-7608-8F2E-4E0C2D7DDAE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F48E2001-E425-464F-8FB3-E0A6B617D693}" type="slidenum">
              <a:rPr lang="en-US" altLang="en-US" smtClean="0"/>
              <a:pPr>
                <a:spcBef>
                  <a:spcPct val="0"/>
                </a:spcBef>
              </a:pPr>
              <a:t>5</a:t>
            </a:fld>
            <a:endParaRPr lang="en-US" altLang="en-US"/>
          </a:p>
        </p:txBody>
      </p:sp>
      <p:sp>
        <p:nvSpPr>
          <p:cNvPr id="48130" name="Rectangle 2">
            <a:extLst>
              <a:ext uri="{FF2B5EF4-FFF2-40B4-BE49-F238E27FC236}">
                <a16:creationId xmlns:a16="http://schemas.microsoft.com/office/drawing/2014/main" id="{9AA90C99-067B-B12D-1EFC-95C19750119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131" name="Rectangle 3">
            <a:extLst>
              <a:ext uri="{FF2B5EF4-FFF2-40B4-BE49-F238E27FC236}">
                <a16:creationId xmlns:a16="http://schemas.microsoft.com/office/drawing/2014/main" id="{1E057188-B142-C3D3-A588-8AAE2DAD799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32823079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6A0FB7-57E5-2559-D1F3-8F8A69FD4A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29" name="Rectangle 7">
            <a:extLst>
              <a:ext uri="{FF2B5EF4-FFF2-40B4-BE49-F238E27FC236}">
                <a16:creationId xmlns:a16="http://schemas.microsoft.com/office/drawing/2014/main" id="{5DA75CB6-B7E9-1B44-2AB2-7195EE89BBA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F48E2001-E425-464F-8FB3-E0A6B617D693}" type="slidenum">
              <a:rPr lang="en-US" altLang="en-US" smtClean="0"/>
              <a:pPr>
                <a:spcBef>
                  <a:spcPct val="0"/>
                </a:spcBef>
              </a:pPr>
              <a:t>6</a:t>
            </a:fld>
            <a:endParaRPr lang="en-US" altLang="en-US"/>
          </a:p>
        </p:txBody>
      </p:sp>
      <p:sp>
        <p:nvSpPr>
          <p:cNvPr id="48130" name="Rectangle 2">
            <a:extLst>
              <a:ext uri="{FF2B5EF4-FFF2-40B4-BE49-F238E27FC236}">
                <a16:creationId xmlns:a16="http://schemas.microsoft.com/office/drawing/2014/main" id="{30C8A64F-5192-5D6D-2F14-D6D447226BE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131" name="Rectangle 3">
            <a:extLst>
              <a:ext uri="{FF2B5EF4-FFF2-40B4-BE49-F238E27FC236}">
                <a16:creationId xmlns:a16="http://schemas.microsoft.com/office/drawing/2014/main" id="{E5F079B1-6484-0470-979E-27A9B56D704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1267227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2DC2E4-E567-8053-8F3D-ED53F182B5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29" name="Rectangle 7">
            <a:extLst>
              <a:ext uri="{FF2B5EF4-FFF2-40B4-BE49-F238E27FC236}">
                <a16:creationId xmlns:a16="http://schemas.microsoft.com/office/drawing/2014/main" id="{1B4BBA8A-20AE-7C49-F38F-1435814B2A0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F48E2001-E425-464F-8FB3-E0A6B617D693}" type="slidenum">
              <a:rPr lang="en-US" altLang="en-US" smtClean="0"/>
              <a:pPr>
                <a:spcBef>
                  <a:spcPct val="0"/>
                </a:spcBef>
              </a:pPr>
              <a:t>7</a:t>
            </a:fld>
            <a:endParaRPr lang="en-US" altLang="en-US"/>
          </a:p>
        </p:txBody>
      </p:sp>
      <p:sp>
        <p:nvSpPr>
          <p:cNvPr id="48130" name="Rectangle 2">
            <a:extLst>
              <a:ext uri="{FF2B5EF4-FFF2-40B4-BE49-F238E27FC236}">
                <a16:creationId xmlns:a16="http://schemas.microsoft.com/office/drawing/2014/main" id="{FB388A5C-AC88-420A-5868-36DD72B4406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131" name="Rectangle 3">
            <a:extLst>
              <a:ext uri="{FF2B5EF4-FFF2-40B4-BE49-F238E27FC236}">
                <a16:creationId xmlns:a16="http://schemas.microsoft.com/office/drawing/2014/main" id="{6AAC79A2-1E06-6A9C-919B-5056F8A6B6D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03543237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29C978-A7A2-091B-D3BE-A0EFF01D5A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29" name="Rectangle 7">
            <a:extLst>
              <a:ext uri="{FF2B5EF4-FFF2-40B4-BE49-F238E27FC236}">
                <a16:creationId xmlns:a16="http://schemas.microsoft.com/office/drawing/2014/main" id="{0F5CB045-60D7-B5B4-1CC8-97A4A95ABBE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F48E2001-E425-464F-8FB3-E0A6B617D693}" type="slidenum">
              <a:rPr lang="en-US" altLang="en-US" smtClean="0"/>
              <a:pPr>
                <a:spcBef>
                  <a:spcPct val="0"/>
                </a:spcBef>
              </a:pPr>
              <a:t>8</a:t>
            </a:fld>
            <a:endParaRPr lang="en-US" altLang="en-US"/>
          </a:p>
        </p:txBody>
      </p:sp>
      <p:sp>
        <p:nvSpPr>
          <p:cNvPr id="48130" name="Rectangle 2">
            <a:extLst>
              <a:ext uri="{FF2B5EF4-FFF2-40B4-BE49-F238E27FC236}">
                <a16:creationId xmlns:a16="http://schemas.microsoft.com/office/drawing/2014/main" id="{5F197ED2-72E7-795C-8A72-95886B6BF1D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131" name="Rectangle 3">
            <a:extLst>
              <a:ext uri="{FF2B5EF4-FFF2-40B4-BE49-F238E27FC236}">
                <a16:creationId xmlns:a16="http://schemas.microsoft.com/office/drawing/2014/main" id="{7B2E61B8-0919-0CA5-5513-D642809F2C4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17055025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5" name="Rectangle 7">
            <a:extLst>
              <a:ext uri="{FF2B5EF4-FFF2-40B4-BE49-F238E27FC236}">
                <a16:creationId xmlns:a16="http://schemas.microsoft.com/office/drawing/2014/main" id="{2996B407-C871-CC6D-B80C-293609BEA7B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D0DB7999-A2C1-5841-A436-C587BFDF62E6}" type="slidenum">
              <a:rPr lang="en-US" altLang="en-US" smtClean="0"/>
              <a:pPr>
                <a:spcBef>
                  <a:spcPct val="0"/>
                </a:spcBef>
              </a:pPr>
              <a:t>9</a:t>
            </a:fld>
            <a:endParaRPr lang="en-US" altLang="en-US"/>
          </a:p>
        </p:txBody>
      </p:sp>
      <p:sp>
        <p:nvSpPr>
          <p:cNvPr id="52226" name="Rectangle 2">
            <a:extLst>
              <a:ext uri="{FF2B5EF4-FFF2-40B4-BE49-F238E27FC236}">
                <a16:creationId xmlns:a16="http://schemas.microsoft.com/office/drawing/2014/main" id="{E7BAF634-5BEB-F305-8CF5-01579F067E5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227" name="Rectangle 3">
            <a:extLst>
              <a:ext uri="{FF2B5EF4-FFF2-40B4-BE49-F238E27FC236}">
                <a16:creationId xmlns:a16="http://schemas.microsoft.com/office/drawing/2014/main" id="{16633D1E-6431-AA3B-E34E-81416EB712B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3" name="Rectangle 7">
            <a:extLst>
              <a:ext uri="{FF2B5EF4-FFF2-40B4-BE49-F238E27FC236}">
                <a16:creationId xmlns:a16="http://schemas.microsoft.com/office/drawing/2014/main" id="{84A69AA4-CA2F-F0E6-E461-BE1DC66B2AB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2ADEBE3E-424D-624B-8F42-1A7880C52CC2}" type="slidenum">
              <a:rPr lang="en-US" altLang="en-US" smtClean="0"/>
              <a:pPr>
                <a:spcBef>
                  <a:spcPct val="0"/>
                </a:spcBef>
              </a:pPr>
              <a:t>10</a:t>
            </a:fld>
            <a:endParaRPr lang="en-US" altLang="en-US"/>
          </a:p>
        </p:txBody>
      </p:sp>
      <p:sp>
        <p:nvSpPr>
          <p:cNvPr id="54274" name="Rectangle 2">
            <a:extLst>
              <a:ext uri="{FF2B5EF4-FFF2-40B4-BE49-F238E27FC236}">
                <a16:creationId xmlns:a16="http://schemas.microsoft.com/office/drawing/2014/main" id="{B38DA836-6866-D8D5-38B3-706F3F29F83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275" name="Rectangle 3">
            <a:extLst>
              <a:ext uri="{FF2B5EF4-FFF2-40B4-BE49-F238E27FC236}">
                <a16:creationId xmlns:a16="http://schemas.microsoft.com/office/drawing/2014/main" id="{D59C3914-5916-398E-99F5-F8693D2A0D8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DDD0A3-1AEB-D78C-AD0C-CE7CE7A7F9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3" name="Rectangle 7">
            <a:extLst>
              <a:ext uri="{FF2B5EF4-FFF2-40B4-BE49-F238E27FC236}">
                <a16:creationId xmlns:a16="http://schemas.microsoft.com/office/drawing/2014/main" id="{B1BCCD21-64E5-E87D-A259-7B6277CE236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2ADEBE3E-424D-624B-8F42-1A7880C52CC2}" type="slidenum">
              <a:rPr lang="en-US" altLang="en-US" smtClean="0"/>
              <a:pPr>
                <a:spcBef>
                  <a:spcPct val="0"/>
                </a:spcBef>
              </a:pPr>
              <a:t>11</a:t>
            </a:fld>
            <a:endParaRPr lang="en-US" altLang="en-US"/>
          </a:p>
        </p:txBody>
      </p:sp>
      <p:sp>
        <p:nvSpPr>
          <p:cNvPr id="54274" name="Rectangle 2">
            <a:extLst>
              <a:ext uri="{FF2B5EF4-FFF2-40B4-BE49-F238E27FC236}">
                <a16:creationId xmlns:a16="http://schemas.microsoft.com/office/drawing/2014/main" id="{1B5C3D34-E77C-D3C0-54B5-686F9C25762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275" name="Rectangle 3">
            <a:extLst>
              <a:ext uri="{FF2B5EF4-FFF2-40B4-BE49-F238E27FC236}">
                <a16:creationId xmlns:a16="http://schemas.microsoft.com/office/drawing/2014/main" id="{0928A87D-8C50-1521-7EAB-D3F3FC3E17F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90454614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D430B8-774B-2BA6-E611-814796EA0D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3" name="Rectangle 7">
            <a:extLst>
              <a:ext uri="{FF2B5EF4-FFF2-40B4-BE49-F238E27FC236}">
                <a16:creationId xmlns:a16="http://schemas.microsoft.com/office/drawing/2014/main" id="{2D447FE5-0593-DF25-98F2-D04CA206748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2ADEBE3E-424D-624B-8F42-1A7880C52CC2}" type="slidenum">
              <a:rPr lang="en-US" altLang="en-US" smtClean="0"/>
              <a:pPr>
                <a:spcBef>
                  <a:spcPct val="0"/>
                </a:spcBef>
              </a:pPr>
              <a:t>12</a:t>
            </a:fld>
            <a:endParaRPr lang="en-US" altLang="en-US"/>
          </a:p>
        </p:txBody>
      </p:sp>
      <p:sp>
        <p:nvSpPr>
          <p:cNvPr id="54274" name="Rectangle 2">
            <a:extLst>
              <a:ext uri="{FF2B5EF4-FFF2-40B4-BE49-F238E27FC236}">
                <a16:creationId xmlns:a16="http://schemas.microsoft.com/office/drawing/2014/main" id="{3F752A46-125B-5EC7-5C20-AD660DABD47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275" name="Rectangle 3">
            <a:extLst>
              <a:ext uri="{FF2B5EF4-FFF2-40B4-BE49-F238E27FC236}">
                <a16:creationId xmlns:a16="http://schemas.microsoft.com/office/drawing/2014/main" id="{B5FEFFFD-E83B-4FB0-FC7A-271291F8DAF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92075296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5E44E4-CC94-12F1-F92F-59E0A914E7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3" name="Rectangle 7">
            <a:extLst>
              <a:ext uri="{FF2B5EF4-FFF2-40B4-BE49-F238E27FC236}">
                <a16:creationId xmlns:a16="http://schemas.microsoft.com/office/drawing/2014/main" id="{A70505E9-690F-4D54-8371-6C91A7E95D6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2ADEBE3E-424D-624B-8F42-1A7880C52CC2}" type="slidenum">
              <a:rPr lang="en-US" altLang="en-US" smtClean="0"/>
              <a:pPr>
                <a:spcBef>
                  <a:spcPct val="0"/>
                </a:spcBef>
              </a:pPr>
              <a:t>13</a:t>
            </a:fld>
            <a:endParaRPr lang="en-US" altLang="en-US"/>
          </a:p>
        </p:txBody>
      </p:sp>
      <p:sp>
        <p:nvSpPr>
          <p:cNvPr id="54274" name="Rectangle 2">
            <a:extLst>
              <a:ext uri="{FF2B5EF4-FFF2-40B4-BE49-F238E27FC236}">
                <a16:creationId xmlns:a16="http://schemas.microsoft.com/office/drawing/2014/main" id="{F0F3B0B1-0F50-B667-B3CE-23B3ABCF93E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275" name="Rectangle 3">
            <a:extLst>
              <a:ext uri="{FF2B5EF4-FFF2-40B4-BE49-F238E27FC236}">
                <a16:creationId xmlns:a16="http://schemas.microsoft.com/office/drawing/2014/main" id="{CCD7A13A-3309-3B6C-26FF-2BEE8A95E4F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0674366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626815-5457-1853-C04A-89D7E2C083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F2D9B1-5BCD-6F4F-BA81-D268C32A6E39}" type="datetime1">
              <a:rPr lang="en-US"/>
              <a:pPr>
                <a:defRPr/>
              </a:pPr>
              <a:t>3/27/26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EF3D40-977B-3027-5087-D2DA0B5297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ACCF3D-A344-1E56-1874-EEAF460EC8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533814F-AC31-BB4D-97A2-3957BB5140A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260911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02F7CE-5362-0C36-BA3B-E16758F3E3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BCC7248-24C2-ED41-B7AE-7DA15D318B4C}" type="datetime1">
              <a:rPr lang="en-US"/>
              <a:pPr>
                <a:defRPr/>
              </a:pPr>
              <a:t>3/27/26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993834-137A-163E-D902-0B82278CE7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3AF552-6CA1-BBB7-0C42-F405F1F186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2A55C69-A0B6-724F-ADDD-CCE4E78C3B8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665182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282223-E569-240E-17D0-6958371C5A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8BA5A0E-25C7-7747-978E-A12643A05C1E}" type="datetime1">
              <a:rPr lang="en-US"/>
              <a:pPr>
                <a:defRPr/>
              </a:pPr>
              <a:t>3/27/26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22B1C8-FAEC-2791-EE2D-9D6F828D23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37A4D-D731-72DE-E057-2B496DCE2F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6539F7A-A8A6-0745-9EE2-79A2C12179D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57339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1AF7549C-71A6-7C06-CBFD-C8EE6CF27F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1C952E7-79AC-0946-B287-86803D92738B}" type="datetime1">
              <a:rPr lang="en-US"/>
              <a:pPr>
                <a:defRPr/>
              </a:pPr>
              <a:t>3/27/26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46A1776E-1B8A-47D9-2993-E2E57A1B44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2DA4E35B-B30A-E7F8-C4D6-4B1B5362D5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76A424C-F6C7-814A-B351-7CB57825BFE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868125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D64E3068-9BC7-46DF-7231-954E11F9F7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F58C25F-002C-6D41-8292-5530EC6A1DE0}" type="datetime1">
              <a:rPr lang="en-US"/>
              <a:pPr>
                <a:defRPr/>
              </a:pPr>
              <a:t>3/27/26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43F7FBEE-AF42-2247-B41F-B5EC9B2CF0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C2EF8823-AD02-3049-A51B-DDB6DBFA72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9B6FC78-8509-6A4E-B38F-9F70DEA9591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080861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CE5913C6-87CA-ADC5-4C81-97911F7837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1BCBD89-1842-9A49-AC32-C05CFEDC3139}" type="datetime1">
              <a:rPr lang="en-US"/>
              <a:pPr>
                <a:defRPr/>
              </a:pPr>
              <a:t>3/27/26</a:t>
            </a:fld>
            <a:endParaRPr 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2259A70D-820E-6950-A80B-50188C999E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D34AE443-A1BF-0DD1-FA56-1748E58304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861529A-AD09-AC44-A9DF-80B3CCBB198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035084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7DEF7F7A-2C74-B815-C70E-645B24238B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B68E8A-F794-C04F-9A00-AB16C837AFD8}" type="datetime1">
              <a:rPr lang="en-US"/>
              <a:pPr>
                <a:defRPr/>
              </a:pPr>
              <a:t>3/27/26</a:t>
            </a:fld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8EFAF47F-3572-C412-CB5F-81025B5CBE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F02B89D5-4E0C-6DA4-0863-474FC8CFD8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A190E96-ECAB-1D4D-9789-62F5A921978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126226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6E6DB9B6-5B80-A721-58AC-C50886DA19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9AD6892-A10A-5344-98A5-0792775CB028}" type="datetime1">
              <a:rPr lang="en-US"/>
              <a:pPr>
                <a:defRPr/>
              </a:pPr>
              <a:t>3/27/26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F240EBA4-6662-3E85-1C6F-ED101DA210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722B2F4B-DDE8-DCE5-A47F-F4FF6C2EBA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2A28EB4-19B7-0747-A3C3-03EBA4D3D9B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477848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0BA6E1CB-1839-D0EC-4F7A-0CB7ED436A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00FEEBD-28D8-2C46-A2A9-892CE2F3B669}" type="datetime1">
              <a:rPr lang="en-US"/>
              <a:pPr>
                <a:defRPr/>
              </a:pPr>
              <a:t>3/27/26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C51C4569-130F-C191-43B6-C892D57AE5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C169FF66-DA1E-CF6F-30DD-95DFAFF6C8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0F741B5-3CAE-3A45-8F78-427BCC33E24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986755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CE3BC7-0913-888F-84B1-22532E8A0C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11A063-41BD-4541-BD98-F74A0BAB0E71}" type="datetime1">
              <a:rPr lang="en-US"/>
              <a:pPr>
                <a:defRPr/>
              </a:pPr>
              <a:t>3/27/26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74936F-D173-CF1C-D67D-357984E9FF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017538-CAB8-0220-F7D5-63D03E4943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40E5D24-28B8-2245-A1A8-631C29F0FF2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74797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F99854-509B-C682-E8DD-99A679C7D1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BE0157B-8D54-9C43-893B-A706E9856088}" type="datetime1">
              <a:rPr lang="en-US"/>
              <a:pPr>
                <a:defRPr/>
              </a:pPr>
              <a:t>3/27/26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D17E2A-6D75-B0DD-4658-CCA7904D7F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B401DC-EECE-F9A4-BD83-935522EDC0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C8261FE-B3F3-CA44-B51C-45E0AD7353F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307100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367A1266-C456-D8FF-E9C4-CB3D5B4ACE22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E6EB56EA-8812-5AE9-25C1-2E1EA4D26E4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925DCF-8724-87E8-EAA9-C93586506C6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rgbClr val="898989"/>
                </a:solidFill>
                <a:latin typeface="Times New Roman" pitchFamily="-111" charset="0"/>
                <a:ea typeface="ＭＳ Ｐゴシック" pitchFamily="-111" charset="-128"/>
                <a:cs typeface="Arial" charset="0"/>
              </a:defRPr>
            </a:lvl1pPr>
          </a:lstStyle>
          <a:p>
            <a:pPr>
              <a:defRPr/>
            </a:pPr>
            <a:fld id="{C93E46D3-6E91-514B-9AA5-985B47C0D48F}" type="datetime1">
              <a:rPr lang="en-US"/>
              <a:pPr>
                <a:defRPr/>
              </a:pPr>
              <a:t>3/27/26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37A7F4-93A3-E094-AD4D-4DA2B835A7C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0" hangingPunct="0">
              <a:defRPr sz="1200">
                <a:solidFill>
                  <a:schemeClr val="tx1">
                    <a:tint val="75000"/>
                  </a:schemeClr>
                </a:solidFill>
                <a:latin typeface="Times New Roman" pitchFamily="18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CE70F5-1C0F-27DB-B30B-9222161B50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>
                <a:solidFill>
                  <a:srgbClr val="898989"/>
                </a:solidFill>
                <a:ea typeface="ＭＳ Ｐゴシック" panose="020B0600070205080204" pitchFamily="34" charset="-128"/>
              </a:defRPr>
            </a:lvl1pPr>
          </a:lstStyle>
          <a:p>
            <a:pPr>
              <a:defRPr/>
            </a:pPr>
            <a:fld id="{F53E07F1-F4C6-3244-9EA8-03B0F485495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ＭＳ Ｐゴシック" pitchFamily="-110" charset="-128"/>
          <a:cs typeface="ＭＳ Ｐゴシック" pitchFamily="-110" charset="-128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ＭＳ Ｐゴシック" pitchFamily="-110" charset="-128"/>
          <a:cs typeface="ＭＳ Ｐゴシック" pitchFamily="-110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ＭＳ Ｐゴシック" pitchFamily="-110" charset="-128"/>
          <a:cs typeface="ＭＳ Ｐゴシック" pitchFamily="-110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ＭＳ Ｐゴシック" pitchFamily="-110" charset="-128"/>
          <a:cs typeface="ＭＳ Ｐゴシック" pitchFamily="-110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ＭＳ Ｐゴシック" pitchFamily="-110" charset="-128"/>
          <a:cs typeface="ＭＳ Ｐゴシック" pitchFamily="-110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ＭＳ Ｐゴシック" pitchFamily="-110" charset="-128"/>
          <a:cs typeface="ＭＳ Ｐゴシック" pitchFamily="-110" charset="-128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ＭＳ Ｐゴシック" pitchFamily="34" charset="-128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ＭＳ Ｐゴシック" pitchFamily="34" charset="-128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ＭＳ Ｐゴシック" pitchFamily="34" charset="-128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ＭＳ Ｐゴシック" pitchFamily="34" charset="-128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RangaBU/EE445-645-Spr2026/blob/main/dom_student.py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5" Type="http://schemas.openxmlformats.org/officeDocument/2006/relationships/hyperlink" Target="https://github.com/RangaBU/EE445-645-Spr2026/blob/main/dom_uncollided.py" TargetMode="Externa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Rectangle 2">
            <a:extLst>
              <a:ext uri="{FF2B5EF4-FFF2-40B4-BE49-F238E27FC236}">
                <a16:creationId xmlns:a16="http://schemas.microsoft.com/office/drawing/2014/main" id="{27063843-B062-BF2B-C089-3ECD36FFC7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54050"/>
          </a:xfrm>
          <a:solidFill>
            <a:srgbClr val="1C8016"/>
          </a:solidFill>
        </p:spPr>
        <p:txBody>
          <a:bodyPr lIns="0" tIns="0" rIns="0" bIns="0"/>
          <a:lstStyle/>
          <a:p>
            <a:pPr eaLnBrk="1" hangingPunct="1"/>
            <a: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PHYSICAL MODELS IN REMOTE SENSING</a:t>
            </a:r>
            <a:b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</a:br>
            <a: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Final Report</a:t>
            </a:r>
          </a:p>
        </p:txBody>
      </p:sp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E1543B33-5FC8-447B-AADB-518C2CFF15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38950" y="6492875"/>
            <a:ext cx="2133600" cy="365125"/>
          </a:xfrm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fld id="{B16F9198-9E77-2142-ACE0-993C763014D5}" type="slidenum">
              <a:rPr lang="en-US" altLang="zh-CN" sz="1400" b="1" smtClean="0">
                <a:solidFill>
                  <a:srgbClr val="7F7F7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  <a:defRPr/>
              </a:pPr>
              <a:t>1</a:t>
            </a:fld>
            <a:endParaRPr lang="en-US" altLang="zh-CN" sz="1400" b="1" dirty="0">
              <a:solidFill>
                <a:srgbClr val="7F7F7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4340" name="TextBox 7">
            <a:extLst>
              <a:ext uri="{FF2B5EF4-FFF2-40B4-BE49-F238E27FC236}">
                <a16:creationId xmlns:a16="http://schemas.microsoft.com/office/drawing/2014/main" id="{426D822A-F4D8-8E39-8350-DB48ACA61B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704572"/>
            <a:ext cx="9003324" cy="59708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marL="285750" indent="-285750"/>
            <a:r>
              <a:rPr lang="en-US" altLang="en-US" sz="1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Deadline for Emailing Your PDF Report: Monday May-04-2026 @ 9 AM </a:t>
            </a:r>
          </a:p>
          <a:p>
            <a:pPr>
              <a:buNone/>
            </a:pPr>
            <a:endParaRPr lang="en-US" alt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buNone/>
            </a:pPr>
            <a:r>
              <a:rPr lang="en-US" altLang="en-US" sz="1800" b="1" u="sng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How to Prepare Your Report</a:t>
            </a:r>
          </a:p>
          <a:p>
            <a:pPr marL="285750" indent="-285750"/>
            <a:r>
              <a:rPr lang="en-US" altLang="en-US" sz="1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01</a:t>
            </a:r>
          </a:p>
          <a:p>
            <a:pPr marL="1028700" lvl="1"/>
            <a:r>
              <a:rPr lang="en-US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Download the code </a:t>
            </a:r>
            <a:endParaRPr lang="en-US" alt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028700" lvl="1"/>
            <a:r>
              <a:rPr lang="en-US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Download the accompanying </a:t>
            </a:r>
            <a:r>
              <a:rPr lang="en-US" altLang="en-US" sz="1600" b="1" dirty="0">
                <a:solidFill>
                  <a:srgbClr val="1F28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DOCUMENT</a:t>
            </a:r>
            <a:r>
              <a:rPr lang="en-US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from class website (April-02-2026)</a:t>
            </a:r>
          </a:p>
          <a:p>
            <a:pPr marL="1028700" lvl="1"/>
            <a:r>
              <a:rPr lang="en-US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Run the code (input “0” for no interpolation)</a:t>
            </a:r>
          </a:p>
          <a:p>
            <a:pPr marL="1028700" lvl="1"/>
            <a:r>
              <a:rPr lang="en-US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code outputs an Energy Balance Table (See Slide 2 here)</a:t>
            </a:r>
          </a:p>
          <a:p>
            <a:pPr marL="1028700" lvl="1"/>
            <a:r>
              <a:rPr lang="en-US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“Reflectance” in the Table is DHR (</a:t>
            </a:r>
            <a:r>
              <a:rPr lang="en-US" alt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fdir</a:t>
            </a:r>
            <a:r>
              <a:rPr lang="en-US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=1) or BHR (</a:t>
            </a:r>
            <a:r>
              <a:rPr lang="en-US" alt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fdir</a:t>
            </a:r>
            <a:r>
              <a:rPr lang="en-US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NE 1)</a:t>
            </a:r>
          </a:p>
          <a:p>
            <a:pPr marL="1028700" lvl="1"/>
            <a:r>
              <a:rPr lang="en-US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code does calculations at RED and NIR wavelengths at two LAI values (1.5 &amp; 4.0)</a:t>
            </a:r>
          </a:p>
          <a:p>
            <a:pPr marL="285750" indent="-285750"/>
            <a:r>
              <a:rPr lang="en-US" altLang="en-US" sz="1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02</a:t>
            </a:r>
          </a:p>
          <a:p>
            <a:pPr marL="1028700" lvl="1"/>
            <a:r>
              <a:rPr lang="en-US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Run the code (input “1” for no interpolation)</a:t>
            </a:r>
          </a:p>
          <a:p>
            <a:pPr marL="1028700" lvl="1"/>
            <a:r>
              <a:rPr lang="en-US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code additionally outputs BRF (</a:t>
            </a:r>
            <a:r>
              <a:rPr lang="en-US" alt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fdir</a:t>
            </a:r>
            <a:r>
              <a:rPr lang="en-US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1) or HDRF (</a:t>
            </a:r>
            <a:r>
              <a:rPr lang="en-US" alt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fdir</a:t>
            </a:r>
            <a:r>
              <a:rPr lang="en-US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NE 1) in 45x90 directions</a:t>
            </a:r>
          </a:p>
          <a:p>
            <a:pPr marL="285750" indent="-285750"/>
            <a:r>
              <a:rPr lang="en-US" altLang="en-US" sz="1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03</a:t>
            </a:r>
          </a:p>
          <a:p>
            <a:pPr marL="1028700" lvl="1"/>
            <a:r>
              <a:rPr lang="en-US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11 figures of your report are in the following Slides</a:t>
            </a:r>
          </a:p>
          <a:p>
            <a:pPr marL="1028700" lvl="1"/>
            <a:r>
              <a:rPr lang="en-US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figure should be on a new page in your report. Each figure should contain an explanation of what information is being conveyed through this figure</a:t>
            </a:r>
          </a:p>
          <a:p>
            <a:pPr marL="1028700" lvl="1"/>
            <a:r>
              <a:rPr lang="en-US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first 5 are easy to do.</a:t>
            </a:r>
          </a:p>
          <a:p>
            <a:pPr marL="1028700" lvl="1"/>
            <a:r>
              <a:rPr lang="en-US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Figs. 6 and 7 can be drawn using the results from the interpolated directions</a:t>
            </a:r>
          </a:p>
          <a:p>
            <a:pPr marL="1028700" lvl="1"/>
            <a:r>
              <a:rPr lang="en-US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Figs. 8 to 11 require modifications to code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BF1151-81F0-703F-7CA1-B21C2CBC52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377EFBD5-1705-336C-BB18-82BA1C5322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18325" y="6365875"/>
            <a:ext cx="2133600" cy="365125"/>
          </a:xfrm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fld id="{7707FF1D-0732-4441-9309-8A59FE09E9D6}" type="slidenum">
              <a:rPr lang="en-US" altLang="zh-CN" sz="1400" b="1" smtClean="0">
                <a:solidFill>
                  <a:srgbClr val="7F7F7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  <a:defRPr/>
              </a:pPr>
              <a:t>2</a:t>
            </a:fld>
            <a:endParaRPr lang="en-US" altLang="zh-CN" sz="1400" b="1">
              <a:solidFill>
                <a:srgbClr val="7F7F7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7106" name="TextBox 7">
            <a:extLst>
              <a:ext uri="{FF2B5EF4-FFF2-40B4-BE49-F238E27FC236}">
                <a16:creationId xmlns:a16="http://schemas.microsoft.com/office/drawing/2014/main" id="{D90EF1A5-90E9-5D03-5D43-8B463922F9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86779" y="835213"/>
            <a:ext cx="1939332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88925" indent="-288925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Energy Balance</a:t>
            </a:r>
          </a:p>
        </p:txBody>
      </p:sp>
      <p:sp>
        <p:nvSpPr>
          <p:cNvPr id="47107" name="Rectangle 2">
            <a:extLst>
              <a:ext uri="{FF2B5EF4-FFF2-40B4-BE49-F238E27FC236}">
                <a16:creationId xmlns:a16="http://schemas.microsoft.com/office/drawing/2014/main" id="{910D0141-18A1-F54F-A4B5-CB181A7D7D7A}"/>
              </a:ext>
            </a:extLst>
          </p:cNvPr>
          <p:cNvSpPr txBox="1">
            <a:spLocks/>
          </p:cNvSpPr>
          <p:nvPr/>
        </p:nvSpPr>
        <p:spPr bwMode="auto">
          <a:xfrm>
            <a:off x="0" y="0"/>
            <a:ext cx="9144000" cy="654050"/>
          </a:xfrm>
          <a:prstGeom prst="rect">
            <a:avLst/>
          </a:prstGeom>
          <a:solidFill>
            <a:srgbClr val="1C801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PHYSICAL MODELS IN REMOTE SENSING</a:t>
            </a:r>
            <a:b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Final Report</a:t>
            </a:r>
          </a:p>
        </p:txBody>
      </p:sp>
      <p:pic>
        <p:nvPicPr>
          <p:cNvPr id="7" name="Picture 6" descr="A table of numbers with numbers and letters&#10;&#10;AI-generated content may be incorrect.">
            <a:extLst>
              <a:ext uri="{FF2B5EF4-FFF2-40B4-BE49-F238E27FC236}">
                <a16:creationId xmlns:a16="http://schemas.microsoft.com/office/drawing/2014/main" id="{E95B37F8-A3BE-A87D-1C24-5247A7BAEFE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661" y="1587639"/>
            <a:ext cx="4358081" cy="3217316"/>
          </a:xfrm>
          <a:prstGeom prst="rect">
            <a:avLst/>
          </a:prstGeom>
        </p:spPr>
      </p:pic>
      <p:pic>
        <p:nvPicPr>
          <p:cNvPr id="9" name="Picture 8" descr="A table with numbers and symbols&#10;&#10;AI-generated content may be incorrect.">
            <a:extLst>
              <a:ext uri="{FF2B5EF4-FFF2-40B4-BE49-F238E27FC236}">
                <a16:creationId xmlns:a16="http://schemas.microsoft.com/office/drawing/2014/main" id="{104617E9-C78F-D47D-D8B2-BBA6D2FF6F9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05258" y="1587639"/>
            <a:ext cx="4358081" cy="1671347"/>
          </a:xfrm>
          <a:prstGeom prst="rect">
            <a:avLst/>
          </a:prstGeom>
        </p:spPr>
      </p:pic>
      <p:pic>
        <p:nvPicPr>
          <p:cNvPr id="11" name="Picture 10" descr="A table with numbers and symbols&#10;&#10;AI-generated content may be incorrect.">
            <a:extLst>
              <a:ext uri="{FF2B5EF4-FFF2-40B4-BE49-F238E27FC236}">
                <a16:creationId xmlns:a16="http://schemas.microsoft.com/office/drawing/2014/main" id="{6E986715-A9CC-8068-A2FA-D83A3789B9B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0" y="3258986"/>
            <a:ext cx="4358081" cy="15444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21734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D52110-A08E-448F-E145-1F96C24732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80605AE5-000D-CA77-2EA2-41BA26EB95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18325" y="6365875"/>
            <a:ext cx="2133600" cy="365125"/>
          </a:xfrm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fld id="{7707FF1D-0732-4441-9309-8A59FE09E9D6}" type="slidenum">
              <a:rPr lang="en-US" altLang="zh-CN" sz="1400" b="1" smtClean="0">
                <a:solidFill>
                  <a:srgbClr val="7F7F7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  <a:defRPr/>
              </a:pPr>
              <a:t>3</a:t>
            </a:fld>
            <a:endParaRPr lang="en-US" altLang="zh-CN" sz="1400" b="1">
              <a:solidFill>
                <a:srgbClr val="7F7F7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7106" name="TextBox 7">
            <a:extLst>
              <a:ext uri="{FF2B5EF4-FFF2-40B4-BE49-F238E27FC236}">
                <a16:creationId xmlns:a16="http://schemas.microsoft.com/office/drawing/2014/main" id="{F54F31FC-3CFA-E9AB-B45B-F3DCFA8FC8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99728" y="791993"/>
            <a:ext cx="944544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88925" indent="-288925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Fig. 01</a:t>
            </a:r>
          </a:p>
        </p:txBody>
      </p:sp>
      <p:sp>
        <p:nvSpPr>
          <p:cNvPr id="47107" name="Rectangle 2">
            <a:extLst>
              <a:ext uri="{FF2B5EF4-FFF2-40B4-BE49-F238E27FC236}">
                <a16:creationId xmlns:a16="http://schemas.microsoft.com/office/drawing/2014/main" id="{7DAB68BA-6C90-45CB-B62F-2734DBD67710}"/>
              </a:ext>
            </a:extLst>
          </p:cNvPr>
          <p:cNvSpPr txBox="1">
            <a:spLocks/>
          </p:cNvSpPr>
          <p:nvPr/>
        </p:nvSpPr>
        <p:spPr bwMode="auto">
          <a:xfrm>
            <a:off x="0" y="0"/>
            <a:ext cx="9144000" cy="654050"/>
          </a:xfrm>
          <a:prstGeom prst="rect">
            <a:avLst/>
          </a:prstGeom>
          <a:solidFill>
            <a:srgbClr val="1C801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PHYSICAL MODELS IN REMOTE SENSING</a:t>
            </a:r>
            <a:b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Final Report</a:t>
            </a:r>
          </a:p>
        </p:txBody>
      </p:sp>
      <p:pic>
        <p:nvPicPr>
          <p:cNvPr id="4" name="Picture 3" descr="A graph of different colored lines&#10;&#10;AI-generated content may be incorrect.">
            <a:extLst>
              <a:ext uri="{FF2B5EF4-FFF2-40B4-BE49-F238E27FC236}">
                <a16:creationId xmlns:a16="http://schemas.microsoft.com/office/drawing/2014/main" id="{37C5D7B4-4C8C-ED52-C5DE-FE2966A8F24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3414" y="1762258"/>
            <a:ext cx="6715508" cy="460361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D4ED3BA-5651-3A6C-D1A3-5A44BEA37B2E}"/>
              </a:ext>
            </a:extLst>
          </p:cNvPr>
          <p:cNvSpPr txBox="1"/>
          <p:nvPr/>
        </p:nvSpPr>
        <p:spPr>
          <a:xfrm>
            <a:off x="3400910" y="1322022"/>
            <a:ext cx="234218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rgbClr val="1F28FF"/>
                </a:solidFill>
              </a:rPr>
              <a:t>Leaf Angle Distributions</a:t>
            </a:r>
          </a:p>
        </p:txBody>
      </p:sp>
    </p:spTree>
    <p:extLst>
      <p:ext uri="{BB962C8B-B14F-4D97-AF65-F5344CB8AC3E}">
        <p14:creationId xmlns:p14="http://schemas.microsoft.com/office/powerpoint/2010/main" val="15553824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FCC490-B822-9658-B543-EF43E15D6C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A6D13C32-474B-666B-1B6E-102846E7D7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18325" y="6365875"/>
            <a:ext cx="2133600" cy="365125"/>
          </a:xfrm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fld id="{7707FF1D-0732-4441-9309-8A59FE09E9D6}" type="slidenum">
              <a:rPr lang="en-US" altLang="zh-CN" sz="1400" b="1" smtClean="0">
                <a:solidFill>
                  <a:srgbClr val="7F7F7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  <a:defRPr/>
              </a:pPr>
              <a:t>4</a:t>
            </a:fld>
            <a:endParaRPr lang="en-US" altLang="zh-CN" sz="1400" b="1">
              <a:solidFill>
                <a:srgbClr val="7F7F7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7106" name="TextBox 7">
            <a:extLst>
              <a:ext uri="{FF2B5EF4-FFF2-40B4-BE49-F238E27FC236}">
                <a16:creationId xmlns:a16="http://schemas.microsoft.com/office/drawing/2014/main" id="{6AFC5664-A8F5-7E0B-8CAB-CF06D2AE81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49486" y="761063"/>
            <a:ext cx="1045028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88925" indent="-288925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Fig. 02</a:t>
            </a:r>
          </a:p>
        </p:txBody>
      </p:sp>
      <p:sp>
        <p:nvSpPr>
          <p:cNvPr id="47107" name="Rectangle 2">
            <a:extLst>
              <a:ext uri="{FF2B5EF4-FFF2-40B4-BE49-F238E27FC236}">
                <a16:creationId xmlns:a16="http://schemas.microsoft.com/office/drawing/2014/main" id="{AE1B5171-25F9-B8C0-8D97-37C098259A57}"/>
              </a:ext>
            </a:extLst>
          </p:cNvPr>
          <p:cNvSpPr txBox="1">
            <a:spLocks/>
          </p:cNvSpPr>
          <p:nvPr/>
        </p:nvSpPr>
        <p:spPr bwMode="auto">
          <a:xfrm>
            <a:off x="0" y="0"/>
            <a:ext cx="9144000" cy="654050"/>
          </a:xfrm>
          <a:prstGeom prst="rect">
            <a:avLst/>
          </a:prstGeom>
          <a:solidFill>
            <a:srgbClr val="1C801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PHYSICAL MODELS IN REMOTE SENSING</a:t>
            </a:r>
            <a:b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Final Report</a:t>
            </a:r>
          </a:p>
        </p:txBody>
      </p:sp>
      <p:pic>
        <p:nvPicPr>
          <p:cNvPr id="5" name="Picture 4" descr="A graph of different colored lines&#10;&#10;AI-generated content may be incorrect.">
            <a:extLst>
              <a:ext uri="{FF2B5EF4-FFF2-40B4-BE49-F238E27FC236}">
                <a16:creationId xmlns:a16="http://schemas.microsoft.com/office/drawing/2014/main" id="{39A44421-556A-9D45-AA08-A43BB1C3900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8502" y="1639692"/>
            <a:ext cx="6934968" cy="495128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8EB9F75-6026-83C2-6640-F2F05E0624E5}"/>
              </a:ext>
            </a:extLst>
          </p:cNvPr>
          <p:cNvSpPr txBox="1"/>
          <p:nvPr/>
        </p:nvSpPr>
        <p:spPr>
          <a:xfrm>
            <a:off x="2473647" y="1301138"/>
            <a:ext cx="444467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rgbClr val="1F28FF"/>
                </a:solidFill>
              </a:rPr>
              <a:t>G-Function for Various Leaf Angle Distributions</a:t>
            </a:r>
          </a:p>
        </p:txBody>
      </p:sp>
    </p:spTree>
    <p:extLst>
      <p:ext uri="{BB962C8B-B14F-4D97-AF65-F5344CB8AC3E}">
        <p14:creationId xmlns:p14="http://schemas.microsoft.com/office/powerpoint/2010/main" val="15326640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CBE8F3-AEEF-80AF-49F0-EA853E75CB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FEF9F0FF-059F-01CC-8B43-C1EEC80FD9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18325" y="6365875"/>
            <a:ext cx="2133600" cy="365125"/>
          </a:xfrm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fld id="{7707FF1D-0732-4441-9309-8A59FE09E9D6}" type="slidenum">
              <a:rPr lang="en-US" altLang="zh-CN" sz="1400" b="1" smtClean="0">
                <a:solidFill>
                  <a:srgbClr val="7F7F7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  <a:defRPr/>
              </a:pPr>
              <a:t>5</a:t>
            </a:fld>
            <a:endParaRPr lang="en-US" altLang="zh-CN" sz="1400" b="1">
              <a:solidFill>
                <a:srgbClr val="7F7F7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7106" name="TextBox 7">
            <a:extLst>
              <a:ext uri="{FF2B5EF4-FFF2-40B4-BE49-F238E27FC236}">
                <a16:creationId xmlns:a16="http://schemas.microsoft.com/office/drawing/2014/main" id="{1420F3F0-78EB-2D2B-D024-D60EDF07EC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19824" y="790689"/>
            <a:ext cx="944544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88925" indent="-288925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Fig. 03</a:t>
            </a:r>
          </a:p>
        </p:txBody>
      </p:sp>
      <p:sp>
        <p:nvSpPr>
          <p:cNvPr id="47107" name="Rectangle 2">
            <a:extLst>
              <a:ext uri="{FF2B5EF4-FFF2-40B4-BE49-F238E27FC236}">
                <a16:creationId xmlns:a16="http://schemas.microsoft.com/office/drawing/2014/main" id="{1A4F8F34-6625-A00C-DC79-50EF5FB30742}"/>
              </a:ext>
            </a:extLst>
          </p:cNvPr>
          <p:cNvSpPr txBox="1">
            <a:spLocks/>
          </p:cNvSpPr>
          <p:nvPr/>
        </p:nvSpPr>
        <p:spPr bwMode="auto">
          <a:xfrm>
            <a:off x="0" y="0"/>
            <a:ext cx="9144000" cy="654050"/>
          </a:xfrm>
          <a:prstGeom prst="rect">
            <a:avLst/>
          </a:prstGeom>
          <a:solidFill>
            <a:srgbClr val="1C801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PHYSICAL MODELS IN REMOTE SENSING</a:t>
            </a:r>
            <a:b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Final Report</a:t>
            </a:r>
          </a:p>
        </p:txBody>
      </p:sp>
      <p:pic>
        <p:nvPicPr>
          <p:cNvPr id="3" name="Picture 2" descr="A diagram of a function&#10;&#10;AI-generated content may be incorrect.">
            <a:extLst>
              <a:ext uri="{FF2B5EF4-FFF2-40B4-BE49-F238E27FC236}">
                <a16:creationId xmlns:a16="http://schemas.microsoft.com/office/drawing/2014/main" id="{BDC36AE2-5BCF-5077-791F-032F837CC14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07903" y="1875268"/>
            <a:ext cx="4384299" cy="438429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7E018CF-B8BC-5A21-BFB8-9D25BB00A3F5}"/>
              </a:ext>
            </a:extLst>
          </p:cNvPr>
          <p:cNvSpPr txBox="1"/>
          <p:nvPr/>
        </p:nvSpPr>
        <p:spPr>
          <a:xfrm>
            <a:off x="1725285" y="1338579"/>
            <a:ext cx="573362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rgbClr val="1F28FF"/>
                </a:solidFill>
              </a:rPr>
              <a:t>Scattering Phase Function for Uniform Leaf Angle Distribution</a:t>
            </a:r>
          </a:p>
        </p:txBody>
      </p:sp>
    </p:spTree>
    <p:extLst>
      <p:ext uri="{BB962C8B-B14F-4D97-AF65-F5344CB8AC3E}">
        <p14:creationId xmlns:p14="http://schemas.microsoft.com/office/powerpoint/2010/main" val="29444735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132104-6ED8-F7CA-931C-D63ABE7EE7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B0313678-5E5F-63FC-76C9-310A147D71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18325" y="6365875"/>
            <a:ext cx="2133600" cy="365125"/>
          </a:xfrm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fld id="{7707FF1D-0732-4441-9309-8A59FE09E9D6}" type="slidenum">
              <a:rPr lang="en-US" altLang="zh-CN" sz="1400" b="1" smtClean="0">
                <a:solidFill>
                  <a:srgbClr val="7F7F7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  <a:defRPr/>
              </a:pPr>
              <a:t>6</a:t>
            </a:fld>
            <a:endParaRPr lang="en-US" altLang="zh-CN" sz="1400" b="1">
              <a:solidFill>
                <a:srgbClr val="7F7F7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7106" name="TextBox 7">
            <a:extLst>
              <a:ext uri="{FF2B5EF4-FFF2-40B4-BE49-F238E27FC236}">
                <a16:creationId xmlns:a16="http://schemas.microsoft.com/office/drawing/2014/main" id="{7FE00AB2-98D6-7063-6DAD-B036583398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28422" y="697219"/>
            <a:ext cx="1657975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88925" indent="-288925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Figs. 04 &amp; 05</a:t>
            </a:r>
          </a:p>
        </p:txBody>
      </p:sp>
      <p:sp>
        <p:nvSpPr>
          <p:cNvPr id="47107" name="Rectangle 2">
            <a:extLst>
              <a:ext uri="{FF2B5EF4-FFF2-40B4-BE49-F238E27FC236}">
                <a16:creationId xmlns:a16="http://schemas.microsoft.com/office/drawing/2014/main" id="{55333325-5B71-BAE1-9558-E6248B8CFE74}"/>
              </a:ext>
            </a:extLst>
          </p:cNvPr>
          <p:cNvSpPr txBox="1">
            <a:spLocks/>
          </p:cNvSpPr>
          <p:nvPr/>
        </p:nvSpPr>
        <p:spPr bwMode="auto">
          <a:xfrm>
            <a:off x="0" y="0"/>
            <a:ext cx="9144000" cy="654050"/>
          </a:xfrm>
          <a:prstGeom prst="rect">
            <a:avLst/>
          </a:prstGeom>
          <a:solidFill>
            <a:srgbClr val="1C801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PHYSICAL MODELS IN REMOTE SENSING</a:t>
            </a:r>
            <a:b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Final Report</a:t>
            </a:r>
          </a:p>
        </p:txBody>
      </p:sp>
      <p:pic>
        <p:nvPicPr>
          <p:cNvPr id="4" name="Picture 3" descr="A graph of a line&#10;&#10;AI-generated content may be incorrect.">
            <a:extLst>
              <a:ext uri="{FF2B5EF4-FFF2-40B4-BE49-F238E27FC236}">
                <a16:creationId xmlns:a16="http://schemas.microsoft.com/office/drawing/2014/main" id="{FB267B91-AC2E-8E3E-91DF-27B18BA51D4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795" y="1695668"/>
            <a:ext cx="7772400" cy="2411889"/>
          </a:xfrm>
          <a:prstGeom prst="rect">
            <a:avLst/>
          </a:prstGeom>
        </p:spPr>
      </p:pic>
      <p:pic>
        <p:nvPicPr>
          <p:cNvPr id="5" name="Picture 4" descr="A graph with a blue line&#10;&#10;AI-generated content may be incorrect.">
            <a:extLst>
              <a:ext uri="{FF2B5EF4-FFF2-40B4-BE49-F238E27FC236}">
                <a16:creationId xmlns:a16="http://schemas.microsoft.com/office/drawing/2014/main" id="{7DB581D6-8BEC-9934-E763-99A8784D244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1209" y="4107557"/>
            <a:ext cx="7772400" cy="241188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CE78906-D4FA-5153-8DF2-09AFD192F333}"/>
              </a:ext>
            </a:extLst>
          </p:cNvPr>
          <p:cNvSpPr txBox="1"/>
          <p:nvPr/>
        </p:nvSpPr>
        <p:spPr>
          <a:xfrm>
            <a:off x="1477238" y="1097329"/>
            <a:ext cx="618951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chemeClr val="tx1"/>
                </a:solidFill>
              </a:rPr>
              <a:t>These Figures are produced by the uncollided DOM code: </a:t>
            </a:r>
            <a:r>
              <a:rPr lang="en-US" sz="1600" b="1" dirty="0">
                <a:solidFill>
                  <a:schemeClr val="tx1"/>
                </a:solidFill>
                <a:hlinkClick r:id="rId5"/>
              </a:rPr>
              <a:t>Download</a:t>
            </a:r>
            <a:endParaRPr lang="en-US" sz="16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63646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604F4F-FC14-D468-0B20-1CEE98F6F1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B6900CA8-E0D0-C814-D0AE-B957A7977A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18325" y="6365875"/>
            <a:ext cx="2133600" cy="365125"/>
          </a:xfrm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fld id="{7707FF1D-0732-4441-9309-8A59FE09E9D6}" type="slidenum">
              <a:rPr lang="en-US" altLang="zh-CN" sz="1400" b="1" smtClean="0">
                <a:solidFill>
                  <a:srgbClr val="7F7F7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  <a:defRPr/>
              </a:pPr>
              <a:t>7</a:t>
            </a:fld>
            <a:endParaRPr lang="en-US" altLang="zh-CN" sz="1400" b="1">
              <a:solidFill>
                <a:srgbClr val="7F7F7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7106" name="TextBox 7">
            <a:extLst>
              <a:ext uri="{FF2B5EF4-FFF2-40B4-BE49-F238E27FC236}">
                <a16:creationId xmlns:a16="http://schemas.microsoft.com/office/drawing/2014/main" id="{182FAC29-A68E-BF83-342E-B945D2C176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1408451"/>
            <a:ext cx="2813538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88925" indent="-288925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u="sng" dirty="0">
                <a:solidFill>
                  <a:srgbClr val="1F28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HDRF  Angular Shape</a:t>
            </a:r>
          </a:p>
        </p:txBody>
      </p:sp>
      <p:sp>
        <p:nvSpPr>
          <p:cNvPr id="47107" name="Rectangle 2">
            <a:extLst>
              <a:ext uri="{FF2B5EF4-FFF2-40B4-BE49-F238E27FC236}">
                <a16:creationId xmlns:a16="http://schemas.microsoft.com/office/drawing/2014/main" id="{C932733E-122B-7883-A86C-D41F2ABA1AC8}"/>
              </a:ext>
            </a:extLst>
          </p:cNvPr>
          <p:cNvSpPr txBox="1">
            <a:spLocks/>
          </p:cNvSpPr>
          <p:nvPr/>
        </p:nvSpPr>
        <p:spPr bwMode="auto">
          <a:xfrm>
            <a:off x="0" y="0"/>
            <a:ext cx="9144000" cy="654050"/>
          </a:xfrm>
          <a:prstGeom prst="rect">
            <a:avLst/>
          </a:prstGeom>
          <a:solidFill>
            <a:srgbClr val="1C801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PHYSICAL MODELS IN REMOTE SENSING</a:t>
            </a:r>
            <a:b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Final Report</a:t>
            </a:r>
          </a:p>
        </p:txBody>
      </p:sp>
      <p:pic>
        <p:nvPicPr>
          <p:cNvPr id="4" name="Picture 3" descr="A diagram of different colors&#10;&#10;AI-generated content may be incorrect.">
            <a:extLst>
              <a:ext uri="{FF2B5EF4-FFF2-40B4-BE49-F238E27FC236}">
                <a16:creationId xmlns:a16="http://schemas.microsoft.com/office/drawing/2014/main" id="{C72C1883-0CBF-42B4-4809-A61F73514B2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9408" y="815716"/>
            <a:ext cx="6024680" cy="5915283"/>
          </a:xfrm>
          <a:prstGeom prst="rect">
            <a:avLst/>
          </a:prstGeom>
        </p:spPr>
      </p:pic>
      <p:sp>
        <p:nvSpPr>
          <p:cNvPr id="3" name="TextBox 7">
            <a:extLst>
              <a:ext uri="{FF2B5EF4-FFF2-40B4-BE49-F238E27FC236}">
                <a16:creationId xmlns:a16="http://schemas.microsoft.com/office/drawing/2014/main" id="{A022D8F9-DF5D-1A1B-CB69-A0E43AA8CE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9912" y="912059"/>
            <a:ext cx="944544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88925" indent="-288925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Fig. 06</a:t>
            </a:r>
          </a:p>
        </p:txBody>
      </p:sp>
    </p:spTree>
    <p:extLst>
      <p:ext uri="{BB962C8B-B14F-4D97-AF65-F5344CB8AC3E}">
        <p14:creationId xmlns:p14="http://schemas.microsoft.com/office/powerpoint/2010/main" val="19930283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F55B89-A8D5-6BAE-9E55-CBB7878A90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19C67D22-E60B-D183-71A3-AC24BE2466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18325" y="6365875"/>
            <a:ext cx="2133600" cy="365125"/>
          </a:xfrm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fld id="{7707FF1D-0732-4441-9309-8A59FE09E9D6}" type="slidenum">
              <a:rPr lang="en-US" altLang="zh-CN" sz="1400" b="1" smtClean="0">
                <a:solidFill>
                  <a:srgbClr val="7F7F7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  <a:defRPr/>
              </a:pPr>
              <a:t>8</a:t>
            </a:fld>
            <a:endParaRPr lang="en-US" altLang="zh-CN" sz="1400" b="1">
              <a:solidFill>
                <a:srgbClr val="7F7F7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7106" name="TextBox 7">
            <a:extLst>
              <a:ext uri="{FF2B5EF4-FFF2-40B4-BE49-F238E27FC236}">
                <a16:creationId xmlns:a16="http://schemas.microsoft.com/office/drawing/2014/main" id="{A9E1A92F-ABC1-1498-2922-3838FB9A10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96826" y="1008401"/>
            <a:ext cx="272310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88925" indent="-288925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u="sng" dirty="0">
                <a:solidFill>
                  <a:srgbClr val="1F28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HDRF Angular Shape</a:t>
            </a:r>
          </a:p>
        </p:txBody>
      </p:sp>
      <p:sp>
        <p:nvSpPr>
          <p:cNvPr id="47107" name="Rectangle 2">
            <a:extLst>
              <a:ext uri="{FF2B5EF4-FFF2-40B4-BE49-F238E27FC236}">
                <a16:creationId xmlns:a16="http://schemas.microsoft.com/office/drawing/2014/main" id="{D66DFFE6-3312-DB7C-84EB-AE1C8E571F9F}"/>
              </a:ext>
            </a:extLst>
          </p:cNvPr>
          <p:cNvSpPr txBox="1">
            <a:spLocks/>
          </p:cNvSpPr>
          <p:nvPr/>
        </p:nvSpPr>
        <p:spPr bwMode="auto">
          <a:xfrm>
            <a:off x="0" y="0"/>
            <a:ext cx="9144000" cy="654050"/>
          </a:xfrm>
          <a:prstGeom prst="rect">
            <a:avLst/>
          </a:prstGeom>
          <a:solidFill>
            <a:srgbClr val="1C801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PHYSICAL MODELS IN REMOTE SENSING</a:t>
            </a:r>
            <a:b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Final Report</a:t>
            </a:r>
          </a:p>
        </p:txBody>
      </p:sp>
      <p:pic>
        <p:nvPicPr>
          <p:cNvPr id="4" name="Picture 3" descr="A graph of a plane&#10;&#10;AI-generated content may be incorrect.">
            <a:extLst>
              <a:ext uri="{FF2B5EF4-FFF2-40B4-BE49-F238E27FC236}">
                <a16:creationId xmlns:a16="http://schemas.microsoft.com/office/drawing/2014/main" id="{1E6C66FB-2164-2E7C-4B0A-F6405848EE4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708" y="1539146"/>
            <a:ext cx="8724222" cy="431537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CB35B7B-26EA-02FD-8380-7A6B022F416D}"/>
              </a:ext>
            </a:extLst>
          </p:cNvPr>
          <p:cNvSpPr txBox="1"/>
          <p:nvPr/>
        </p:nvSpPr>
        <p:spPr>
          <a:xfrm>
            <a:off x="150014" y="6027321"/>
            <a:ext cx="882491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rgbClr val="FF0000"/>
                </a:solidFill>
              </a:rPr>
              <a:t>Although the Y axis says BRF, it is really HDRF because </a:t>
            </a:r>
            <a:r>
              <a:rPr lang="en-US" sz="1600" b="1" dirty="0" err="1">
                <a:solidFill>
                  <a:srgbClr val="FF0000"/>
                </a:solidFill>
              </a:rPr>
              <a:t>fdir</a:t>
            </a:r>
            <a:r>
              <a:rPr lang="en-US" sz="1600" b="1" dirty="0">
                <a:solidFill>
                  <a:srgbClr val="FF0000"/>
                </a:solidFill>
              </a:rPr>
              <a:t> = 0.7. There is no error in calculation.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517A674-E5AF-520F-8FB3-1EEBA3FAB1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90200" y="645683"/>
            <a:ext cx="944544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88925" indent="-288925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Fig. 07</a:t>
            </a:r>
          </a:p>
        </p:txBody>
      </p:sp>
    </p:spTree>
    <p:extLst>
      <p:ext uri="{BB962C8B-B14F-4D97-AF65-F5344CB8AC3E}">
        <p14:creationId xmlns:p14="http://schemas.microsoft.com/office/powerpoint/2010/main" val="16945273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9C1DF0A0-E5C1-9DDB-F2B0-34E6F30E68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18325" y="6365875"/>
            <a:ext cx="2133600" cy="365125"/>
          </a:xfrm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fld id="{E6B59139-7F5F-B745-BC8F-66999E8212FC}" type="slidenum">
              <a:rPr lang="en-US" altLang="zh-CN" sz="1400" b="1" smtClean="0">
                <a:solidFill>
                  <a:srgbClr val="7F7F7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  <a:defRPr/>
              </a:pPr>
              <a:t>9</a:t>
            </a:fld>
            <a:endParaRPr lang="en-US" altLang="zh-CN" sz="1400" b="1">
              <a:solidFill>
                <a:srgbClr val="7F7F7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1202" name="TextBox 7">
            <a:extLst>
              <a:ext uri="{FF2B5EF4-FFF2-40B4-BE49-F238E27FC236}">
                <a16:creationId xmlns:a16="http://schemas.microsoft.com/office/drawing/2014/main" id="{327C444B-6602-C13C-FCD9-5D9D027AA0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0692" y="992337"/>
            <a:ext cx="544784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88925" indent="-288925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u="sng" dirty="0">
                <a:solidFill>
                  <a:srgbClr val="1F28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BHR as a function of LAI and Soil brightness</a:t>
            </a:r>
          </a:p>
        </p:txBody>
      </p:sp>
      <p:sp>
        <p:nvSpPr>
          <p:cNvPr id="51203" name="Rectangle 2">
            <a:extLst>
              <a:ext uri="{FF2B5EF4-FFF2-40B4-BE49-F238E27FC236}">
                <a16:creationId xmlns:a16="http://schemas.microsoft.com/office/drawing/2014/main" id="{F36796ED-325A-404F-429C-5023E7F34BFC}"/>
              </a:ext>
            </a:extLst>
          </p:cNvPr>
          <p:cNvSpPr txBox="1">
            <a:spLocks/>
          </p:cNvSpPr>
          <p:nvPr/>
        </p:nvSpPr>
        <p:spPr bwMode="auto">
          <a:xfrm>
            <a:off x="0" y="0"/>
            <a:ext cx="9144000" cy="654050"/>
          </a:xfrm>
          <a:prstGeom prst="rect">
            <a:avLst/>
          </a:prstGeom>
          <a:solidFill>
            <a:srgbClr val="1C801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PHYSICAL MODELS IN REMOTE SENSING</a:t>
            </a:r>
            <a:b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Final Report</a:t>
            </a:r>
          </a:p>
        </p:txBody>
      </p:sp>
      <p:pic>
        <p:nvPicPr>
          <p:cNvPr id="4" name="Picture 3" descr="A graph of different types of reflectors&#10;&#10;AI-generated content may be incorrect.">
            <a:extLst>
              <a:ext uri="{FF2B5EF4-FFF2-40B4-BE49-F238E27FC236}">
                <a16:creationId xmlns:a16="http://schemas.microsoft.com/office/drawing/2014/main" id="{5DF99BBA-0D90-6A5E-29F9-6A67D4F3195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1438052"/>
            <a:ext cx="8839200" cy="494550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8217EE2-0E2C-4723-2A5F-D0EFAB09C7B2}"/>
              </a:ext>
            </a:extLst>
          </p:cNvPr>
          <p:cNvSpPr txBox="1"/>
          <p:nvPr/>
        </p:nvSpPr>
        <p:spPr>
          <a:xfrm>
            <a:off x="1900692" y="2871411"/>
            <a:ext cx="198163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Dark Soil Reflectance = 0.01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5B4C589-90FE-A6CE-18B8-B0EEA8696654}"/>
              </a:ext>
            </a:extLst>
          </p:cNvPr>
          <p:cNvSpPr txBox="1"/>
          <p:nvPr/>
        </p:nvSpPr>
        <p:spPr>
          <a:xfrm>
            <a:off x="1900692" y="2550348"/>
            <a:ext cx="199125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Bright Soil Reflectance = 0.3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74FD27D-782F-155D-4C8E-0C0CE210E1C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46455" y="5259881"/>
            <a:ext cx="1696357" cy="49539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A9AB6A4-D88A-4D1D-43D3-826B0C08AF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90200" y="645683"/>
            <a:ext cx="944544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88925" indent="-288925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Fig. 08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5477E56C-1B05-F64C-3F75-CCDD7C0A0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18325" y="6365875"/>
            <a:ext cx="2133600" cy="365125"/>
          </a:xfrm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fld id="{0EF47372-1864-444E-828E-E9C4FDCE708F}" type="slidenum">
              <a:rPr lang="en-US" altLang="zh-CN" sz="1400" b="1" smtClean="0">
                <a:solidFill>
                  <a:srgbClr val="7F7F7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  <a:defRPr/>
              </a:pPr>
              <a:t>10</a:t>
            </a:fld>
            <a:endParaRPr lang="en-US" altLang="zh-CN" sz="1400" b="1">
              <a:solidFill>
                <a:srgbClr val="7F7F7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3250" name="TextBox 7">
            <a:extLst>
              <a:ext uri="{FF2B5EF4-FFF2-40B4-BE49-F238E27FC236}">
                <a16:creationId xmlns:a16="http://schemas.microsoft.com/office/drawing/2014/main" id="{84BA4960-9691-5DA0-349E-E7838EBB5C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00529" y="1135634"/>
            <a:ext cx="454293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88925" indent="-288925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u="sng" dirty="0">
                <a:solidFill>
                  <a:srgbClr val="1F28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LAI Effect on BHR and Transmittance</a:t>
            </a:r>
          </a:p>
        </p:txBody>
      </p:sp>
      <p:sp>
        <p:nvSpPr>
          <p:cNvPr id="53251" name="Rectangle 2">
            <a:extLst>
              <a:ext uri="{FF2B5EF4-FFF2-40B4-BE49-F238E27FC236}">
                <a16:creationId xmlns:a16="http://schemas.microsoft.com/office/drawing/2014/main" id="{EFAFCE1B-3222-F19E-2B8E-13E6366AEF19}"/>
              </a:ext>
            </a:extLst>
          </p:cNvPr>
          <p:cNvSpPr txBox="1">
            <a:spLocks/>
          </p:cNvSpPr>
          <p:nvPr/>
        </p:nvSpPr>
        <p:spPr bwMode="auto">
          <a:xfrm>
            <a:off x="0" y="0"/>
            <a:ext cx="9144000" cy="654050"/>
          </a:xfrm>
          <a:prstGeom prst="rect">
            <a:avLst/>
          </a:prstGeom>
          <a:solidFill>
            <a:srgbClr val="1C801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PHYSICAL MODELS IN REMOTE SENSING</a:t>
            </a:r>
            <a:b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Final Report</a:t>
            </a:r>
          </a:p>
        </p:txBody>
      </p:sp>
      <p:pic>
        <p:nvPicPr>
          <p:cNvPr id="4" name="Picture 3" descr="A graph of different types of data&#10;&#10;AI-generated content may be incorrect.">
            <a:extLst>
              <a:ext uri="{FF2B5EF4-FFF2-40B4-BE49-F238E27FC236}">
                <a16:creationId xmlns:a16="http://schemas.microsoft.com/office/drawing/2014/main" id="{4CBBDD50-55DF-0A0A-7C42-BD8FAC8DC31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698" y="1776410"/>
            <a:ext cx="8470593" cy="477202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564B876-A550-A432-EE77-5F0CA330D1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99724" y="730253"/>
            <a:ext cx="944544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88925" indent="-288925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Fig. 09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1E0D8D-E42B-A344-E9E7-32A0338A79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00A11E42-EB6F-246D-46BD-80ED096D29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18325" y="6365875"/>
            <a:ext cx="2133600" cy="365125"/>
          </a:xfrm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fld id="{0EF47372-1864-444E-828E-E9C4FDCE708F}" type="slidenum">
              <a:rPr lang="en-US" altLang="zh-CN" sz="1400" b="1" smtClean="0">
                <a:solidFill>
                  <a:srgbClr val="7F7F7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  <a:defRPr/>
              </a:pPr>
              <a:t>11</a:t>
            </a:fld>
            <a:endParaRPr lang="en-US" altLang="zh-CN" sz="1400" b="1">
              <a:solidFill>
                <a:srgbClr val="7F7F7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3250" name="TextBox 7">
            <a:extLst>
              <a:ext uri="{FF2B5EF4-FFF2-40B4-BE49-F238E27FC236}">
                <a16:creationId xmlns:a16="http://schemas.microsoft.com/office/drawing/2014/main" id="{17D3C81A-2FDE-42F6-D65D-6300ED02FF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42903" y="1139465"/>
            <a:ext cx="5998867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88925" indent="-288925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u="sng" dirty="0">
                <a:solidFill>
                  <a:srgbClr val="1F28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Solar Polar Angle Effect on BHR and Transmittance</a:t>
            </a:r>
          </a:p>
        </p:txBody>
      </p:sp>
      <p:sp>
        <p:nvSpPr>
          <p:cNvPr id="53251" name="Rectangle 2">
            <a:extLst>
              <a:ext uri="{FF2B5EF4-FFF2-40B4-BE49-F238E27FC236}">
                <a16:creationId xmlns:a16="http://schemas.microsoft.com/office/drawing/2014/main" id="{2C232CB6-DDC6-0F8C-88CE-42A1A8D9F321}"/>
              </a:ext>
            </a:extLst>
          </p:cNvPr>
          <p:cNvSpPr txBox="1">
            <a:spLocks/>
          </p:cNvSpPr>
          <p:nvPr/>
        </p:nvSpPr>
        <p:spPr bwMode="auto">
          <a:xfrm>
            <a:off x="0" y="0"/>
            <a:ext cx="9144000" cy="654050"/>
          </a:xfrm>
          <a:prstGeom prst="rect">
            <a:avLst/>
          </a:prstGeom>
          <a:solidFill>
            <a:srgbClr val="1C801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PHYSICAL MODELS IN REMOTE SENSING</a:t>
            </a:r>
            <a:b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Final Report</a:t>
            </a:r>
          </a:p>
        </p:txBody>
      </p:sp>
      <p:pic>
        <p:nvPicPr>
          <p:cNvPr id="7" name="Picture 6" descr="A graph of a solar polar angle&#10;&#10;AI-generated content may be incorrect.">
            <a:extLst>
              <a:ext uri="{FF2B5EF4-FFF2-40B4-BE49-F238E27FC236}">
                <a16:creationId xmlns:a16="http://schemas.microsoft.com/office/drawing/2014/main" id="{0656E40A-FC92-5BD6-DD63-90AE242ACDB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6226" y="1886813"/>
            <a:ext cx="8292220" cy="413176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A451ACE-5C23-8DCB-C611-94BCD19EA6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90200" y="645683"/>
            <a:ext cx="94454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88925" indent="-288925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Fig. 10</a:t>
            </a:r>
          </a:p>
        </p:txBody>
      </p:sp>
    </p:spTree>
    <p:extLst>
      <p:ext uri="{BB962C8B-B14F-4D97-AF65-F5344CB8AC3E}">
        <p14:creationId xmlns:p14="http://schemas.microsoft.com/office/powerpoint/2010/main" val="5965765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FA8151-75E4-0738-C5FC-DC706311D5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79FE1A1C-761B-457B-CFEB-BC6F10A627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18325" y="6365875"/>
            <a:ext cx="2133600" cy="365125"/>
          </a:xfrm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fld id="{0EF47372-1864-444E-828E-E9C4FDCE708F}" type="slidenum">
              <a:rPr lang="en-US" altLang="zh-CN" sz="1400" b="1" smtClean="0">
                <a:solidFill>
                  <a:srgbClr val="7F7F7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  <a:defRPr/>
              </a:pPr>
              <a:t>12</a:t>
            </a:fld>
            <a:endParaRPr lang="en-US" altLang="zh-CN" sz="1400" b="1">
              <a:solidFill>
                <a:srgbClr val="7F7F7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3250" name="TextBox 7">
            <a:extLst>
              <a:ext uri="{FF2B5EF4-FFF2-40B4-BE49-F238E27FC236}">
                <a16:creationId xmlns:a16="http://schemas.microsoft.com/office/drawing/2014/main" id="{E56DBAF4-BD87-438D-40B4-7DD61BAA30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20204" y="1061279"/>
            <a:ext cx="5325626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88925" indent="-288925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dirty="0">
                <a:solidFill>
                  <a:srgbClr val="1F28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 these data to make Fig. 11 on next Slide</a:t>
            </a:r>
          </a:p>
        </p:txBody>
      </p:sp>
      <p:sp>
        <p:nvSpPr>
          <p:cNvPr id="53251" name="Rectangle 2">
            <a:extLst>
              <a:ext uri="{FF2B5EF4-FFF2-40B4-BE49-F238E27FC236}">
                <a16:creationId xmlns:a16="http://schemas.microsoft.com/office/drawing/2014/main" id="{672EDAAB-6937-B895-4DC3-5EA0AAA819D7}"/>
              </a:ext>
            </a:extLst>
          </p:cNvPr>
          <p:cNvSpPr txBox="1">
            <a:spLocks/>
          </p:cNvSpPr>
          <p:nvPr/>
        </p:nvSpPr>
        <p:spPr bwMode="auto">
          <a:xfrm>
            <a:off x="0" y="0"/>
            <a:ext cx="9144000" cy="654050"/>
          </a:xfrm>
          <a:prstGeom prst="rect">
            <a:avLst/>
          </a:prstGeom>
          <a:solidFill>
            <a:srgbClr val="1C801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PHYSICAL MODELS IN REMOTE SENSING</a:t>
            </a:r>
            <a:b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Final Report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7980B96-811E-0D81-2865-44A3626348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99726" y="607284"/>
            <a:ext cx="944544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88925" indent="-288925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Fig. 11</a:t>
            </a:r>
          </a:p>
        </p:txBody>
      </p:sp>
      <p:pic>
        <p:nvPicPr>
          <p:cNvPr id="5" name="Picture 4" descr="A screenshot of a screen&#10;&#10;AI-generated content may be incorrect.">
            <a:extLst>
              <a:ext uri="{FF2B5EF4-FFF2-40B4-BE49-F238E27FC236}">
                <a16:creationId xmlns:a16="http://schemas.microsoft.com/office/drawing/2014/main" id="{17DF2B1A-26FD-0CA4-BFDE-C55A2684E51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8767" y="1614618"/>
            <a:ext cx="5108500" cy="5007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66128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4B61AC-B2DB-3134-ABB4-33CFC857E5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DDF535AF-BD38-309D-CF21-83C66BA104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18325" y="6365875"/>
            <a:ext cx="2133600" cy="365125"/>
          </a:xfrm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fld id="{0EF47372-1864-444E-828E-E9C4FDCE708F}" type="slidenum">
              <a:rPr lang="en-US" altLang="zh-CN" sz="1400" b="1" smtClean="0">
                <a:solidFill>
                  <a:srgbClr val="7F7F7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  <a:defRPr/>
              </a:pPr>
              <a:t>13</a:t>
            </a:fld>
            <a:endParaRPr lang="en-US" altLang="zh-CN" sz="1400" b="1">
              <a:solidFill>
                <a:srgbClr val="7F7F7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3250" name="TextBox 7">
            <a:extLst>
              <a:ext uri="{FF2B5EF4-FFF2-40B4-BE49-F238E27FC236}">
                <a16:creationId xmlns:a16="http://schemas.microsoft.com/office/drawing/2014/main" id="{1FBA6FA0-2160-0A72-8E1F-1D5CC58153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93924" y="905259"/>
            <a:ext cx="3356149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88925" indent="-288925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u="sng" dirty="0">
                <a:solidFill>
                  <a:srgbClr val="1F28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Comparison with Field Data</a:t>
            </a:r>
          </a:p>
        </p:txBody>
      </p:sp>
      <p:sp>
        <p:nvSpPr>
          <p:cNvPr id="53251" name="Rectangle 2">
            <a:extLst>
              <a:ext uri="{FF2B5EF4-FFF2-40B4-BE49-F238E27FC236}">
                <a16:creationId xmlns:a16="http://schemas.microsoft.com/office/drawing/2014/main" id="{CA2036FC-CDDC-A8A4-E8F1-EB0F4F7836D0}"/>
              </a:ext>
            </a:extLst>
          </p:cNvPr>
          <p:cNvSpPr txBox="1">
            <a:spLocks/>
          </p:cNvSpPr>
          <p:nvPr/>
        </p:nvSpPr>
        <p:spPr bwMode="auto">
          <a:xfrm>
            <a:off x="0" y="0"/>
            <a:ext cx="9144000" cy="654050"/>
          </a:xfrm>
          <a:prstGeom prst="rect">
            <a:avLst/>
          </a:prstGeom>
          <a:solidFill>
            <a:srgbClr val="1C801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PHYSICAL MODELS IN REMOTE SENSING</a:t>
            </a:r>
            <a:b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Final Report</a:t>
            </a:r>
          </a:p>
        </p:txBody>
      </p:sp>
      <p:pic>
        <p:nvPicPr>
          <p:cNvPr id="7" name="Picture 6" descr="A graph of a plane model&#10;&#10;AI-generated content may be incorrect.">
            <a:extLst>
              <a:ext uri="{FF2B5EF4-FFF2-40B4-BE49-F238E27FC236}">
                <a16:creationId xmlns:a16="http://schemas.microsoft.com/office/drawing/2014/main" id="{DC1410A4-70AC-97D9-0AC5-6B9CA3BCDE3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4770" y="1403259"/>
            <a:ext cx="8374458" cy="545474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36FB7CF-85ED-2CFB-4F03-AEAB561F5A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99726" y="607284"/>
            <a:ext cx="944544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88925" indent="-288925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Fig. 11</a:t>
            </a:r>
          </a:p>
        </p:txBody>
      </p:sp>
    </p:spTree>
    <p:extLst>
      <p:ext uri="{BB962C8B-B14F-4D97-AF65-F5344CB8AC3E}">
        <p14:creationId xmlns:p14="http://schemas.microsoft.com/office/powerpoint/2010/main" val="39485921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7700</TotalTime>
  <Words>474</Words>
  <Application>Microsoft Macintosh PowerPoint</Application>
  <PresentationFormat>On-screen Show (4:3)</PresentationFormat>
  <Paragraphs>84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Times</vt:lpstr>
      <vt:lpstr>Times New Roman</vt:lpstr>
      <vt:lpstr>Office Theme</vt:lpstr>
      <vt:lpstr>PHYSICAL MODELS IN REMOTE SENSING Final Report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OAO/JPL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OAO JPL</dc:creator>
  <cp:lastModifiedBy>Myneni, Ranga</cp:lastModifiedBy>
  <cp:revision>921</cp:revision>
  <cp:lastPrinted>2019-09-03T16:52:39Z</cp:lastPrinted>
  <dcterms:created xsi:type="dcterms:W3CDTF">2012-01-16T18:47:06Z</dcterms:created>
  <dcterms:modified xsi:type="dcterms:W3CDTF">2026-03-27T13:42:07Z</dcterms:modified>
</cp:coreProperties>
</file>