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2"/>
  </p:notesMasterIdLst>
  <p:sldIdLst>
    <p:sldId id="712" r:id="rId2"/>
    <p:sldId id="807" r:id="rId3"/>
    <p:sldId id="801" r:id="rId4"/>
    <p:sldId id="791" r:id="rId5"/>
    <p:sldId id="808" r:id="rId6"/>
    <p:sldId id="809" r:id="rId7"/>
    <p:sldId id="810" r:id="rId8"/>
    <p:sldId id="790" r:id="rId9"/>
    <p:sldId id="795" r:id="rId10"/>
    <p:sldId id="796" r:id="rId11"/>
    <p:sldId id="811" r:id="rId12"/>
    <p:sldId id="812" r:id="rId13"/>
    <p:sldId id="797" r:id="rId14"/>
    <p:sldId id="814" r:id="rId15"/>
    <p:sldId id="793" r:id="rId16"/>
    <p:sldId id="794" r:id="rId17"/>
    <p:sldId id="800" r:id="rId18"/>
    <p:sldId id="798" r:id="rId19"/>
    <p:sldId id="816" r:id="rId20"/>
    <p:sldId id="817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2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5"/>
    <p:restoredTop sz="94660"/>
  </p:normalViewPr>
  <p:slideViewPr>
    <p:cSldViewPr snapToGrid="0">
      <p:cViewPr varScale="1">
        <p:scale>
          <a:sx n="146" d="100"/>
          <a:sy n="146" d="100"/>
        </p:scale>
        <p:origin x="872" y="168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0622112D-69C6-CAA8-F2F7-6A2BAB4BCF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4905D0BF-3BB1-D4C3-5295-6CE2174A2E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3908328-F8C5-4BF3-E470-1F9BA0A013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7D125F8F-AA14-B05D-9BA4-3AA28FD26D7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799623B0-7C1B-53E5-272B-FA9473E8C3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8D0B7B24-86A6-E6C7-C3DC-13711E26E3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7883D726-F09F-4747-ACFE-AA586F8A8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DE4A74B8-93B6-B3B2-D2B9-B5C4501D5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3B3578-80E6-EC43-9B9C-358C8B722CF9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1CAFFF5-C509-AF06-8480-FE2EDAA153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DBBC123-A87D-DB2D-E33B-3EE470A27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013E-0D5E-DBF7-E11B-F0D582DA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0069D431-E307-2F75-4794-9F08A239B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3B3578-80E6-EC43-9B9C-358C8B722CF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9D1429F-9277-1E7A-6625-9C52464306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BA0BD25-6C29-9C53-2FC8-64E52CE7F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3663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E635C2CF-9A9C-12AE-E4B3-57FE10B419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F631FC-207C-D14B-BD32-E90DA0588EA1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0ADE2A44-E123-0618-C50C-D28CFC6001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D91494-B363-B952-EC6F-4A90F3FD4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84E34A26-BBD5-2439-AD3C-877BC2D37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BF2332-F3BD-C244-ABF2-72A9A1F9F353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0FC3DE73-B4A2-0AF3-A5F6-FD3798F03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DB60190-10A0-8528-0D73-8C4E59EF3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6514-CB9E-FEFB-1F2B-0E11EA62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49E4FBA0-0342-FDBB-2936-C077550C5E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BF2332-F3BD-C244-ABF2-72A9A1F9F353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EA5DDC6D-AF67-BDB7-CD88-C664F0EB18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FD9FB69-7072-5593-F5CF-7230DC8F0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90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4B69-E021-EEB1-8E85-838D04A26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B54C2416-85CC-62CB-39FB-CF8C369082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BF2332-F3BD-C244-ABF2-72A9A1F9F35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D33CCC05-14DF-CABD-C912-5AF3C1333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CA3EB46-9540-1384-EAC3-FA07CC2F9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0513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6821-FF37-609E-EB3A-539C6A74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33B35C13-3F0F-708C-D8CD-AFC6F477B5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BF2332-F3BD-C244-ABF2-72A9A1F9F353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BA4918A0-3CC3-C2C9-5544-373A304D47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2E6C872-6767-9533-0AD4-58D191141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0460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6248B4D9-AB08-ADBA-49FF-8E2BCC9A6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173CDB-D00B-9541-97E3-ED023585EA8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E339F01-5E6E-BAEA-A428-22EBD2756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F0862DD-97FB-93C7-5C12-1BB2238AF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C614AB2-DEE7-7C15-0233-F56E18D460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2F2368-12DB-A641-B6EB-555B246E5BE9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22580D0-CB3A-7611-39B6-648EBA1CB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3107362-AF08-E010-106C-2C7F265F2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0EE715D1-A41C-68C4-9FE5-ED83E4740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AD81FC-C292-DB42-8918-C893730F93E2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95C34D1-F448-6F94-F2B2-689CF57651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65559F4-1059-4D1D-D4A0-33B66FAA3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9E2F-9069-693C-430A-DA1C6F38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8D7CE878-E024-7E2F-CD48-5FABB847B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AD81FC-C292-DB42-8918-C893730F93E2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59E2D180-45D2-B694-CF52-DD16F5A758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80A30BB-D406-C3AD-9BFD-CCC7908DD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3402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4C09-3C9F-BEE6-DE11-09BA2A70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2A30DF6C-DB9E-DADD-FAD3-811807192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AD81FC-C292-DB42-8918-C893730F93E2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7288C961-0E1F-E791-BD40-6927BEFDF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557D4D4-A3F0-EC5C-518F-A835055CF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3107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2A90FB6-30B0-0EAE-DC18-D130ACE2E9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99B00B-27B9-F543-8504-591F8B811E69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AC8FBEC-6EE8-425C-D158-FF72E9F40D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48A36DC-6E9E-DB46-3CB2-E9883447F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5AAB-38D8-711C-4869-8CC25C86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722E4BF0-16E0-E6FF-B8C2-714A33A36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99B00B-27B9-F543-8504-591F8B811E69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0C89E4CA-9E0E-BE80-7D97-8CBFA3BB6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D16D13E-EEAE-ADE1-B502-F474F66F2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062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9E62E9B-1C27-FB3E-EDAE-4E75133A1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865012-EC73-A049-BE7A-23B0BFACFA10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2434717-6A9D-46A4-D69B-1F29C4B41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74EFD8F-69C9-E5B9-ECF4-20328F9FB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4EBE842F-B609-1024-BB37-DC090EC18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4E7C20E-73C7-9342-ADCB-F25F77D31277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8D4790A-CC8A-9322-EE05-AF55A5E741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A32BB8B-AF4C-6648-76BA-BB42E021D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79F8873-BAA0-3D8D-5930-974AE1609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35E453-13C8-5F48-92AF-D7B85EFD270F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C7FA7897-ABE3-56BB-93CC-204777A2BA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5DD703F-58BE-3F59-4B89-E30D37D59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0F43F17-CC72-B087-AE64-2DE6D9765A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962B85-9CC8-314A-BD6E-A8F94EA225E4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C3708DFE-370F-C8C9-BD42-2D349B157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20DDBBD-DB89-B4DD-5297-4E557C004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3865-8C9B-D030-C9CB-0CFECD5D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9264D7FD-6F3D-EA0B-A467-6F338E6B7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962B85-9CC8-314A-BD6E-A8F94EA225E4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D46684D-11B7-193E-65E6-0D3673045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2F8831E-7DF6-5BEF-183F-4258706F6A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1075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94B-C895-8B75-90F9-FB23A59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09694ED5-2349-1527-1AAD-B88CB484D9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962B85-9CC8-314A-BD6E-A8F94EA225E4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DCE0DA9-72AA-4F43-BA60-38DF0C186E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2A1C20E-A8E3-27B8-623E-1BF0AA150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0641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B239-34E1-089F-76F2-8A7B91EB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ED843-0104-CA46-867C-B0E04EAB259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6DAC8-561B-0DD2-6DD4-32372B78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32AF7-C86F-BBBA-5E06-2E699BA7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9DA71-3A9B-1D4D-B958-B778B29405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530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19D6D-49C2-D0A5-903F-9233F160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EFCEC-4BAA-1947-9A5A-05E3602C663F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F6E95-14A3-166A-F99C-45D4730A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A4E9-D98C-FD37-0AB1-93ED3E11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57B64-AE0A-BA4D-987A-2C132BD11F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07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0437-1713-2690-0C6F-C96F9396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6E6C4-EEE7-6948-A34D-69B5CE52A099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682A8-1701-DDFE-AC0A-C155EAD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45331-D883-0471-1D82-1FC2D414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D39B4-CA77-A54E-9A82-779C324489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8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8CC209-3328-1007-F44F-B95C304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29BEA-C467-5D48-9835-07AC9500E4F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F232F1-A400-47C8-C1E0-BAAB5E4C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8E932ED-6C75-03A5-E154-A88AF9B0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51FC9-A7B9-F943-89ED-23D1DE9804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69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8372CA-E441-BB1E-9E63-AB4C9B1E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B784D-0A34-C244-8491-934EB89065E1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458917-8E4C-B427-0C98-9180BD67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AB9D7E1-B042-E8C6-6FD4-5215FB05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0932F-3DBE-354F-B767-F8E632ECF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75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A5EF33-09CA-747F-2AE8-CACD1901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74071-357A-434A-A36C-A02CA258CFC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3BECBE1-E99B-750F-5D02-7AA940A5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FF5FF6-2141-EE76-22FD-D7FF2283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FE9F7-06DB-2645-9376-10F3A523E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9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50490BA-C62C-A7EF-3753-3CB51C54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42B034-7B35-4746-A97B-45E3FEAC161A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8A13FE-D810-A75B-61A1-636C7B24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4CC7D8-D596-7238-2F9F-D2173E2F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CF43A-E240-AA4B-9D98-B443D9BA32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78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21C3EB-3338-F6F0-59C9-81E6072F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BC9B3-D515-2C48-A938-F6A5AA93FF1C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4F0E9C-CD90-D21C-C033-67337DCB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648EE0-BA6E-0B7D-D871-C91E6E33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45B3-4976-2D45-905E-BDD6DE2FE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31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2A093E-91B6-14BC-A144-16B182BE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A1417-2808-794F-B4AB-35131381C99C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E9D396-CF2E-66F3-F8B1-6E2F7ADF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0DD49A-83DC-6783-EEE9-879F9E78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C0397-A251-8049-91DE-DE1F6835E4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779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D7DF7-1853-498E-6A4B-C125C8A9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B1BB2-C0AD-6F42-BFE3-DBF4EE0579E8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C1E5B-982D-78E5-8072-8C3DE6CA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B9B8E-4E1B-3762-5DDB-08883719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A900-361E-5547-9B1C-D210D66622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26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4470-E885-9960-5FDE-527C4699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69DBE-4687-0D4C-BCF0-025DF1AFF9B7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ED98-E0A6-89A0-945D-C85CA5E7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64DF-8CE3-A95D-4BA7-E53682D1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14EF7-5521-714C-A7E2-E18E5CFAD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05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18A7DF9-2822-456A-2857-63D3E24CCC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2732FFE-D3E2-B9C7-E371-FCEB979F90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7D6AE-D7C8-E382-F289-D2A107D34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3D8FFDDE-A98D-4E41-8DAF-151134A7A9A8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548FE-8F1C-1DF2-E090-D3E2038D9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41916-4475-B52B-2D83-73880D49F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24817A9-B0AF-B545-8BE6-31A41AA01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boretum.harvard.edu/plant-bios/maple-leaf-oak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RangaBU/EE445-645-Spr2026/blob/main/C2-P3-01-Interaction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RangaBU/EE445-645-Spr2026/blob/main/C2-P3-02-Ad-Abaxial-Int.html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RangaBU/EE445-645-Spr2026/blob/main/C2-P3-04-Diff-Scat.html" TargetMode="Externa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30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gif"/><Relationship Id="rId9" Type="http://schemas.openxmlformats.org/officeDocument/2006/relationships/hyperlink" Target="https://github.com/RangaBU/EE445-645-Spr2026/blob/main/C2-P3-03-Specular-Refl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eg"/><Relationship Id="rId5" Type="http://schemas.openxmlformats.org/officeDocument/2006/relationships/image" Target="../media/image30.gif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jpeg"/><Relationship Id="rId4" Type="http://schemas.openxmlformats.org/officeDocument/2006/relationships/image" Target="../media/image3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E502E8B-EF87-CCDE-D20C-20913E188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34A3AE6-6A15-77A1-8364-95098700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6323D0B-CDCB-6749-A446-0937EF9C96D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9" name="TextBox 40">
            <a:extLst>
              <a:ext uri="{FF2B5EF4-FFF2-40B4-BE49-F238E27FC236}">
                <a16:creationId xmlns:a16="http://schemas.microsoft.com/office/drawing/2014/main" id="{1C206CC6-4E76-DF13-741C-738C4B2A0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810" y="1582340"/>
            <a:ext cx="5175521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Forms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Biochemical Content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Chloroplasts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Photosynthesis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Spectra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at Leaf Surface and Interior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Scattering Phase Function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Albedo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Hemispherical Reflectance and Transmittance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and Specular Leaf Scattering Phase Functions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Prospect Leaf Model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Prospect Sensitivity Analysis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The Bi-Lambertian Model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Interactions: Specular Reflection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D2C5-DA7E-899C-E937-F1729EE5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AC82D480-84E0-E668-C9E9-C751F9E8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C5D8C5C-806E-15EB-6854-C51AD265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6323D0B-CDCB-6749-A446-0937EF9C96D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903D3EB5-9E08-847D-2FD6-FD8E84621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653"/>
            <a:ext cx="178221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Forms</a:t>
            </a:r>
          </a:p>
        </p:txBody>
      </p:sp>
      <p:sp>
        <p:nvSpPr>
          <p:cNvPr id="14349" name="TextBox 40">
            <a:extLst>
              <a:ext uri="{FF2B5EF4-FFF2-40B4-BE49-F238E27FC236}">
                <a16:creationId xmlns:a16="http://schemas.microsoft.com/office/drawing/2014/main" id="{15F010B3-1C08-5579-08C5-E8674FB8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4" y="4170674"/>
            <a:ext cx="8702492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leaf forms we are concerned with - the flat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broadleaf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conifer shoot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generally cover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herbaceous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(grasses, shrubs and crops) and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life forms (forests and woodlands) and their mixture (savannas). The forests can be purely broadleaf or needleleaf, or their combination, as in a mixed forest. The interaction of electromagnetic radiation with plant leaves depends on the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bio-chemical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constitution of the leaves and their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structures </a:t>
            </a:r>
          </a:p>
        </p:txBody>
      </p:sp>
      <p:pic>
        <p:nvPicPr>
          <p:cNvPr id="8" name="Picture 7" descr="A close-up of a leaf&#10;&#10;AI-generated content may be incorrect.">
            <a:extLst>
              <a:ext uri="{FF2B5EF4-FFF2-40B4-BE49-F238E27FC236}">
                <a16:creationId xmlns:a16="http://schemas.microsoft.com/office/drawing/2014/main" id="{D0DEB7EF-A38C-ED59-47AB-43A55AD28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13" y="1310180"/>
            <a:ext cx="1701529" cy="1789611"/>
          </a:xfrm>
          <a:prstGeom prst="rect">
            <a:avLst/>
          </a:prstGeom>
        </p:spPr>
      </p:pic>
      <p:pic>
        <p:nvPicPr>
          <p:cNvPr id="12" name="Picture 11" descr="A close-up of a branch&#10;&#10;AI-generated content may be incorrect.">
            <a:extLst>
              <a:ext uri="{FF2B5EF4-FFF2-40B4-BE49-F238E27FC236}">
                <a16:creationId xmlns:a16="http://schemas.microsoft.com/office/drawing/2014/main" id="{C32BF184-FDF6-4A32-77AD-815F6D1CB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274" y="1292704"/>
            <a:ext cx="2763249" cy="18070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CB062D-740D-F12F-3E62-532956CC189C}"/>
              </a:ext>
            </a:extLst>
          </p:cNvPr>
          <p:cNvSpPr txBox="1"/>
          <p:nvPr/>
        </p:nvSpPr>
        <p:spPr>
          <a:xfrm>
            <a:off x="4753474" y="3129388"/>
            <a:ext cx="351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Lorraine Graney, Bartlett Tree Experts, </a:t>
            </a:r>
            <a:r>
              <a:rPr lang="en-US" dirty="0" err="1">
                <a:solidFill>
                  <a:schemeClr val="tx1"/>
                </a:solidFill>
              </a:rPr>
              <a:t>Bugwood.org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0AD9-A04B-B3F9-6C61-703DFD26A2AB}"/>
              </a:ext>
            </a:extLst>
          </p:cNvPr>
          <p:cNvSpPr txBox="1"/>
          <p:nvPr/>
        </p:nvSpPr>
        <p:spPr>
          <a:xfrm>
            <a:off x="1614998" y="3129389"/>
            <a:ext cx="2419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Maple-leaf Oak - Arnold Arboretum</a:t>
            </a:r>
            <a:endParaRPr lang="en-US" dirty="0">
              <a:solidFill>
                <a:schemeClr val="tx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5476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5AA0E82-2635-B816-F610-6A1FDFB9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28F0100-50B7-5B6E-9B08-0ACEA1CA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99C01AB-DF30-6E4A-B3AE-BD5B5084510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338FFA67-14DA-DF1A-AEA3-9923B1CBD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4452"/>
            <a:ext cx="15122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16388" name="TextBox 40">
            <a:extLst>
              <a:ext uri="{FF2B5EF4-FFF2-40B4-BE49-F238E27FC236}">
                <a16:creationId xmlns:a16="http://schemas.microsoft.com/office/drawing/2014/main" id="{16F5E1A2-9DBD-7593-9A33-6BCF8E3C1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" y="4795292"/>
            <a:ext cx="8910637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cross section of a broadleaf shows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stomatal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openings at the surfaces that are generally covered by a waxy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cuticle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Below the upper epidermal layer is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palisade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mesophyll that is densely packed with vertical cylindrical cells containing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chloroplasts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spongy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mesophyll contains many pockets of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spaces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which cells containing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chlorophyll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situated. The cross section of conifer needle has similar layering of tissues with the transfusion tissue in the middle. </a:t>
            </a:r>
          </a:p>
        </p:txBody>
      </p:sp>
      <p:sp>
        <p:nvSpPr>
          <p:cNvPr id="8" name="TextBox 40">
            <a:extLst>
              <a:ext uri="{FF2B5EF4-FFF2-40B4-BE49-F238E27FC236}">
                <a16:creationId xmlns:a16="http://schemas.microsoft.com/office/drawing/2014/main" id="{95E6D78E-2EA6-A084-8BCC-8EB14EBE3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8615" y="3549425"/>
            <a:ext cx="14508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Pine Needle</a:t>
            </a:r>
          </a:p>
        </p:txBody>
      </p:sp>
      <p:pic>
        <p:nvPicPr>
          <p:cNvPr id="12" name="Picture 11" descr="A diagram of a cell structure&#10;&#10;AI-generated content may be incorrect.">
            <a:extLst>
              <a:ext uri="{FF2B5EF4-FFF2-40B4-BE49-F238E27FC236}">
                <a16:creationId xmlns:a16="http://schemas.microsoft.com/office/drawing/2014/main" id="{19F3DD4C-1C63-CDDF-EFFA-2BDB3E74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" y="1299848"/>
            <a:ext cx="4766448" cy="2677779"/>
          </a:xfrm>
          <a:prstGeom prst="rect">
            <a:avLst/>
          </a:prstGeom>
        </p:spPr>
      </p:pic>
      <p:pic>
        <p:nvPicPr>
          <p:cNvPr id="10" name="Picture 9" descr="A diagram of a plant cell&#10;&#10;AI-generated content may be incorrect.">
            <a:extLst>
              <a:ext uri="{FF2B5EF4-FFF2-40B4-BE49-F238E27FC236}">
                <a16:creationId xmlns:a16="http://schemas.microsoft.com/office/drawing/2014/main" id="{9090DC08-CE29-CDD8-EE48-A2DE99149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18" y="1466953"/>
            <a:ext cx="4604657" cy="1962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1014CE-FCF4-DD96-5142-95B996F85E4B}"/>
              </a:ext>
            </a:extLst>
          </p:cNvPr>
          <p:cNvSpPr txBox="1"/>
          <p:nvPr/>
        </p:nvSpPr>
        <p:spPr>
          <a:xfrm>
            <a:off x="116681" y="3932642"/>
            <a:ext cx="4904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Ustin, S.L., Jacquemoud, S. (2020). Doi: 10.1007/978-3-030-33157-3_14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AF75A-10A9-A634-CB42-2136B14CA85C}"/>
              </a:ext>
            </a:extLst>
          </p:cNvPr>
          <p:cNvSpPr txBox="1"/>
          <p:nvPr/>
        </p:nvSpPr>
        <p:spPr>
          <a:xfrm>
            <a:off x="5696766" y="3932642"/>
            <a:ext cx="2194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Illustration by Jamilia Marini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CEE6644-CBEB-1E00-C4DE-A3ECAADD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EF01877-F6CD-CBD9-9138-C486B838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452F4BE-784E-1142-8B6B-C4E1811DB22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3FFD6302-F28C-D29D-C198-BC6122AB9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1" y="649288"/>
            <a:ext cx="2544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Biochemical Content</a:t>
            </a:r>
          </a:p>
        </p:txBody>
      </p:sp>
      <p:pic>
        <p:nvPicPr>
          <p:cNvPr id="18436" name="Picture 2" descr="D:\HDR\photos1\book0003.gif">
            <a:extLst>
              <a:ext uri="{FF2B5EF4-FFF2-40B4-BE49-F238E27FC236}">
                <a16:creationId xmlns:a16="http://schemas.microsoft.com/office/drawing/2014/main" id="{2632D126-27F9-2CEE-A268-3D1B9BA0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089" y="1346994"/>
            <a:ext cx="3511790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4">
            <a:extLst>
              <a:ext uri="{FF2B5EF4-FFF2-40B4-BE49-F238E27FC236}">
                <a16:creationId xmlns:a16="http://schemas.microsoft.com/office/drawing/2014/main" id="{7D55239C-83F0-E726-65EC-8B49E4691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735138"/>
            <a:ext cx="2657779" cy="39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fr-F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fr-F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(vacuole): 90-95%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fr-F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dry matter </a:t>
            </a:r>
            <a:r>
              <a:rPr lang="fr-F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(cell walls): 5-10%</a:t>
            </a:r>
          </a:p>
        </p:txBody>
      </p:sp>
      <p:sp>
        <p:nvSpPr>
          <p:cNvPr id="18438" name="AutoShape 5">
            <a:extLst>
              <a:ext uri="{FF2B5EF4-FFF2-40B4-BE49-F238E27FC236}">
                <a16:creationId xmlns:a16="http://schemas.microsoft.com/office/drawing/2014/main" id="{D80FA80A-BC93-80D2-00C6-9854842B07A8}"/>
              </a:ext>
            </a:extLst>
          </p:cNvPr>
          <p:cNvSpPr>
            <a:spLocks/>
          </p:cNvSpPr>
          <p:nvPr/>
        </p:nvSpPr>
        <p:spPr bwMode="auto">
          <a:xfrm>
            <a:off x="896938" y="2913063"/>
            <a:ext cx="341312" cy="1979612"/>
          </a:xfrm>
          <a:prstGeom prst="leftBrace">
            <a:avLst>
              <a:gd name="adj1" fmla="val 48333"/>
              <a:gd name="adj2" fmla="val 50000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9" name="Text Box 6">
            <a:extLst>
              <a:ext uri="{FF2B5EF4-FFF2-40B4-BE49-F238E27FC236}">
                <a16:creationId xmlns:a16="http://schemas.microsoft.com/office/drawing/2014/main" id="{BBC27A6D-8829-D0A8-AD57-B8025D81381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49300" y="2134093"/>
            <a:ext cx="2209259" cy="150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cellulose: 15-30%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hemicellulose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10-30%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10-20%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lignin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5-15%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starch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0.2-2.7%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etc.</a:t>
            </a:r>
          </a:p>
        </p:txBody>
      </p:sp>
      <p:sp>
        <p:nvSpPr>
          <p:cNvPr id="18440" name="Text Box 7">
            <a:extLst>
              <a:ext uri="{FF2B5EF4-FFF2-40B4-BE49-F238E27FC236}">
                <a16:creationId xmlns:a16="http://schemas.microsoft.com/office/drawing/2014/main" id="{46BA1549-396C-F827-C401-FEEA993A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1212850"/>
            <a:ext cx="56403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typical cell of a green-fresh leaf contains:</a:t>
            </a:r>
          </a:p>
        </p:txBody>
      </p:sp>
      <p:sp>
        <p:nvSpPr>
          <p:cNvPr id="18441" name="Text Box 8">
            <a:extLst>
              <a:ext uri="{FF2B5EF4-FFF2-40B4-BE49-F238E27FC236}">
                <a16:creationId xmlns:a16="http://schemas.microsoft.com/office/drawing/2014/main" id="{43591620-9547-2129-9566-81C201405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4070302"/>
            <a:ext cx="2963953" cy="100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 dirty="0" err="1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chlorophyll</a:t>
            </a:r>
            <a:r>
              <a:rPr lang="fr-FR" altLang="en-US" sz="1600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 i="1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en-US" sz="1600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altLang="en-US" sz="1600" i="1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en-US" sz="1600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chloroplasts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       - (about 10 to 100 g.cm</a:t>
            </a:r>
            <a:r>
              <a:rPr lang="en-US" alt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       - (about 0.1 to 1.5%)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None/>
            </a:pP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600" dirty="0" err="1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accessory</a:t>
            </a:r>
            <a:r>
              <a:rPr lang="fr-FR" altLang="en-US" sz="1600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pigments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881065D5-4A94-F4D8-A594-03A379627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49300" y="5018768"/>
            <a:ext cx="2098651" cy="90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carotenoids</a:t>
            </a: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anthocyanins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flavons</a:t>
            </a: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brown</a:t>
            </a: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pigments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etc.</a:t>
            </a:r>
          </a:p>
        </p:txBody>
      </p:sp>
      <p:sp>
        <p:nvSpPr>
          <p:cNvPr id="18443" name="Line 11">
            <a:extLst>
              <a:ext uri="{FF2B5EF4-FFF2-40B4-BE49-F238E27FC236}">
                <a16:creationId xmlns:a16="http://schemas.microsoft.com/office/drawing/2014/main" id="{263E3821-3F8D-3472-9954-97B04B05E7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5697" y="1792512"/>
            <a:ext cx="3124200" cy="79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Line 16">
            <a:extLst>
              <a:ext uri="{FF2B5EF4-FFF2-40B4-BE49-F238E27FC236}">
                <a16:creationId xmlns:a16="http://schemas.microsoft.com/office/drawing/2014/main" id="{84F828A0-017C-00FB-553D-60E28ED8FE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9695" y="2006195"/>
            <a:ext cx="2065337" cy="2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8">
            <a:extLst>
              <a:ext uri="{FF2B5EF4-FFF2-40B4-BE49-F238E27FC236}">
                <a16:creationId xmlns:a16="http://schemas.microsoft.com/office/drawing/2014/main" id="{D106A600-BFA0-D5F6-61F7-5DA91D12DC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4490" y="4082232"/>
            <a:ext cx="2550541" cy="79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4436F-2FEA-5E7A-4591-F686B55C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D295BA0-7ADC-E2AA-012D-7124003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5CCDC33-1D17-7F7B-7740-E61DA50B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452F4BE-784E-1142-8B6B-C4E1811DB22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B29E4DD6-4B44-4B66-BF2D-5EBF188E8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1" y="649288"/>
            <a:ext cx="16836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Chloroplasts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E7B113AA-0F2A-FBEB-F0E5-406F1EE6E2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601" y="4374178"/>
            <a:ext cx="8929188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Chloroplasts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roughly 1–2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(1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0.001 mm) thick and 5–7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in diameter. </a:t>
            </a:r>
          </a:p>
          <a:p>
            <a:pPr marL="285750" indent="-285750"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enclosed in a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chloroplast envelope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consists of a double membrane with outer and inner layers, between which is a gap called the intermembrane space. A third, internal membrane, extensively folded and characterized by the presence of closed disks (or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thylakoids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is known as the thylakoid membrane. </a:t>
            </a:r>
          </a:p>
          <a:p>
            <a:pPr marL="285750" indent="-285750"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thylakoids are arranged in tight stacks called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Grana are connected by stromal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lamellae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extensions that run from one granum, through 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into a neighboring granum. The thylakoid membrane envelops a central aqueous region known as the thylakoid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space between the inner membrane and the thylakoid membrane is filled with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matrix containing dissolved enzymes, starch granules and copies of the chloroplast genome.</a:t>
            </a: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cell&#10;&#10;AI-generated content may be incorrect.">
            <a:extLst>
              <a:ext uri="{FF2B5EF4-FFF2-40B4-BE49-F238E27FC236}">
                <a16:creationId xmlns:a16="http://schemas.microsoft.com/office/drawing/2014/main" id="{D9BB2EC5-FD8E-87C4-D5E1-764C9B4DC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317" y="795913"/>
            <a:ext cx="5913120" cy="33166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EB5544-CDE8-74B5-9A38-FC14723D2D11}"/>
              </a:ext>
            </a:extLst>
          </p:cNvPr>
          <p:cNvSpPr txBox="1"/>
          <p:nvPr/>
        </p:nvSpPr>
        <p:spPr>
          <a:xfrm>
            <a:off x="2143669" y="3897546"/>
            <a:ext cx="1209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Biology Goal</a:t>
            </a:r>
          </a:p>
        </p:txBody>
      </p:sp>
    </p:spTree>
    <p:extLst>
      <p:ext uri="{BB962C8B-B14F-4D97-AF65-F5344CB8AC3E}">
        <p14:creationId xmlns:p14="http://schemas.microsoft.com/office/powerpoint/2010/main" val="35096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D25B0-764E-6C43-93B0-F7E1388F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77DD380-EBE8-A385-06F5-2B878FB7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C494E9E-1B2D-D61E-AD69-00D2259A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452F4BE-784E-1142-8B6B-C4E1811DB22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317A9C7E-1461-4DD9-1536-3D058B34D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1" y="649288"/>
            <a:ext cx="44007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Photosynthesis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458373CE-40CE-4251-5CF2-F3CE145061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601" y="2767770"/>
            <a:ext cx="8994774" cy="373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thylakoid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membrane houses chlorophylls and different protein complexes, including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I, photosystem II, and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(adenosine triphosphate) synthase, which are specialized for light-dependent photosynthesis. </a:t>
            </a:r>
          </a:p>
          <a:p>
            <a:pPr marL="285750" indent="-28575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/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Reaction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EMR of 400 to 700 nm  strikes the thylakoids, the light energy excites chlorophyll pigments, causing them to give up electrons. The electrons then enter 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transport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that ultimately drives the phosphorylation of adenosine diphosphate (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energy-rich storage compound ATP. Electron transport also results in the production of the reducing agent nicotinamide adenine dinucleotide phosphate (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NADPH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/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Reaction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ATP and NADPH are used in the dark reactions of photosynthesis, in which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assimilated into organics compounds (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These reactions are carried out in the chloroplast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the required enzyme ribulose-1,5-bisphosphate carboxylase/oxygenase (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rubisco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pic>
        <p:nvPicPr>
          <p:cNvPr id="5" name="Picture 4" descr="A diagram of a solar energy&#10;&#10;AI-generated content may be incorrect.">
            <a:extLst>
              <a:ext uri="{FF2B5EF4-FFF2-40B4-BE49-F238E27FC236}">
                <a16:creationId xmlns:a16="http://schemas.microsoft.com/office/drawing/2014/main" id="{FECEEB96-7B92-FD91-7AFB-2D5405723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865" y="811234"/>
            <a:ext cx="4038600" cy="1917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311720-2502-29F7-C490-75B993CADCA0}"/>
              </a:ext>
            </a:extLst>
          </p:cNvPr>
          <p:cNvSpPr txBox="1"/>
          <p:nvPr/>
        </p:nvSpPr>
        <p:spPr>
          <a:xfrm>
            <a:off x="3455397" y="2451935"/>
            <a:ext cx="1348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Chemistrytalk.org</a:t>
            </a:r>
          </a:p>
        </p:txBody>
      </p:sp>
    </p:spTree>
    <p:extLst>
      <p:ext uri="{BB962C8B-B14F-4D97-AF65-F5344CB8AC3E}">
        <p14:creationId xmlns:p14="http://schemas.microsoft.com/office/powerpoint/2010/main" val="374418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A6CA-636C-8B66-CEBA-A96E87F6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2CDA0CE-1AA2-2E50-12F3-DDBBB9B7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67AD376-4286-6E86-A993-B0F259CF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452F4BE-784E-1142-8B6B-C4E1811DB22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4A358F12-946B-D653-C447-AE5A19D5E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9288"/>
            <a:ext cx="25370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Absorption Spectra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6A5A6E71-F6FE-AF58-E6C4-CBC95BEEAA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4598297"/>
            <a:ext cx="9062712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absorption maxima of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chlorophyll 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430 &amp; 662 nm, and of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chlorophyll 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at 453 &amp; 642 nm.</a:t>
            </a:r>
          </a:p>
          <a:p>
            <a:pPr marL="285750" indent="-285750" algn="just"/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features in leaves are found around 980 nm and 1240 nm.</a:t>
            </a:r>
          </a:p>
          <a:p>
            <a:pPr marL="285750" indent="-28575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Shortwave Infrared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(SWIR) part of the leaf spectrum 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1000 nm) is dominated by water absorption when the leaves are living and by leaf chemical constituents when dry. </a:t>
            </a:r>
          </a:p>
          <a:p>
            <a:pPr marL="285750" indent="-28575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plant compounds have absorptions in the SWIR, including cellulose, lignin, nitrogen (N), sugars, starch, and waxes. 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wall C compounds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 the largest fraction of the </a:t>
            </a:r>
            <a:r>
              <a:rPr 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dry biomass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leaf.</a:t>
            </a:r>
          </a:p>
        </p:txBody>
      </p:sp>
      <p:pic>
        <p:nvPicPr>
          <p:cNvPr id="8" name="Picture 7" descr="A graph of different colors and sizes&#10;&#10;AI-generated content may be incorrect.">
            <a:extLst>
              <a:ext uri="{FF2B5EF4-FFF2-40B4-BE49-F238E27FC236}">
                <a16:creationId xmlns:a16="http://schemas.microsoft.com/office/drawing/2014/main" id="{8D5E40DB-3495-449E-1A7B-93A27A013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48" y="1868379"/>
            <a:ext cx="3628906" cy="1899080"/>
          </a:xfrm>
          <a:prstGeom prst="rect">
            <a:avLst/>
          </a:prstGeom>
        </p:spPr>
      </p:pic>
      <p:pic>
        <p:nvPicPr>
          <p:cNvPr id="10" name="Picture 9" descr="A graph of a graph showing the length of a line&#10;&#10;AI-generated content may be incorrect.">
            <a:extLst>
              <a:ext uri="{FF2B5EF4-FFF2-40B4-BE49-F238E27FC236}">
                <a16:creationId xmlns:a16="http://schemas.microsoft.com/office/drawing/2014/main" id="{8C3A8EA2-3BAD-1B8F-472B-9393716C8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474" y="1845790"/>
            <a:ext cx="2416901" cy="1940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52CA61-EA41-562E-9C48-8805948A1362}"/>
              </a:ext>
            </a:extLst>
          </p:cNvPr>
          <p:cNvSpPr txBox="1"/>
          <p:nvPr/>
        </p:nvSpPr>
        <p:spPr>
          <a:xfrm>
            <a:off x="7887924" y="1894650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Leaf dry matter</a:t>
            </a:r>
          </a:p>
        </p:txBody>
      </p:sp>
      <p:pic>
        <p:nvPicPr>
          <p:cNvPr id="4" name="Picture 3" descr="A graph of a blue and red line&#10;&#10;AI-generated content may be incorrect.">
            <a:extLst>
              <a:ext uri="{FF2B5EF4-FFF2-40B4-BE49-F238E27FC236}">
                <a16:creationId xmlns:a16="http://schemas.microsoft.com/office/drawing/2014/main" id="{BDB6F724-506E-1F9E-533A-04C0F4A5F9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1" y="1271969"/>
            <a:ext cx="2984334" cy="2649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E1AE0-E16A-7E30-6F25-A54053769E6E}"/>
              </a:ext>
            </a:extLst>
          </p:cNvPr>
          <p:cNvSpPr txBox="1"/>
          <p:nvPr/>
        </p:nvSpPr>
        <p:spPr>
          <a:xfrm>
            <a:off x="3671732" y="3907498"/>
            <a:ext cx="4904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Ustin, S.L., Jacquemoud, S. (2020). Doi: 10.1007/978-3-030-33157-3_14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AA0A1-435D-D532-052F-C8E2769E9E0C}"/>
              </a:ext>
            </a:extLst>
          </p:cNvPr>
          <p:cNvSpPr txBox="1"/>
          <p:nvPr/>
        </p:nvSpPr>
        <p:spPr>
          <a:xfrm>
            <a:off x="1062519" y="3921188"/>
            <a:ext cx="9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248576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99F57E81-F448-8B97-ABE0-4B81ECCE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B1AA1F2-81E4-0D0F-6E55-63EFE86B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B945975-DCE7-F44B-9A7A-8AAC51FB044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B3549CDE-9FFC-9B4F-C9ED-71D42C00E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166" y="657757"/>
            <a:ext cx="5080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at Leaf Surface and Interior</a:t>
            </a:r>
          </a:p>
        </p:txBody>
      </p:sp>
      <p:sp>
        <p:nvSpPr>
          <p:cNvPr id="22533" name="TextBox 28">
            <a:extLst>
              <a:ext uri="{FF2B5EF4-FFF2-40B4-BE49-F238E27FC236}">
                <a16:creationId xmlns:a16="http://schemas.microsoft.com/office/drawing/2014/main" id="{7699D3D5-9FFF-FD4E-42AC-9752993C9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45" y="4261622"/>
            <a:ext cx="8856617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 can be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specularly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reflected from the surface of the leaf. These contain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information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leaf biochemical constituents </a:t>
            </a:r>
          </a:p>
          <a:p>
            <a:pPr algn="just" eaLnBrk="1" hangingPunct="1">
              <a:spcBef>
                <a:spcPct val="0"/>
              </a:spcBef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 that enter the interior of the leaf can be either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absorbed or refracted and scattered</a:t>
            </a:r>
          </a:p>
          <a:p>
            <a:pPr algn="just" eaLnBrk="1" hangingPunct="1">
              <a:spcBef>
                <a:spcPct val="0"/>
              </a:spcBef>
            </a:pPr>
            <a:endParaRPr lang="en-US" altLang="en-US" sz="1600" dirty="0">
              <a:solidFill>
                <a:srgbClr val="222F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depends on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</a:p>
          <a:p>
            <a:pPr algn="just" eaLnBrk="1" hangingPunct="1">
              <a:spcBef>
                <a:spcPct val="0"/>
              </a:spcBef>
            </a:pPr>
            <a:endParaRPr lang="en-US" altLang="en-US" sz="1600" dirty="0">
              <a:solidFill>
                <a:srgbClr val="222F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 that are not absorbed in the interior of the leaf emerge through the epidermal cells as </a:t>
            </a:r>
            <a:r>
              <a:rPr lang="en-US" altLang="en-US" sz="1600" dirty="0">
                <a:solidFill>
                  <a:srgbClr val="222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 (</a:t>
            </a:r>
            <a:r>
              <a:rPr lang="en-US" altLang="en-US" sz="1600" dirty="0">
                <a:solidFill>
                  <a:srgbClr val="241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reflection/transmission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7CD99153-EFB1-4962-494E-77777BFE7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071" y="733776"/>
            <a:ext cx="4377742" cy="3199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CDBA1-5E1B-2FF3-F2C0-49E31BBDD33E}"/>
              </a:ext>
            </a:extLst>
          </p:cNvPr>
          <p:cNvSpPr txBox="1"/>
          <p:nvPr/>
        </p:nvSpPr>
        <p:spPr>
          <a:xfrm>
            <a:off x="3526382" y="3683826"/>
            <a:ext cx="1157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Interactions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1F4BB978-0C60-F78F-8FC4-714E4BF3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413BA7-8BB8-561C-0490-C655C108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F55D174-686B-9446-A01D-D663D0A75CF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AB982896-86AB-8F93-7F9C-BA4687CAB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88078"/>
            <a:ext cx="542834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Scattering Phase Function: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’−&gt;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6" name="TextBox 29">
                <a:extLst>
                  <a:ext uri="{FF2B5EF4-FFF2-40B4-BE49-F238E27FC236}">
                    <a16:creationId xmlns:a16="http://schemas.microsoft.com/office/drawing/2014/main" id="{05BDF988-376B-9290-68DA-B11030E850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762" y="3831291"/>
                <a:ext cx="8816476" cy="2909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leaf element of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outward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(J) in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interval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intercepted by this leaf element from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along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during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interval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𝑑𝑡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bar>
                      <m:bar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bar>
                      <m:bar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𝑑𝑡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scattering phase function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determines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(J) which is the fraction of intercepted energy that is scattered by the leaf element into a unit solid angle about direction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𝑑𝐸</m:t>
                        </m:r>
                      </m:num>
                      <m:den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𝑑𝐸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den>
                    </m:f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units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sr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dependence on location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suppressed </a:t>
                </a:r>
                <a:r>
                  <a:rPr lang="en-US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brevity. </a:t>
                </a: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776" name="TextBox 29">
                <a:extLst>
                  <a:ext uri="{FF2B5EF4-FFF2-40B4-BE49-F238E27FC236}">
                    <a16:creationId xmlns:a16="http://schemas.microsoft.com/office/drawing/2014/main" id="{05BDF988-376B-9290-68DA-B11030E85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762" y="3831291"/>
                <a:ext cx="8816476" cy="2909579"/>
              </a:xfrm>
              <a:prstGeom prst="rect">
                <a:avLst/>
              </a:prstGeom>
              <a:blipFill>
                <a:blip r:embed="rId3"/>
                <a:stretch>
                  <a:fillRect l="-1293" t="-2174" r="-718" b="-17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sundial&#10;&#10;AI-generated content may be incorrect.">
            <a:extLst>
              <a:ext uri="{FF2B5EF4-FFF2-40B4-BE49-F238E27FC236}">
                <a16:creationId xmlns:a16="http://schemas.microsoft.com/office/drawing/2014/main" id="{301F1101-A631-E913-BA90-28FBFBEE3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373" y="688078"/>
            <a:ext cx="2889865" cy="3009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7F265F6F-512B-9D5E-C279-6E9A0E54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EE5CE79-303F-F01C-4246-0386A8D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D16BB85-0D5A-6841-AD73-DE3DAFF58FE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7773C8FF-2481-7716-95BC-6772CBDD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81711"/>
            <a:ext cx="182136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Albedo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9">
                <a:extLst>
                  <a:ext uri="{FF2B5EF4-FFF2-40B4-BE49-F238E27FC236}">
                    <a16:creationId xmlns:a16="http://schemas.microsoft.com/office/drawing/2014/main" id="{CFC53D3C-5FEF-2D71-D614-CB940AB5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762" y="4789791"/>
                <a:ext cx="8816476" cy="1833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albedo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the ratio of total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scattered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energy to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intercepted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energy by the leaf element,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d>
                      <m:d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dimensionless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quantity and includes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reflected and transmitted energy from the leaf interior and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specularly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reflected energy from the incident surface.</a:t>
                </a:r>
              </a:p>
            </p:txBody>
          </p:sp>
        </mc:Choice>
        <mc:Fallback xmlns="">
          <p:sp>
            <p:nvSpPr>
              <p:cNvPr id="3" name="TextBox 29">
                <a:extLst>
                  <a:ext uri="{FF2B5EF4-FFF2-40B4-BE49-F238E27FC236}">
                    <a16:creationId xmlns:a16="http://schemas.microsoft.com/office/drawing/2014/main" id="{CFC53D3C-5FEF-2D71-D614-CB940AB5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762" y="4789791"/>
                <a:ext cx="8816476" cy="1833259"/>
              </a:xfrm>
              <a:prstGeom prst="rect">
                <a:avLst/>
              </a:prstGeom>
              <a:blipFill>
                <a:blip r:embed="rId3"/>
                <a:stretch>
                  <a:fillRect l="-1293" t="-3448" b="-55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339B925-B38A-8566-CA89-6708E2532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338" y="711565"/>
            <a:ext cx="3194900" cy="4054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4BFB-8BBE-AF23-4BC4-6A3D4EAC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C3B728E3-4737-832E-A573-F1E3BA54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C4905BC-9A0B-0AD7-AC05-1E19FFED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D16BB85-0D5A-6841-AD73-DE3DAFF58FE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54FC432D-E68F-1AA6-A22C-B622D617B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26972"/>
            <a:ext cx="60946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Hemispherical Reflectance and Transmittance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9">
                <a:extLst>
                  <a:ext uri="{FF2B5EF4-FFF2-40B4-BE49-F238E27FC236}">
                    <a16:creationId xmlns:a16="http://schemas.microsoft.com/office/drawing/2014/main" id="{D6B31831-B0D9-A4A9-A015-2289729A10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107" y="3654941"/>
                <a:ext cx="8816476" cy="30970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incidence can be on the upper face (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adaxial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or the lower face of the leaf (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abaxial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for cases when </a:t>
                </a:r>
                <a14:m>
                  <m:oMath xmlns:m="http://schemas.openxmlformats.org/officeDocument/2006/math">
                    <m:r>
                      <a:rPr lang="en-US" altLang="en-US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[</m:t>
                    </m:r>
                    <m:r>
                      <a:rPr lang="en-US" altLang="en-US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×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)] is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Transmission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when the product is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Thus: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m:rPr>
                                <m:nor/>
                              </m:rPr>
                              <a:rPr lang="en-US" altLang="en-US" sz="16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a:rPr lang="en-US" altLang="en-US" sz="1600" b="0" i="1" baseline="-250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  <m:r>
                          <m:rPr>
                            <m:brk m:alnAt="24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&lt;0 ,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m:rPr>
                                <m:nor/>
                              </m:rPr>
                              <a:rPr lang="en-US" altLang="en-US" sz="16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a:rPr lang="en-US" altLang="en-US" sz="16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&lt;0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&lt;0 ,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m:rPr>
                                <m:nor/>
                              </m:rPr>
                              <a:rPr lang="en-US" altLang="en-US" sz="16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a:rPr lang="en-US" altLang="en-US" sz="16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&lt;0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0 ,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m:rPr>
                                <m:nor/>
                              </m:rPr>
                              <a:rPr lang="en-US" altLang="en-US" sz="16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  <m:r>
                              <a:rPr lang="en-US" altLang="en-US" sz="16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&gt;0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9">
                <a:extLst>
                  <a:ext uri="{FF2B5EF4-FFF2-40B4-BE49-F238E27FC236}">
                    <a16:creationId xmlns:a16="http://schemas.microsoft.com/office/drawing/2014/main" id="{D6B31831-B0D9-A4A9-A015-2289729A1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07" y="3654941"/>
                <a:ext cx="8816476" cy="3097002"/>
              </a:xfrm>
              <a:prstGeom prst="rect">
                <a:avLst/>
              </a:prstGeom>
              <a:blipFill>
                <a:blip r:embed="rId3"/>
                <a:stretch>
                  <a:fillRect l="-1439" t="-2459" r="-1439" b="-209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lock with numbers and letters&#10;&#10;AI-generated content may be incorrect.">
            <a:extLst>
              <a:ext uri="{FF2B5EF4-FFF2-40B4-BE49-F238E27FC236}">
                <a16:creationId xmlns:a16="http://schemas.microsoft.com/office/drawing/2014/main" id="{680027B5-F17A-0846-F4A0-844318113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" y="1266680"/>
            <a:ext cx="2556019" cy="1936378"/>
          </a:xfrm>
          <a:prstGeom prst="rect">
            <a:avLst/>
          </a:prstGeom>
        </p:spPr>
      </p:pic>
      <p:pic>
        <p:nvPicPr>
          <p:cNvPr id="7" name="Picture 6" descr="A screen shot of a diagram&#10;&#10;AI-generated content may be incorrect.">
            <a:extLst>
              <a:ext uri="{FF2B5EF4-FFF2-40B4-BE49-F238E27FC236}">
                <a16:creationId xmlns:a16="http://schemas.microsoft.com/office/drawing/2014/main" id="{A8CB227F-FEBB-1DE2-5005-756BD51DB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333" y="1266680"/>
            <a:ext cx="2095621" cy="1936379"/>
          </a:xfrm>
          <a:prstGeom prst="rect">
            <a:avLst/>
          </a:prstGeom>
        </p:spPr>
      </p:pic>
      <p:pic>
        <p:nvPicPr>
          <p:cNvPr id="9" name="Picture 8" descr="A screen shot of a screen&#10;&#10;AI-generated content may be incorrect.">
            <a:extLst>
              <a:ext uri="{FF2B5EF4-FFF2-40B4-BE49-F238E27FC236}">
                <a16:creationId xmlns:a16="http://schemas.microsoft.com/office/drawing/2014/main" id="{E41D0910-A12D-B204-9982-052A6DCC7D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401" y="1266681"/>
            <a:ext cx="1942374" cy="1936379"/>
          </a:xfrm>
          <a:prstGeom prst="rect">
            <a:avLst/>
          </a:prstGeom>
        </p:spPr>
      </p:pic>
      <p:pic>
        <p:nvPicPr>
          <p:cNvPr id="11" name="Picture 10" descr="A screen shot of a diagram&#10;&#10;AI-generated content may be incorrect.">
            <a:extLst>
              <a:ext uri="{FF2B5EF4-FFF2-40B4-BE49-F238E27FC236}">
                <a16:creationId xmlns:a16="http://schemas.microsoft.com/office/drawing/2014/main" id="{4496F547-4635-57F8-DA72-D203ECFF61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822" y="1275472"/>
            <a:ext cx="1872761" cy="19079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8A8F98-0B5B-C09A-5948-0FBFAF1D43A0}"/>
              </a:ext>
            </a:extLst>
          </p:cNvPr>
          <p:cNvSpPr txBox="1"/>
          <p:nvPr/>
        </p:nvSpPr>
        <p:spPr>
          <a:xfrm>
            <a:off x="3297116" y="3203058"/>
            <a:ext cx="2898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8"/>
              </a:rPr>
              <a:t>Adaxial and Abaxial Interactions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60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B61F-3E5E-B3E8-B1F2-0E77DC29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F4E93DFF-C225-585B-C765-7AA1767E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BC8CAB8-8F5E-B0CD-92DD-19B4CB45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D16BB85-0D5A-6841-AD73-DE3DAFF58FE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283923A9-65CA-2183-087D-10880C9F2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746125"/>
            <a:ext cx="8902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Hemispherical Reflectance and Transmittance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9">
                <a:extLst>
                  <a:ext uri="{FF2B5EF4-FFF2-40B4-BE49-F238E27FC236}">
                    <a16:creationId xmlns:a16="http://schemas.microsoft.com/office/drawing/2014/main" id="{4F5AA5C2-94FA-8BC6-4F1B-382F77C4F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762" y="2378166"/>
                <a:ext cx="8816476" cy="2830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Adaxial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abaxial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leaf reflectances and transmittances can be different. However, it is difficult to distinguish adaxial and abaxial incidences in an agglomeration of leaf elements.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scattering coefficient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is defined for an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volume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many leaf elements can be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reasonably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accurately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ignoring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variation at individual leaf element scale. Thus,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9">
                <a:extLst>
                  <a:ext uri="{FF2B5EF4-FFF2-40B4-BE49-F238E27FC236}">
                    <a16:creationId xmlns:a16="http://schemas.microsoft.com/office/drawing/2014/main" id="{4F5AA5C2-94FA-8BC6-4F1B-382F77C4F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762" y="2378166"/>
                <a:ext cx="8816476" cy="2830390"/>
              </a:xfrm>
              <a:prstGeom prst="rect">
                <a:avLst/>
              </a:prstGeom>
              <a:blipFill>
                <a:blip r:embed="rId3"/>
                <a:stretch>
                  <a:fillRect l="-1293" t="-2242" r="-12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84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68180B7D-CF64-8A44-4CA1-272FCB12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A808801-FF14-0170-1E39-08A7D550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903A443-7866-E24F-951B-9EE9077F189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3DE9FD8B-FD43-F86F-D3D1-72DB72A8A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and Specular Leaf Scattering Phase Functions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11F92C6E-EAB7-F713-DB9D-4940D453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47" y="4741443"/>
            <a:ext cx="8816476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Absorption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scattering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radiation by a leaf depends on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Leaves have a unique signature comprising of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absorption at the red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waveband (~680 nm) and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scattering at the near-infrared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waveband (700 to 1100 nm). This signature is used in remote sensing of vegetation type and properties such as leaf area index.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distribution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radiation reflected by a green leaf shows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anisotropy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characteristic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specular direction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transmitted radiation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 is more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Lambertian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angular distributions vary with wavelength, especially in their magnitude.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8B1E82-7971-E19F-0543-C5409A577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73" y="1068216"/>
            <a:ext cx="3766250" cy="36057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62EE-42F2-0D92-8810-EF4D2EBE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DD9C5F82-341C-ED20-D483-C0EA2A97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629C032-76DF-C601-7D5F-52CA1081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903A443-7866-E24F-951B-9EE9077F189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E0DD403F-B5A3-E7B0-1824-6E7C4485B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105" y="684457"/>
            <a:ext cx="621127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and Specular Leaf Scattering Phase Functions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4E6573-F57F-DBEC-BCAA-C9A57C980230}"/>
                  </a:ext>
                </a:extLst>
              </p:cNvPr>
              <p:cNvSpPr txBox="1"/>
              <p:nvPr/>
            </p:nvSpPr>
            <p:spPr>
              <a:xfrm>
                <a:off x="2159961" y="3861667"/>
                <a:ext cx="4824078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4E6573-F57F-DBEC-BCAA-C9A57C98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961" y="3861667"/>
                <a:ext cx="4824078" cy="370294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29">
            <a:extLst>
              <a:ext uri="{FF2B5EF4-FFF2-40B4-BE49-F238E27FC236}">
                <a16:creationId xmlns:a16="http://schemas.microsoft.com/office/drawing/2014/main" id="{221F6E6D-FF89-EB90-2090-8967D0178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62" y="4598484"/>
            <a:ext cx="881647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convenient to express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scattering phase function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its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specular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for the purpose of formulating simple models to capture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scattering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leaf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interior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specular reflection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leaf </a:t>
            </a:r>
            <a:r>
              <a:rPr lang="en-US" altLang="en-US" sz="1600" dirty="0">
                <a:solidFill>
                  <a:srgbClr val="0F2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A diagram of a line with arrows&#10;&#10;AI-generated content may be incorrect.">
            <a:extLst>
              <a:ext uri="{FF2B5EF4-FFF2-40B4-BE49-F238E27FC236}">
                <a16:creationId xmlns:a16="http://schemas.microsoft.com/office/drawing/2014/main" id="{902AFD7E-6AC7-F462-0F87-3DD6752C2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91075"/>
            <a:ext cx="7772400" cy="256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31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7EB4108-C579-B5B3-1420-91426D68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4EBC793-D795-7A0C-E4BF-8ED89724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573A1CE-7137-AB4A-980E-B5CDE60B84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D9DF41FD-D8AF-DCB3-9045-DE16FB19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672154"/>
            <a:ext cx="505948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Prospect Leaf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D801-B079-F77A-0F57-45A3B3C6932F}"/>
              </a:ext>
            </a:extLst>
          </p:cNvPr>
          <p:cNvSpPr txBox="1"/>
          <p:nvPr/>
        </p:nvSpPr>
        <p:spPr>
          <a:xfrm>
            <a:off x="99060" y="4251068"/>
            <a:ext cx="89458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“</a:t>
            </a:r>
            <a:r>
              <a:rPr lang="en-US" sz="1600" dirty="0">
                <a:solidFill>
                  <a:srgbClr val="0F23F4"/>
                </a:solidFill>
              </a:rPr>
              <a:t>Prospect</a:t>
            </a:r>
            <a:r>
              <a:rPr lang="en-US" sz="1600" dirty="0">
                <a:solidFill>
                  <a:schemeClr val="tx1"/>
                </a:solidFill>
              </a:rPr>
              <a:t>” models a single </a:t>
            </a:r>
            <a:r>
              <a:rPr lang="en-US" sz="1600" dirty="0">
                <a:solidFill>
                  <a:srgbClr val="0F23F4"/>
                </a:solidFill>
              </a:rPr>
              <a:t>leaf diffuse reflectance </a:t>
            </a:r>
            <a:r>
              <a:rPr lang="en-US" sz="1600" dirty="0">
                <a:solidFill>
                  <a:schemeClr val="tx1"/>
                </a:solidFill>
              </a:rPr>
              <a:t>and </a:t>
            </a:r>
            <a:r>
              <a:rPr lang="en-US" sz="1600" dirty="0">
                <a:solidFill>
                  <a:srgbClr val="0F23F4"/>
                </a:solidFill>
              </a:rPr>
              <a:t>transmittance</a:t>
            </a:r>
            <a:r>
              <a:rPr lang="en-US" sz="1600" dirty="0">
                <a:solidFill>
                  <a:schemeClr val="tx1"/>
                </a:solidFill>
              </a:rPr>
              <a:t> as a function of leaf </a:t>
            </a:r>
            <a:r>
              <a:rPr lang="en-US" sz="1600" dirty="0">
                <a:solidFill>
                  <a:srgbClr val="0F23F4"/>
                </a:solidFill>
              </a:rPr>
              <a:t>biochemical </a:t>
            </a:r>
            <a:r>
              <a:rPr lang="en-US" sz="1600" dirty="0">
                <a:solidFill>
                  <a:schemeClr val="tx1"/>
                </a:solidFill>
              </a:rPr>
              <a:t>content and anatomical </a:t>
            </a:r>
            <a:r>
              <a:rPr lang="en-US" sz="1600" dirty="0">
                <a:solidFill>
                  <a:srgbClr val="0F23F4"/>
                </a:solidFill>
              </a:rPr>
              <a:t>structure</a:t>
            </a:r>
            <a:r>
              <a:rPr lang="en-US" sz="1600" dirty="0">
                <a:solidFill>
                  <a:schemeClr val="tx1"/>
                </a:solidFill>
              </a:rPr>
              <a:t>. The model combines transmission through an elementary layer using </a:t>
            </a:r>
            <a:r>
              <a:rPr lang="en-US" sz="1600" dirty="0">
                <a:solidFill>
                  <a:srgbClr val="0F23F4"/>
                </a:solidFill>
              </a:rPr>
              <a:t>Beer-Lambert law </a:t>
            </a:r>
            <a:r>
              <a:rPr lang="en-US" sz="1600" dirty="0">
                <a:solidFill>
                  <a:schemeClr val="tx1"/>
                </a:solidFill>
              </a:rPr>
              <a:t>and multiple reflection between N layers (</a:t>
            </a:r>
            <a:r>
              <a:rPr lang="en-US" sz="1600" dirty="0">
                <a:solidFill>
                  <a:srgbClr val="0F23F4"/>
                </a:solidFill>
              </a:rPr>
              <a:t>Stokes system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</a:p>
          <a:p>
            <a:pPr algn="just"/>
            <a:endParaRPr lang="en-US" sz="1600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</a:rPr>
              <a:t>Inputs to the Prospect leaf model include a </a:t>
            </a:r>
            <a:r>
              <a:rPr lang="en-US" sz="1600" dirty="0">
                <a:solidFill>
                  <a:srgbClr val="0F23F4"/>
                </a:solidFill>
              </a:rPr>
              <a:t>structure parameter </a:t>
            </a:r>
            <a:r>
              <a:rPr lang="en-US" sz="1600" dirty="0">
                <a:solidFill>
                  <a:schemeClr val="tx1"/>
                </a:solidFill>
              </a:rPr>
              <a:t>N the number of layers (1.2) and its biochemical constituents (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</a:rPr>
              <a:t>chlorophyll </a:t>
            </a:r>
            <a:r>
              <a:rPr lang="en-US" altLang="en-US" sz="1600" i="1" dirty="0">
                <a:solidFill>
                  <a:srgbClr val="0F23F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</a:rPr>
              <a:t>+</a:t>
            </a:r>
            <a:r>
              <a:rPr lang="en-US" altLang="en-US" sz="1600" i="1" dirty="0">
                <a:solidFill>
                  <a:srgbClr val="0F23F4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 concentration (30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g.cm</a:t>
            </a:r>
            <a:r>
              <a:rPr lang="en-US" altLang="en-US" sz="1600" baseline="30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),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  <a:sym typeface="Symbol" pitchFamily="2" charset="2"/>
              </a:rPr>
              <a:t>carotenoids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(10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g.cm</a:t>
            </a:r>
            <a:r>
              <a:rPr lang="en-US" altLang="en-US" sz="1600" baseline="30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),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  <a:sym typeface="Symbol" pitchFamily="2" charset="2"/>
              </a:rPr>
              <a:t>anthocyanins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(1 g.cm</a:t>
            </a:r>
            <a:r>
              <a:rPr lang="en-US" altLang="en-US" sz="1600" baseline="30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),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  <a:sym typeface="Symbol" pitchFamily="2" charset="2"/>
              </a:rPr>
              <a:t>dry matter content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(0.0015 g.cm</a:t>
            </a:r>
            <a:r>
              <a:rPr lang="en-US" altLang="en-US" sz="1600" baseline="30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) and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</a:rPr>
              <a:t>equivalent water thickness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(0.09 g.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cm</a:t>
            </a:r>
            <a:r>
              <a:rPr lang="en-US" altLang="en-US" sz="1600" baseline="300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2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). 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The model outputs leaf reflectance and transmittance spectra in the wavelength range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  <a:sym typeface="Symbol" pitchFamily="2" charset="2"/>
              </a:rPr>
              <a:t>400 to 2500 nm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. The outputs are </a:t>
            </a:r>
            <a:r>
              <a:rPr lang="en-US" altLang="en-US" sz="1600" dirty="0">
                <a:solidFill>
                  <a:srgbClr val="0F23F4"/>
                </a:solidFill>
                <a:cs typeface="Times New Roman" panose="02020603050405020304" pitchFamily="18" charset="0"/>
                <a:sym typeface="Symbol" pitchFamily="2" charset="2"/>
              </a:rPr>
              <a:t>directional-hemispherical</a:t>
            </a:r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 quantities, and they represent the result of photon transport and interactions in the interior of the leaf.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7" name="Picture 6" descr="A graph of a reflection of a reflectance&#10;&#10;AI-generated content may be incorrect.">
            <a:extLst>
              <a:ext uri="{FF2B5EF4-FFF2-40B4-BE49-F238E27FC236}">
                <a16:creationId xmlns:a16="http://schemas.microsoft.com/office/drawing/2014/main" id="{D9E9ED7F-D3AD-D2F7-E6D2-8787E3338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684" y="1072204"/>
            <a:ext cx="4316973" cy="3194318"/>
          </a:xfrm>
          <a:prstGeom prst="rect">
            <a:avLst/>
          </a:prstGeom>
        </p:spPr>
      </p:pic>
      <p:pic>
        <p:nvPicPr>
          <p:cNvPr id="3" name="Picture 2" descr="A blue background with white and green stripes&#10;&#10;AI-generated content may be incorrect.">
            <a:extLst>
              <a:ext uri="{FF2B5EF4-FFF2-40B4-BE49-F238E27FC236}">
                <a16:creationId xmlns:a16="http://schemas.microsoft.com/office/drawing/2014/main" id="{5F292FA8-FCF5-9DA4-9980-5DA8CCB8E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64" y="1550988"/>
            <a:ext cx="37719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FE390B7-4F11-D3D8-BBE9-C6104823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52C55F6-1066-C4D7-DB9A-514172D8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D1DFA8D-72F5-C346-80C0-7B1E2F17448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4AFE1808-672A-B3F5-933C-6EB668A56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3731"/>
            <a:ext cx="5681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Prospect Sensitivity Analysis</a:t>
            </a:r>
          </a:p>
        </p:txBody>
      </p:sp>
      <p:pic>
        <p:nvPicPr>
          <p:cNvPr id="30724" name="Picture 17" descr="contrib">
            <a:extLst>
              <a:ext uri="{FF2B5EF4-FFF2-40B4-BE49-F238E27FC236}">
                <a16:creationId xmlns:a16="http://schemas.microsoft.com/office/drawing/2014/main" id="{C41432A8-D7AA-17F2-C43A-386FC502D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87" y="1159494"/>
            <a:ext cx="5681588" cy="3485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Rectangle 18">
            <a:extLst>
              <a:ext uri="{FF2B5EF4-FFF2-40B4-BE49-F238E27FC236}">
                <a16:creationId xmlns:a16="http://schemas.microsoft.com/office/drawing/2014/main" id="{39111841-A5F0-B665-5AE6-5B197F56F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" y="2146961"/>
            <a:ext cx="3098800" cy="116955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Leaf structure parameter, 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CC00"/>
                </a:solidFill>
                <a:latin typeface="Times New Roman" panose="02020603050405020304" pitchFamily="18" charset="0"/>
              </a:rPr>
              <a:t>Chlorophyll content, C</a:t>
            </a:r>
            <a:r>
              <a:rPr lang="en-US" altLang="en-US" sz="1400" baseline="-25000" dirty="0">
                <a:solidFill>
                  <a:srgbClr val="00CC00"/>
                </a:solidFill>
                <a:latin typeface="Times New Roman" panose="02020603050405020304" pitchFamily="18" charset="0"/>
              </a:rPr>
              <a:t>ab</a:t>
            </a:r>
            <a:endParaRPr lang="en-US" altLang="en-US" sz="14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172DF4"/>
                </a:solidFill>
                <a:latin typeface="Times New Roman" panose="02020603050405020304" pitchFamily="18" charset="0"/>
              </a:rPr>
              <a:t>Equivalent water thickness, </a:t>
            </a:r>
            <a:r>
              <a:rPr lang="en-US" altLang="en-US" sz="1400" dirty="0" err="1">
                <a:solidFill>
                  <a:srgbClr val="172DF4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400" baseline="-25000" dirty="0" err="1">
                <a:solidFill>
                  <a:srgbClr val="172DF4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400" dirty="0">
                <a:solidFill>
                  <a:srgbClr val="172DF4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800000"/>
                </a:solidFill>
                <a:latin typeface="Times New Roman" panose="02020603050405020304" pitchFamily="18" charset="0"/>
              </a:rPr>
              <a:t>Dry matter content, C</a:t>
            </a:r>
            <a:r>
              <a:rPr lang="en-US" altLang="en-US" sz="1400" baseline="-25000" dirty="0">
                <a:solidFill>
                  <a:srgbClr val="800000"/>
                </a:solidFill>
                <a:latin typeface="Times New Roman" panose="02020603050405020304" pitchFamily="18" charset="0"/>
              </a:rPr>
              <a:t>m</a:t>
            </a:r>
            <a:endParaRPr lang="en-US" altLang="en-US" sz="140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808080"/>
                </a:solidFill>
                <a:latin typeface="Times New Roman" panose="02020603050405020304" pitchFamily="18" charset="0"/>
              </a:rPr>
              <a:t>Sum of the contributions to reflectance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62277-E722-225A-DF7D-9E99C11E4D8C}"/>
              </a:ext>
            </a:extLst>
          </p:cNvPr>
          <p:cNvSpPr txBox="1"/>
          <p:nvPr/>
        </p:nvSpPr>
        <p:spPr>
          <a:xfrm>
            <a:off x="96519" y="4711039"/>
            <a:ext cx="8945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</a:rPr>
              <a:t>The sensitivity analysis shows the </a:t>
            </a:r>
            <a:r>
              <a:rPr lang="en-US" sz="1600" dirty="0">
                <a:solidFill>
                  <a:srgbClr val="0F23F4"/>
                </a:solidFill>
              </a:rPr>
              <a:t>contribution</a:t>
            </a:r>
            <a:r>
              <a:rPr lang="en-US" sz="1600" dirty="0">
                <a:solidFill>
                  <a:schemeClr val="tx1"/>
                </a:solidFill>
              </a:rPr>
              <a:t> of leaf internal </a:t>
            </a:r>
            <a:r>
              <a:rPr lang="en-US" sz="1600" dirty="0">
                <a:solidFill>
                  <a:srgbClr val="0F23F4"/>
                </a:solidFill>
              </a:rPr>
              <a:t>structure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dirty="0">
                <a:solidFill>
                  <a:srgbClr val="0F23F4"/>
                </a:solidFill>
              </a:rPr>
              <a:t>biochemical</a:t>
            </a:r>
            <a:r>
              <a:rPr lang="en-US" sz="1600" dirty="0">
                <a:solidFill>
                  <a:schemeClr val="tx1"/>
                </a:solidFill>
              </a:rPr>
              <a:t> content to its diffuse </a:t>
            </a:r>
            <a:r>
              <a:rPr lang="en-US" sz="1600" dirty="0">
                <a:solidFill>
                  <a:srgbClr val="0F23F4"/>
                </a:solidFill>
              </a:rPr>
              <a:t>reflectance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>
                <a:solidFill>
                  <a:srgbClr val="0F23F4"/>
                </a:solidFill>
              </a:rPr>
              <a:t>Chlorophyll</a:t>
            </a:r>
            <a:r>
              <a:rPr lang="en-US" sz="1600" dirty="0">
                <a:solidFill>
                  <a:schemeClr val="tx1"/>
                </a:solidFill>
              </a:rPr>
              <a:t> dominates the signature in the </a:t>
            </a:r>
            <a:r>
              <a:rPr lang="en-US" sz="1600" dirty="0">
                <a:solidFill>
                  <a:srgbClr val="0F23F4"/>
                </a:solidFill>
              </a:rPr>
              <a:t>visible</a:t>
            </a:r>
            <a:r>
              <a:rPr lang="en-US" sz="1600" dirty="0">
                <a:solidFill>
                  <a:schemeClr val="tx1"/>
                </a:solidFill>
              </a:rPr>
              <a:t> region (400-700 nm), the </a:t>
            </a:r>
            <a:r>
              <a:rPr lang="en-US" sz="1600" dirty="0">
                <a:solidFill>
                  <a:srgbClr val="0F23F4"/>
                </a:solidFill>
              </a:rPr>
              <a:t>structure </a:t>
            </a:r>
            <a:r>
              <a:rPr lang="en-US" sz="1600" dirty="0">
                <a:solidFill>
                  <a:schemeClr val="tx1"/>
                </a:solidFill>
              </a:rPr>
              <a:t>contributes the most in the </a:t>
            </a:r>
            <a:r>
              <a:rPr lang="en-US" sz="1600" dirty="0">
                <a:solidFill>
                  <a:srgbClr val="0F23F4"/>
                </a:solidFill>
              </a:rPr>
              <a:t>near-infrared</a:t>
            </a:r>
            <a:r>
              <a:rPr lang="en-US" sz="1600" dirty="0">
                <a:solidFill>
                  <a:schemeClr val="tx1"/>
                </a:solidFill>
              </a:rPr>
              <a:t> region (700-1100 nm). Absorption features of </a:t>
            </a:r>
            <a:r>
              <a:rPr lang="en-US" sz="1600" dirty="0">
                <a:solidFill>
                  <a:srgbClr val="0F23F4"/>
                </a:solidFill>
              </a:rPr>
              <a:t>water</a:t>
            </a:r>
            <a:r>
              <a:rPr lang="en-US" sz="1600" dirty="0">
                <a:solidFill>
                  <a:schemeClr val="tx1"/>
                </a:solidFill>
              </a:rPr>
              <a:t> in the </a:t>
            </a:r>
            <a:r>
              <a:rPr lang="en-US" sz="1600" dirty="0">
                <a:solidFill>
                  <a:srgbClr val="0F23F4"/>
                </a:solidFill>
              </a:rPr>
              <a:t>shortwave infrared </a:t>
            </a:r>
            <a:r>
              <a:rPr lang="en-US" sz="1600" dirty="0">
                <a:solidFill>
                  <a:schemeClr val="tx1"/>
                </a:solidFill>
              </a:rPr>
              <a:t>region (&gt; 1400 nm) imbue a characteristic signature to the leaf reflectance. The contribution of </a:t>
            </a:r>
            <a:r>
              <a:rPr lang="en-US" sz="1600" dirty="0">
                <a:solidFill>
                  <a:srgbClr val="0F23F4"/>
                </a:solidFill>
              </a:rPr>
              <a:t>dry matter </a:t>
            </a:r>
            <a:r>
              <a:rPr lang="en-US" sz="1600" dirty="0">
                <a:solidFill>
                  <a:schemeClr val="tx1"/>
                </a:solidFill>
              </a:rPr>
              <a:t>is generally less that 15% and is important only at wavelengths </a:t>
            </a:r>
            <a:r>
              <a:rPr lang="en-US" sz="1600" dirty="0">
                <a:solidFill>
                  <a:srgbClr val="0F23F4"/>
                </a:solidFill>
              </a:rPr>
              <a:t>greater than 1500 nm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A5FCF-D47D-FB6E-1620-BB547C725DD0}"/>
              </a:ext>
            </a:extLst>
          </p:cNvPr>
          <p:cNvSpPr txBox="1"/>
          <p:nvPr/>
        </p:nvSpPr>
        <p:spPr>
          <a:xfrm>
            <a:off x="985806" y="3382166"/>
            <a:ext cx="2074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Jacquemoud S, Ustin S., 2019.</a:t>
            </a:r>
          </a:p>
          <a:p>
            <a:r>
              <a:rPr lang="en-US" dirty="0">
                <a:solidFill>
                  <a:schemeClr val="tx1"/>
                </a:solidFill>
              </a:rPr>
              <a:t>doi: 10.1017/9781108686457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9E14B14C-C8A8-C97B-F075-FA6978A52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C2CB64C-1891-8A05-9B79-6690463B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B89E03F-469F-C747-8AE2-A9EBF925973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4" name="TextBox 61">
                <a:extLst>
                  <a:ext uri="{FF2B5EF4-FFF2-40B4-BE49-F238E27FC236}">
                    <a16:creationId xmlns:a16="http://schemas.microsoft.com/office/drawing/2014/main" id="{720B498D-9498-17C4-9017-559CD3C36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37" y="3276680"/>
                <a:ext cx="8757125" cy="3576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228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 algn="just" eaLnBrk="1" hangingPunct="1">
                  <a:spcBef>
                    <a:spcPct val="0"/>
                  </a:spcBef>
                  <a:spcAft>
                    <a:spcPts val="1800"/>
                  </a:spcAft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smtClean="0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incident energy is assumed reflected in a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 distribution (Lambertian)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about the leaf normal. Similarly, another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smtClean="0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rgbClr val="0F23F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i="1">
                        <a:solidFill>
                          <a:srgbClr val="0F23F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incident energy is assumed transmitted in a cosine distribution on the opposite side of the leaf. This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bi-Lambertian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 can be expressed as, </a:t>
                </a:r>
              </a:p>
              <a:p>
                <a:pPr marL="0" indent="0" algn="just" eaLnBrk="1" hangingPunct="1">
                  <a:spcBef>
                    <a:spcPct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𝐿𝐷</m:t>
                          </m:r>
                        </m:sub>
                      </m:sSub>
                      <m:d>
                        <m:dPr>
                          <m:ctrlPr>
                            <a:rPr lang="en-US" alt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bar>
                            <m:barPr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l-GR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</m:bar>
                          <m:r>
                            <a:rPr lang="en-US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bar>
                            <m:bar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l-GR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</m:bar>
                          <m:r>
                            <a:rPr lang="en-US" altLang="en-US" sz="1600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en-US" sz="1600" i="1" baseline="-25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𝐿𝐷</m:t>
                                  </m:r>
                                </m:sub>
                              </m:sSub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|</m:t>
                              </m:r>
                              <m:bar>
                                <m:bar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l-GR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en-US" sz="16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𝐿𝐷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|</m:t>
                              </m:r>
                              <m:bar>
                                <m:bar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l-GR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|,  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bar>
                                    <m:bar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bar>
                                </m:e>
                                <m:sup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</m:bar>
                              <m:r>
                                <a:rPr lang="en-US" altLang="en-US" sz="1600" i="1" baseline="-250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m:rPr>
                                  <m:nor/>
                                </m:rPr>
                                <a:rPr lang="en-US" altLang="en-US" sz="16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 eaLnBrk="1" hangingPunct="1">
                  <a:spcBef>
                    <a:spcPct val="0"/>
                  </a:spcBef>
                  <a:spcAft>
                    <a:spcPts val="1800"/>
                  </a:spcAft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generally assumed without much loss of generality, and due to lack of data,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independent of leaf normal orientation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incident photon direction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location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 on wavelength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incident photon and are typically obtained from either measurements or models such as Prospect. It follows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  <m:sup/>
                    </m:sSubSup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albedo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interactions inside the leaf.</a:t>
                </a:r>
              </a:p>
            </p:txBody>
          </p:sp>
        </mc:Choice>
        <mc:Fallback xmlns="">
          <p:sp>
            <p:nvSpPr>
              <p:cNvPr id="40964" name="TextBox 61">
                <a:extLst>
                  <a:ext uri="{FF2B5EF4-FFF2-40B4-BE49-F238E27FC236}">
                    <a16:creationId xmlns:a16="http://schemas.microsoft.com/office/drawing/2014/main" id="{720B498D-9498-17C4-9017-559CD3C36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437" y="3276680"/>
                <a:ext cx="8757125" cy="3576557"/>
              </a:xfrm>
              <a:prstGeom prst="rect">
                <a:avLst/>
              </a:prstGeom>
              <a:blipFill>
                <a:blip r:embed="rId3"/>
                <a:stretch>
                  <a:fillRect l="-1449" t="-2128" r="-1449" b="-24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7">
            <a:extLst>
              <a:ext uri="{FF2B5EF4-FFF2-40B4-BE49-F238E27FC236}">
                <a16:creationId xmlns:a16="http://schemas.microsoft.com/office/drawing/2014/main" id="{316003A7-6D46-1A39-C6E0-21AB4B547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1" y="649288"/>
            <a:ext cx="71700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Interactions: The Bi-Lambertian Model</a:t>
            </a:r>
          </a:p>
        </p:txBody>
      </p:sp>
      <p:pic>
        <p:nvPicPr>
          <p:cNvPr id="6" name="Picture 5" descr="A diagram of a field with different colored lines&#10;&#10;AI-generated content may be incorrect.">
            <a:extLst>
              <a:ext uri="{FF2B5EF4-FFF2-40B4-BE49-F238E27FC236}">
                <a16:creationId xmlns:a16="http://schemas.microsoft.com/office/drawing/2014/main" id="{3A2B4957-812B-89F4-18F6-92C2F5023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771" y="717130"/>
            <a:ext cx="3008791" cy="2511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CF1D3B-EC73-71B5-9E2E-8C54AC394603}"/>
              </a:ext>
            </a:extLst>
          </p:cNvPr>
          <p:cNvSpPr txBox="1"/>
          <p:nvPr/>
        </p:nvSpPr>
        <p:spPr>
          <a:xfrm>
            <a:off x="4040481" y="2638196"/>
            <a:ext cx="1822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5"/>
              </a:rPr>
              <a:t>Diffuse Interactions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14F35FB0-538D-1279-A5F4-C07DDCDC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85682A-F7C9-CEF5-7A16-7C0424C9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2C09EF-ABBA-8B43-BBAE-5CC4FF609BB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5931BD75-14E6-92F9-1E86-0C79C3EEDC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53" y="3509162"/>
                <a:ext cx="8736094" cy="3370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228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leaf surface is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air–plant cuticle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interface, the first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refractive discontinuity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encountered by the incident photons incident on a leaf.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refractive index </a:t>
                </a:r>
                <a:r>
                  <a:rPr lang="en-US" altLang="en-US" sz="1600" i="1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weakly depends on wavelength, hence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~ 1.3 to 1.5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measurements. Specular reflection from the leaf surface can be modelled following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Fresnel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equation,</a:t>
                </a: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 of incidence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sin 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(sin 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α′)/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n. However, leaf surfaces are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optically smooth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due to presence of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veins, hairs and wax deposits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Fresnel term must therefore be modified by a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factor,</a:t>
                </a:r>
              </a:p>
              <a:p>
                <a:pPr marL="0" indent="0"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tan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⁡(|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′|)</m:t>
                        </m: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the parameter 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κ ≈ 0.1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0.3 characterizes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roughness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surface. </a:t>
                </a:r>
              </a:p>
            </p:txBody>
          </p:sp>
        </mc:Choice>
        <mc:Fallback xmlns="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5931BD75-14E6-92F9-1E86-0C79C3EED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953" y="3509162"/>
                <a:ext cx="8736094" cy="3370346"/>
              </a:xfrm>
              <a:prstGeom prst="rect">
                <a:avLst/>
              </a:prstGeom>
              <a:blipFill>
                <a:blip r:embed="rId3"/>
                <a:stretch>
                  <a:fillRect l="-1304" t="-1880" r="-1304" b="-30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7">
            <a:extLst>
              <a:ext uri="{FF2B5EF4-FFF2-40B4-BE49-F238E27FC236}">
                <a16:creationId xmlns:a16="http://schemas.microsoft.com/office/drawing/2014/main" id="{303792ED-7314-5039-1ACC-8DB725A54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8813"/>
            <a:ext cx="5684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Interactions: Specular Reflection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3FDFC-893F-885D-1F2E-0F9E6A39F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27714"/>
            <a:ext cx="0" cy="0"/>
          </a:xfrm>
          <a:prstGeom prst="rect">
            <a:avLst/>
          </a:prstGeom>
        </p:spPr>
      </p:pic>
      <p:grpSp>
        <p:nvGrpSpPr>
          <p:cNvPr id="8" name="Group 54">
            <a:extLst>
              <a:ext uri="{FF2B5EF4-FFF2-40B4-BE49-F238E27FC236}">
                <a16:creationId xmlns:a16="http://schemas.microsoft.com/office/drawing/2014/main" id="{6DD4519E-EA2D-0791-CB3A-4AA5E84F6DE3}"/>
              </a:ext>
            </a:extLst>
          </p:cNvPr>
          <p:cNvGrpSpPr>
            <a:grpSpLocks/>
          </p:cNvGrpSpPr>
          <p:nvPr/>
        </p:nvGrpSpPr>
        <p:grpSpPr bwMode="auto">
          <a:xfrm>
            <a:off x="77222" y="1453241"/>
            <a:ext cx="1869900" cy="1112737"/>
            <a:chOff x="5870837" y="4529666"/>
            <a:chExt cx="2502697" cy="1931147"/>
          </a:xfrm>
        </p:grpSpPr>
        <p:pic>
          <p:nvPicPr>
            <p:cNvPr id="9" name="Picture 51">
              <a:extLst>
                <a:ext uri="{FF2B5EF4-FFF2-40B4-BE49-F238E27FC236}">
                  <a16:creationId xmlns:a16="http://schemas.microsoft.com/office/drawing/2014/main" id="{29FC8876-A591-FB04-5DC8-63319C6A1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66"/>
            <a:stretch>
              <a:fillRect/>
            </a:stretch>
          </p:blipFill>
          <p:spPr bwMode="auto">
            <a:xfrm>
              <a:off x="5870837" y="4529666"/>
              <a:ext cx="2502697" cy="1931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53">
              <a:extLst>
                <a:ext uri="{FF2B5EF4-FFF2-40B4-BE49-F238E27FC236}">
                  <a16:creationId xmlns:a16="http://schemas.microsoft.com/office/drawing/2014/main" id="{C90EE4A1-B5AB-89C0-F061-264AAD560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8444" y="6166555"/>
              <a:ext cx="110349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Leaf epidermis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64E3C2-FADB-F92C-0EB0-75FCD0399870}"/>
              </a:ext>
            </a:extLst>
          </p:cNvPr>
          <p:cNvSpPr txBox="1"/>
          <p:nvPr/>
        </p:nvSpPr>
        <p:spPr>
          <a:xfrm>
            <a:off x="1349013" y="2638484"/>
            <a:ext cx="14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Wikipedia Commons</a:t>
            </a:r>
          </a:p>
        </p:txBody>
      </p:sp>
      <p:pic>
        <p:nvPicPr>
          <p:cNvPr id="7" name="Picture 6" descr="A diagram of a reflection of a sun&#10;&#10;AI-generated content may be incorrect.">
            <a:extLst>
              <a:ext uri="{FF2B5EF4-FFF2-40B4-BE49-F238E27FC236}">
                <a16:creationId xmlns:a16="http://schemas.microsoft.com/office/drawing/2014/main" id="{BD769721-594F-6074-B714-745D96861A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47" y="689999"/>
            <a:ext cx="3756760" cy="2481903"/>
          </a:xfrm>
          <a:prstGeom prst="rect">
            <a:avLst/>
          </a:prstGeom>
        </p:spPr>
      </p:pic>
      <p:pic>
        <p:nvPicPr>
          <p:cNvPr id="29" name="Picture 28" descr="A close up of a leaf&#10;&#10;AI-generated content may be incorrect.">
            <a:extLst>
              <a:ext uri="{FF2B5EF4-FFF2-40B4-BE49-F238E27FC236}">
                <a16:creationId xmlns:a16="http://schemas.microsoft.com/office/drawing/2014/main" id="{CD8E7712-4AF1-37A9-F838-2FFAE37A6A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839" y="1464057"/>
            <a:ext cx="1663577" cy="1101922"/>
          </a:xfrm>
          <a:prstGeom prst="rect">
            <a:avLst/>
          </a:prstGeom>
        </p:spPr>
      </p:pic>
      <p:pic>
        <p:nvPicPr>
          <p:cNvPr id="31" name="Picture 30" descr="A close-up of a leaf&#10;&#10;AI-generated content may be incorrect.">
            <a:extLst>
              <a:ext uri="{FF2B5EF4-FFF2-40B4-BE49-F238E27FC236}">
                <a16:creationId xmlns:a16="http://schemas.microsoft.com/office/drawing/2014/main" id="{F357FB73-A511-1280-F9C2-CAF222AACA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991" y="1447848"/>
            <a:ext cx="1545049" cy="15035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EC57855-9B83-F96F-E062-CA24B77E7792}"/>
              </a:ext>
            </a:extLst>
          </p:cNvPr>
          <p:cNvSpPr txBox="1"/>
          <p:nvPr/>
        </p:nvSpPr>
        <p:spPr>
          <a:xfrm>
            <a:off x="5567008" y="3154055"/>
            <a:ext cx="3373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9"/>
              </a:rPr>
              <a:t>Specular Reflection from Leaf Surface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E3AF-EF45-EF6F-F98D-F5CABBCD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D553968-0F1F-1ABE-4489-85D07727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0197E0B-A098-74D3-3154-10D112D5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2C09EF-ABBA-8B43-BBAE-5CC4FF609BB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8C431B5E-9BE4-069D-D103-F4033C830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601" y="4490909"/>
                <a:ext cx="8736094" cy="21112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228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view of the foregoing,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leaf scattering phase for specular reflection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modelled as,</a:t>
                </a:r>
              </a:p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  <m:r>
                      <a:rPr lang="en-US" altLang="en-US" sz="1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bar>
                      <m:bar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  <m:sup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 delta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2D Dirac delta function) acts as a spike that integrates to 1 over an area used to model the specularly reflected radiant energy,</a:t>
                </a:r>
              </a:p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  </m:t>
                    </m:r>
                    <m:r>
                      <m:rPr>
                        <m:sty m:val="p"/>
                      </m:rPr>
                      <a:rPr lang="en-US" alt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f(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l-GR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ba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. </a:t>
                </a:r>
              </a:p>
            </p:txBody>
          </p:sp>
        </mc:Choice>
        <mc:Fallback xmlns="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8C431B5E-9BE4-069D-D103-F4033C83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601" y="4490909"/>
                <a:ext cx="8736094" cy="2111219"/>
              </a:xfrm>
              <a:prstGeom prst="rect">
                <a:avLst/>
              </a:prstGeom>
              <a:blipFill>
                <a:blip r:embed="rId4"/>
                <a:stretch>
                  <a:fillRect l="-1453" t="-2994" r="-1453" b="-335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7">
            <a:extLst>
              <a:ext uri="{FF2B5EF4-FFF2-40B4-BE49-F238E27FC236}">
                <a16:creationId xmlns:a16="http://schemas.microsoft.com/office/drawing/2014/main" id="{CA160A64-96CE-C8C9-3E69-B040581B7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0177"/>
            <a:ext cx="56046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Interactions: Specular Reflection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2195A-C3BE-CEFE-209F-4ED2172DB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27714"/>
            <a:ext cx="0" cy="0"/>
          </a:xfrm>
          <a:prstGeom prst="rect">
            <a:avLst/>
          </a:prstGeom>
        </p:spPr>
      </p:pic>
      <p:sp>
        <p:nvSpPr>
          <p:cNvPr id="22" name="Rectangle 4">
            <a:extLst>
              <a:ext uri="{FF2B5EF4-FFF2-40B4-BE49-F238E27FC236}">
                <a16:creationId xmlns:a16="http://schemas.microsoft.com/office/drawing/2014/main" id="{55297794-EF73-4796-0671-E047CEFB9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5875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F57D7A2B-CC59-2640-E5BC-7E6843264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12987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2972E062-EBE8-C76E-0030-235B050F6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15527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blue circle with a rainbow colored circle&#10;&#10;AI-generated content may be incorrect.">
            <a:extLst>
              <a:ext uri="{FF2B5EF4-FFF2-40B4-BE49-F238E27FC236}">
                <a16:creationId xmlns:a16="http://schemas.microsoft.com/office/drawing/2014/main" id="{49C3E1F1-108B-5DF5-EBB9-84CD30A4D6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453" y="1040287"/>
            <a:ext cx="3664270" cy="324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52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1043-7B45-BA10-37EB-3152799D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79BC5D7B-0C61-3D64-BE44-6A5E16AF9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03: Leaf Optics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F2FCBF5-53A2-2082-E5ED-9B338B86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2C09EF-ABBA-8B43-BBAE-5CC4FF609BB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20A0056C-41D7-DF4F-62FD-E829E6A52E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53" y="5444764"/>
                <a:ext cx="8736094" cy="876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228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0F23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albedo for specular reflection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𝐿𝑆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thus,</a:t>
                </a:r>
              </a:p>
              <a:p>
                <a:pPr marL="0" indent="0" algn="just" eaLnBrk="1" hangingPunct="1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/>
                    </m:sSubSup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𝐿𝑆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Ω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36873" name="TextBox 61">
                <a:extLst>
                  <a:ext uri="{FF2B5EF4-FFF2-40B4-BE49-F238E27FC236}">
                    <a16:creationId xmlns:a16="http://schemas.microsoft.com/office/drawing/2014/main" id="{20A0056C-41D7-DF4F-62FD-E829E6A52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953" y="5444764"/>
                <a:ext cx="8736094" cy="876650"/>
              </a:xfrm>
              <a:prstGeom prst="rect">
                <a:avLst/>
              </a:prstGeom>
              <a:blipFill>
                <a:blip r:embed="rId3"/>
                <a:stretch>
                  <a:fillRect l="-1304" t="-2857" b="-8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7">
            <a:extLst>
              <a:ext uri="{FF2B5EF4-FFF2-40B4-BE49-F238E27FC236}">
                <a16:creationId xmlns:a16="http://schemas.microsoft.com/office/drawing/2014/main" id="{7AEC79F4-4D5D-F55E-45F7-823836139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0177"/>
            <a:ext cx="56046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Interactions: Specular Reflection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43899-0E17-2EFF-6256-F173CB5C2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27714"/>
            <a:ext cx="0" cy="0"/>
          </a:xfrm>
          <a:prstGeom prst="rect">
            <a:avLst/>
          </a:prstGeom>
        </p:spPr>
      </p:pic>
      <p:sp>
        <p:nvSpPr>
          <p:cNvPr id="22" name="Rectangle 4">
            <a:extLst>
              <a:ext uri="{FF2B5EF4-FFF2-40B4-BE49-F238E27FC236}">
                <a16:creationId xmlns:a16="http://schemas.microsoft.com/office/drawing/2014/main" id="{4C4989C7-25C4-AD9F-257B-0BA537032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5875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24434DB5-DA4D-E24F-F8EE-D428E7CF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12987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AA5FDB47-1E92-69D7-3317-08B8677AF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15527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graph of a graph showing the difference between a model and a cook-torquat  AI-generated content may be incorrect.">
            <a:extLst>
              <a:ext uri="{FF2B5EF4-FFF2-40B4-BE49-F238E27FC236}">
                <a16:creationId xmlns:a16="http://schemas.microsoft.com/office/drawing/2014/main" id="{7648603B-C30E-B280-0660-67AA625464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92883"/>
            <a:ext cx="4213449" cy="423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0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9366</TotalTime>
  <Words>2600</Words>
  <Application>Microsoft Macintosh PowerPoint</Application>
  <PresentationFormat>On-screen Show (4:3)</PresentationFormat>
  <Paragraphs>221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Courier New</vt:lpstr>
      <vt:lpstr>Times</vt:lpstr>
      <vt:lpstr>Times New Roman</vt:lpstr>
      <vt:lpstr>Office Theme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  <vt:lpstr>PHYSICAL MODELS IN REMOTE SENSING Chapter 02 – Part 03: Leaf Optics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887</cp:revision>
  <cp:lastPrinted>2019-09-03T16:52:39Z</cp:lastPrinted>
  <dcterms:created xsi:type="dcterms:W3CDTF">2012-01-16T18:47:06Z</dcterms:created>
  <dcterms:modified xsi:type="dcterms:W3CDTF">2026-03-16T13:13:18Z</dcterms:modified>
</cp:coreProperties>
</file>