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0" r:id="rId1"/>
  </p:sldMasterIdLst>
  <p:notesMasterIdLst>
    <p:notesMasterId r:id="rId19"/>
  </p:notesMasterIdLst>
  <p:sldIdLst>
    <p:sldId id="712" r:id="rId2"/>
    <p:sldId id="790" r:id="rId3"/>
    <p:sldId id="726" r:id="rId4"/>
    <p:sldId id="791" r:id="rId5"/>
    <p:sldId id="792" r:id="rId6"/>
    <p:sldId id="793" r:id="rId7"/>
    <p:sldId id="796" r:id="rId8"/>
    <p:sldId id="794" r:id="rId9"/>
    <p:sldId id="795" r:id="rId10"/>
    <p:sldId id="797" r:id="rId11"/>
    <p:sldId id="798" r:id="rId12"/>
    <p:sldId id="799" r:id="rId13"/>
    <p:sldId id="800" r:id="rId14"/>
    <p:sldId id="801" r:id="rId15"/>
    <p:sldId id="802" r:id="rId16"/>
    <p:sldId id="803" r:id="rId17"/>
    <p:sldId id="804" r:id="rId1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200" kern="1200">
        <a:solidFill>
          <a:schemeClr val="bg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542">
          <p15:clr>
            <a:srgbClr val="A4A3A4"/>
          </p15:clr>
        </p15:guide>
        <p15:guide id="2" pos="7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1824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345"/>
    <p:restoredTop sz="94660"/>
  </p:normalViewPr>
  <p:slideViewPr>
    <p:cSldViewPr snapToGrid="0">
      <p:cViewPr varScale="1">
        <p:scale>
          <a:sx n="127" d="100"/>
          <a:sy n="127" d="100"/>
        </p:scale>
        <p:origin x="1440" y="192"/>
      </p:cViewPr>
      <p:guideLst>
        <p:guide orient="horz" pos="1542"/>
        <p:guide pos="70"/>
      </p:guideLst>
    </p:cSldViewPr>
  </p:slideViewPr>
  <p:outlineViewPr>
    <p:cViewPr>
      <p:scale>
        <a:sx n="33" d="100"/>
        <a:sy n="33" d="100"/>
      </p:scale>
      <p:origin x="42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-1744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>
            <a:extLst>
              <a:ext uri="{FF2B5EF4-FFF2-40B4-BE49-F238E27FC236}">
                <a16:creationId xmlns:a16="http://schemas.microsoft.com/office/drawing/2014/main" id="{7B3ED2FD-D29C-EE53-F703-1ECE7460DC8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3" name="Rectangle 3">
            <a:extLst>
              <a:ext uri="{FF2B5EF4-FFF2-40B4-BE49-F238E27FC236}">
                <a16:creationId xmlns:a16="http://schemas.microsoft.com/office/drawing/2014/main" id="{FB3DC93F-E15C-E96A-22D9-06FF0AC732A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1C74E349-DDA4-9B5B-CF80-9DEA8B076D5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34885" name="Rectangle 5">
            <a:extLst>
              <a:ext uri="{FF2B5EF4-FFF2-40B4-BE49-F238E27FC236}">
                <a16:creationId xmlns:a16="http://schemas.microsoft.com/office/drawing/2014/main" id="{4FDB3E0C-F0DD-3800-3CFC-8EC09B8D7190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34886" name="Rectangle 6">
            <a:extLst>
              <a:ext uri="{FF2B5EF4-FFF2-40B4-BE49-F238E27FC236}">
                <a16:creationId xmlns:a16="http://schemas.microsoft.com/office/drawing/2014/main" id="{343A241A-EEA0-566F-E389-834DE3469F7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b="1">
                <a:solidFill>
                  <a:schemeClr val="tx1"/>
                </a:solidFill>
                <a:latin typeface="Times" pitchFamily="84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34887" name="Rectangle 7">
            <a:extLst>
              <a:ext uri="{FF2B5EF4-FFF2-40B4-BE49-F238E27FC236}">
                <a16:creationId xmlns:a16="http://schemas.microsoft.com/office/drawing/2014/main" id="{A0C3932E-358D-D924-873A-E8FEA42850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b="1">
                <a:solidFill>
                  <a:schemeClr val="tx1"/>
                </a:solidFill>
                <a:latin typeface="Times" pitchFamily="2" charset="0"/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858F00A2-A3EB-AA44-BCED-F4B207FDB57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-110" charset="-128"/>
        <a:cs typeface="ＭＳ Ｐゴシック" pitchFamily="-110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8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A24E597E-C79F-2C36-7B4E-4E8AE319B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220EE206-025F-D7E6-2E71-91D75DD9BA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BD9D11D-CB82-CF0B-FB08-089A8FDBD6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74E86-2910-FE5B-0565-52C17D3B1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E8CB4E8A-98E8-C908-5214-16643AD4FC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9E67934B-D060-654E-8B00-4F2D5BC70572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3FA8B453-857A-9E1B-3128-BF184C924C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F317557-B11F-8138-F450-8197C944FD8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36097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FC7BA-4D3B-319D-B1CD-D12CD6E70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5991B5F0-2415-FAEE-CE86-0F059E834D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E156358B-D8F5-AE44-3F7E-9B1456BBD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0169ECA-A6E4-1081-9590-D1ECF82137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11283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848FC-9CF4-45C5-56A1-82BA8FE8D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187BCF22-A8DD-848C-581E-CD72DAA292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123C30AE-79CB-B0BE-B92D-FDB186379C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7F1AAB94-88CD-FBC8-D6F5-7FA667A854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657004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5FDC5-06AE-A4D6-E954-1A91AD125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EBC379DA-97B5-091F-51A0-FF50C91781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E279DBD7-AE52-B773-F189-765AABF14F3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0D7B5101-0FC2-B575-EDC4-56D0BA681B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2188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2CCA-86B5-8BB7-A7DF-47DFD1A5E4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799FA421-D849-5E06-9F7B-C2FCBB0189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C7115400-C8C0-3070-4607-0FE565E1762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3B55AF2-ACE9-A1B0-4150-5245ECA4E6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689477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6C69C-5E95-42BA-4477-C06175E71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8EA3D396-57BD-3FF9-B0F9-E407B9568C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C36B5BF1-D22F-651A-C254-347302354D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3A6CDDA-4097-8E0C-2C32-25DDC81E23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52572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68D48-4207-3D86-9288-66E2E991CD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9F565EB2-AB3D-29E8-D491-3A9B22C1E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A9BAE97-A564-6227-3BB2-2FE48FE437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92388197-C790-C394-0C76-1E00B0908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22672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B8E15F-300B-1EE6-770C-9EA640D01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754CA511-6A3F-7A7C-8A75-74F9397770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5CEFD40B-143A-D2A3-0BD8-1B390D0649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DE87D69-E87C-EF44-3431-FE48BCE375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13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84A0-5A31-D8EC-FB5A-737065A7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C49529EA-91B7-B0C2-0ED6-234BB99276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D817C9EA-6B3C-95B0-D4BD-923133C786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5E464CA-3C48-C543-14D9-0566EE4D63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94057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A57BA-F218-1FDD-935B-5A0641DA0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D7F5B44F-59A7-EF0D-41A9-753A12F629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D1E39FE9-148B-2F50-4988-6B4BF8E1F3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FB8B8716-FDAF-F041-4471-B3CB1F23F3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41889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E9877C-444B-F40D-ECE9-971529D63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23EA21FD-39D9-6B3A-1D31-3841683CB7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C6319D43-7768-8240-F040-2A60AD5841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FC8BA0F-CE87-1C89-519F-9CC9E90E32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538194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41242D-C099-FEAF-BDA9-F74CC5D2E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47079001-DF01-D9E8-D901-92DF37F76E5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41A3A419-C0CE-D2C3-2105-594B1088EA0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B7FCD1D7-7F21-3D48-09AF-3A60396948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26869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47332-8502-0829-1161-30319CC8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86D3EF80-5292-E61D-D011-69D4CBB548F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65D0AFB4-245D-48A0-CB17-AB6DE79BB2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26D368D2-459C-CCC7-894E-E9E4B73B3AC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066936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1CF96-235C-38F9-630D-24F444C6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30110DE6-7AF7-5B68-48C3-573D2A051F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50990740-B566-2202-3E67-32B9C19129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DEF479B2-D950-BE3E-B808-18D050E094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3971174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6F380-BC83-FC0A-A9A3-42EA1A486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549E630E-388B-F3BF-2B28-FD87418D0E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A384F454-FF11-EF26-1F9F-0BF484C1123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6B0616C2-8C0F-909A-BE50-1CF1EC7818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0609634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1D732-D11F-DC99-C824-F2CC16231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8E4531C6-1A21-8CF4-D5BC-71CE6B7AD1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" pitchFamily="-111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52BE94AE-A8E1-3747-922F-2505FB18068F}" type="slidenum">
              <a:rPr lang="en-US" altLang="en-US" smtClean="0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C4A5794-339B-7243-03B9-A842BE4E341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  <p:txBody>
          <a:bodyPr/>
          <a:lstStyle/>
          <a:p>
            <a:endParaRPr lang="en-US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A9F0570C-E482-98C2-397F-C7D750C64B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853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CCE11C-1427-CBAE-7C0B-6994943B8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18D57-8D7F-C24A-8613-D885F911513D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EE891-9233-CDA2-726F-50996A553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F3A74-F35B-5168-BF9E-5F363F383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70D7AF-B3C3-0C4B-BC88-A58265BBB9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6573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59378-2026-7502-116B-AF5AA758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DBBBB9-D864-DC43-AB7C-F05F734C4A5C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59232C-9246-6D4F-1CDB-22F7E082D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319781-6FE9-BE0B-F424-8B13CA9D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A0EC7B-19B6-DE4A-82D2-2BD022D331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953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54121-DFB4-828B-69F1-75C9919D0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13AC1-8BBE-8A44-9ED5-36099B5D6AE2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1B272-250F-EFAD-2ECB-35B34079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B1785-982B-ADE6-3C2A-FD155EF9F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E1E04A-BD9A-0649-8781-01D79B2773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65360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C28028F-7307-9E76-EF2C-5C2311522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D1E269-7F31-164B-9650-48BB0D9A1C74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4D0CAA-3BF2-EDE8-62BC-89AD3BE6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74FCEF5-D576-A409-919D-F51002909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2F1119-780B-0B46-AC69-9A5DEB2B68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7144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D5090B0F-9C46-3230-B822-F6E08B28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D7BE27-7B51-FC44-A342-8FE37974DADC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EB3C5BE5-0494-7A87-A23B-E62E87B80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ACEF6899-A64F-794A-64BA-34CD6E81E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0F589C-25B9-7B4F-89D3-F33A8D4585E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5181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EB60354-C00C-471D-AA09-A65498DFD9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92D8AA-712E-E94E-82A9-3ED7E59891C1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CC01B4F-3154-C27C-BE79-61198DA9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D9E8789-500A-071D-F637-461B64DB9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34C323-3049-C54A-A802-993D77DC525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5509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BFE3BC9-1F10-D2AF-8C04-36E794A8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13D7BC-C970-5C40-9BA5-77957759BEF2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75D8F897-C8AB-7743-D5B5-95C07B55F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3E2F34B-DCC4-72DE-C684-C508B3972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FE999F-4D32-374D-BD4E-C8F232C22D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4336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08E52F3-BF54-FE21-45F1-1CA1C25F6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A9AD2C-9728-F942-AA3E-4C3D43833140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F528650-504A-71D0-CAEB-984C154EC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1CA8B8-CEFE-817A-F1B6-FED9EAD9C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40E85B-2D2F-6C42-8196-3F70BBE7B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032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1E8A314-080B-2BCA-54C2-1F2D6B83D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FAD294-8AC4-6742-9E87-280938886916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670F7CF-FAB0-3B6C-10F6-38A7AE95A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E9967B8-CCFF-E606-EC22-52E48BB34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D6B69E-EC5C-9F4E-B722-7C4347FC669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42641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97C6E-BAC6-C346-F530-D141EB34C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D90CB5-A73C-1545-8530-038B2B5ED2AB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077E6E-0C12-F685-6D07-AE712F01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616D9-7E91-C294-14EC-4EC6448E1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0653ED-1654-FA4A-A436-7C33CDE37FA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9317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867F1-771A-F857-1240-62590D0DD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26141-AEE4-BE42-A94D-0D0F539EFFEC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4D42-821A-3DB2-EE8F-22E952DEC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65ACB-E90D-2345-3B3B-5E8083007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EB6EB-E1D2-6847-AE8D-82026BF598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6017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9D08E87-1821-253E-4151-86542C1CCB1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1082BE7-CDE3-CB55-1E2C-C597EA6093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187709-BC0B-2672-709D-E6259D17C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rgbClr val="898989"/>
                </a:solidFill>
                <a:latin typeface="Times New Roman" pitchFamily="-111" charset="0"/>
                <a:ea typeface="ＭＳ Ｐゴシック" pitchFamily="-111" charset="-128"/>
                <a:cs typeface="Arial" charset="0"/>
              </a:defRPr>
            </a:lvl1pPr>
          </a:lstStyle>
          <a:p>
            <a:pPr>
              <a:defRPr/>
            </a:pPr>
            <a:fld id="{1E045D06-D9C0-F440-8FC3-B3039D9AF0F1}" type="datetime1">
              <a:rPr lang="en-US"/>
              <a:pPr>
                <a:defRPr/>
              </a:pPr>
              <a:t>3/16/26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9B222B-66F1-B276-D6E9-C393036627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0" hangingPunct="0">
              <a:defRPr sz="1200">
                <a:solidFill>
                  <a:schemeClr val="tx1">
                    <a:tint val="75000"/>
                  </a:schemeClr>
                </a:solidFill>
                <a:latin typeface="Times New Roman" pitchFamily="18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608B37-3EB3-02AE-8DBF-DD0B6EBD52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>
                <a:solidFill>
                  <a:srgbClr val="898989"/>
                </a:solidFill>
                <a:ea typeface="ＭＳ Ｐゴシック" panose="020B0600070205080204" pitchFamily="34" charset="-128"/>
              </a:defRPr>
            </a:lvl1pPr>
          </a:lstStyle>
          <a:p>
            <a:pPr>
              <a:defRPr/>
            </a:pPr>
            <a:fld id="{ADEB2A93-2064-9F4F-AFB5-99E3D74650D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pitchFamily="-110" charset="-128"/>
          <a:cs typeface="ＭＳ Ｐゴシック" pitchFamily="-110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ＭＳ Ｐゴシック" pitchFamily="-110" charset="-128"/>
          <a:cs typeface="ＭＳ Ｐゴシック" pitchFamily="-110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ＭＳ Ｐゴシック" pitchFamily="-110" charset="-128"/>
          <a:cs typeface="ＭＳ Ｐゴシック" pitchFamily="-110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ＭＳ Ｐゴシック" pitchFamily="34" charset="-128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hyperlink" Target="https://github.com/RangaBU/EE445-645-Spr2026/blob/main/C2-P1-01-Sim-Lidar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RangaBU/EE445-645-Spr2026/blob/main/C2-P4-01-Derivation.html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hyperlink" Target="https://github.com/RangaBU/EE445-645-Spr2026/blob/main/C2-P4-02-Switch.html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jpe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13.jp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3E985D43-6E40-8ABF-2680-6DCD73D9D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4C56A5D-1325-B19C-570E-DCD2E54E4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4">
                <a:extLst>
                  <a:ext uri="{FF2B5EF4-FFF2-40B4-BE49-F238E27FC236}">
                    <a16:creationId xmlns:a16="http://schemas.microsoft.com/office/drawing/2014/main" id="{6F8465FD-E06C-D353-CF10-BC62C3D840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04918" y="1750550"/>
                <a:ext cx="5914785" cy="3588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628650" indent="-1714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285750" indent="-285750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Assumptions</a:t>
                </a:r>
              </a:p>
              <a:p>
                <a:pPr marL="285750" indent="-285750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Definition</a:t>
                </a:r>
              </a:p>
              <a:p>
                <a:pPr marL="285750" indent="-285750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Conceptualization</a:t>
                </a:r>
              </a:p>
              <a:p>
                <a:pPr marL="285750" indent="-285750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Derivation</a:t>
                </a:r>
              </a:p>
              <a:p>
                <a:pPr marL="285750" indent="-285750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Switch</a:t>
                </a:r>
              </a:p>
              <a:p>
                <a:pPr marL="285750" indent="-285750"/>
                <a:r>
                  <a:rPr 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Area Scattering Phase Function</a:t>
                </a:r>
              </a:p>
              <a:p>
                <a:pPr marL="285750" indent="-285750"/>
                <a:r>
                  <a:rPr lang="el-GR" alt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𝑳𝑫</m:t>
                        </m:r>
                      </m:sub>
                    </m:sSub>
                  </m:oMath>
                </a14:m>
                <a:r>
                  <a:rPr lang="en-US" alt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Leaf Interior Diffuse Interactions</a:t>
                </a:r>
              </a:p>
              <a:p>
                <a:pPr marL="285750" indent="-285750"/>
                <a:r>
                  <a:rPr lang="el-GR" altLang="en-US" sz="1600" b="1" dirty="0">
                    <a:latin typeface="Times New Roman" panose="020206030504050203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𝑳𝑫</m:t>
                        </m:r>
                      </m:sub>
                    </m:sSub>
                  </m:oMath>
                </a14:m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Non-Rotational Invariance</a:t>
                </a:r>
              </a:p>
              <a:p>
                <a:pPr marL="285750" indent="-285750"/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𝑳𝑫</m:t>
                        </m:r>
                      </m:sub>
                    </m:sSub>
                  </m:oMath>
                </a14:m>
                <a:r>
                  <a:rPr lang="en-US" alt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Relative Roles of </a:t>
                </a:r>
                <a:r>
                  <a:rPr lang="en-US" sz="16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ρ</a:t>
                </a:r>
                <a:r>
                  <a:rPr lang="en-US" sz="1600" b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</a:t>
                </a:r>
                <a:r>
                  <a:rPr lang="en-US" sz="1600" b="1" baseline="-250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1600" b="1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r>
                  <a:rPr lang="en-US" sz="1600" b="1" baseline="-250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</a:t>
                </a:r>
                <a:endParaRPr lang="en-US" sz="1600" b="1" baseline="-25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/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b="1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1600" b="1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𝑳𝑫</m:t>
                        </m:r>
                      </m:sub>
                    </m:sSub>
                  </m:oMath>
                </a14:m>
                <a:r>
                  <a:rPr lang="en-US" altLang="en-US" sz="16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Azimuthal Heterogeneity</a:t>
                </a:r>
              </a:p>
              <a:p>
                <a:pPr marL="285750" indent="-285750"/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b="1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1600" b="1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𝑳𝑺</m:t>
                        </m:r>
                      </m:sub>
                    </m:sSub>
                  </m:oMath>
                </a14:m>
                <a:r>
                  <a:rPr lang="en-US" altLang="en-US" sz="16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Area Scattering Phase Function for Specular Reflection</a:t>
                </a:r>
                <a:endParaRPr lang="en-US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/>
                <a:endParaRPr lang="en-US" altLang="en-US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4">
                <a:extLst>
                  <a:ext uri="{FF2B5EF4-FFF2-40B4-BE49-F238E27FC236}">
                    <a16:creationId xmlns:a16="http://schemas.microsoft.com/office/drawing/2014/main" id="{6F8465FD-E06C-D353-CF10-BC62C3D840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04918" y="1750550"/>
                <a:ext cx="5914785" cy="3588675"/>
              </a:xfrm>
              <a:prstGeom prst="rect">
                <a:avLst/>
              </a:prstGeom>
              <a:blipFill>
                <a:blip r:embed="rId3"/>
                <a:stretch>
                  <a:fillRect l="-428" t="-35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30ABD-E808-4228-067B-43572D427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67E80B60-56C7-F567-8944-2929F0445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02: Extinction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533EEC5-BD49-177F-D5B5-BDD4FC166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1BF5A92E-7FF7-714D-81AD-584102B5DC3F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44B86161-75A0-C916-3E1C-1E0A8BCE2B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09" y="600395"/>
            <a:ext cx="18854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</a:p>
        </p:txBody>
      </p:sp>
      <p:sp>
        <p:nvSpPr>
          <p:cNvPr id="14340" name="TextBox 4">
            <a:extLst>
              <a:ext uri="{FF2B5EF4-FFF2-40B4-BE49-F238E27FC236}">
                <a16:creationId xmlns:a16="http://schemas.microsoft.com/office/drawing/2014/main" id="{5324E8B4-00A0-A2D8-4DB7-03D474965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912" y="4737189"/>
            <a:ext cx="8766175" cy="176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971550" indent="-34290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discussed the </a:t>
            </a:r>
            <a:r>
              <a:rPr lang="en-US" altLang="en-US" sz="1600" dirty="0">
                <a:solidFill>
                  <a:srgbClr val="15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1600" dirty="0">
                <a:solidFill>
                  <a:srgbClr val="15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dynamics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vegetation canopy structure previously.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resort to a simple </a:t>
            </a:r>
            <a:r>
              <a:rPr lang="en-US" altLang="en-US" sz="1600" dirty="0">
                <a:solidFill>
                  <a:srgbClr val="15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abstraction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canopy structure as a </a:t>
            </a:r>
            <a:r>
              <a:rPr lang="en-US" altLang="en-US" sz="1600" dirty="0">
                <a:solidFill>
                  <a:srgbClr val="2620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turbid medium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a green gas.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medium is assumed to be  </a:t>
            </a:r>
            <a:r>
              <a:rPr lang="en-US" altLang="en-US" sz="1600" dirty="0">
                <a:solidFill>
                  <a:srgbClr val="2620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densely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filled with </a:t>
            </a:r>
            <a:r>
              <a:rPr lang="en-US" altLang="en-US" sz="1600" dirty="0">
                <a:solidFill>
                  <a:srgbClr val="2620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 planar 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elements of </a:t>
            </a:r>
            <a:r>
              <a:rPr lang="en-US" altLang="en-US" sz="1600" dirty="0">
                <a:solidFill>
                  <a:srgbClr val="2620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negligible thickness.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elements are </a:t>
            </a:r>
            <a:r>
              <a:rPr lang="en-US" altLang="en-US" sz="1600" dirty="0">
                <a:solidFill>
                  <a:srgbClr val="151F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oriented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space as specified by a distribution function of their normals.</a:t>
            </a:r>
          </a:p>
          <a:p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critical assumption is that the shadows of these small elements, that is, their projections on a plane perpendicular to any direction in the sphere, </a:t>
            </a:r>
            <a:r>
              <a:rPr lang="en-US" altLang="en-US" sz="1600" dirty="0">
                <a:solidFill>
                  <a:srgbClr val="2620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 not overlap.</a:t>
            </a:r>
          </a:p>
        </p:txBody>
      </p:sp>
      <p:pic>
        <p:nvPicPr>
          <p:cNvPr id="3" name="Picture 2" descr="A green smoke in a rectangular box&#10;&#10;AI-generated content may be incorrect.">
            <a:extLst>
              <a:ext uri="{FF2B5EF4-FFF2-40B4-BE49-F238E27FC236}">
                <a16:creationId xmlns:a16="http://schemas.microsoft.com/office/drawing/2014/main" id="{DACF8985-494D-FAB5-B67D-53BB3A2CD0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913" y="1049338"/>
            <a:ext cx="4265465" cy="27394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55EEC2-82B0-5C53-A80B-C76222220CF8}"/>
              </a:ext>
            </a:extLst>
          </p:cNvPr>
          <p:cNvSpPr txBox="1"/>
          <p:nvPr/>
        </p:nvSpPr>
        <p:spPr>
          <a:xfrm>
            <a:off x="558373" y="3869735"/>
            <a:ext cx="352654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4"/>
              </a:rPr>
              <a:t>Simulated Temperate Forest Lidar Scans</a:t>
            </a:r>
            <a:endParaRPr lang="en-US" sz="1600" dirty="0">
              <a:solidFill>
                <a:srgbClr val="C00000"/>
              </a:solidFill>
            </a:endParaRPr>
          </a:p>
        </p:txBody>
      </p:sp>
      <p:pic>
        <p:nvPicPr>
          <p:cNvPr id="9" name="Picture 8" descr="A green leaves flying over a brown surface&#10;&#10;AI-generated content may be incorrect.">
            <a:extLst>
              <a:ext uri="{FF2B5EF4-FFF2-40B4-BE49-F238E27FC236}">
                <a16:creationId xmlns:a16="http://schemas.microsoft.com/office/drawing/2014/main" id="{F85A8A1A-C41F-28F2-5CC5-90EE9FE389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9624" y="738074"/>
            <a:ext cx="4110356" cy="3648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7198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F84EF-8077-CF26-6730-FAD3D808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9D028D76-4D02-F095-CB0B-116291C09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810FAFF6-C396-A394-E7CF-355DA728C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A1CEDA1E-4F88-5AD7-173D-6554E69FB6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600" y="767792"/>
            <a:ext cx="16129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BA6A8C-32AB-9F73-FCAC-CFDE4ABBEE02}"/>
                  </a:ext>
                </a:extLst>
              </p:cNvPr>
              <p:cNvSpPr txBox="1"/>
              <p:nvPr/>
            </p:nvSpPr>
            <p:spPr>
              <a:xfrm>
                <a:off x="101600" y="1704264"/>
                <a:ext cx="8910515" cy="20921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The </a:t>
                </a:r>
                <a:r>
                  <a:rPr lang="en-US" altLang="en-US" sz="1600" dirty="0">
                    <a:solidFill>
                      <a:srgbClr val="1824F4"/>
                    </a:solidFill>
                    <a:cs typeface="Times New Roman" panose="02020603050405020304" pitchFamily="18" charset="0"/>
                  </a:rPr>
                  <a:t>differential scattering coefficient </a:t>
                </a:r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(cross section)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is defined by the </a:t>
                </a:r>
                <a:r>
                  <a:rPr lang="en-US" altLang="en-US" sz="1600" dirty="0">
                    <a:solidFill>
                      <a:srgbClr val="1824F4"/>
                    </a:solidFill>
                    <a:cs typeface="Times New Roman" panose="02020603050405020304" pitchFamily="18" charset="0"/>
                  </a:rPr>
                  <a:t>probability</a:t>
                </a:r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that a photon while a traveling a </a:t>
                </a:r>
                <a:r>
                  <a:rPr lang="en-US" altLang="en-US" sz="1600" dirty="0">
                    <a:solidFill>
                      <a:srgbClr val="1824F4"/>
                    </a:solidFill>
                    <a:cs typeface="Times New Roman" panose="02020603050405020304" pitchFamily="18" charset="0"/>
                  </a:rPr>
                  <a:t>distance</a:t>
                </a:r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𝜉</m:t>
                    </m:r>
                  </m:oMath>
                </a14:m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in the medium will, upon </a:t>
                </a:r>
                <a:r>
                  <a:rPr lang="en-US" altLang="en-US" sz="1600" dirty="0">
                    <a:solidFill>
                      <a:srgbClr val="1824F4"/>
                    </a:solidFill>
                    <a:cs typeface="Times New Roman" panose="02020603050405020304" pitchFamily="18" charset="0"/>
                  </a:rPr>
                  <a:t>collision</a:t>
                </a:r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with host material, </a:t>
                </a:r>
                <a:r>
                  <a:rPr lang="en-US" altLang="en-US" sz="1600" dirty="0">
                    <a:solidFill>
                      <a:srgbClr val="1824F4"/>
                    </a:solidFill>
                    <a:cs typeface="Times New Roman" panose="02020603050405020304" pitchFamily="18" charset="0"/>
                  </a:rPr>
                  <a:t>scatter</a:t>
                </a:r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from direction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to direction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  <m:r>
                      <a:rPr lang="en-US" altLang="en-US" sz="16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(ignoring frequency shifting interactions and assuming steady state for now)</a:t>
                </a:r>
              </a:p>
              <a:p>
                <a:pPr algn="just"/>
                <a:endParaRPr lang="en-US" sz="16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en-US" sz="16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nor/>
                      </m:rPr>
                      <a:rPr lang="en-US" altLang="en-US" sz="160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en-US" sz="1600" dirty="0">
                        <a:solidFill>
                          <a:schemeClr val="tx1"/>
                        </a:solidFill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bar>
                      <m:barPr>
                        <m:ctrlP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  <m:r>
                      <m:rPr>
                        <m:nor/>
                      </m:rPr>
                      <a:rPr lang="en-US" altLang="en-US" sz="1600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en-US" sz="1600" b="0" i="1" dirty="0" smtClean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en-US" sz="1600" i="1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m:t>d</m:t>
                    </m:r>
                    <m:r>
                      <a:rPr lang="en-US" altLang="en-US" sz="16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𝜉</m:t>
                    </m:r>
                  </m:oMath>
                </a14:m>
                <a:r>
                  <a:rPr lang="en-US" altLang="en-US" sz="16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d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.</a:t>
                </a:r>
              </a:p>
              <a:p>
                <a:pPr algn="just"/>
                <a:endParaRPr lang="en-US" altLang="en-US" sz="1600" i="1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It has units of m</a:t>
                </a:r>
                <a:r>
                  <a:rPr lang="en-US" altLang="en-US" sz="1600" baseline="30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-1</a:t>
                </a:r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sr</a:t>
                </a:r>
                <a:r>
                  <a:rPr lang="en-US" altLang="en-US" sz="1600" baseline="30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-1</a:t>
                </a:r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3BA6A8C-32AB-9F73-FCAC-CFDE4ABBEE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" y="1704264"/>
                <a:ext cx="8910515" cy="2092111"/>
              </a:xfrm>
              <a:prstGeom prst="rect">
                <a:avLst/>
              </a:prstGeom>
              <a:blipFill>
                <a:blip r:embed="rId3"/>
                <a:stretch>
                  <a:fillRect l="-427" t="-1205" r="-2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6011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634D1-1ECA-EFF7-1464-503E410C7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554497A0-D5C9-37C5-BA9D-1E20855B2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ED2A678-4281-D9AB-FC94-1E593EC0D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AF032F59-8CFF-F4E1-CF14-269E32594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" y="758290"/>
            <a:ext cx="23690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Conceptualization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C13FE462-C3D4-DA26-A108-825EF680E6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365151"/>
                <a:ext cx="5507906" cy="48205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an </a:t>
                </a:r>
                <a:r>
                  <a:rPr lang="en-US" altLang="en-US" sz="1600" dirty="0">
                    <a:solidFill>
                      <a:srgbClr val="172D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elementary volume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𝑑𝑆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𝜉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location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in the medium which contains </a:t>
                </a:r>
                <a:r>
                  <a:rPr lang="en-US" altLang="en-US" sz="1600" dirty="0">
                    <a:solidFill>
                      <a:srgbClr val="172D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sufficient number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small planar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elements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negligible thickness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algn="just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the figure,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note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following:</a:t>
                </a:r>
              </a:p>
              <a:p>
                <a:pPr algn="just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spcBef>
                    <a:spcPct val="0"/>
                  </a:spcBef>
                </a:pP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Incident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direction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endParaRPr lang="en-US" altLang="en-US" sz="1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spcBef>
                    <a:spcPct val="0"/>
                  </a:spcBef>
                </a:pP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Scattered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direction is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altLang="en-US" sz="1600" dirty="0">
                  <a:latin typeface="Times New Roman" panose="020206030504050203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285750" indent="-285750" algn="just">
                  <a:spcBef>
                    <a:spcPct val="0"/>
                  </a:spcBef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Outward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the leaf element surface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𝐿𝑖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85750" indent="-285750" algn="just">
                  <a:spcBef>
                    <a:spcPct val="0"/>
                  </a:spcBef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interactions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shown for three leaf elements, numbered as 1, 2 and N, where N is the total number of leaf elements in the elementary volume</a:t>
                </a:r>
              </a:p>
              <a:p>
                <a:pPr marL="285750" indent="-285750" algn="just">
                  <a:spcBef>
                    <a:spcPct val="0"/>
                  </a:spcBef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altLang="en-US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correspond to the normals of the three example leaf elements</a:t>
                </a:r>
              </a:p>
              <a:p>
                <a:pPr marL="285750" indent="-285750" algn="just">
                  <a:spcBef>
                    <a:spcPct val="0"/>
                  </a:spcBef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area or size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leaf elements is denoted similarly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285750" indent="-285750" algn="just">
                  <a:spcBef>
                    <a:spcPct val="0"/>
                  </a:spcBef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shadows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all leaf elements on a plane perpendicular to the incident direction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shown below the volume </a:t>
                </a:r>
                <a:b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C13FE462-C3D4-DA26-A108-825EF680E6A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365151"/>
                <a:ext cx="5507906" cy="4820550"/>
              </a:xfrm>
              <a:prstGeom prst="rect">
                <a:avLst/>
              </a:prstGeom>
              <a:blipFill>
                <a:blip r:embed="rId3"/>
                <a:stretch>
                  <a:fillRect l="-691" t="-1312" r="-69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cylinder with different colored objects&#10;&#10;AI-generated content may be incorrect.">
            <a:extLst>
              <a:ext uri="{FF2B5EF4-FFF2-40B4-BE49-F238E27FC236}">
                <a16:creationId xmlns:a16="http://schemas.microsoft.com/office/drawing/2014/main" id="{A252E69A-D555-7BCF-F487-967C4E4467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2206" y="692852"/>
            <a:ext cx="3407494" cy="616514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185D74E-6F6B-D9DD-EBC7-03CC0AECEA1E}"/>
              </a:ext>
            </a:extLst>
          </p:cNvPr>
          <p:cNvSpPr txBox="1"/>
          <p:nvPr/>
        </p:nvSpPr>
        <p:spPr>
          <a:xfrm>
            <a:off x="4557491" y="6101934"/>
            <a:ext cx="1064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C00000"/>
                </a:solidFill>
                <a:hlinkClick r:id="rId5"/>
              </a:rPr>
              <a:t>Derivation</a:t>
            </a:r>
            <a:endParaRPr 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374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E3620-1101-B89E-91B9-DEBC71AD2C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DB4E73B7-5F85-DB96-BD84-24153FC41C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8FE9E33-626C-3686-077A-0FBC7388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810F0B87-6ACE-95E9-5986-D01F8DE77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" y="758290"/>
            <a:ext cx="159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186AFCC1-2B61-5ED6-12AE-D65D405658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352806"/>
                <a:ext cx="5680088" cy="518353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probability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that photons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incident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along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will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scatter 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into a differential solid angle about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l-GR" altLang="en-US" sz="16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is given by: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nor/>
                      </m:rPr>
                      <a:rPr lang="en-US" altLang="en-US" sz="1600" i="1" dirty="0"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en-US" sz="1600" i="1" dirty="0"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  <m:r>
                      <m:rPr>
                        <m:nor/>
                      </m:rPr>
                      <a:rPr lang="en-US" altLang="en-US" sz="1600" i="1" dirty="0">
                        <a:cs typeface="Times New Roman" panose="02020603050405020304" pitchFamily="18" charset="0"/>
                      </a:rPr>
                      <m:t>) </m:t>
                    </m:r>
                    <m:r>
                      <m:rPr>
                        <m:nor/>
                      </m:rPr>
                      <a:rPr lang="en-US" altLang="en-US" sz="1600" i="1" dirty="0">
                        <a:cs typeface="Times New Roman" panose="02020603050405020304" pitchFamily="18" charset="0"/>
                      </a:rPr>
                      <m:t>d</m:t>
                    </m:r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𝜉</m:t>
                    </m:r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d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= 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 i="1" dirty="0"/>
                  <a:t>                          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𝑑𝑆</m:t>
                        </m:r>
                      </m:den>
                    </m:f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  <m:r>
                                      <a:rPr lang="en-US" altLang="en-US" sz="1600" b="0" i="1" dirty="0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e>
                                </m:bar>
                              </m:e>
                            </m:d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p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;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 baseline="-250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b="0" i="1" baseline="-25000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altLang="en-US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  <m:r>
                              <a:rPr lang="en-US" altLang="en-US" sz="1600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en-US" sz="16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en-US" sz="16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e>
                                </m:bar>
                              </m:e>
                            </m:d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p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;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 baseline="-250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b="0" i="1" baseline="-25000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US" altLang="en-US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en-US" sz="1600" b="0" i="1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sub>
                            </m:s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en-US" sz="1600" b="0" i="1" dirty="0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e>
                                </m:bar>
                              </m:e>
                            </m:d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p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;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 baseline="-250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b="0" i="1" baseline="-25000" dirty="0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e>
                            </m:d>
                            <m:r>
                              <a:rPr lang="en-US" altLang="en-US" sz="1600" b="0" i="1" baseline="-25000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</m:eqArr>
                      </m:e>
                    </m:d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.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;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  <m:r>
                          <a:rPr lang="en-US" alt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i="1" baseline="-25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is the scattering phase of leaf element 1. Its outward normal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its area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.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Although 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number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of leaf elements is sufficiently large, their individual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areas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 are sufficiently small such that the shadows on the plane perpendicular to the incident photons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do not overlap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. 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Moreover, the interactions are assumed to be </a:t>
                </a:r>
                <a:r>
                  <a:rPr lang="en-US" altLang="en-US" sz="1600" dirty="0">
                    <a:solidFill>
                      <a:srgbClr val="1729F4"/>
                    </a:solidFill>
                    <a:latin typeface="Times New Roman" panose="02020603050405020304" pitchFamily="18" charset="0"/>
                  </a:rPr>
                  <a:t>independent 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and </a:t>
                </a:r>
                <a:r>
                  <a:rPr lang="en-US" altLang="en-US" sz="1600" dirty="0">
                    <a:solidFill>
                      <a:srgbClr val="2416F4"/>
                    </a:solidFill>
                    <a:latin typeface="Times New Roman" panose="02020603050405020304" pitchFamily="18" charset="0"/>
                  </a:rPr>
                  <a:t>uncorrelated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.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4">
                <a:extLst>
                  <a:ext uri="{FF2B5EF4-FFF2-40B4-BE49-F238E27FC236}">
                    <a16:creationId xmlns:a16="http://schemas.microsoft.com/office/drawing/2014/main" id="{186AFCC1-2B61-5ED6-12AE-D65D405658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352806"/>
                <a:ext cx="5680088" cy="5183535"/>
              </a:xfrm>
              <a:prstGeom prst="rect">
                <a:avLst/>
              </a:prstGeom>
              <a:blipFill>
                <a:blip r:embed="rId3"/>
                <a:stretch>
                  <a:fillRect l="-670" t="-244" r="-44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cylinder with different colored objects&#10;&#10;AI-generated content may be incorrect.">
            <a:extLst>
              <a:ext uri="{FF2B5EF4-FFF2-40B4-BE49-F238E27FC236}">
                <a16:creationId xmlns:a16="http://schemas.microsoft.com/office/drawing/2014/main" id="{8F9A9A8D-9305-964F-ECCB-5DA22BE916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088" y="676943"/>
            <a:ext cx="3416287" cy="618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96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25CDE-6887-F8C1-3C6C-55DAE1AC6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AE811946-288F-E2BB-7C4A-D19A2ECAF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5DB89C98-3818-E38A-85C7-D66C0BD95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AE8B77B0-9161-740E-1933-626AE1966A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0" y="758290"/>
            <a:ext cx="159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Derivation</a:t>
            </a:r>
          </a:p>
        </p:txBody>
      </p:sp>
      <p:pic>
        <p:nvPicPr>
          <p:cNvPr id="6" name="Picture 5" descr="A diagram of a cylinder with different colored objects&#10;&#10;AI-generated content may be incorrect.">
            <a:extLst>
              <a:ext uri="{FF2B5EF4-FFF2-40B4-BE49-F238E27FC236}">
                <a16:creationId xmlns:a16="http://schemas.microsoft.com/office/drawing/2014/main" id="{7E384854-0111-0528-CFC3-64CCFEF64A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088" y="676943"/>
            <a:ext cx="3416287" cy="61810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F18834-DF46-495B-6F90-348BA8EE5497}"/>
                  </a:ext>
                </a:extLst>
              </p:cNvPr>
              <p:cNvSpPr txBox="1"/>
              <p:nvPr/>
            </p:nvSpPr>
            <p:spPr>
              <a:xfrm>
                <a:off x="1393425" y="4128949"/>
                <a:ext cx="3011522" cy="1366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en-US" sz="1600" i="1" dirty="0">
                            <a:solidFill>
                              <a:schemeClr val="tx1"/>
                            </a:solidFill>
                            <a:cs typeface="Times New Roman" panose="020206030504050203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𝐿𝑖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en-US" sz="1600" i="1" dirty="0">
                            <a:solidFill>
                              <a:schemeClr val="tx1"/>
                            </a:solidFill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en-US" sz="16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r>
                      <a:rPr lang="en-US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𝐿𝑖</m:t>
                        </m:r>
                      </m:sub>
                    </m:sSub>
                    <m:r>
                      <a:rPr lang="en-US" alt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𝐿𝑖</m:t>
                        </m:r>
                      </m:sub>
                    </m:sSub>
                  </m:oMath>
                </a14:m>
                <a:r>
                  <a:rPr lang="en-US" altLang="en-US" sz="16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,</a:t>
                </a:r>
              </a:p>
              <a:p>
                <a:pPr>
                  <a:buFont typeface="Arial" panose="020B0604020202020204" pitchFamily="34" charset="0"/>
                  <a:buNone/>
                </a:pPr>
                <a:endParaRPr lang="en-US" altLang="en-US" sz="1600" i="1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:endParaRPr lang="en-US" altLang="en-US" sz="1600" i="1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pPr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600" i="1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𝐿𝑖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600" i="1" dirty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m:t>)</m:t>
                    </m:r>
                    <m:r>
                      <m:rPr>
                        <m:nor/>
                      </m:rPr>
                      <a:rPr lang="en-US" altLang="en-US" sz="1600" b="0" i="1" dirty="0" smtClean="0">
                        <a:solidFill>
                          <a:schemeClr val="tx1"/>
                        </a:solidFill>
                        <a:cs typeface="Times New Roman" panose="02020603050405020304" pitchFamily="18" charset="0"/>
                      </a:rPr>
                      <m:t> = </m:t>
                    </m:r>
                    <m:f>
                      <m:f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r>
                      <a:rPr lang="en-US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𝐿𝑖</m:t>
                        </m:r>
                      </m:sub>
                    </m:sSub>
                    <m:r>
                      <a:rPr lang="en-US" altLang="en-US" sz="16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𝐿𝑖</m:t>
                        </m:r>
                      </m:sub>
                    </m:sSub>
                  </m:oMath>
                </a14:m>
                <a:r>
                  <a:rPr lang="en-US" altLang="en-US" sz="16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.</a:t>
                </a:r>
                <a:endParaRPr lang="en-US" altLang="en-US" sz="1600" b="0" i="1" dirty="0">
                  <a:solidFill>
                    <a:schemeClr val="tx1"/>
                  </a:solidFill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2F18834-DF46-495B-6F90-348BA8EE54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425" y="4128949"/>
                <a:ext cx="3011522" cy="1366464"/>
              </a:xfrm>
              <a:prstGeom prst="rect">
                <a:avLst/>
              </a:prstGeom>
              <a:blipFill>
                <a:blip r:embed="rId4"/>
                <a:stretch>
                  <a:fillRect b="-9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6">
            <a:extLst>
              <a:ext uri="{FF2B5EF4-FFF2-40B4-BE49-F238E27FC236}">
                <a16:creationId xmlns:a16="http://schemas.microsoft.com/office/drawing/2014/main" id="{D0DF8DA9-460F-B355-FBDF-22C2257F4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903" y="1403453"/>
            <a:ext cx="5628188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Counting over </a:t>
            </a:r>
            <a:r>
              <a:rPr lang="en-US" altLang="en-US" sz="1600" dirty="0">
                <a:solidFill>
                  <a:srgbClr val="1824F4"/>
                </a:solidFill>
                <a:latin typeface="Times New Roman" panose="02020603050405020304" pitchFamily="18" charset="0"/>
              </a:rPr>
              <a:t>number</a:t>
            </a:r>
            <a:r>
              <a:rPr lang="en-US" altLang="en-US" sz="1600" dirty="0">
                <a:latin typeface="Times New Roman" panose="02020603050405020304" pitchFamily="18" charset="0"/>
              </a:rPr>
              <a:t> of planar elements is </a:t>
            </a:r>
            <a:r>
              <a:rPr lang="en-US" altLang="en-US" sz="1600" dirty="0">
                <a:solidFill>
                  <a:srgbClr val="1824F4"/>
                </a:solidFill>
                <a:latin typeface="Times New Roman" panose="02020603050405020304" pitchFamily="18" charset="0"/>
              </a:rPr>
              <a:t>tedious</a:t>
            </a:r>
            <a:r>
              <a:rPr lang="en-US" altLang="en-US" sz="1600" dirty="0">
                <a:latin typeface="Times New Roman" panose="02020603050405020304" pitchFamily="18" charset="0"/>
              </a:rPr>
              <a:t> and </a:t>
            </a:r>
            <a:r>
              <a:rPr lang="en-US" altLang="en-US" sz="1600" dirty="0">
                <a:solidFill>
                  <a:srgbClr val="1824F4"/>
                </a:solidFill>
                <a:latin typeface="Times New Roman" panose="02020603050405020304" pitchFamily="18" charset="0"/>
              </a:rPr>
              <a:t>inefficient</a:t>
            </a:r>
            <a:r>
              <a:rPr lang="en-US" altLang="en-US" sz="1600" dirty="0">
                <a:latin typeface="Times New Roman" panose="02020603050405020304" pitchFamily="18" charset="0"/>
              </a:rPr>
              <a:t> as </a:t>
            </a:r>
            <a:r>
              <a:rPr lang="en-US" altLang="en-US" sz="1600" i="1" dirty="0">
                <a:latin typeface="Times New Roman" panose="02020603050405020304" pitchFamily="18" charset="0"/>
              </a:rPr>
              <a:t>N</a:t>
            </a:r>
            <a:r>
              <a:rPr lang="en-US" altLang="en-US" sz="1600" dirty="0">
                <a:latin typeface="Times New Roman" panose="02020603050405020304" pitchFamily="18" charset="0"/>
              </a:rPr>
              <a:t> can be a large. It is convenient to count over a certain number of </a:t>
            </a:r>
            <a:r>
              <a:rPr lang="en-US" altLang="en-US" sz="1600" dirty="0">
                <a:solidFill>
                  <a:srgbClr val="151FF4"/>
                </a:solidFill>
                <a:latin typeface="Times New Roman" panose="02020603050405020304" pitchFamily="18" charset="0"/>
              </a:rPr>
              <a:t>fixed solid angles </a:t>
            </a:r>
            <a:r>
              <a:rPr lang="en-US" altLang="en-US" sz="1600" dirty="0">
                <a:latin typeface="Times New Roman" panose="02020603050405020304" pitchFamily="18" charset="0"/>
              </a:rPr>
              <a:t>in a hemisphere, </a:t>
            </a:r>
            <a:r>
              <a:rPr lang="en-US" altLang="en-US" sz="1600" i="1" dirty="0">
                <a:latin typeface="Times New Roman" panose="02020603050405020304" pitchFamily="18" charset="0"/>
              </a:rPr>
              <a:t>M</a:t>
            </a:r>
            <a:r>
              <a:rPr lang="en-US" altLang="en-US" sz="1600" dirty="0">
                <a:latin typeface="Times New Roman" panose="02020603050405020304" pitchFamily="18" charset="0"/>
              </a:rPr>
              <a:t>, which contain all the </a:t>
            </a:r>
            <a:r>
              <a:rPr lang="en-US" altLang="en-US" sz="1600" dirty="0">
                <a:solidFill>
                  <a:srgbClr val="1824F4"/>
                </a:solidFill>
                <a:latin typeface="Times New Roman" panose="02020603050405020304" pitchFamily="18" charset="0"/>
              </a:rPr>
              <a:t>normals</a:t>
            </a:r>
            <a:r>
              <a:rPr lang="en-US" altLang="en-US" sz="1600" dirty="0">
                <a:latin typeface="Times New Roman" panose="02020603050405020304" pitchFamily="18" charset="0"/>
              </a:rPr>
              <a:t> of these </a:t>
            </a:r>
            <a:r>
              <a:rPr lang="en-US" altLang="en-US" sz="1600" i="1" dirty="0">
                <a:latin typeface="Times New Roman" panose="02020603050405020304" pitchFamily="18" charset="0"/>
              </a:rPr>
              <a:t>N</a:t>
            </a:r>
            <a:r>
              <a:rPr lang="en-US" altLang="en-US" sz="1600" dirty="0">
                <a:latin typeface="Times New Roman" panose="02020603050405020304" pitchFamily="18" charset="0"/>
              </a:rPr>
              <a:t> elements.</a:t>
            </a:r>
          </a:p>
          <a:p>
            <a:pPr algn="just">
              <a:spcBef>
                <a:spcPct val="0"/>
              </a:spcBef>
              <a:buFontTx/>
              <a:buNone/>
            </a:pPr>
            <a:endParaRPr lang="en-US" altLang="en-US" sz="1600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endParaRPr lang="en-US" altLang="en-US" sz="1600" dirty="0">
              <a:latin typeface="Times New Roman" panose="02020603050405020304" pitchFamily="18" charset="0"/>
            </a:endParaRPr>
          </a:p>
          <a:p>
            <a:pPr algn="just">
              <a:spcBef>
                <a:spcPct val="0"/>
              </a:spcBef>
              <a:buFontTx/>
              <a:buNone/>
            </a:pPr>
            <a:r>
              <a:rPr lang="en-US" altLang="en-US" sz="1600" dirty="0">
                <a:latin typeface="Times New Roman" panose="02020603050405020304" pitchFamily="18" charset="0"/>
              </a:rPr>
              <a:t>By definition, the </a:t>
            </a:r>
            <a:r>
              <a:rPr lang="en-US" altLang="en-US" sz="1600" dirty="0">
                <a:solidFill>
                  <a:srgbClr val="1A27F4"/>
                </a:solidFill>
                <a:latin typeface="Times New Roman" panose="02020603050405020304" pitchFamily="18" charset="0"/>
              </a:rPr>
              <a:t>ratio</a:t>
            </a:r>
            <a:r>
              <a:rPr lang="en-US" altLang="en-US" sz="1600" dirty="0">
                <a:latin typeface="Times New Roman" panose="02020603050405020304" pitchFamily="18" charset="0"/>
              </a:rPr>
              <a:t> of the area of all leaf elements </a:t>
            </a:r>
            <a:r>
              <a:rPr lang="en-US" altLang="en-US" sz="1600" i="1" dirty="0" err="1">
                <a:latin typeface="Times New Roman" panose="02020603050405020304" pitchFamily="18" charset="0"/>
              </a:rPr>
              <a:t>s</a:t>
            </a:r>
            <a:r>
              <a:rPr lang="en-US" altLang="en-US" sz="1600" i="1" baseline="-25000" dirty="0" err="1">
                <a:latin typeface="Times New Roman" panose="02020603050405020304" pitchFamily="18" charset="0"/>
              </a:rPr>
              <a:t>i</a:t>
            </a:r>
            <a:r>
              <a:rPr lang="en-US" altLang="en-US" sz="1600" dirty="0">
                <a:latin typeface="Times New Roman" panose="02020603050405020304" pitchFamily="18" charset="0"/>
              </a:rPr>
              <a:t> of orientation </a:t>
            </a:r>
            <a:r>
              <a:rPr lang="el-GR" altLang="en-US" sz="1600" i="1" u="sng" dirty="0">
                <a:latin typeface="Times New Roman" panose="02020603050405020304" pitchFamily="18" charset="0"/>
              </a:rPr>
              <a:t>Ω</a:t>
            </a:r>
            <a:r>
              <a:rPr lang="en-US" altLang="en-US" sz="1600" i="1" baseline="-25000" dirty="0">
                <a:latin typeface="Times New Roman" panose="02020603050405020304" pitchFamily="18" charset="0"/>
              </a:rPr>
              <a:t>Li</a:t>
            </a:r>
            <a:r>
              <a:rPr lang="en-US" altLang="en-US" sz="1600" dirty="0">
                <a:latin typeface="Times New Roman" panose="02020603050405020304" pitchFamily="18" charset="0"/>
              </a:rPr>
              <a:t> to the total leaf area </a:t>
            </a:r>
            <a:r>
              <a:rPr lang="en-US" altLang="en-US" sz="1600" i="1" dirty="0">
                <a:latin typeface="Times New Roman" panose="02020603050405020304" pitchFamily="18" charset="0"/>
              </a:rPr>
              <a:t>S</a:t>
            </a:r>
            <a:r>
              <a:rPr lang="en-US" altLang="en-US" sz="1600" i="1" baseline="-25000" dirty="0">
                <a:latin typeface="Times New Roman" panose="02020603050405020304" pitchFamily="18" charset="0"/>
              </a:rPr>
              <a:t>o</a:t>
            </a:r>
            <a:r>
              <a:rPr lang="en-US" altLang="en-US" sz="1600" dirty="0">
                <a:latin typeface="Times New Roman" panose="02020603050405020304" pitchFamily="18" charset="0"/>
              </a:rPr>
              <a:t> in the elementary volume is </a:t>
            </a:r>
            <a:r>
              <a:rPr lang="en-US" altLang="en-US" sz="1600" dirty="0">
                <a:solidFill>
                  <a:srgbClr val="1A27F4"/>
                </a:solidFill>
                <a:latin typeface="Times New Roman" panose="02020603050405020304" pitchFamily="18" charset="0"/>
              </a:rPr>
              <a:t>equivalent</a:t>
            </a:r>
            <a:r>
              <a:rPr lang="en-US" altLang="en-US" sz="1600" b="1" dirty="0">
                <a:solidFill>
                  <a:srgbClr val="1A27F4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1600" dirty="0">
                <a:latin typeface="Times New Roman" panose="02020603050405020304" pitchFamily="18" charset="0"/>
              </a:rPr>
              <a:t>to the </a:t>
            </a:r>
            <a:r>
              <a:rPr lang="en-US" altLang="en-US" sz="1600" dirty="0">
                <a:solidFill>
                  <a:srgbClr val="1A27F4"/>
                </a:solidFill>
                <a:latin typeface="Times New Roman" panose="02020603050405020304" pitchFamily="18" charset="0"/>
              </a:rPr>
              <a:t>probability</a:t>
            </a:r>
            <a:r>
              <a:rPr lang="en-US" altLang="en-US" sz="1600" dirty="0">
                <a:latin typeface="Times New Roman" panose="02020603050405020304" pitchFamily="18" charset="0"/>
              </a:rPr>
              <a:t> of leaf elements of orientation </a:t>
            </a:r>
            <a:r>
              <a:rPr lang="el-GR" altLang="en-US" sz="1600" i="1" u="sng" dirty="0">
                <a:latin typeface="Times New Roman" panose="02020603050405020304" pitchFamily="18" charset="0"/>
              </a:rPr>
              <a:t>Ω</a:t>
            </a:r>
            <a:r>
              <a:rPr lang="en-US" altLang="en-US" sz="1600" i="1" baseline="-25000" dirty="0">
                <a:latin typeface="Times New Roman" panose="02020603050405020304" pitchFamily="18" charset="0"/>
              </a:rPr>
              <a:t>Li</a:t>
            </a:r>
            <a:r>
              <a:rPr lang="en-US" altLang="en-US" sz="1600" dirty="0">
                <a:latin typeface="Times New Roman" panose="02020603050405020304" pitchFamily="18" charset="0"/>
              </a:rPr>
              <a:t> ,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46">
                <a:extLst>
                  <a:ext uri="{FF2B5EF4-FFF2-40B4-BE49-F238E27FC236}">
                    <a16:creationId xmlns:a16="http://schemas.microsoft.com/office/drawing/2014/main" id="{152694CD-7D9F-B227-B918-99A1994485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9903" y="5620197"/>
                <a:ext cx="5570660" cy="5847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In the above,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is the probability density function (pdf) of leaf normal orientation. </a:t>
                </a:r>
              </a:p>
            </p:txBody>
          </p:sp>
        </mc:Choice>
        <mc:Fallback xmlns="">
          <p:sp>
            <p:nvSpPr>
              <p:cNvPr id="7" name="Rectangle 46">
                <a:extLst>
                  <a:ext uri="{FF2B5EF4-FFF2-40B4-BE49-F238E27FC236}">
                    <a16:creationId xmlns:a16="http://schemas.microsoft.com/office/drawing/2014/main" id="{152694CD-7D9F-B227-B918-99A1994485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9903" y="5620197"/>
                <a:ext cx="5570660" cy="584775"/>
              </a:xfrm>
              <a:prstGeom prst="rect">
                <a:avLst/>
              </a:prstGeom>
              <a:blipFill>
                <a:blip r:embed="rId5"/>
                <a:stretch>
                  <a:fillRect l="-683" t="-2128" b="-1276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3047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D462C-3027-7EE2-E1F8-A221BC5BF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diagram of a plant&#10;&#10;AI-generated content may be incorrect.">
            <a:extLst>
              <a:ext uri="{FF2B5EF4-FFF2-40B4-BE49-F238E27FC236}">
                <a16:creationId xmlns:a16="http://schemas.microsoft.com/office/drawing/2014/main" id="{74D5AF98-847A-C2F7-80A0-8B55724751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995" y="649288"/>
            <a:ext cx="4622396" cy="4239235"/>
          </a:xfrm>
          <a:prstGeom prst="rect">
            <a:avLst/>
          </a:prstGeom>
        </p:spPr>
      </p:pic>
      <p:sp>
        <p:nvSpPr>
          <p:cNvPr id="14337" name="Rectangle 2">
            <a:extLst>
              <a:ext uri="{FF2B5EF4-FFF2-40B4-BE49-F238E27FC236}">
                <a16:creationId xmlns:a16="http://schemas.microsoft.com/office/drawing/2014/main" id="{E14FA5A4-3471-ECAD-8556-D9CDCE79E9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AD344168-B0A2-3A83-A337-50E1CA4BF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BDD4E7C0-81A2-F53A-8491-1034C0005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03289"/>
            <a:ext cx="159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The Switch</a:t>
            </a:r>
            <a:endParaRPr lang="en-US" altLang="en-US" sz="2000" b="1" u="sng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diagram of a triangle with text and diagrams&#10;&#10;AI-generated content may be incorrect.">
            <a:extLst>
              <a:ext uri="{FF2B5EF4-FFF2-40B4-BE49-F238E27FC236}">
                <a16:creationId xmlns:a16="http://schemas.microsoft.com/office/drawing/2014/main" id="{5FB3D071-2F67-4632-22A8-4073B96CA5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0964" y="651440"/>
            <a:ext cx="4152685" cy="3999691"/>
          </a:xfrm>
          <a:prstGeom prst="rect">
            <a:avLst/>
          </a:prstGeom>
        </p:spPr>
      </p:pic>
      <p:sp>
        <p:nvSpPr>
          <p:cNvPr id="11" name="Rectangle 46">
            <a:extLst>
              <a:ext uri="{FF2B5EF4-FFF2-40B4-BE49-F238E27FC236}">
                <a16:creationId xmlns:a16="http://schemas.microsoft.com/office/drawing/2014/main" id="{3F9CA82A-151C-7D6C-A94F-F3085B19F1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-4397" y="4815851"/>
            <a:ext cx="9100772" cy="203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equivalent ways to compute the differential scattering coefficient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14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 vegetation canopy modeled as a turbid medium.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Left panel shows the direct approach: each of the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leaf elements (areas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…,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elementary volume is individually illuminated along the incident direction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leaf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normal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contributes a projected area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i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′|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weighted by its individual scattering phase function 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describes the angular redistribution into a differential solid angle about the scattered direction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exact but impractical when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large. Right panel shows the efficient alternative: the upper hemisphere of leaf normal directions is partitioned into </a:t>
            </a:r>
            <a:r>
              <a:rPr 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solid angle bins. Replacing the individual leaf areas with the leaf angle pdf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converts the discrete sum into a continuous integral over the hemisphere, absorbing the individual phase functions 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i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the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scattering phase function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(1/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 Γ(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 → </a:t>
            </a:r>
            <a:r>
              <a:rPr lang="el-GR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yields the differential scattering coefficient 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· (1/</a:t>
            </a:r>
            <a:r>
              <a:rPr lang="el-GR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π) Γ,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sz="1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4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leaf area density. </a:t>
            </a:r>
            <a:endParaRPr lang="en-US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132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531E1-095C-95A7-7C67-5A728CA5D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7C50F6F8-EB28-DAE1-2F37-87100D702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D8C33E75-70A4-E12E-CAC1-BE5D209FF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8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D35223EC-6BBF-9AD9-267D-2AD62C4A3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069" y="679160"/>
            <a:ext cx="1599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Derivation</a:t>
            </a:r>
          </a:p>
        </p:txBody>
      </p:sp>
      <p:pic>
        <p:nvPicPr>
          <p:cNvPr id="6" name="Picture 5" descr="A diagram of a cylinder with different colored objects&#10;&#10;AI-generated content may be incorrect.">
            <a:extLst>
              <a:ext uri="{FF2B5EF4-FFF2-40B4-BE49-F238E27FC236}">
                <a16:creationId xmlns:a16="http://schemas.microsoft.com/office/drawing/2014/main" id="{B27AADDF-E0A3-B285-D6B9-DA1454C3B2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088" y="676943"/>
            <a:ext cx="3416287" cy="61810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6">
                <a:extLst>
                  <a:ext uri="{FF2B5EF4-FFF2-40B4-BE49-F238E27FC236}">
                    <a16:creationId xmlns:a16="http://schemas.microsoft.com/office/drawing/2014/main" id="{394B0E03-1C0C-4F10-C96C-47BEBF13D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25" y="1079210"/>
                <a:ext cx="5632463" cy="53485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𝐿𝑖</m:t>
                        </m:r>
                      </m:sub>
                    </m:sSub>
                    <m:r>
                      <m:rPr>
                        <m:nor/>
                      </m:rPr>
                      <a:rPr lang="en-US" altLang="en-US" sz="1600" i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) = </m:t>
                    </m:r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𝑜</m:t>
                            </m:r>
                          </m:sub>
                        </m:sSub>
                      </m:num>
                      <m:den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𝐿𝑖</m:t>
                        </m:r>
                      </m:sub>
                    </m:sSub>
                    <m:r>
                      <a:rPr lang="en-US" altLang="en-US" sz="16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d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𝐿𝑖</m:t>
                        </m:r>
                      </m:sub>
                    </m:sSub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 probability of differential scattering interaction is,</a:t>
                </a:r>
              </a:p>
              <a:p>
                <a:pPr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600" i="1" dirty="0"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600" i="1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d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= </a:t>
                </a:r>
                <a:endParaRPr lang="en-US" alt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i="1" dirty="0"/>
                  <a:t>    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6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en-US" sz="16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US" altLang="en-US" sz="1600" i="1" dirty="0"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𝑑𝑆</m:t>
                        </m:r>
                      </m:den>
                    </m:f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en-US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f>
                                  <m:f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</m:acc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en-US" sz="1600" i="1" dirty="0">
                                <a:cs typeface="Times New Roman" panose="02020603050405020304" pitchFamily="18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e>
                                </m:bar>
                              </m:e>
                            </m:d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p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;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 baseline="-250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i="1" baseline="-250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d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f>
                                  <m:f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⃗"/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𝑟</m:t>
                                    </m:r>
                                  </m:e>
                                </m:acc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en-US" sz="16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nor/>
                              </m:rPr>
                              <a:rPr lang="en-US" altLang="en-US" sz="1600" i="1" dirty="0">
                                <a:cs typeface="Times New Roman" panose="02020603050405020304" pitchFamily="18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</m:t>
                                    </m:r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sSup>
                                      <m:sSupPr>
                                        <m:ctrlPr>
                                          <a:rPr lang="en-US" altLang="en-US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l-GR" altLang="en-US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  <m:sup>
                                        <m:r>
                                          <a:rPr lang="en-US" altLang="en-US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′</m:t>
                                        </m:r>
                                      </m:sup>
                                    </m:sSup>
                                  </m:e>
                                </m:bar>
                              </m:e>
                            </m:d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p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;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 baseline="-250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i="1" baseline="-250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d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</m:e>
                          <m:e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…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f>
                                  <m:f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𝜋</m:t>
                                    </m:r>
                                  </m:den>
                                </m:f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𝑔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(</m:t>
                            </m:r>
                            <m:acc>
                              <m:accPr>
                                <m:chr m:val="⃗"/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</m:acc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sub>
                            </m:s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r>
                              <m:rPr>
                                <m:nor/>
                              </m:rPr>
                              <a:rPr lang="en-US" altLang="en-US" sz="1600" i="1" dirty="0">
                                <a:cs typeface="Times New Roman" panose="02020603050405020304" pitchFamily="18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  <m:r>
                                  <a:rPr lang="en-US" altLang="en-US" sz="16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𝑁</m:t>
                                </m:r>
                              </m:sub>
                            </m:sSub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 dirty="0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 dirty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b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𝐿𝑁</m:t>
                                    </m:r>
                                  </m:sub>
                                </m:s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∙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  <m: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e>
                                </m:bar>
                              </m:e>
                            </m:d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𝛾</m:t>
                                </m: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𝐿𝑁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pPr>
                                  <m:e>
                                    <m:bar>
                                      <m:barPr>
                                        <m:ctrlPr>
                                          <a:rPr lang="en-US" altLang="en-US" sz="1600" i="1">
                                            <a:latin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barPr>
                                      <m:e>
                                        <m:r>
                                          <a:rPr lang="el-GR" altLang="en-US" sz="16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  <a:cs typeface="Times New Roman" panose="02020603050405020304" pitchFamily="18" charset="0"/>
                                          </a:rPr>
                                          <m:t>𝛺</m:t>
                                        </m:r>
                                      </m:e>
                                    </m:bar>
                                  </m:e>
                                  <m:sup>
                                    <m:r>
                                      <a:rPr lang="en-US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′</m:t>
                                    </m:r>
                                  </m:sup>
                                </m:sSup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→</m:t>
                                </m:r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;</m:t>
                                </m:r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  <m:r>
                                  <a:rPr lang="en-US" altLang="en-US" sz="1600" i="1" baseline="-25000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𝐿𝑁</m:t>
                                </m:r>
                              </m:e>
                            </m:d>
                            <m:r>
                              <a:rPr lang="en-US" altLang="en-US" sz="1600" i="1" baseline="-250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</m:eqArr>
                      </m:e>
                    </m:d>
                  </m:oMath>
                </a14:m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i="1" dirty="0">
                    <a:latin typeface="Times New Roman" panose="02020603050405020304" pitchFamily="18" charset="0"/>
                  </a:rPr>
                  <a:t> </a:t>
                </a:r>
              </a:p>
              <a:p>
                <a:pPr algn="just">
                  <a:spcBef>
                    <a:spcPct val="0"/>
                  </a:spcBef>
                  <a:buNone/>
                </a:pPr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i="1" dirty="0">
                    <a:latin typeface="Times New Roman" panose="02020603050405020304" pitchFamily="18" charset="0"/>
                  </a:rPr>
                  <a:t>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US" altLang="en-US" sz="1600" i="1" dirty="0">
                            <a:cs typeface="Times New Roman" panose="02020603050405020304" pitchFamily="18" charset="0"/>
                          </a:rPr>
                          <m:t>d</m:t>
                        </m:r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𝜉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𝑑𝑆</m:t>
                        </m:r>
                      </m:den>
                    </m:f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  <m:r>
                      <a:rPr lang="el-GR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el-GR" altLang="en-US" sz="16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den>
                        </m:f>
                        <m:r>
                          <m:rPr>
                            <m:nor/>
                          </m:rPr>
                          <a:rPr lang="en-US" altLang="en-US" sz="1600" i="1" dirty="0">
                            <a:latin typeface="Times New Roman" panose="02020603050405020304" pitchFamily="18" charset="0"/>
                          </a:rPr>
                          <m:t> </m:t>
                        </m:r>
                        <m:nary>
                          <m:naryPr>
                            <m:limLoc m:val="undOvr"/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4"/>
                              </m:rPr>
                              <a:rPr lang="en-US" altLang="en-US" sz="16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sub>
                          <m:sup/>
                          <m:e>
                            <m:r>
                              <m:rPr>
                                <m:nor/>
                              </m:rPr>
                              <a:rPr lang="en-US" altLang="en-US" sz="1600" i="1" dirty="0">
                                <a:cs typeface="Times New Roman" panose="02020603050405020304" pitchFamily="18" charset="0"/>
                              </a:rPr>
                              <m:t>d</m:t>
                            </m:r>
                            <m:sSub>
                              <m:sSub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</m:e>
                        </m:nary>
                        <m:r>
                          <m:rPr>
                            <m:nor/>
                          </m:rPr>
                          <a:rPr lang="en-US" altLang="en-US" sz="1600" i="1" dirty="0">
                            <a:latin typeface="Times New Roman" panose="020206030504050203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en-US" sz="1600" i="1" dirty="0">
                            <a:latin typeface="Times New Roman" panose="02020603050405020304" pitchFamily="18" charset="0"/>
                          </a:rPr>
                          <m:t> 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</m:e>
                              <m:sub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sub>
                            </m:sSub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∙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e>
                            </m:bar>
                          </m:e>
                        </m:d>
                        <m:sSub>
                          <m:sSub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  <m:d>
                          <m:d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bar>
                                  <m:barPr>
                                    <m:ctrlPr>
                                      <a:rPr lang="en-US" altLang="en-US" sz="16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</m:e>
                              <m:sup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;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  <m:r>
                              <a:rPr lang="en-US" altLang="en-US" sz="1600" i="1" baseline="-25000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</m:e>
                    </m:d>
                  </m:oMath>
                </a14:m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i="1" dirty="0">
                    <a:latin typeface="Times New Roman" panose="02020603050405020304" pitchFamily="18" charset="0"/>
                  </a:rPr>
                  <a:t> 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bar>
                      <m:bar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en-US" sz="16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𝑑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  <m:r>
                      <a:rPr lang="el-GR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r>
                      <m:rPr>
                        <m:nor/>
                      </m:rPr>
                      <a:rPr lang="en-US" altLang="en-US" sz="1600" i="1" dirty="0">
                        <a:latin typeface="Times New Roman" panose="02020603050405020304" pitchFamily="18" charset="0"/>
                      </a:rPr>
                      <m:t> </m:t>
                    </m:r>
                    <m:r>
                      <a:rPr lang="el-GR" altLang="en-US" sz="1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𝛤</m:t>
                    </m:r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600" i="1" dirty="0"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600" i="1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</m:oMath>
                </a14:m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Thus,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nor/>
                      </m:rPr>
                      <a:rPr lang="en-US" altLang="en-US" sz="1600" i="1" dirty="0"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en-US" sz="1600" i="1" dirty="0"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  <m:r>
                      <m:rPr>
                        <m:nor/>
                      </m:rPr>
                      <a:rPr lang="en-US" altLang="en-US" sz="1600" i="1" dirty="0"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r>
                      <m:rPr>
                        <m:nor/>
                      </m:rPr>
                      <a:rPr lang="en-US" altLang="en-US" sz="1600" i="1" dirty="0">
                        <a:latin typeface="Times New Roman" panose="02020603050405020304" pitchFamily="18" charset="0"/>
                      </a:rPr>
                      <m:t> </m:t>
                    </m:r>
                    <m:r>
                      <a:rPr lang="el-GR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𝛤</m:t>
                    </m:r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600" i="1" dirty="0"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600" i="1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</m:oMath>
                </a14:m>
                <a:endParaRPr lang="en-US" alt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6">
                <a:extLst>
                  <a:ext uri="{FF2B5EF4-FFF2-40B4-BE49-F238E27FC236}">
                    <a16:creationId xmlns:a16="http://schemas.microsoft.com/office/drawing/2014/main" id="{394B0E03-1C0C-4F10-C96C-47BEBF13DFC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25" y="1079210"/>
                <a:ext cx="5632463" cy="5348515"/>
              </a:xfrm>
              <a:prstGeom prst="rect">
                <a:avLst/>
              </a:prstGeom>
              <a:blipFill>
                <a:blip r:embed="rId4"/>
                <a:stretch>
                  <a:fillRect l="-449" r="-674" b="-23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FFBBBF89-C870-1069-2C3A-3B53BB903DA8}"/>
              </a:ext>
            </a:extLst>
          </p:cNvPr>
          <p:cNvSpPr/>
          <p:nvPr/>
        </p:nvSpPr>
        <p:spPr>
          <a:xfrm>
            <a:off x="923192" y="5961185"/>
            <a:ext cx="3851031" cy="479303"/>
          </a:xfrm>
          <a:prstGeom prst="rect">
            <a:avLst/>
          </a:prstGeom>
          <a:noFill/>
          <a:ln w="19050">
            <a:solidFill>
              <a:srgbClr val="182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638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915AF-F4D4-1540-CC4E-6559CDE7E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EF11DB89-C99B-69B0-84ED-C07DC31EA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64E8683-688F-E38A-C6CB-28FCB9FB9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9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CCADAF99-4987-F6F0-EA40-0E71A81E1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069" y="679160"/>
            <a:ext cx="42543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Area Scattering Phase Function</a:t>
            </a:r>
          </a:p>
        </p:txBody>
      </p:sp>
      <p:pic>
        <p:nvPicPr>
          <p:cNvPr id="6" name="Picture 5" descr="A diagram of a cylinder with different colored objects&#10;&#10;AI-generated content may be incorrect.">
            <a:extLst>
              <a:ext uri="{FF2B5EF4-FFF2-40B4-BE49-F238E27FC236}">
                <a16:creationId xmlns:a16="http://schemas.microsoft.com/office/drawing/2014/main" id="{450F0594-8B75-729D-0F30-735FF4D6D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088" y="676943"/>
            <a:ext cx="3416287" cy="61810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6">
                <a:extLst>
                  <a:ext uri="{FF2B5EF4-FFF2-40B4-BE49-F238E27FC236}">
                    <a16:creationId xmlns:a16="http://schemas.microsoft.com/office/drawing/2014/main" id="{DF267BC0-BE42-4452-1254-E50FF05B83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625" y="1466131"/>
                <a:ext cx="5632463" cy="34986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buNone/>
                </a:pP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differential scattering coefficient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m:rPr>
                        <m:nor/>
                      </m:rPr>
                      <a:rPr lang="en-US" altLang="en-US" sz="1600" i="1" dirty="0">
                        <a:cs typeface="Times New Roman" panose="020206030504050203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n-US" altLang="en-US" sz="1600" i="1" dirty="0"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</m:t>
                    </m:r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  <m:r>
                      <m:rPr>
                        <m:nor/>
                      </m:rPr>
                      <a:rPr lang="en-US" altLang="en-US" sz="1600" i="1" dirty="0"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r>
                      <m:rPr>
                        <m:nor/>
                      </m:rPr>
                      <a:rPr lang="en-US" altLang="en-US" sz="1600" i="1" dirty="0">
                        <a:latin typeface="Times New Roman" panose="02020603050405020304" pitchFamily="18" charset="0"/>
                      </a:rPr>
                      <m:t> </m:t>
                    </m:r>
                    <m:r>
                      <a:rPr lang="el-GR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𝛤</m:t>
                    </m:r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600" i="1" dirty="0"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600" i="1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</m:oMath>
                </a14:m>
                <a:endParaRPr lang="en-US" altLang="en-US" sz="16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area density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(leaf area per unit volume)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den>
                    </m:f>
                    <m:r>
                      <m:rPr>
                        <m:nor/>
                      </m:rPr>
                      <a:rPr lang="en-US" altLang="en-US" sz="1600" i="1" dirty="0">
                        <a:latin typeface="Times New Roman" panose="02020603050405020304" pitchFamily="18" charset="0"/>
                      </a:rPr>
                      <m:t> </m:t>
                    </m:r>
                    <m:r>
                      <a:rPr lang="el-GR" altLang="en-US" sz="1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𝛤</m:t>
                    </m:r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area scattering phase function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Here ”leaf area” is understood to mean one-sided green leaf area in broadleaf vegetation and one-half total needle surface area in coniferous vegetation. </a:t>
                </a:r>
              </a:p>
              <a:p>
                <a:pPr algn="just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area scattering phase function (Ross, 1981) describes 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distribution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scattered radiation by a unit leaf area in the elementary volume. </a:t>
                </a:r>
              </a:p>
            </p:txBody>
          </p:sp>
        </mc:Choice>
        <mc:Fallback xmlns="">
          <p:sp>
            <p:nvSpPr>
              <p:cNvPr id="5" name="Rectangle 46">
                <a:extLst>
                  <a:ext uri="{FF2B5EF4-FFF2-40B4-BE49-F238E27FC236}">
                    <a16:creationId xmlns:a16="http://schemas.microsoft.com/office/drawing/2014/main" id="{DF267BC0-BE42-4452-1254-E50FF05B83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625" y="1466131"/>
                <a:ext cx="5632463" cy="3498650"/>
              </a:xfrm>
              <a:prstGeom prst="rect">
                <a:avLst/>
              </a:prstGeom>
              <a:blipFill>
                <a:blip r:embed="rId4"/>
                <a:stretch>
                  <a:fillRect l="-449" t="-362" r="-449" b="-144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D772DA2D-8B5D-C2F4-94F3-BA3FA3675574}"/>
              </a:ext>
            </a:extLst>
          </p:cNvPr>
          <p:cNvSpPr/>
          <p:nvPr/>
        </p:nvSpPr>
        <p:spPr>
          <a:xfrm>
            <a:off x="864339" y="1940073"/>
            <a:ext cx="3851031" cy="479303"/>
          </a:xfrm>
          <a:prstGeom prst="rect">
            <a:avLst/>
          </a:prstGeom>
          <a:noFill/>
          <a:ln w="19050">
            <a:solidFill>
              <a:srgbClr val="1824F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67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4EF13-9390-026D-4473-DC38FD84FC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2874A294-1BAA-169F-DC8C-7E5807EA0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44F188EE-4E84-39BB-49DA-91A9A910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10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4339" name="TextBox 7">
            <a:extLst>
              <a:ext uri="{FF2B5EF4-FFF2-40B4-BE49-F238E27FC236}">
                <a16:creationId xmlns:a16="http://schemas.microsoft.com/office/drawing/2014/main" id="{E1B898FE-6617-6248-048F-6198949C9D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34069" y="679160"/>
            <a:ext cx="425437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88925" indent="-288925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2000" b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Area Scattering Phase Function</a:t>
            </a:r>
          </a:p>
        </p:txBody>
      </p:sp>
      <p:pic>
        <p:nvPicPr>
          <p:cNvPr id="6" name="Picture 5" descr="A diagram of a cylinder with different colored objects&#10;&#10;AI-generated content may be incorrect.">
            <a:extLst>
              <a:ext uri="{FF2B5EF4-FFF2-40B4-BE49-F238E27FC236}">
                <a16:creationId xmlns:a16="http://schemas.microsoft.com/office/drawing/2014/main" id="{9C1DC530-A160-5802-1FA6-968A40128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0088" y="676943"/>
            <a:ext cx="3416287" cy="61810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6">
                <a:extLst>
                  <a:ext uri="{FF2B5EF4-FFF2-40B4-BE49-F238E27FC236}">
                    <a16:creationId xmlns:a16="http://schemas.microsoft.com/office/drawing/2014/main" id="{331134B1-19F2-21C4-7E3D-865A17F34E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242483"/>
                <a:ext cx="5632463" cy="55609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area scattering phase function (Ross, 1981) describes 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angular distribution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of scattered radiation by a unit leaf area in the elementary volume. </a:t>
                </a:r>
              </a:p>
              <a:p>
                <a:pPr algn="just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The area scattering phase function is </a:t>
                </a:r>
                <a:r>
                  <a:rPr lang="en-US" altLang="en-US" sz="1600" dirty="0">
                    <a:solidFill>
                      <a:srgbClr val="1729F4"/>
                    </a:solidFill>
                    <a:latin typeface="Times New Roman" panose="02020603050405020304" pitchFamily="18" charset="0"/>
                  </a:rPr>
                  <a:t>non-rotationally invariant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, that is, it is an explicit function of the polar coordinates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l-GR" altLang="en-US" sz="16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l-GR" altLang="en-US" sz="1600" dirty="0">
                    <a:latin typeface="Times New Roman" panose="02020603050405020304" pitchFamily="18" charset="0"/>
                  </a:rPr>
                  <a:t>. 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It can be reduced to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the rotationally invariant 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form, </a:t>
                </a:r>
                <a:r>
                  <a:rPr lang="en-US" altLang="en-US" sz="1600" i="1" dirty="0">
                    <a:latin typeface="Times New Roman" panose="02020603050405020304" pitchFamily="18" charset="0"/>
                  </a:rPr>
                  <a:t>i.e.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, depending only 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scattering angle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, 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alt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𝛤</m:t>
                      </m:r>
                      <m:d>
                        <m:dPr>
                          <m:ctrlPr>
                            <a:rPr lang="en-US" alt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</m:e>
                          </m:acc>
                          <m:r>
                            <m:rPr>
                              <m:nor/>
                            </m:rPr>
                            <a:rPr lang="en-US" altLang="en-US" sz="1600" i="1" dirty="0"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m:rPr>
                              <m:nor/>
                            </m:rPr>
                            <a:rPr lang="en-US" altLang="en-US" sz="1600" i="1" dirty="0"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ctrlPr>
                                    <a:rPr lang="en-US" altLang="en-US" sz="16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l-GR" altLang="en-US" sz="16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𝛺</m:t>
                                  </m:r>
                                </m:e>
                              </m:bar>
                            </m:e>
                            <m:sup>
                              <m:r>
                                <a:rPr lang="en-US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en-US" sz="16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→</m:t>
                          </m:r>
                          <m:bar>
                            <m:barPr>
                              <m:ctrlPr>
                                <a:rPr lang="en-US" altLang="en-US" sz="16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l-GR" altLang="en-US" sz="16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𝛺</m:t>
                              </m:r>
                            </m:e>
                          </m:bar>
                        </m:e>
                      </m:d>
                      <m:r>
                        <a:rPr lang="en-US" altLang="en-US" sz="1600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r>
                        <a:rPr lang="el-GR" altLang="en-US" sz="1600" i="1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𝛤</m:t>
                      </m:r>
                      <m:d>
                        <m:dPr>
                          <m:ctrlPr>
                            <a:rPr lang="en-US" altLang="en-US" sz="16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en-US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𝑟</m:t>
                                  </m:r>
                                </m:e>
                              </m:acc>
                              <m:r>
                                <a:rPr lang="en-US" altLang="en-US" sz="160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bar>
                                <m:barPr>
                                  <m:ctrlPr>
                                    <a:rPr lang="en-US" altLang="en-US" sz="16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l-GR" altLang="en-US" sz="16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𝛺</m:t>
                                  </m:r>
                                </m:e>
                              </m:bar>
                            </m:e>
                            <m:sup>
                              <m:r>
                                <a:rPr lang="en-US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alt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∙</m:t>
                          </m:r>
                          <m:bar>
                            <m:barPr>
                              <m:ctrlPr>
                                <a:rPr lang="en-US" altLang="en-US" sz="16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l-GR" alt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𝛺</m:t>
                              </m:r>
                            </m:e>
                          </m:bar>
                          <m:r>
                            <a:rPr lang="en-US" altLang="en-US" sz="1600" i="1" dirty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 a few limited cases. Therefore, standard methods of solving the radiative transfer  equations developed in astrophysics and atmospheric physics </a:t>
                </a:r>
                <a:r>
                  <a:rPr lang="en-US" altLang="en-US" sz="1600" dirty="0">
                    <a:solidFill>
                      <a:srgbClr val="151FF4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cannot</a:t>
                </a: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be applied to general cases of radiative transfer in vegetation media.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It depends on the wavelength (frequency) of the incident photons because of the leaf scattering phase function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embedded in its definition.</a:t>
                </a:r>
              </a:p>
              <a:p>
                <a:pPr>
                  <a:spcBef>
                    <a:spcPct val="0"/>
                  </a:spcBef>
                  <a:buFontTx/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Further, note the assumptions stated earlier on, at the beginning of the derivation. </a:t>
                </a:r>
              </a:p>
            </p:txBody>
          </p:sp>
        </mc:Choice>
        <mc:Fallback xmlns="">
          <p:sp>
            <p:nvSpPr>
              <p:cNvPr id="5" name="Rectangle 46">
                <a:extLst>
                  <a:ext uri="{FF2B5EF4-FFF2-40B4-BE49-F238E27FC236}">
                    <a16:creationId xmlns:a16="http://schemas.microsoft.com/office/drawing/2014/main" id="{331134B1-19F2-21C4-7E3D-865A17F34E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242483"/>
                <a:ext cx="5632463" cy="5560946"/>
              </a:xfrm>
              <a:prstGeom prst="rect">
                <a:avLst/>
              </a:prstGeom>
              <a:blipFill>
                <a:blip r:embed="rId4"/>
                <a:stretch>
                  <a:fillRect l="-676" t="-228" r="-450" b="-68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8734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24528-20AC-C5BB-2800-D60C5711E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135C8CFB-D505-E57E-0E23-61014CF59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02AAEFA-F066-199A-806C-82E3B8E2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11</a:t>
            </a:fld>
            <a:endParaRPr lang="en-US" altLang="zh-CN" sz="1400" b="1" dirty="0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738C0676-B241-89A7-1B53-CA765CC59F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069" y="679160"/>
                <a:ext cx="482587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8925" indent="-2889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l-GR" altLang="en-US" sz="20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𝑳𝑫</m:t>
                        </m:r>
                      </m:sub>
                    </m:sSub>
                  </m:oMath>
                </a14:m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200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Leaf Interior Diffuse Interactions</a:t>
                </a:r>
              </a:p>
            </p:txBody>
          </p:sp>
        </mc:Choice>
        <mc:Fallback xmlns="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738C0676-B241-89A7-1B53-CA765CC59F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4069" y="679160"/>
                <a:ext cx="4825877" cy="400110"/>
              </a:xfrm>
              <a:prstGeom prst="rect">
                <a:avLst/>
              </a:prstGeom>
              <a:blipFill>
                <a:blip r:embed="rId3"/>
                <a:stretch>
                  <a:fillRect t="-9375" b="-28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6">
                <a:extLst>
                  <a:ext uri="{FF2B5EF4-FFF2-40B4-BE49-F238E27FC236}">
                    <a16:creationId xmlns:a16="http://schemas.microsoft.com/office/drawing/2014/main" id="{E603F35C-A5D3-D71B-54D4-E0FD4A8489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" y="1079270"/>
                <a:ext cx="9029700" cy="14942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400" dirty="0">
                    <a:latin typeface="Times New Roman" panose="02020603050405020304" pitchFamily="18" charset="0"/>
                  </a:rPr>
                  <a:t>We use the </a:t>
                </a:r>
                <a:r>
                  <a:rPr lang="en-US" altLang="en-US" sz="1400" dirty="0">
                    <a:solidFill>
                      <a:srgbClr val="1729F4"/>
                    </a:solidFill>
                    <a:latin typeface="Times New Roman" panose="02020603050405020304" pitchFamily="18" charset="0"/>
                  </a:rPr>
                  <a:t>bi-Lambertian model </a:t>
                </a:r>
                <a:r>
                  <a:rPr lang="en-US" altLang="en-US" sz="1400" dirty="0">
                    <a:latin typeface="Times New Roman" panose="02020603050405020304" pitchFamily="18" charset="0"/>
                  </a:rPr>
                  <a:t>for diffuse scattering interactions in the interior of a </a:t>
                </a:r>
                <a:r>
                  <a:rPr lang="en-US" altLang="en-US" sz="14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broadleaf</a:t>
                </a:r>
                <a:r>
                  <a:rPr lang="en-US" altLang="en-US" sz="1400" dirty="0">
                    <a:latin typeface="Times New Roman" panose="02020603050405020304" pitchFamily="18" charset="0"/>
                  </a:rPr>
                  <a:t>,</a:t>
                </a:r>
              </a:p>
              <a:p>
                <a:pPr algn="just">
                  <a:spcBef>
                    <a:spcPct val="0"/>
                  </a:spcBef>
                  <a:buNone/>
                </a:pPr>
                <a:endParaRPr lang="en-US" altLang="en-US" sz="1400" dirty="0">
                  <a:latin typeface="Times New Roman" panose="020206030504050203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𝐿𝐷</m:t>
                          </m:r>
                        </m:sub>
                      </m:sSub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bar>
                                <m:barPr>
                                  <m:ctrlPr>
                                    <a:rPr lang="en-US" altLang="en-US" sz="1400" i="1" dirty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l-GR" altLang="en-US" sz="14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𝛺</m:t>
                                  </m:r>
                                </m:e>
                              </m:bar>
                            </m:e>
                            <m:sup>
                              <m:r>
                                <a:rPr lang="en-US" alt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→</m:t>
                          </m:r>
                          <m:bar>
                            <m:barPr>
                              <m:ctrlPr>
                                <a:rPr lang="en-US" altLang="en-US" sz="1400" i="1" dirty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barPr>
                            <m:e>
                              <m:r>
                                <a:rPr lang="el-GR" altLang="en-US" sz="1400" i="1" dirty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𝛺</m:t>
                              </m:r>
                            </m:e>
                          </m:bar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;</m:t>
                          </m:r>
                          <m:sSub>
                            <m:sSubPr>
                              <m:ctrlPr>
                                <a:rPr lang="en-US" altLang="en-US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bar>
                                <m:barPr>
                                  <m:ctrlPr>
                                    <a:rPr lang="en-US" altLang="en-US" sz="1400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barPr>
                                <m:e>
                                  <m:r>
                                    <a:rPr lang="el-GR" alt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𝛺</m:t>
                                  </m:r>
                                </m:e>
                              </m:bar>
                            </m:e>
                            <m:sub>
                              <m:r>
                                <a:rPr lang="en-US" altLang="en-US" sz="1400" i="1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sub>
                          </m:sSub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𝜌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𝐿𝐷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ar>
                                    <m:barPr>
                                      <m:ctrlPr>
                                        <a:rPr lang="en-US" altLang="en-US" sz="1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l-GR" altLang="en-US" sz="1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𝛺</m:t>
                                      </m:r>
                                    </m:e>
                                  </m:ba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sSub>
                                    <m:sSubPr>
                                      <m:ctrlP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ctrlPr>
                                            <a:rPr lang="en-US" altLang="en-US" sz="1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l-GR" alt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ar>
                                    <m:barPr>
                                      <m:ctrlPr>
                                        <a:rPr lang="en-US" altLang="en-US" sz="1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l-GR" altLang="en-US" sz="1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𝛺</m:t>
                                      </m:r>
                                    </m:e>
                                  </m:ba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sSub>
                                    <m:sSubPr>
                                      <m:ctrlP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ctrlPr>
                                            <a:rPr lang="en-US" altLang="en-US" sz="1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l-GR" alt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en-US" sz="1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bar>
                                        <m:barPr>
                                          <m:ctrlPr>
                                            <a:rPr lang="en-US" altLang="en-US" sz="1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l-GR" altLang="en-US" sz="1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</m:bar>
                                    </m:e>
                                    <m:sup>
                                      <m:r>
                                        <a:rPr lang="en-US" altLang="en-US" sz="1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sSub>
                                    <m:sSubPr>
                                      <m:ctrlP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ctrlPr>
                                            <a:rPr lang="en-US" altLang="en-US" sz="1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l-GR" alt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&lt; 0 ,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den>
                              </m:f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</m:e>
                                <m:sub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𝐿𝐷</m:t>
                                  </m:r>
                                </m:sub>
                              </m:s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ar>
                                    <m:barPr>
                                      <m:ctrlPr>
                                        <a:rPr lang="en-US" altLang="en-US" sz="1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l-GR" altLang="en-US" sz="1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𝛺</m:t>
                                      </m:r>
                                    </m:e>
                                  </m:ba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sSub>
                                    <m:sSubPr>
                                      <m:ctrlP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ctrlPr>
                                            <a:rPr lang="en-US" altLang="en-US" sz="1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l-GR" alt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bar>
                                    <m:barPr>
                                      <m:ctrlPr>
                                        <a:rPr lang="en-US" altLang="en-US" sz="1400" i="1" dirty="0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barPr>
                                    <m:e>
                                      <m:r>
                                        <a:rPr lang="el-GR" altLang="en-US" sz="1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𝛺</m:t>
                                      </m:r>
                                    </m:e>
                                  </m:bar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sSub>
                                    <m:sSubPr>
                                      <m:ctrlP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ctrlPr>
                                            <a:rPr lang="en-US" altLang="en-US" sz="1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l-GR" alt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e>
                              </m:d>
                              <m:d>
                                <m:dPr>
                                  <m:ctrlP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en-US" sz="1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bar>
                                        <m:barPr>
                                          <m:ctrlPr>
                                            <a:rPr lang="en-US" altLang="en-US" sz="1400" i="1" dirty="0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l-GR" altLang="en-US" sz="1400" i="1" dirty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</m:bar>
                                    </m:e>
                                    <m:sup>
                                      <m:r>
                                        <a:rPr lang="en-US" altLang="en-US" sz="1400" i="1" dirty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</a:rPr>
                                    <m:t>·</m:t>
                                  </m:r>
                                  <m:sSub>
                                    <m:sSubPr>
                                      <m:ctrlP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bar>
                                        <m:barPr>
                                          <m:ctrlPr>
                                            <a:rPr lang="en-US" altLang="en-US" sz="1400" i="1"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barPr>
                                        <m:e>
                                          <m:r>
                                            <a:rPr lang="el-GR" altLang="en-US" sz="14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𝛺</m:t>
                                          </m:r>
                                        </m:e>
                                      </m:bar>
                                    </m:e>
                                    <m:sub>
                                      <m:r>
                                        <a:rPr lang="en-US" altLang="en-US" sz="1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 &gt; 0 </m:t>
                              </m:r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en-US" sz="1400" i="1" dirty="0">
                  <a:latin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6">
                <a:extLst>
                  <a:ext uri="{FF2B5EF4-FFF2-40B4-BE49-F238E27FC236}">
                    <a16:creationId xmlns:a16="http://schemas.microsoft.com/office/drawing/2014/main" id="{E603F35C-A5D3-D71B-54D4-E0FD4A8489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2" y="1079270"/>
                <a:ext cx="9029700" cy="1494255"/>
              </a:xfrm>
              <a:prstGeom prst="rect">
                <a:avLst/>
              </a:prstGeom>
              <a:blipFill>
                <a:blip r:embed="rId4"/>
                <a:stretch>
                  <a:fillRect l="-2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A08C61-2462-DC06-1E31-658698B71735}"/>
                  </a:ext>
                </a:extLst>
              </p:cNvPr>
              <p:cNvSpPr txBox="1"/>
              <p:nvPr/>
            </p:nvSpPr>
            <p:spPr>
              <a:xfrm>
                <a:off x="34066" y="2773901"/>
                <a:ext cx="9029699" cy="33451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en-US" sz="1400" dirty="0">
                    <a:solidFill>
                      <a:schemeClr val="tx1"/>
                    </a:solidFill>
                  </a:rPr>
                  <a:t>where</a:t>
                </a:r>
                <a:r>
                  <a:rPr lang="en-US" sz="14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is the leaf directional-hemispherical reflectance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</a:rPr>
                  <a:t> is the leaf directional-hemispherical transmittance. </a:t>
                </a:r>
                <a:r>
                  <a:rPr lang="en-US" altLang="en-US" sz="1400" dirty="0">
                    <a:solidFill>
                      <a:schemeClr val="tx1"/>
                    </a:solidFill>
                  </a:rPr>
                  <a:t>The area scattering phase function for </a:t>
                </a:r>
                <a:r>
                  <a:rPr lang="en-US" altLang="en-US" sz="1400" dirty="0">
                    <a:solidFill>
                      <a:srgbClr val="1824F4"/>
                    </a:solidFill>
                  </a:rPr>
                  <a:t>diffuse scattering </a:t>
                </a:r>
                <a:r>
                  <a:rPr lang="en-US" altLang="en-US" sz="1400" dirty="0">
                    <a:solidFill>
                      <a:schemeClr val="tx1"/>
                    </a:solidFill>
                  </a:rPr>
                  <a:t>from the interior of a broadleaf is then,</a:t>
                </a:r>
              </a:p>
              <a:p>
                <a:pPr algn="ctr"/>
                <a:endParaRPr lang="en-US" altLang="en-US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𝛤</m:t>
                        </m:r>
                      </m:e>
                      <m:sub>
                        <m:r>
                          <a:rPr lang="en-US" alt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𝐿𝐷</m:t>
                        </m:r>
                      </m:sub>
                    </m:sSub>
                    <m:d>
                      <m:dPr>
                        <m:ctrlPr>
                          <a:rPr lang="en-US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  <m:r>
                      <a:rPr lang="en-US" altLang="en-US" sz="1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𝛤</m:t>
                        </m:r>
                      </m:e>
                      <m:sub>
                        <m:r>
                          <a:rPr lang="en-US" alt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  <m:sup>
                        <m:r>
                          <a:rPr lang="en-US" alt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  <m:r>
                      <a:rPr lang="el-GR" altLang="en-US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</a:rPr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𝛤</m:t>
                        </m:r>
                      </m:e>
                      <m:sub>
                        <m:r>
                          <a:rPr lang="en-US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  <m:sup>
                        <m:r>
                          <a:rPr lang="en-US" altLang="en-US" sz="1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</m:oMath>
                </a14:m>
                <a:endParaRPr lang="en-US" altLang="en-US" sz="1400" i="1" dirty="0">
                  <a:solidFill>
                    <a:schemeClr val="tx1"/>
                  </a:solidFill>
                </a:endParaRPr>
              </a:p>
              <a:p>
                <a:r>
                  <a:rPr lang="en-US" altLang="en-US" sz="1400" dirty="0">
                    <a:solidFill>
                      <a:schemeClr val="tx1"/>
                    </a:solidFill>
                  </a:rPr>
                  <a:t>where,</a:t>
                </a:r>
              </a:p>
              <a:p>
                <a:endParaRPr lang="en-US" alt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en-US" sz="1400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𝛤</m:t>
                        </m:r>
                      </m:e>
                      <m:sub>
                        <m:r>
                          <a:rPr lang="en-US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  <m:sup>
                        <m:r>
                          <a:rPr lang="en-US" altLang="en-US" sz="1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</m:sup>
                    </m:sSubSup>
                  </m:oMath>
                </a14:m>
                <a:r>
                  <a:rPr lang="en-US" altLang="en-US" sz="14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  <m:r>
                      <a:rPr lang="el-GR" altLang="en-US" sz="14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alt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nary>
                      <m:naryPr>
                        <m:ctrlP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/2</m:t>
                        </m:r>
                      </m:sup>
                      <m:e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</a:rPr>
                          <m:t>sin</m:t>
                        </m:r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  <m:sSub>
                          <m:sSubPr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1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</m:e>
                    </m:nary>
                    <m:r>
                      <a:rPr lang="en-US" alt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trlP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p>
                      <m:e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𝑔</m:t>
                        </m:r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𝜑</m:t>
                            </m:r>
                          </m:e>
                          <m:sub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</m:t>
                            </m:r>
                          </m:sub>
                        </m:sSub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nor/>
                          </m:rPr>
                          <a:rPr lang="en-US" altLang="en-US" sz="1400" i="1" dirty="0">
                            <a:solidFill>
                              <a:schemeClr val="tx1"/>
                            </a:solidFill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ar>
                          <m:barPr>
                            <m:ctrlP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lang="en-US" alt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·</m:t>
                        </m:r>
                        <m:sSub>
                          <m:sSubPr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bar>
                              <m:barPr>
                                <m:ctrlPr>
                                  <a:rPr lang="en-US" alt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b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</a:rPr>
                  <a:t> .</a:t>
                </a:r>
              </a:p>
              <a:p>
                <a:pPr algn="ctr"/>
                <a:endParaRPr lang="en-US" altLang="en-US" sz="1400" dirty="0">
                  <a:solidFill>
                    <a:schemeClr val="tx1"/>
                  </a:solidFill>
                </a:endParaRPr>
              </a:p>
              <a:p>
                <a:r>
                  <a:rPr lang="en-US" altLang="en-US" sz="1400" dirty="0">
                    <a:solidFill>
                      <a:schemeClr val="tx1"/>
                    </a:solidFill>
                  </a:rPr>
                  <a:t>The </a:t>
                </a:r>
                <a14:m>
                  <m:oMath xmlns:m="http://schemas.openxmlformats.org/officeDocument/2006/math">
                    <m:r>
                      <a:rPr lang="en-US" altLang="en-US" sz="14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altLang="en-US" sz="14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en-US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in the above indicates that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  <m:r>
                      <a:rPr lang="en-US" alt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integration is over that portion of the interval [0,2</a:t>
                </a:r>
                <a:r>
                  <a:rPr lang="el-GR" altLang="en-US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π] </a:t>
                </a:r>
                <a:r>
                  <a:rPr lang="en-US" altLang="en-US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for which the integrand is either positive (+) or negative (−). Note that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are independently distributed, then</a:t>
                </a:r>
              </a:p>
              <a:p>
                <a:r>
                  <a:rPr lang="en-US" altLang="en-US" sz="14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  <m:sub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400" i="1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L</a:t>
                </a:r>
                <a:r>
                  <a:rPr lang="en-US" altLang="en-US" sz="14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)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  <m:r>
                              <a:rPr lang="en-US" alt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𝜋</m:t>
                            </m:r>
                          </m:den>
                        </m:f>
                      </m:e>
                    </m:d>
                    <m:sSub>
                      <m:sSub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𝜑</m:t>
                        </m:r>
                      </m:e>
                      <m:sub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r>
                      <a:rPr lang="en-US" altLang="en-US" sz="1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×</m:t>
                    </m:r>
                    <m:r>
                      <a:rPr lang="en-US" altLang="en-US" sz="1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bar>
                      <m:barPr>
                        <m:pos m:val="top"/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40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400" i="1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) .</a:t>
                </a:r>
              </a:p>
              <a:p>
                <a:endParaRPr lang="en-US" altLang="en-US" sz="14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  <a:p>
                <a:r>
                  <a:rPr lang="en-US" altLang="en-US" sz="1400" dirty="0">
                    <a:solidFill>
                      <a:schemeClr val="tx1"/>
                    </a:solidFill>
                  </a:rPr>
                  <a:t>Here 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e>
                    </m:bar>
                    <m:r>
                      <a:rPr lang="en-US" altLang="en-US" sz="140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𝐿</m:t>
                    </m:r>
                  </m:oMath>
                </a14:m>
                <a:r>
                  <a:rPr lang="en-US" altLang="en-US" sz="1400" dirty="0">
                    <a:solidFill>
                      <a:schemeClr val="tx1"/>
                    </a:solidFill>
                  </a:rPr>
                  <a:t> is the leaf normal </a:t>
                </a:r>
                <a:r>
                  <a:rPr lang="en-US" altLang="en-US" sz="1400" dirty="0">
                    <a:solidFill>
                      <a:srgbClr val="1824F4"/>
                    </a:solidFill>
                  </a:rPr>
                  <a:t>inclination</a:t>
                </a:r>
                <a:r>
                  <a:rPr lang="en-US" altLang="en-US" sz="1400" dirty="0">
                    <a:solidFill>
                      <a:schemeClr val="tx1"/>
                    </a:solidFill>
                  </a:rPr>
                  <a:t> distribution function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alt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400" dirty="0">
                    <a:solidFill>
                      <a:schemeClr val="tx1"/>
                    </a:solidFill>
                  </a:rPr>
                  <a:t> is the leaf normal azimuthal distribution function.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EA08C61-2462-DC06-1E31-658698B717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6" y="2773901"/>
                <a:ext cx="9029699" cy="3345147"/>
              </a:xfrm>
              <a:prstGeom prst="rect">
                <a:avLst/>
              </a:prstGeom>
              <a:blipFill>
                <a:blip r:embed="rId5"/>
                <a:stretch>
                  <a:fillRect l="-281" t="-379" b="-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127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0ECF8-5898-2332-FC63-58612544A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F83D49B8-1B3E-8766-4192-54F6F4897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FC71AF68-1328-B286-6F55-60FF3C203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12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F906CD4B-9E23-C1ED-E9EB-24041ED7D44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068" y="679160"/>
                <a:ext cx="2460746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8925" indent="-2889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l-GR" altLang="en-US" sz="20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𝑳𝑫</m:t>
                        </m:r>
                      </m:sub>
                    </m:sSub>
                  </m:oMath>
                </a14:m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200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Normalization</a:t>
                </a:r>
              </a:p>
            </p:txBody>
          </p:sp>
        </mc:Choice>
        <mc:Fallback xmlns="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F906CD4B-9E23-C1ED-E9EB-24041ED7D4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4068" y="679160"/>
                <a:ext cx="2460746" cy="400110"/>
              </a:xfrm>
              <a:prstGeom prst="rect">
                <a:avLst/>
              </a:prstGeom>
              <a:blipFill>
                <a:blip r:embed="rId3"/>
                <a:stretch>
                  <a:fillRect t="-9375" b="-28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6">
                <a:extLst>
                  <a:ext uri="{FF2B5EF4-FFF2-40B4-BE49-F238E27FC236}">
                    <a16:creationId xmlns:a16="http://schemas.microsoft.com/office/drawing/2014/main" id="{D88AC444-0B3E-DF5F-8B21-EA0A4B94CA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1109142"/>
                <a:ext cx="9029700" cy="569777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just"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When integrated over all scattered directions </a:t>
                </a:r>
                <a14:m>
                  <m:oMath xmlns:m="http://schemas.openxmlformats.org/officeDocument/2006/math">
                    <m:bar>
                      <m:bar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bar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𝛺</m:t>
                        </m:r>
                      </m:e>
                    </m:bar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the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differential scattering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yields the corresponding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total scattering coefficient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𝐿𝐷</m:t>
                        </m:r>
                      </m:sub>
                    </m:sSub>
                    <m:r>
                      <a:rPr lang="en-US" altLang="en-US" sz="1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endParaRPr lang="en-US" altLang="en-US" sz="1600" b="0" dirty="0">
                  <a:latin typeface="Times New Roman" panose="02020603050405020304" pitchFamily="18" charset="0"/>
                  <a:ea typeface="Cambria Math" panose="02040503050406030204" pitchFamily="18" charset="0"/>
                </a:endParaRPr>
              </a:p>
              <a:p>
                <a:pPr algn="just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𝐿𝐷</m:t>
                        </m:r>
                      </m:sub>
                    </m:sSub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nary>
                      <m:nary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bar>
                          <m:barPr>
                            <m:ctrlPr>
                              <a:rPr lang="en-US" alt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𝛺</m:t>
                            </m:r>
                          </m:e>
                        </m:bar>
                      </m:e>
                    </m:nary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600" i="1" dirty="0"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600" i="1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</m:oMath>
                </a14:m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1600" i="1" dirty="0">
                    <a:latin typeface="Times New Roman" panose="02020603050405020304" pitchFamily="18" charset="0"/>
                  </a:rPr>
                  <a:t>                           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trlPr>
                          <a:rPr lang="en-US" altLang="en-US" sz="16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16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𝛺</m:t>
                            </m:r>
                          </m:e>
                        </m:bar>
                      </m:e>
                    </m:nary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𝛤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𝐿𝐷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600" i="1" dirty="0"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600" i="1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</m:oMath>
                </a14:m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:endParaRPr lang="en-US" altLang="en-US" sz="1600" i="1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:r>
                  <a:rPr lang="en-US" altLang="en-US" sz="1600" i="1" dirty="0">
                    <a:latin typeface="Times New Roman" panose="02020603050405020304" pitchFamily="18" charset="0"/>
                  </a:rPr>
                  <a:t>           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</m:oMath>
                </a14:m>
                <a:r>
                  <a:rPr lang="en-US" altLang="en-US" sz="1600" i="1" dirty="0">
                    <a:cs typeface="Times New Roman" panose="02020603050405020304" pitchFamily="18" charset="0"/>
                  </a:rPr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𝐿𝐷</m:t>
                        </m:r>
                      </m:sub>
                    </m:sSub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acc>
                      <m:accPr>
                        <m:chr m:val="⃗"/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e>
                    </m:acc>
                    <m:r>
                      <a:rPr lang="en-US" altLang="en-US" sz="16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  <m:sSup>
                      <m:sSupPr>
                        <m:ctrlP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  <m: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) ,</a:t>
                </a:r>
              </a:p>
              <a:p>
                <a:pPr algn="ctr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</a:t>
                </a:r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leaf albedo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sz="16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The G function is the geometry function (Ross, 1981) discussed earlier. Thus, a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normalized scattering phase function 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P can be defined as,</a:t>
                </a:r>
              </a:p>
              <a:p>
                <a:pPr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𝐿𝐷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⃗"/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</m:acc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; </m:t>
                            </m:r>
                            <m:bar>
                              <m:barPr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  <m:r>
                          <a:rPr lang="en-US" altLang="en-US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6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𝛤</m:t>
                            </m:r>
                          </m:e>
                          <m:sub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𝐿𝐷</m:t>
                            </m:r>
                          </m:sub>
                        </m:sSub>
                        <m:d>
                          <m:d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⃗"/>
                                <m:ctrlP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en-US" sz="16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𝑟</m:t>
                                </m:r>
                              </m:e>
                            </m:acc>
                            <m:r>
                              <m:rPr>
                                <m:nor/>
                              </m:rPr>
                              <a:rPr lang="en-US" altLang="en-US" sz="1600" dirty="0">
                                <a:cs typeface="Times New Roman" panose="02020603050405020304" pitchFamily="18" charset="0"/>
                              </a:rPr>
                              <m:t>,</m:t>
                            </m:r>
                            <m:r>
                              <m:rPr>
                                <m:nor/>
                              </m:rPr>
                              <a:rPr lang="en-US" altLang="en-US" sz="1600" dirty="0"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 </m:t>
                            </m:r>
                            <m:sSup>
                              <m:sSup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bar>
                                  <m:barPr>
                                    <m:ctrlPr>
                                      <a:rPr lang="en-US" altLang="en-US" sz="1600" i="1" dirty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barPr>
                                  <m:e>
                                    <m:r>
                                      <a:rPr lang="el-GR" altLang="en-US" sz="1600" i="1" dirty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𝛺</m:t>
                                    </m:r>
                                  </m:e>
                                </m:bar>
                              </m:e>
                              <m:sup>
                                <m:r>
                                  <a:rPr lang="en-US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→</m:t>
                            </m:r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</m:d>
                      </m:num>
                      <m:den>
                        <m:sSub>
                          <m:sSubPr>
                            <m:ctrlP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𝐿𝐷</m:t>
                            </m:r>
                          </m:sub>
                        </m:s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𝐺</m:t>
                        </m:r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acc>
                          <m:accPr>
                            <m:chr m:val="⃗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altLang="en-US" sz="1600" i="1" dirty="0">
                            <a:latin typeface="Times New Roman" panose="020206030504050203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altLang="en-US" sz="1600" i="1" dirty="0">
                    <a:latin typeface="Times New Roman" panose="02020603050405020304" pitchFamily="18" charset="0"/>
                  </a:rPr>
                  <a:t> ,</a:t>
                </a:r>
              </a:p>
              <a:p>
                <a:pPr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such that</a:t>
                </a:r>
              </a:p>
              <a:p>
                <a:pPr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 algn="ctr">
                  <a:spcBef>
                    <a:spcPct val="0"/>
                  </a:spcBef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den>
                    </m:f>
                    <m:r>
                      <a:rPr lang="en-US" alt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nary>
                      <m:nary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4</m:t>
                        </m:r>
                        <m:r>
                          <a:rPr lang="en-US" alt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sub>
                      <m:sup/>
                      <m:e>
                        <m:r>
                          <a:rPr lang="en-US" altLang="en-US" sz="1600" i="1">
                            <a:latin typeface="Cambria Math" panose="02040503050406030204" pitchFamily="18" charset="0"/>
                          </a:rPr>
                          <m:t>𝑑</m:t>
                        </m:r>
                        <m:bar>
                          <m:bar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l-GR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Ω</m:t>
                            </m:r>
                          </m:e>
                        </m:bar>
                      </m:e>
                    </m:nary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en-US" sz="16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𝐿𝐷</m:t>
                        </m:r>
                      </m:sub>
                    </m:sSub>
                    <m:d>
                      <m:dPr>
                        <m:ctrlPr>
                          <a:rPr lang="en-US" altLang="en-US" sz="16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acc>
                          <m:accPr>
                            <m:chr m:val="⃗"/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𝑟</m:t>
                            </m:r>
                          </m:e>
                        </m:acc>
                        <m:r>
                          <m:rPr>
                            <m:nor/>
                          </m:rPr>
                          <a:rPr lang="en-US" altLang="en-US" sz="1600" dirty="0"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en-US" sz="1600" dirty="0"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→</m:t>
                        </m:r>
                        <m:bar>
                          <m:barPr>
                            <m:ctrlPr>
                              <a:rPr lang="en-US" altLang="en-US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= 1.</a:t>
                </a:r>
              </a:p>
              <a:p>
                <a:pPr algn="ctr">
                  <a:spcBef>
                    <a:spcPct val="0"/>
                  </a:spcBef>
                  <a:buNone/>
                </a:pPr>
                <a:endParaRPr lang="en-US" altLang="en-US" sz="1600" dirty="0">
                  <a:latin typeface="Times New Roman" panose="02020603050405020304" pitchFamily="18" charset="0"/>
                </a:endParaRPr>
              </a:p>
              <a:p>
                <a:pPr>
                  <a:spcBef>
                    <a:spcPct val="0"/>
                  </a:spcBef>
                  <a:buNone/>
                </a:pPr>
                <a:r>
                  <a:rPr lang="en-US" altLang="en-US" sz="1600" dirty="0">
                    <a:latin typeface="Times New Roman" panose="02020603050405020304" pitchFamily="18" charset="0"/>
                  </a:rPr>
                  <a:t>Thus,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f>
                          <m:fPr>
                            <m:ctrlP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  <m:r>
                              <a:rPr lang="en-US" alt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den>
                        </m:f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en-US" sz="16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altLang="en-US" sz="1600" dirty="0">
                    <a:latin typeface="Times New Roman" panose="02020603050405020304" pitchFamily="18" charset="0"/>
                  </a:rPr>
                  <a:t> is understood to be a </a:t>
                </a:r>
                <a:r>
                  <a:rPr lang="en-US" altLang="en-US" sz="1600" dirty="0">
                    <a:solidFill>
                      <a:srgbClr val="1824F4"/>
                    </a:solidFill>
                    <a:latin typeface="Times New Roman" panose="02020603050405020304" pitchFamily="18" charset="0"/>
                  </a:rPr>
                  <a:t>probability density function</a:t>
                </a:r>
                <a:r>
                  <a:rPr lang="en-US" altLang="en-US" sz="1600" dirty="0">
                    <a:latin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Rectangle 46">
                <a:extLst>
                  <a:ext uri="{FF2B5EF4-FFF2-40B4-BE49-F238E27FC236}">
                    <a16:creationId xmlns:a16="http://schemas.microsoft.com/office/drawing/2014/main" id="{D88AC444-0B3E-DF5F-8B21-EA0A4B94CA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0" y="1109142"/>
                <a:ext cx="9029700" cy="5697778"/>
              </a:xfrm>
              <a:prstGeom prst="rect">
                <a:avLst/>
              </a:prstGeom>
              <a:blipFill>
                <a:blip r:embed="rId4"/>
                <a:stretch>
                  <a:fillRect l="-422" t="-444" r="-422" b="-4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32026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778C3-6FAF-F6AA-DC8B-3FE62D9098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568BCAB7-3CA9-6D95-F8C0-900EF2A22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19B49C3-4CB1-BEB6-50B6-9974FA34A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13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F43FCB92-F785-42FC-2521-0797A032B03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068" y="679160"/>
                <a:ext cx="409611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8925" indent="-2889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l-GR" altLang="en-US" sz="20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𝑳𝑫</m:t>
                        </m:r>
                      </m:sub>
                    </m:sSub>
                  </m:oMath>
                </a14:m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200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Non-Rotational Invariance</a:t>
                </a:r>
              </a:p>
            </p:txBody>
          </p:sp>
        </mc:Choice>
        <mc:Fallback xmlns="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F43FCB92-F785-42FC-2521-0797A032B0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4068" y="679160"/>
                <a:ext cx="4096114" cy="400110"/>
              </a:xfrm>
              <a:prstGeom prst="rect">
                <a:avLst/>
              </a:prstGeom>
              <a:blipFill>
                <a:blip r:embed="rId3"/>
                <a:stretch>
                  <a:fillRect t="-9375" b="-28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6">
            <a:extLst>
              <a:ext uri="{FF2B5EF4-FFF2-40B4-BE49-F238E27FC236}">
                <a16:creationId xmlns:a16="http://schemas.microsoft.com/office/drawing/2014/main" id="{603C6C83-5297-6976-BAFA-34607DC35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" y="4497289"/>
            <a:ext cx="9029700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scattering phase function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the special case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ρ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=0.5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1), comparing three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inclination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distributions: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(black dots),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planophile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(red), and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erectophile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(blue), all with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leaf azimuthal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=1. The incident direction is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′=135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′=0</a:t>
            </a:r>
            <a:r>
              <a:rPr lang="en-US" sz="1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solid black curve is the uniform closed form. Each dot represents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evaluated at a Gauss-quadrature node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in the scattered direction, plotted against the corresponding cosine of the scattering angle cos β. Unlike the uniform case, the points do not collapse to a single curve in the planophile and erectophile cases: at each value of cos β,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fans into distinct strands, each corresponding to a fixed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varying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demonstrates that for non-uniform leaf inclination distributions, </a:t>
            </a:r>
            <a:r>
              <a:rPr lang="en-US" sz="1600" i="1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600" baseline="-250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 not rotationally invariant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—it depends on the full four-angle geometry 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′,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θ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φ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not merely on the scattering angle β.</a:t>
            </a:r>
          </a:p>
        </p:txBody>
      </p:sp>
      <p:pic>
        <p:nvPicPr>
          <p:cNvPr id="4" name="Picture 3" descr="A diagram of a function&#10;&#10;AI-generated content may be incorrect.">
            <a:extLst>
              <a:ext uri="{FF2B5EF4-FFF2-40B4-BE49-F238E27FC236}">
                <a16:creationId xmlns:a16="http://schemas.microsoft.com/office/drawing/2014/main" id="{8DE80F94-9C83-82A7-A444-D787D4F2F2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6486" y="679160"/>
            <a:ext cx="3912577" cy="391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6107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A6FB-E4F8-6F1A-4A87-46B339DC9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00009191-8449-3575-6479-29027C94C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0D859488-B72B-01B4-E7DD-EF20D7545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14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8F27CE98-D28E-FB90-56DC-698FA46653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068" y="679160"/>
                <a:ext cx="409611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8925" indent="-2889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l-GR" altLang="en-US" sz="20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𝑳𝑫</m:t>
                        </m:r>
                      </m:sub>
                    </m:sSub>
                  </m:oMath>
                </a14:m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Relative Roles of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ρ</a:t>
                </a:r>
                <a:r>
                  <a:rPr lang="en-US" sz="2000" b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</a:t>
                </a:r>
                <a:r>
                  <a:rPr lang="en-US" sz="2000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:r>
                  <a:rPr lang="en-US" sz="2000" b="1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τ</a:t>
                </a:r>
                <a:r>
                  <a:rPr lang="en-US" sz="2000" b="1" baseline="-250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LD</a:t>
                </a:r>
                <a:r>
                  <a:rPr lang="en-US" altLang="en-US" sz="200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8F27CE98-D28E-FB90-56DC-698FA4665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4068" y="679160"/>
                <a:ext cx="4096114" cy="400110"/>
              </a:xfrm>
              <a:prstGeom prst="rect">
                <a:avLst/>
              </a:prstGeom>
              <a:blipFill>
                <a:blip r:embed="rId3"/>
                <a:stretch>
                  <a:fillRect t="-9375" b="-28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6">
            <a:extLst>
              <a:ext uri="{FF2B5EF4-FFF2-40B4-BE49-F238E27FC236}">
                <a16:creationId xmlns:a16="http://schemas.microsoft.com/office/drawing/2014/main" id="{193A73EA-72EB-6A21-9D80-52E9DFFE53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75" y="4945697"/>
            <a:ext cx="90297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just">
              <a:spcBef>
                <a:spcPct val="0"/>
              </a:spcBef>
              <a:buNone/>
            </a:pP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scattering phase function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leaf inclination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ġ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=1) and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uniform leaf azimuthal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(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=1), plotted against the cosine of the scattering angle cos β. The single-scattering albedo is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=1, with the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leaf transmittance-to-albedo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ratio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varying from 0 (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pure reflection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0.5 (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equal reflection and transmission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Computed from the analytical closed form. For this combination of uniform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ġ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uniform </a:t>
            </a:r>
            <a:r>
              <a:rPr lang="en-US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Γ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depends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only on the scattering angle and is therefore </a:t>
            </a:r>
            <a:r>
              <a:rPr lang="en-US" sz="1600" dirty="0">
                <a:solidFill>
                  <a:srgbClr val="1824F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rotationally invariant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6" name="Picture 5" descr="A diagram of a function&#10;&#10;AI-generated content may be incorrect.">
            <a:extLst>
              <a:ext uri="{FF2B5EF4-FFF2-40B4-BE49-F238E27FC236}">
                <a16:creationId xmlns:a16="http://schemas.microsoft.com/office/drawing/2014/main" id="{80EF7997-B5B5-C182-15E5-DF4F03AF1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7781" y="820640"/>
            <a:ext cx="4096114" cy="409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63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4DD73-2B58-059E-55B0-6307D0DAB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53753ABA-5C64-B0D9-7C64-B77253DE2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C8DB273A-85D8-51A7-F759-3DC6BA6DC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15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1E1A07D1-B4AB-4E51-5760-174171F0C0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068" y="679160"/>
                <a:ext cx="409611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8925" indent="-2889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l-GR" altLang="en-US" sz="20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𝑳𝑫</m:t>
                        </m:r>
                      </m:sub>
                    </m:sSub>
                  </m:oMath>
                </a14:m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200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Azimuthal Heterogeneity</a:t>
                </a:r>
              </a:p>
            </p:txBody>
          </p:sp>
        </mc:Choice>
        <mc:Fallback xmlns="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1E1A07D1-B4AB-4E51-5760-174171F0C0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4068" y="679160"/>
                <a:ext cx="4096114" cy="400110"/>
              </a:xfrm>
              <a:prstGeom prst="rect">
                <a:avLst/>
              </a:prstGeom>
              <a:blipFill>
                <a:blip r:embed="rId4"/>
                <a:stretch>
                  <a:fillRect t="-9375" b="-28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diagram of different colors  AI-generated content may be incorrect.">
            <a:extLst>
              <a:ext uri="{FF2B5EF4-FFF2-40B4-BE49-F238E27FC236}">
                <a16:creationId xmlns:a16="http://schemas.microsoft.com/office/drawing/2014/main" id="{308B7C92-8028-C501-42B2-5C722CE53EC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389" y="1079270"/>
            <a:ext cx="4894810" cy="48948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A01C8E6-D643-C24E-3B2D-9FB842BC5284}"/>
              </a:ext>
            </a:extLst>
          </p:cNvPr>
          <p:cNvSpPr txBox="1"/>
          <p:nvPr/>
        </p:nvSpPr>
        <p:spPr>
          <a:xfrm>
            <a:off x="104506" y="1617309"/>
            <a:ext cx="3601714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</a:rPr>
              <a:t>Polar plots of the weighted diffuse area scattering phase function </a:t>
            </a:r>
            <a:r>
              <a:rPr lang="en-US" sz="1600" i="1" dirty="0" err="1">
                <a:solidFill>
                  <a:schemeClr val="tx1"/>
                </a:solidFill>
              </a:rPr>
              <a:t>Γ</a:t>
            </a:r>
            <a:r>
              <a:rPr lang="en-US" sz="1600" dirty="0">
                <a:solidFill>
                  <a:schemeClr val="tx1"/>
                </a:solidFill>
              </a:rPr>
              <a:t>​</a:t>
            </a:r>
            <a:r>
              <a:rPr lang="en-US" sz="1600" baseline="-25000" dirty="0">
                <a:solidFill>
                  <a:schemeClr val="tx1"/>
                </a:solidFill>
              </a:rPr>
              <a:t>LD</a:t>
            </a:r>
            <a:r>
              <a:rPr lang="en-US" sz="1600" dirty="0">
                <a:solidFill>
                  <a:schemeClr val="tx1"/>
                </a:solidFill>
              </a:rPr>
              <a:t>. Columns: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uniform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i="1" dirty="0" err="1">
                <a:solidFill>
                  <a:schemeClr val="tx1"/>
                </a:solidFill>
              </a:rPr>
              <a:t>ḡ</a:t>
            </a:r>
            <a:r>
              <a:rPr lang="en-US" sz="1600" i="1" baseline="-25000" dirty="0" err="1">
                <a:solidFill>
                  <a:schemeClr val="tx1"/>
                </a:solidFill>
              </a:rPr>
              <a:t>L</a:t>
            </a:r>
            <a:r>
              <a:rPr lang="en-US" sz="1600" dirty="0">
                <a:solidFill>
                  <a:schemeClr val="tx1"/>
                </a:solidFill>
              </a:rPr>
              <a:t> (left) and planophile </a:t>
            </a:r>
            <a:r>
              <a:rPr lang="en-US" sz="1600" i="1" dirty="0" err="1">
                <a:solidFill>
                  <a:schemeClr val="tx1"/>
                </a:solidFill>
              </a:rPr>
              <a:t>ḡ</a:t>
            </a:r>
            <a:r>
              <a:rPr lang="en-US" sz="1600" i="1" baseline="-25000" dirty="0" err="1">
                <a:solidFill>
                  <a:schemeClr val="tx1"/>
                </a:solidFill>
              </a:rPr>
              <a:t>L</a:t>
            </a:r>
            <a:r>
              <a:rPr lang="en-US" sz="1600" dirty="0">
                <a:solidFill>
                  <a:schemeClr val="tx1"/>
                </a:solidFill>
              </a:rPr>
              <a:t> (right), both with non-uniform </a:t>
            </a:r>
            <a:r>
              <a:rPr lang="en-US" sz="1600" i="1" dirty="0" err="1">
                <a:solidFill>
                  <a:schemeClr val="tx1"/>
                </a:solidFill>
              </a:rPr>
              <a:t>h</a:t>
            </a:r>
            <a:r>
              <a:rPr lang="en-US" sz="1600" i="1" baseline="-25000" dirty="0" err="1">
                <a:solidFill>
                  <a:schemeClr val="tx1"/>
                </a:solidFill>
              </a:rPr>
              <a:t>L</a:t>
            </a:r>
            <a:r>
              <a:rPr lang="en-US" sz="1600" dirty="0">
                <a:solidFill>
                  <a:schemeClr val="tx1"/>
                </a:solidFill>
              </a:rPr>
              <a:t> (</a:t>
            </a:r>
            <a:r>
              <a:rPr lang="en-US" sz="1600" dirty="0" err="1">
                <a:solidFill>
                  <a:schemeClr val="tx1"/>
                </a:solidFill>
              </a:rPr>
              <a:t>η</a:t>
            </a:r>
            <a:r>
              <a:rPr lang="en-US" sz="1600" dirty="0">
                <a:solidFill>
                  <a:schemeClr val="tx1"/>
                </a:solidFill>
              </a:rPr>
              <a:t> = 55°). Rows:</a:t>
            </a:r>
            <a:r>
              <a:rPr lang="en-US" sz="1600" b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weighted reflection component </a:t>
            </a:r>
            <a:r>
              <a:rPr lang="en-US" sz="1600" i="1" dirty="0" err="1">
                <a:solidFill>
                  <a:schemeClr val="tx1"/>
                </a:solidFill>
              </a:rPr>
              <a:t>ρ</a:t>
            </a:r>
            <a:r>
              <a:rPr lang="en-US" sz="1600" baseline="-25000" dirty="0" err="1">
                <a:solidFill>
                  <a:schemeClr val="tx1"/>
                </a:solidFill>
              </a:rPr>
              <a:t>LD</a:t>
            </a:r>
            <a:r>
              <a:rPr lang="en-US" sz="1600" dirty="0">
                <a:solidFill>
                  <a:schemeClr val="tx1"/>
                </a:solidFill>
              </a:rPr>
              <a:t> </a:t>
            </a:r>
            <a:r>
              <a:rPr lang="en-US" sz="1600" i="1" dirty="0" err="1">
                <a:solidFill>
                  <a:schemeClr val="tx1"/>
                </a:solidFill>
              </a:rPr>
              <a:t>Γ</a:t>
            </a:r>
            <a:r>
              <a:rPr lang="en-US" sz="1600" dirty="0">
                <a:solidFill>
                  <a:schemeClr val="tx1"/>
                </a:solidFill>
              </a:rPr>
              <a:t>​</a:t>
            </a:r>
            <a:r>
              <a:rPr lang="en-US" sz="1600" baseline="30000" dirty="0">
                <a:solidFill>
                  <a:schemeClr val="tx1"/>
                </a:solidFill>
              </a:rPr>
              <a:t>−</a:t>
            </a:r>
            <a:r>
              <a:rPr lang="en-US" sz="1600" baseline="-25000" dirty="0">
                <a:solidFill>
                  <a:schemeClr val="tx1"/>
                </a:solidFill>
              </a:rPr>
              <a:t>LD</a:t>
            </a:r>
            <a:r>
              <a:rPr lang="en-US" sz="1600" dirty="0">
                <a:solidFill>
                  <a:schemeClr val="tx1"/>
                </a:solidFill>
              </a:rPr>
              <a:t> (top); weighted transmission component </a:t>
            </a:r>
            <a:r>
              <a:rPr lang="en-US" sz="1600" i="1" dirty="0" err="1">
                <a:solidFill>
                  <a:schemeClr val="tx1"/>
                </a:solidFill>
              </a:rPr>
              <a:t>τ</a:t>
            </a:r>
            <a:r>
              <a:rPr lang="en-US" sz="1600" baseline="-25000" dirty="0" err="1">
                <a:solidFill>
                  <a:schemeClr val="tx1"/>
                </a:solidFill>
              </a:rPr>
              <a:t>LD</a:t>
            </a:r>
            <a:r>
              <a:rPr lang="en-US" sz="1600" dirty="0">
                <a:solidFill>
                  <a:schemeClr val="tx1"/>
                </a:solidFill>
              </a:rPr>
              <a:t> </a:t>
            </a:r>
            <a:r>
              <a:rPr lang="en-US" sz="1600" i="1" dirty="0" err="1">
                <a:solidFill>
                  <a:schemeClr val="tx1"/>
                </a:solidFill>
              </a:rPr>
              <a:t>Γ</a:t>
            </a:r>
            <a:r>
              <a:rPr lang="en-US" sz="1600" dirty="0">
                <a:solidFill>
                  <a:schemeClr val="tx1"/>
                </a:solidFill>
              </a:rPr>
              <a:t>​</a:t>
            </a:r>
            <a:r>
              <a:rPr lang="en-US" sz="1600" baseline="30000" dirty="0">
                <a:solidFill>
                  <a:schemeClr val="tx1"/>
                </a:solidFill>
              </a:rPr>
              <a:t>+</a:t>
            </a:r>
            <a:r>
              <a:rPr lang="en-US" sz="1600" baseline="-25000" dirty="0">
                <a:solidFill>
                  <a:schemeClr val="tx1"/>
                </a:solidFill>
              </a:rPr>
              <a:t>LD</a:t>
            </a:r>
            <a:r>
              <a:rPr lang="en-US" sz="1600" dirty="0">
                <a:solidFill>
                  <a:schemeClr val="tx1"/>
                </a:solidFill>
              </a:rPr>
              <a:t> (bottom). Leaf optical properties: </a:t>
            </a:r>
            <a:r>
              <a:rPr lang="en-US" sz="1600" i="1" dirty="0" err="1">
                <a:solidFill>
                  <a:schemeClr val="tx1"/>
                </a:solidFill>
              </a:rPr>
              <a:t>ρ</a:t>
            </a:r>
            <a:r>
              <a:rPr lang="en-US" sz="1600" baseline="-25000" dirty="0" err="1">
                <a:solidFill>
                  <a:schemeClr val="tx1"/>
                </a:solidFill>
              </a:rPr>
              <a:t>LD</a:t>
            </a:r>
            <a:r>
              <a:rPr lang="en-US" sz="1600" dirty="0">
                <a:solidFill>
                  <a:schemeClr val="tx1"/>
                </a:solidFill>
              </a:rPr>
              <a:t> = 0.55, </a:t>
            </a:r>
            <a:r>
              <a:rPr lang="en-US" sz="1600" i="1" dirty="0" err="1">
                <a:solidFill>
                  <a:schemeClr val="tx1"/>
                </a:solidFill>
              </a:rPr>
              <a:t>τ</a:t>
            </a:r>
            <a:r>
              <a:rPr lang="en-US" sz="1600" baseline="-25000" dirty="0" err="1">
                <a:solidFill>
                  <a:schemeClr val="tx1"/>
                </a:solidFill>
              </a:rPr>
              <a:t>LD</a:t>
            </a:r>
            <a:r>
              <a:rPr lang="en-US" sz="1600" dirty="0">
                <a:solidFill>
                  <a:schemeClr val="tx1"/>
                </a:solidFill>
              </a:rPr>
              <a:t> = 0.45 (</a:t>
            </a:r>
            <a:r>
              <a:rPr lang="en-US" sz="1600" i="1" dirty="0" err="1">
                <a:solidFill>
                  <a:schemeClr val="tx1"/>
                </a:solidFill>
              </a:rPr>
              <a:t>ω</a:t>
            </a:r>
            <a:r>
              <a:rPr lang="en-US" sz="1600" baseline="-25000" dirty="0" err="1">
                <a:solidFill>
                  <a:schemeClr val="tx1"/>
                </a:solidFill>
              </a:rPr>
              <a:t>LD</a:t>
            </a:r>
            <a:r>
              <a:rPr lang="en-US" sz="1600" dirty="0">
                <a:solidFill>
                  <a:schemeClr val="tx1"/>
                </a:solidFill>
              </a:rPr>
              <a:t> = 1.00). The polar coordinate is the scattered zenith angle </a:t>
            </a:r>
            <a:r>
              <a:rPr lang="en-US" sz="1600" i="1" dirty="0" err="1">
                <a:solidFill>
                  <a:schemeClr val="tx1"/>
                </a:solidFill>
              </a:rPr>
              <a:t>θ</a:t>
            </a:r>
            <a:r>
              <a:rPr lang="en-US" sz="1600" i="1" baseline="-25000" dirty="0" err="1">
                <a:solidFill>
                  <a:schemeClr val="tx1"/>
                </a:solidFill>
              </a:rPr>
              <a:t>s</a:t>
            </a:r>
            <a:r>
              <a:rPr lang="en-US" sz="1600" dirty="0">
                <a:solidFill>
                  <a:schemeClr val="tx1"/>
                </a:solidFill>
              </a:rPr>
              <a:t>; the azimuthal coordinate is the scattered azimuth </a:t>
            </a:r>
            <a:r>
              <a:rPr lang="en-US" sz="1600" i="1" dirty="0" err="1">
                <a:solidFill>
                  <a:schemeClr val="tx1"/>
                </a:solidFill>
              </a:rPr>
              <a:t>φ</a:t>
            </a:r>
            <a:r>
              <a:rPr lang="en-US" sz="1600" i="1" baseline="-25000" dirty="0" err="1">
                <a:solidFill>
                  <a:schemeClr val="tx1"/>
                </a:solidFill>
              </a:rPr>
              <a:t>s</a:t>
            </a:r>
            <a:r>
              <a:rPr lang="en-US" sz="1600" dirty="0">
                <a:solidFill>
                  <a:schemeClr val="tx1"/>
                </a:solidFill>
              </a:rPr>
              <a:t>, increasing clockwise from north (0°). Incident direction: </a:t>
            </a:r>
            <a:r>
              <a:rPr lang="en-US" sz="1600" i="1" dirty="0" err="1">
                <a:solidFill>
                  <a:schemeClr val="tx1"/>
                </a:solidFill>
              </a:rPr>
              <a:t>θ</a:t>
            </a:r>
            <a:r>
              <a:rPr lang="en-US" sz="1600" i="1" dirty="0">
                <a:solidFill>
                  <a:schemeClr val="tx1"/>
                </a:solidFill>
              </a:rPr>
              <a:t>′</a:t>
            </a:r>
            <a:r>
              <a:rPr lang="en-US" sz="1600" dirty="0">
                <a:solidFill>
                  <a:schemeClr val="tx1"/>
                </a:solidFill>
              </a:rPr>
              <a:t> = 140°, </a:t>
            </a:r>
            <a:r>
              <a:rPr lang="en-US" sz="1600" i="1" dirty="0" err="1">
                <a:solidFill>
                  <a:schemeClr val="tx1"/>
                </a:solidFill>
              </a:rPr>
              <a:t>φ</a:t>
            </a:r>
            <a:r>
              <a:rPr lang="en-US" sz="1600" i="1" dirty="0">
                <a:solidFill>
                  <a:schemeClr val="tx1"/>
                </a:solidFill>
              </a:rPr>
              <a:t>′ = </a:t>
            </a:r>
            <a:r>
              <a:rPr lang="en-US" sz="1600" dirty="0">
                <a:solidFill>
                  <a:schemeClr val="tx1"/>
                </a:solidFill>
              </a:rPr>
              <a:t>0°. The white star marks retro-incident direction (</a:t>
            </a:r>
            <a:r>
              <a:rPr lang="en-US" sz="1600" i="1" dirty="0" err="1">
                <a:solidFill>
                  <a:schemeClr val="tx1"/>
                </a:solidFill>
              </a:rPr>
              <a:t>θ</a:t>
            </a:r>
            <a:r>
              <a:rPr lang="en-US" sz="1600" baseline="-25000" dirty="0" err="1">
                <a:solidFill>
                  <a:schemeClr val="tx1"/>
                </a:solidFill>
              </a:rPr>
              <a:t>s</a:t>
            </a:r>
            <a:r>
              <a:rPr lang="en-US" sz="1600" dirty="0">
                <a:solidFill>
                  <a:schemeClr val="tx1"/>
                </a:solidFill>
              </a:rPr>
              <a:t> = 40°, </a:t>
            </a:r>
            <a:r>
              <a:rPr lang="en-US" sz="1600" i="1" dirty="0" err="1">
                <a:solidFill>
                  <a:schemeClr val="tx1"/>
                </a:solidFill>
              </a:rPr>
              <a:t>φ</a:t>
            </a:r>
            <a:r>
              <a:rPr lang="en-US" sz="1600" baseline="-25000" dirty="0" err="1">
                <a:solidFill>
                  <a:schemeClr val="tx1"/>
                </a:solidFill>
              </a:rPr>
              <a:t>s</a:t>
            </a:r>
            <a:r>
              <a:rPr lang="en-US" sz="1600" dirty="0">
                <a:solidFill>
                  <a:schemeClr val="tx1"/>
                </a:solidFill>
              </a:rPr>
              <a:t> = 180°). </a:t>
            </a:r>
          </a:p>
        </p:txBody>
      </p:sp>
    </p:spTree>
    <p:extLst>
      <p:ext uri="{BB962C8B-B14F-4D97-AF65-F5344CB8AC3E}">
        <p14:creationId xmlns:p14="http://schemas.microsoft.com/office/powerpoint/2010/main" val="3199649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2540C-FFE2-5621-F2D0-3700CCFC4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3F28ACCB-0F1B-09A6-0044-87AC80EB0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BC59A194-D3AA-8017-0EE1-1A8DF2436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16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040C7B87-6416-BEA2-1136-980D093B4D1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069" y="679160"/>
                <a:ext cx="729701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8925" indent="-2889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l-GR" altLang="en-US" sz="20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𝑳𝑺</m:t>
                        </m:r>
                      </m:sub>
                    </m:sSub>
                  </m:oMath>
                </a14:m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200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Area Scattering Phase Function for Specular Reflection</a:t>
                </a:r>
              </a:p>
            </p:txBody>
          </p:sp>
        </mc:Choice>
        <mc:Fallback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040C7B87-6416-BEA2-1136-980D093B4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4069" y="679160"/>
                <a:ext cx="7297017" cy="400110"/>
              </a:xfrm>
              <a:prstGeom prst="rect">
                <a:avLst/>
              </a:prstGeom>
              <a:blipFill>
                <a:blip r:embed="rId3"/>
                <a:stretch>
                  <a:fillRect t="-9375" b="-28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18C72713-DFA9-06AC-1DAF-5B5F45690EDF}"/>
              </a:ext>
            </a:extLst>
          </p:cNvPr>
          <p:cNvSpPr txBox="1"/>
          <p:nvPr/>
        </p:nvSpPr>
        <p:spPr>
          <a:xfrm>
            <a:off x="104506" y="1898283"/>
            <a:ext cx="360171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dirty="0">
                <a:solidFill>
                  <a:schemeClr val="tx1"/>
                </a:solidFill>
              </a:rPr>
              <a:t>Area specular phase function </a:t>
            </a:r>
            <a:r>
              <a:rPr lang="en-US" sz="1600" i="1" dirty="0">
                <a:solidFill>
                  <a:schemeClr val="tx1"/>
                </a:solidFill>
              </a:rPr>
              <a:t>(1/π) Γ</a:t>
            </a:r>
            <a:r>
              <a:rPr lang="en-US" sz="1600" baseline="-25000" dirty="0">
                <a:solidFill>
                  <a:schemeClr val="tx1"/>
                </a:solidFill>
              </a:rPr>
              <a:t>LS</a:t>
            </a:r>
            <a:r>
              <a:rPr lang="en-US" sz="1600" dirty="0">
                <a:solidFill>
                  <a:schemeClr val="tx1"/>
                </a:solidFill>
              </a:rPr>
              <a:t>(</a:t>
            </a:r>
            <a:r>
              <a:rPr lang="en-US" sz="1600" b="1" dirty="0">
                <a:solidFill>
                  <a:schemeClr val="tx1"/>
                </a:solidFill>
              </a:rPr>
              <a:t>Ω</a:t>
            </a:r>
            <a:r>
              <a:rPr lang="en-US" sz="1600" dirty="0">
                <a:solidFill>
                  <a:schemeClr val="tx1"/>
                </a:solidFill>
              </a:rPr>
              <a:t>′ → </a:t>
            </a:r>
            <a:r>
              <a:rPr lang="en-US" sz="1600" b="1" dirty="0">
                <a:solidFill>
                  <a:schemeClr val="tx1"/>
                </a:solidFill>
              </a:rPr>
              <a:t>Ω</a:t>
            </a:r>
            <a:r>
              <a:rPr lang="en-US" sz="1600" dirty="0">
                <a:solidFill>
                  <a:schemeClr val="tx1"/>
                </a:solidFill>
              </a:rPr>
              <a:t>) [sr</a:t>
            </a:r>
            <a:r>
              <a:rPr lang="en-US" sz="1600" baseline="30000" dirty="0">
                <a:solidFill>
                  <a:schemeClr val="tx1"/>
                </a:solidFill>
              </a:rPr>
              <a:t>−1</a:t>
            </a:r>
            <a:r>
              <a:rPr lang="en-US" sz="1600" dirty="0">
                <a:solidFill>
                  <a:schemeClr val="tx1"/>
                </a:solidFill>
              </a:rPr>
              <a:t>] for the Dirac delta leaf model, plotted as a function of scattered direction </a:t>
            </a:r>
            <a:r>
              <a:rPr lang="en-US" sz="1600" b="1" dirty="0">
                <a:solidFill>
                  <a:schemeClr val="tx1"/>
                </a:solidFill>
              </a:rPr>
              <a:t>Ω </a:t>
            </a:r>
            <a:r>
              <a:rPr lang="en-US" sz="1600" dirty="0">
                <a:solidFill>
                  <a:schemeClr val="tx1"/>
                </a:solidFill>
              </a:rPr>
              <a:t>for a fixed incident direction </a:t>
            </a:r>
            <a:r>
              <a:rPr lang="en-US" sz="1600" b="1" dirty="0">
                <a:solidFill>
                  <a:schemeClr val="tx1"/>
                </a:solidFill>
              </a:rPr>
              <a:t>Ω′</a:t>
            </a:r>
            <a:r>
              <a:rPr lang="en-US" sz="1600" dirty="0">
                <a:solidFill>
                  <a:schemeClr val="tx1"/>
                </a:solidFill>
              </a:rPr>
              <a:t> at zenith angle </a:t>
            </a:r>
            <a:r>
              <a:rPr lang="en-US" sz="1600" i="1" dirty="0" err="1">
                <a:solidFill>
                  <a:schemeClr val="tx1"/>
                </a:solidFill>
              </a:rPr>
              <a:t>θ</a:t>
            </a:r>
            <a:r>
              <a:rPr lang="en-US" sz="1600" i="1" dirty="0">
                <a:solidFill>
                  <a:schemeClr val="tx1"/>
                </a:solidFill>
              </a:rPr>
              <a:t>′</a:t>
            </a:r>
            <a:r>
              <a:rPr lang="en-US" sz="1600" dirty="0">
                <a:solidFill>
                  <a:schemeClr val="tx1"/>
                </a:solidFill>
              </a:rPr>
              <a:t> = 40°, azimuth </a:t>
            </a:r>
            <a:r>
              <a:rPr lang="en-US" sz="1600" i="1" dirty="0" err="1">
                <a:solidFill>
                  <a:schemeClr val="tx1"/>
                </a:solidFill>
              </a:rPr>
              <a:t>φ</a:t>
            </a:r>
            <a:r>
              <a:rPr lang="en-US" sz="1600" i="1" dirty="0">
                <a:solidFill>
                  <a:schemeClr val="tx1"/>
                </a:solidFill>
              </a:rPr>
              <a:t>′</a:t>
            </a:r>
            <a:r>
              <a:rPr lang="en-US" sz="1600" dirty="0">
                <a:solidFill>
                  <a:schemeClr val="tx1"/>
                </a:solidFill>
              </a:rPr>
              <a:t> = 0° (i.e. the source travels in the direction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i="1" dirty="0" err="1">
                <a:solidFill>
                  <a:schemeClr val="tx1"/>
                </a:solidFill>
              </a:rPr>
              <a:t>θ</a:t>
            </a:r>
            <a:r>
              <a:rPr lang="en-US" sz="1600" dirty="0">
                <a:solidFill>
                  <a:schemeClr val="tx1"/>
                </a:solidFill>
              </a:rPr>
              <a:t> = 140°, </a:t>
            </a:r>
            <a:r>
              <a:rPr lang="en-US" sz="1600" i="1" dirty="0" err="1">
                <a:solidFill>
                  <a:schemeClr val="tx1"/>
                </a:solidFill>
              </a:rPr>
              <a:t>φ</a:t>
            </a:r>
            <a:r>
              <a:rPr lang="en-US" sz="1600" i="1" dirty="0">
                <a:solidFill>
                  <a:schemeClr val="tx1"/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= 0°). Two leaf normal inclination distributions are shown: </a:t>
            </a:r>
            <a:r>
              <a:rPr lang="en-US" sz="1600" i="1" dirty="0">
                <a:solidFill>
                  <a:schemeClr val="tx1"/>
                </a:solidFill>
              </a:rPr>
              <a:t>uniform</a:t>
            </a:r>
            <a:r>
              <a:rPr lang="en-US" sz="1600" dirty="0">
                <a:solidFill>
                  <a:schemeClr val="tx1"/>
                </a:solidFill>
              </a:rPr>
              <a:t> (top row) and </a:t>
            </a:r>
            <a:r>
              <a:rPr lang="en-US" sz="1600" i="1" dirty="0">
                <a:solidFill>
                  <a:schemeClr val="tx1"/>
                </a:solidFill>
              </a:rPr>
              <a:t>planophile</a:t>
            </a:r>
            <a:r>
              <a:rPr lang="en-US" sz="1600" dirty="0">
                <a:solidFill>
                  <a:schemeClr val="tx1"/>
                </a:solidFill>
              </a:rPr>
              <a:t> (bottom row). The leaf normal azimuthal distribution in both cases is uniform. Parameters: refractive index </a:t>
            </a:r>
            <a:r>
              <a:rPr lang="en-US" sz="1600" i="1" dirty="0">
                <a:solidFill>
                  <a:schemeClr val="tx1"/>
                </a:solidFill>
              </a:rPr>
              <a:t>n</a:t>
            </a:r>
            <a:r>
              <a:rPr lang="en-US" sz="1600" dirty="0">
                <a:solidFill>
                  <a:schemeClr val="tx1"/>
                </a:solidFill>
              </a:rPr>
              <a:t> = 1.5, roughness extinction coefficient </a:t>
            </a:r>
            <a:r>
              <a:rPr lang="en-US" sz="1600" i="1" dirty="0" err="1">
                <a:solidFill>
                  <a:schemeClr val="tx1"/>
                </a:solidFill>
              </a:rPr>
              <a:t>κ</a:t>
            </a:r>
            <a:r>
              <a:rPr lang="en-US" sz="1600" dirty="0">
                <a:solidFill>
                  <a:schemeClr val="tx1"/>
                </a:solidFill>
              </a:rPr>
              <a:t> = 0.3. </a:t>
            </a:r>
          </a:p>
        </p:txBody>
      </p:sp>
      <p:pic>
        <p:nvPicPr>
          <p:cNvPr id="4" name="Picture 3" descr="A diagram of different colors  AI-generated content may be incorrect.">
            <a:extLst>
              <a:ext uri="{FF2B5EF4-FFF2-40B4-BE49-F238E27FC236}">
                <a16:creationId xmlns:a16="http://schemas.microsoft.com/office/drawing/2014/main" id="{60712D4E-564F-2614-58D9-2782DF44B9F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712" y="1173071"/>
            <a:ext cx="5074782" cy="500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317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0721F-49CC-DDF6-0626-CCB6A35EE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46593739-9D03-6917-1A81-828A67872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763"/>
            <a:ext cx="9144000" cy="654051"/>
          </a:xfrm>
          <a:solidFill>
            <a:srgbClr val="1C8016"/>
          </a:solidFill>
        </p:spPr>
        <p:txBody>
          <a:bodyPr lIns="0" tIns="0" rIns="0" bIns="0"/>
          <a:lstStyle/>
          <a:p>
            <a:pPr eaLnBrk="1" hangingPunct="1"/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PHYSICAL MODELS IN REMOTE SENSING</a:t>
            </a:r>
            <a:b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</a:br>
            <a:r>
              <a:rPr lang="en-US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  <a:cs typeface="Times New Roman" panose="02020603050405020304" pitchFamily="18" charset="0"/>
              </a:rPr>
              <a:t>Chapter 02 – Part 04: Differential Scattering Coefficient</a:t>
            </a:r>
          </a:p>
        </p:txBody>
      </p:sp>
      <p:sp>
        <p:nvSpPr>
          <p:cNvPr id="2" name="Slide Number Placeholder 6">
            <a:extLst>
              <a:ext uri="{FF2B5EF4-FFF2-40B4-BE49-F238E27FC236}">
                <a16:creationId xmlns:a16="http://schemas.microsoft.com/office/drawing/2014/main" id="{97837FDB-EECC-7FD7-E0CF-6F5D909A6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62775" y="6440488"/>
            <a:ext cx="2133600" cy="365125"/>
          </a:xfrm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  <a:defRPr/>
            </a:pPr>
            <a:fld id="{02B885A9-B198-8244-8D65-2910FFABED16}" type="slidenum">
              <a:rPr lang="en-US" altLang="zh-CN" sz="1400" b="1" smtClean="0">
                <a:solidFill>
                  <a:srgbClr val="7F7F7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  <a:defRPr/>
              </a:pPr>
              <a:t>17</a:t>
            </a:fld>
            <a:endParaRPr lang="en-US" altLang="zh-CN" sz="1400" b="1">
              <a:solidFill>
                <a:srgbClr val="7F7F7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C4CAF3B5-1C30-1032-7C80-3CD876EC55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34069" y="679160"/>
                <a:ext cx="7297017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marL="288925" indent="-288925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>
                  <a:spcBef>
                    <a:spcPct val="0"/>
                  </a:spcBef>
                  <a:buFontTx/>
                  <a:buNone/>
                </a:pPr>
                <a:r>
                  <a:rPr lang="el-GR" altLang="en-US" sz="2000" b="1" dirty="0">
                    <a:solidFill>
                      <a:srgbClr val="FF0000"/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altLang="en-US" sz="20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𝜞</m:t>
                        </m:r>
                      </m:e>
                      <m:sub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𝑳</m:t>
                        </m:r>
                        <m:r>
                          <a:rPr lang="en-US" altLang="en-US" sz="20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𝑫</m:t>
                        </m:r>
                      </m:sub>
                    </m:sSub>
                  </m:oMath>
                </a14:m>
                <a:r>
                  <a:rPr lang="en-US" altLang="en-US" sz="20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lang="en-US" altLang="en-US" sz="2000" b="1" u="sng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Area Scattering Phase Function for Uniform LNOD</a:t>
                </a:r>
              </a:p>
            </p:txBody>
          </p:sp>
        </mc:Choice>
        <mc:Fallback>
          <p:sp>
            <p:nvSpPr>
              <p:cNvPr id="14339" name="TextBox 7">
                <a:extLst>
                  <a:ext uri="{FF2B5EF4-FFF2-40B4-BE49-F238E27FC236}">
                    <a16:creationId xmlns:a16="http://schemas.microsoft.com/office/drawing/2014/main" id="{C4CAF3B5-1C30-1032-7C80-3CD876EC5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-34069" y="679160"/>
                <a:ext cx="7297017" cy="400110"/>
              </a:xfrm>
              <a:prstGeom prst="rect">
                <a:avLst/>
              </a:prstGeom>
              <a:blipFill>
                <a:blip r:embed="rId3"/>
                <a:stretch>
                  <a:fillRect l="-870" t="-9375" b="-281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2035A2-F019-F38C-B5B3-30220058B3D4}"/>
                  </a:ext>
                </a:extLst>
              </p:cNvPr>
              <p:cNvSpPr txBox="1"/>
              <p:nvPr/>
            </p:nvSpPr>
            <p:spPr>
              <a:xfrm>
                <a:off x="94457" y="1232668"/>
                <a:ext cx="8778237" cy="18476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tx1"/>
                    </a:solidFill>
                  </a:rPr>
                  <a:t>In the case of </a:t>
                </a:r>
                <a:r>
                  <a:rPr lang="en-US" sz="1600" i="1" dirty="0" err="1">
                    <a:solidFill>
                      <a:schemeClr val="tx1"/>
                    </a:solidFill>
                  </a:rPr>
                  <a:t>g̅</a:t>
                </a:r>
                <a:r>
                  <a:rPr lang="en-US" sz="1600" baseline="-25000" dirty="0" err="1">
                    <a:solidFill>
                      <a:schemeClr val="tx1"/>
                    </a:solidFill>
                  </a:rPr>
                  <a:t>L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 = 1</a:t>
                </a:r>
                <a:r>
                  <a:rPr lang="en-US" sz="1600" dirty="0">
                    <a:solidFill>
                      <a:schemeClr val="tx1"/>
                    </a:solidFill>
                  </a:rPr>
                  <a:t> (uniform) and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1600" i="1" dirty="0" err="1">
                    <a:solidFill>
                      <a:schemeClr val="tx1"/>
                    </a:solidFill>
                  </a:rPr>
                  <a:t>h</a:t>
                </a:r>
                <a:r>
                  <a:rPr lang="en-US" sz="1600" baseline="-25000" dirty="0" err="1">
                    <a:solidFill>
                      <a:schemeClr val="tx1"/>
                    </a:solidFill>
                  </a:rPr>
                  <a:t>L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 = 1</a:t>
                </a:r>
                <a:r>
                  <a:rPr lang="en-US" sz="1600" dirty="0">
                    <a:solidFill>
                      <a:schemeClr val="tx1"/>
                    </a:solidFill>
                  </a:rPr>
                  <a:t> (uniform)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canopies, the area scattering phase function admits the closed form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	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Γ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LD,U</a:t>
                </a:r>
                <a:r>
                  <a:rPr lang="en-US" sz="1600" dirty="0">
                    <a:solidFill>
                      <a:schemeClr val="tx1"/>
                    </a:solidFill>
                  </a:rPr>
                  <a:t> = </a:t>
                </a:r>
                <a:r>
                  <a:rPr lang="en-US" sz="1600" i="1" dirty="0" err="1">
                    <a:solidFill>
                      <a:schemeClr val="tx1"/>
                    </a:solidFill>
                  </a:rPr>
                  <a:t>ω</a:t>
                </a:r>
                <a:r>
                  <a:rPr lang="en-US" sz="1600" baseline="-25000" dirty="0" err="1">
                    <a:solidFill>
                      <a:schemeClr val="tx1"/>
                    </a:solidFill>
                  </a:rPr>
                  <a:t>LD</a:t>
                </a:r>
                <a:r>
                  <a:rPr lang="en-US" sz="1600" dirty="0">
                    <a:solidFill>
                      <a:schemeClr val="tx1"/>
                    </a:solidFill>
                  </a:rPr>
                  <a:t>(sin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β</a:t>
                </a:r>
                <a:r>
                  <a:rPr lang="en-US" sz="1600" dirty="0">
                    <a:solidFill>
                      <a:schemeClr val="tx1"/>
                    </a:solidFill>
                  </a:rPr>
                  <a:t> −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β</a:t>
                </a:r>
                <a:r>
                  <a:rPr lang="en-US" sz="1600" dirty="0">
                    <a:solidFill>
                      <a:schemeClr val="tx1"/>
                    </a:solidFill>
                  </a:rPr>
                  <a:t> cos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β</a:t>
                </a:r>
                <a:r>
                  <a:rPr lang="en-US" sz="1600" dirty="0">
                    <a:solidFill>
                      <a:schemeClr val="tx1"/>
                    </a:solidFill>
                  </a:rPr>
                  <a:t>)/(3π) + </a:t>
                </a:r>
                <a:r>
                  <a:rPr lang="en-US" sz="1600" i="1" dirty="0" err="1">
                    <a:solidFill>
                      <a:schemeClr val="tx1"/>
                    </a:solidFill>
                  </a:rPr>
                  <a:t>τ</a:t>
                </a:r>
                <a:r>
                  <a:rPr lang="en-US" sz="1600" baseline="-25000" dirty="0" err="1">
                    <a:solidFill>
                      <a:schemeClr val="tx1"/>
                    </a:solidFill>
                  </a:rPr>
                  <a:t>LD</a:t>
                </a:r>
                <a:r>
                  <a:rPr lang="en-US" sz="1600" dirty="0">
                    <a:solidFill>
                      <a:schemeClr val="tx1"/>
                    </a:solidFill>
                  </a:rPr>
                  <a:t> cos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β</a:t>
                </a:r>
                <a:r>
                  <a:rPr lang="en-US" sz="1600" dirty="0">
                    <a:solidFill>
                      <a:schemeClr val="tx1"/>
                    </a:solidFill>
                  </a:rPr>
                  <a:t> / 3.	</a:t>
                </a:r>
              </a:p>
              <a:p>
                <a:endParaRPr lang="en-US" sz="1600" dirty="0">
                  <a:solidFill>
                    <a:schemeClr val="tx1"/>
                  </a:solidFill>
                </a:endParaRPr>
              </a:p>
              <a:p>
                <a:r>
                  <a:rPr lang="en-US" sz="1600" dirty="0">
                    <a:solidFill>
                      <a:schemeClr val="tx1"/>
                    </a:solidFill>
                  </a:rPr>
                  <a:t>This is the only case in which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Γ</a:t>
                </a:r>
                <a:r>
                  <a:rPr lang="en-US" sz="1600" baseline="-25000" dirty="0">
                    <a:solidFill>
                      <a:schemeClr val="tx1"/>
                    </a:solidFill>
                  </a:rPr>
                  <a:t>LD</a:t>
                </a:r>
                <a:r>
                  <a:rPr lang="en-US" sz="1600" dirty="0">
                    <a:solidFill>
                      <a:schemeClr val="tx1"/>
                    </a:solidFill>
                  </a:rPr>
                  <a:t> depends solely on the scattering angle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β</a:t>
                </a:r>
                <a:r>
                  <a:rPr lang="en-US" sz="1600" dirty="0">
                    <a:solidFill>
                      <a:schemeClr val="tx1"/>
                    </a:solidFill>
                  </a:rPr>
                  <a:t> [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acos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bar>
                              <m:barPr>
                                <m:ctrlPr>
                                  <a:rPr lang="en-US" alt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barPr>
                              <m:e>
                                <m:r>
                                  <a:rPr lang="el-GR" altLang="en-US" sz="16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𝛺</m:t>
                                </m:r>
                              </m:e>
                            </m:bar>
                          </m:e>
                          <m:sup>
                            <m: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altLang="en-US" sz="16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.</m:t>
                        </m:r>
                        <m:bar>
                          <m:barPr>
                            <m:ctrlPr>
                              <a:rPr lang="en-US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barPr>
                          <m:e>
                            <m:r>
                              <a:rPr lang="el-GR" altLang="en-US" sz="16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𝛺</m:t>
                            </m:r>
                          </m:e>
                        </m:bar>
                      </m:e>
                    </m:d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] and is therefore </a:t>
                </a:r>
                <a:r>
                  <a:rPr lang="en-US" sz="1600" i="1" dirty="0">
                    <a:solidFill>
                      <a:schemeClr val="tx1"/>
                    </a:solidFill>
                  </a:rPr>
                  <a:t>rotationally invariant</a:t>
                </a:r>
                <a:r>
                  <a:rPr lang="en-US" sz="1600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F2035A2-F019-F38C-B5B3-30220058B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57" y="1232668"/>
                <a:ext cx="8778237" cy="1847622"/>
              </a:xfrm>
              <a:prstGeom prst="rect">
                <a:avLst/>
              </a:prstGeom>
              <a:blipFill>
                <a:blip r:embed="rId4"/>
                <a:stretch>
                  <a:fillRect l="-434" t="-680" r="-289" b="-34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A diagram of a function&#10;&#10;AI-generated content may be incorrect.">
            <a:extLst>
              <a:ext uri="{FF2B5EF4-FFF2-40B4-BE49-F238E27FC236}">
                <a16:creationId xmlns:a16="http://schemas.microsoft.com/office/drawing/2014/main" id="{C5624B3B-3AF1-AF91-4335-E34AFA3E15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6580" y="2980803"/>
            <a:ext cx="3824809" cy="382480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66AE06-CD4E-D4AF-8A0E-DDD7E96EED38}"/>
                  </a:ext>
                </a:extLst>
              </p:cNvPr>
              <p:cNvSpPr txBox="1"/>
              <p:nvPr/>
            </p:nvSpPr>
            <p:spPr>
              <a:xfrm>
                <a:off x="326156" y="4609669"/>
                <a:ext cx="395543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altLang="en-US" sz="1600" b="1" dirty="0">
                    <a:solidFill>
                      <a:srgbClr val="FF0000"/>
                    </a:solidFill>
                    <a:cs typeface="Times New Roman" panose="02020603050405020304" pitchFamily="18" charset="0"/>
                  </a:rPr>
                  <a:t>Final Report: </a:t>
                </a:r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Plot this figure. Use the formula above. </a:t>
                </a:r>
                <a:r>
                  <a:rPr 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The leaf albedo is </a:t>
                </a:r>
                <a:r>
                  <a:rPr lang="en-US" sz="1600" i="1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ω</a:t>
                </a:r>
                <a:r>
                  <a:rPr lang="en-US" sz="1600" baseline="-25000" dirty="0" err="1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LD</a:t>
                </a:r>
                <a:r>
                  <a:rPr lang="en-US" sz="160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= </a:t>
                </a:r>
                <a:r>
                  <a:rPr lang="en-US" sz="160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𝐿𝐷</m:t>
                        </m:r>
                      </m:sub>
                    </m:sSub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)=1.</m:t>
                    </m:r>
                  </m:oMath>
                </a14:m>
                <a:r>
                  <a:rPr lang="en-US" altLang="en-US" sz="16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This will be Fig. 3 in your report.</a:t>
                </a:r>
              </a:p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666AE06-CD4E-D4AF-8A0E-DDD7E96EED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56" y="4609669"/>
                <a:ext cx="3955438" cy="1015663"/>
              </a:xfrm>
              <a:prstGeom prst="rect">
                <a:avLst/>
              </a:prstGeom>
              <a:blipFill>
                <a:blip r:embed="rId6"/>
                <a:stretch>
                  <a:fillRect l="-641" t="-1220" r="-22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2022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8242</TotalTime>
  <Words>2408</Words>
  <Application>Microsoft Macintosh PowerPoint</Application>
  <PresentationFormat>On-screen Show (4:3)</PresentationFormat>
  <Paragraphs>197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Cambria Math</vt:lpstr>
      <vt:lpstr>Times</vt:lpstr>
      <vt:lpstr>Times New Roman</vt:lpstr>
      <vt:lpstr>Office Theme</vt:lpstr>
      <vt:lpstr>PHYSICAL MODELS IN REMOTE SENSING Chapter 02 – Part 04: Differential Scattering Coefficient</vt:lpstr>
      <vt:lpstr>PHYSICAL MODELS IN REMOTE SENSING Chapter 02 – Part 02: Extinction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  <vt:lpstr>PHYSICAL MODELS IN REMOTE SENSING Chapter 02 – Part 04: Differential Scattering Coefficient</vt:lpstr>
    </vt:vector>
  </TitlesOfParts>
  <Company>OAO/JPL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OAO JPL</dc:creator>
  <cp:lastModifiedBy>Myneni, Ranga</cp:lastModifiedBy>
  <cp:revision>888</cp:revision>
  <cp:lastPrinted>2019-09-03T16:52:39Z</cp:lastPrinted>
  <dcterms:created xsi:type="dcterms:W3CDTF">2012-01-16T18:47:06Z</dcterms:created>
  <dcterms:modified xsi:type="dcterms:W3CDTF">2026-03-16T14:18:03Z</dcterms:modified>
</cp:coreProperties>
</file>