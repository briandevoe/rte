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21"/>
  </p:notesMasterIdLst>
  <p:sldIdLst>
    <p:sldId id="712" r:id="rId2"/>
    <p:sldId id="769" r:id="rId3"/>
    <p:sldId id="768" r:id="rId4"/>
    <p:sldId id="754" r:id="rId5"/>
    <p:sldId id="755" r:id="rId6"/>
    <p:sldId id="756" r:id="rId7"/>
    <p:sldId id="757" r:id="rId8"/>
    <p:sldId id="758" r:id="rId9"/>
    <p:sldId id="759" r:id="rId10"/>
    <p:sldId id="760" r:id="rId11"/>
    <p:sldId id="761" r:id="rId12"/>
    <p:sldId id="762" r:id="rId13"/>
    <p:sldId id="763" r:id="rId14"/>
    <p:sldId id="764" r:id="rId15"/>
    <p:sldId id="765" r:id="rId16"/>
    <p:sldId id="766" r:id="rId17"/>
    <p:sldId id="767" r:id="rId18"/>
    <p:sldId id="770" r:id="rId19"/>
    <p:sldId id="771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42">
          <p15:clr>
            <a:srgbClr val="A4A3A4"/>
          </p15:clr>
        </p15:guide>
        <p15:guide id="2" pos="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00"/>
    <p:restoredTop sz="94660"/>
  </p:normalViewPr>
  <p:slideViewPr>
    <p:cSldViewPr snapToGrid="0">
      <p:cViewPr varScale="1">
        <p:scale>
          <a:sx n="205" d="100"/>
          <a:sy n="205" d="100"/>
        </p:scale>
        <p:origin x="3824" y="192"/>
      </p:cViewPr>
      <p:guideLst>
        <p:guide orient="horz" pos="1542"/>
        <p:guide pos="7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-1744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B9CDD019-4025-4837-B8B1-4CDA65D936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38141CE2-2E23-E384-391A-83A1EC3DF83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54AE22EB-2299-9ACE-FD9D-8CF02B2A599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885" name="Rectangle 5">
            <a:extLst>
              <a:ext uri="{FF2B5EF4-FFF2-40B4-BE49-F238E27FC236}">
                <a16:creationId xmlns:a16="http://schemas.microsoft.com/office/drawing/2014/main" id="{1E244526-FD77-E184-93FB-616BC03332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886" name="Rectangle 6">
            <a:extLst>
              <a:ext uri="{FF2B5EF4-FFF2-40B4-BE49-F238E27FC236}">
                <a16:creationId xmlns:a16="http://schemas.microsoft.com/office/drawing/2014/main" id="{071ABD32-B48E-73D9-F0C9-496C144DAAF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7" name="Rectangle 7">
            <a:extLst>
              <a:ext uri="{FF2B5EF4-FFF2-40B4-BE49-F238E27FC236}">
                <a16:creationId xmlns:a16="http://schemas.microsoft.com/office/drawing/2014/main" id="{7E8C1B1B-5F3D-BA59-BE9E-36788286CD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344AF018-CE87-2F45-9806-B574A0F427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AC6B3B84-1EE9-EED8-B186-4DA9D3E4A0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3453203-4154-B24E-BAF2-1E5F81CF166A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659155D4-51D2-392B-BD8D-2EAA6C4235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00A5A6D-D891-A7F6-18C5-54409CE14F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1944-6C7C-90E3-A135-134492477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17FFDA2F-15F8-C929-341E-1C5BD1955C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3453203-4154-B24E-BAF2-1E5F81CF166A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94A89231-E257-BA4E-AFD4-7E465C744A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A278C9F-CE7D-EC37-A362-83350DD18C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4871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FC6B08E4-E833-5E1D-763A-FA97640FD1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4309690-4CCB-354E-8320-83EF1932CE13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19EA832E-33D7-4A2F-44B5-0CBDDC17FE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461F4B5-8B98-2DEF-07BC-C166582156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F7CC363F-C3A7-989B-CE60-0C829AD3F4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9BD234A-C614-4D4F-8378-31F65F2CB541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6E8E88BE-0ACB-EC3F-AF85-42F6E41612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DF82739-07C0-F70D-666B-9F12C805A3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5207EE3A-D23D-AAD9-6749-AD5EDB850C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0B0AD60-2BA0-2542-8CD1-EDC43A2BA437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55DC50D2-8A99-1B79-F9D1-F5AB1F52A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A57E214-B270-46B4-B5A2-C29079590F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53B4FBA0-A0E4-45CF-0987-C6EB0BC6E2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FC1A61A-AF93-3541-B9E2-AC462FDBD186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3E46859D-5FBE-2397-E367-F6C0034BB4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9FCECE8-F770-22C6-5149-0C2846FE9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A12EA3F8-6962-9590-43B2-95133AA3E9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1991230-D866-604F-8154-2B7BB710218A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308E222A-79D8-EFCD-A5E6-06CA015746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407D69E-FD85-2070-C6E4-825BAF40D7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298F89A9-92CA-D70F-898A-279FCCA32A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154D7AC-D560-6941-80A5-70BBD3C6D772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351B22BB-3B36-6D2B-1FE4-5409503734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999AB42-D463-E103-854A-DE51C7DD9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15E3559A-67E3-AAD9-7357-01B74C4A94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0D3858C-BF3E-7447-B503-C0351292CB24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C1D1FA08-6F00-B5F7-1C54-21421E5C9F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972FE708-6500-7B0E-F3BE-915DE655BD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C702D472-A983-BB6F-3076-06F96886A3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F65CF01-84AD-D345-8706-BD0728C1A765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621D4D5E-FF28-941E-0601-5B106625CF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71ADFC5-414B-E907-7E77-9F57D86BCE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508F5C65-3CED-6D9C-D8D0-B482512BEA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16AADDD-0DC1-AD44-9158-011E6C8F07E3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A1D0EAB7-C2C3-F0FD-9712-3C1EC4A15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02A7D20-FEDF-7E5D-14D2-52A0DCA43F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B4436374-9B30-AFAF-7423-AE59CA9163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FDF6EC1-A231-3B4B-8BCB-45CC4F5A2576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1E36FC93-42F3-6D84-7113-BE2007B256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B226748-8893-4B95-F2A7-E6C87CB251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32AB42BB-9D5C-EAFF-1DAD-D1244B4403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8A1D683-5735-C140-BE2C-6927BEF233BB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92A1E217-D63E-CDD9-9EBD-7F39EF2A93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9DE3C566-1C02-7E7F-F891-94F5477B72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F005B64C-626F-7383-FDB2-2E44A6F7D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07AA756-4C5B-8E4F-809D-B495A130DA42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C2D7F9AF-5347-ED9C-264B-42758120B5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6272F85-C5CE-9D3F-1536-073BEB093C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C59ADC13-E54B-73D2-3A7A-306545CF12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22AEB5F-BD1A-814D-84F7-E05A444670DA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CC4DABAB-AC27-6AFE-F72E-71700DA64D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3886190-BF98-24DB-C13D-22ED0D42AA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9C565362-1056-B993-0FE7-1E9950C06C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E83B147-602F-F448-A551-DF572C4E1CFC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3DF12A5A-635F-B82A-69E8-9D45025EBD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CC47581-7FA1-7701-2389-71B12105B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7D1D01E2-D106-46CF-618D-778357ECBE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F73233-D816-7241-9C96-14C0EE6823CE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83EDCECE-CD75-6C28-D5D1-D9A12F352A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BA1D40DC-41A3-D88A-1207-63CAC950A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6E790-EE80-66EB-9698-79F8DEA4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E2EA1755-5D4F-DA10-C22D-923117E15C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F73233-D816-7241-9C96-14C0EE6823CE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8EE31340-B21B-074C-A38B-42D32E1270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C8404DD-A4A6-6A5A-853C-986AB67FF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5475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F5D9E-051D-4DBD-CAE3-9B07A67C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C1E9E62B-3967-C1CC-D501-28C82684BA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F73233-D816-7241-9C96-14C0EE6823CE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890170BD-9C17-EFE1-BC2E-80A5A3F119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D3B3E4E-BB42-C712-ED59-B09A3EF570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4812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8DD4F-CF9E-31B1-2769-B0DB2F08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6B41E-1C53-7E4C-B9CB-EEA4F9C465C4}" type="datetime1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3898E-24EA-9A80-919B-64F2C3918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7DB15-A3CB-14C4-C188-315B430DF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458F7A-485A-7C4C-A243-8A7257CB68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819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AF6C2-6D87-3197-0A34-A7F2C3183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B27435-FAC6-7042-84FF-86347F30D850}" type="datetime1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FD8FC-51C2-78D2-6326-667BC61FB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5DC0E-4B81-1F7F-E0AD-8C41AE5FD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81E7D-E561-AB46-A87C-9B1BA83645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97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A3EB6-C316-63FC-97D9-DAF438217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A7A32-4354-A840-A637-A2A7D6104D93}" type="datetime1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5C70F-C7B1-D001-CC8D-BCF522F08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F6288-3568-562F-F392-78EBD615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B0160-FE31-D845-9BCE-EDEEF3143F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56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BA138F9-6588-4FBB-8E14-F6341AA9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B333E-C9D4-B84C-8FDF-57D1B8777862}" type="datetime1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5A6642D-1820-9C4F-91B8-DDFE6575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D19A12-2597-444D-975F-388894A8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0EFA3-E13A-1E44-A3DE-87CC51033C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920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2983C0E-E5E3-F2E9-8196-1FDE7CA6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57034-902B-1D48-B1A9-2AC3FA374CBE}" type="datetime1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2F0651F-5AA5-5559-83A6-DCCD1C58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748633-0256-97F6-1861-F409F187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4C837C-FF77-7541-A486-F508D79F7D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030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A7A486C-7AD4-E4C1-063B-65D426269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906C4-AE9F-CA4A-A4E8-05A1B4A5107F}" type="datetime1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C3F983-DAC4-DBE2-864A-4147F8C28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37E199A-4739-3FD9-C00D-B518A87E6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F0657-F110-7948-80C0-A9109B9726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64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428D49-F39B-5FEA-62DF-CFF8C2FF4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3F3C3-F1B1-6541-8EAE-041806F474CB}" type="datetime1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5DD56EF-F4FD-D4D0-7260-00E295769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839A7C-86BD-3DAA-7F20-A5BDE04A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BE3CD-2440-A649-903E-B3CFCFAE7D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470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8874E61-9304-2B84-D051-20BB8397E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5A9BB-9851-5948-A97B-99AE6DAB3FC3}" type="datetime1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891B348-B46D-89D0-CF6F-998187F50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E71BF01-11FF-0D65-F199-7E53B434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AEE0EB-85AA-6344-B48A-B81B07FE6C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5701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88A2350-997B-BBE5-B88A-3F2B625A9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78BFB-8B79-D144-9AC4-3A0F08FD13AC}" type="datetime1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940280F-FED5-ED82-2D79-F67BF2792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F56F62-9BD6-639D-B815-8235065DF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34E8CA-D8F2-554B-BA46-C6CE2999D7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37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2CD1D-AFBB-8EEA-410D-978117609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FE430-08C2-0A4B-843D-7914878DACAC}" type="datetime1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F3BFD-CB66-7AF5-EBB4-666682141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E571D-9972-70F4-6269-ECCC3BEE7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B78A8-D3A0-7C4E-95D4-81E161820E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4105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151CD-8BD3-D1E4-7602-BE285028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E562B6-8E60-E249-811C-912AFAA59FAB}" type="datetime1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50842-CD42-CEA6-F2FE-C5FD15727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EE1CF-5158-2B5D-0AEE-ADF745EC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D551B-67C4-1547-BB41-A98F63AE04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269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A75E5E7-F798-4D54-87D3-06CCE6B11B3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BA95D0A-6DD1-A398-4D19-541C14FC1D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47E02-A84D-3F16-8EE2-8E9901774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rgbClr val="898989"/>
                </a:solidFill>
                <a:latin typeface="Times New Roman" pitchFamily="-111" charset="0"/>
                <a:ea typeface="ＭＳ Ｐゴシック" pitchFamily="-111" charset="-128"/>
                <a:cs typeface="Arial" charset="0"/>
              </a:defRPr>
            </a:lvl1pPr>
          </a:lstStyle>
          <a:p>
            <a:pPr>
              <a:defRPr/>
            </a:pPr>
            <a:fld id="{19122881-1BB6-AF4E-82D9-3106C5238660}" type="datetime1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8F872-5BFF-3FB8-66F0-ED24EA7B4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42D62-9AA5-B52E-3503-0A99A6400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1D3C8DD8-DE08-C546-A6B1-C56A558925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FA7BE297-47D1-B8DC-8E27-415A33303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E44E2CB-74BC-EBB0-C3CA-87C80FCC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567F57CB-085C-3941-BA0A-A79A26EEA4DE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0" name="TextBox 4">
            <a:extLst>
              <a:ext uri="{FF2B5EF4-FFF2-40B4-BE49-F238E27FC236}">
                <a16:creationId xmlns:a16="http://schemas.microsoft.com/office/drawing/2014/main" id="{53A77E07-FA90-9056-3D08-E78F41E7B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3517" y="1945853"/>
            <a:ext cx="4726409" cy="270227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7155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</a:p>
          <a:p>
            <a:pPr>
              <a:defRPr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of the 1D Problem</a:t>
            </a:r>
          </a:p>
          <a:p>
            <a:pPr>
              <a:defRPr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Radiation Field</a:t>
            </a:r>
          </a:p>
          <a:p>
            <a:pPr>
              <a:defRPr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 RT Problem</a:t>
            </a:r>
          </a:p>
          <a:p>
            <a:pPr>
              <a:defRPr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Input Variables</a:t>
            </a:r>
          </a:p>
          <a:p>
            <a:pPr>
              <a:defRPr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of Collided and Uncollided Fields</a:t>
            </a:r>
          </a:p>
          <a:p>
            <a:pPr>
              <a:defRPr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of the Uncollided Field</a:t>
            </a:r>
          </a:p>
          <a:p>
            <a:pPr>
              <a:defRPr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4C0BF-520C-818B-1E15-E7D96CE20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C5C8F0A1-D4A4-4902-5E73-E5E9944BA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6C40152-9D46-0BE0-38BD-97371EFD5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567F57CB-085C-3941-BA0A-A79A26EEA4DE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5603668D-97D3-F8B8-CB43-403B942B6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" y="750888"/>
            <a:ext cx="4260850" cy="10144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  <a:defRPr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457200" indent="-457200" algn="just">
              <a:spcBef>
                <a:spcPct val="0"/>
              </a:spcBef>
              <a:buFontTx/>
              <a:buAutoNum type="alphaLcParenBoth"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RTE</a:t>
            </a:r>
          </a:p>
          <a:p>
            <a:pPr marL="457200" indent="-457200" algn="just">
              <a:spcBef>
                <a:spcPct val="0"/>
              </a:spcBef>
              <a:buFontTx/>
              <a:buAutoNum type="alphaLcParenBoth"/>
              <a:defRPr/>
            </a:pP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Boundary (&amp; initial) conditions</a:t>
            </a:r>
          </a:p>
        </p:txBody>
      </p:sp>
      <p:sp>
        <p:nvSpPr>
          <p:cNvPr id="14340" name="TextBox 4">
            <a:extLst>
              <a:ext uri="{FF2B5EF4-FFF2-40B4-BE49-F238E27FC236}">
                <a16:creationId xmlns:a16="http://schemas.microsoft.com/office/drawing/2014/main" id="{C1EEB3A1-E140-103A-2320-4EF0CF7CD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" y="2001838"/>
            <a:ext cx="7131050" cy="3944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7155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>
              <a:buFont typeface="Arial" panose="020B0604020202020204" pitchFamily="34" charset="0"/>
              <a:buAutoNum type="alphaLcParenBoth"/>
              <a:defRPr/>
            </a:pPr>
            <a:r>
              <a:rPr lang="en-US" altLang="en-US" sz="1600" b="1" dirty="0">
                <a:solidFill>
                  <a:srgbClr val="2C52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Solution (Model building &amp; evaluation)</a:t>
            </a:r>
          </a:p>
          <a:p>
            <a:pPr lvl="1"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</a:p>
          <a:p>
            <a:pPr lvl="2"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Canopy Structure</a:t>
            </a:r>
          </a:p>
          <a:p>
            <a:pPr lvl="2"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Canopy Optics</a:t>
            </a:r>
          </a:p>
          <a:p>
            <a:pPr lvl="1"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</a:p>
          <a:p>
            <a:pPr lvl="2"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 field in the medium and emerging from the medium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US" sz="1600" b="1" dirty="0">
                <a:solidFill>
                  <a:srgbClr val="2C52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Inverse Solution (Model parameter estimation)</a:t>
            </a:r>
          </a:p>
          <a:p>
            <a:pPr lvl="1"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</a:p>
          <a:p>
            <a:pPr lvl="2"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 field in the medium and/or emerging from the medium</a:t>
            </a:r>
          </a:p>
          <a:p>
            <a:pPr lvl="1"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</a:p>
          <a:p>
            <a:pPr lvl="2"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Canopy structure</a:t>
            </a:r>
          </a:p>
          <a:p>
            <a:pPr lvl="2"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Canopy optics</a:t>
            </a:r>
          </a:p>
        </p:txBody>
      </p:sp>
    </p:spTree>
    <p:extLst>
      <p:ext uri="{BB962C8B-B14F-4D97-AF65-F5344CB8AC3E}">
        <p14:creationId xmlns:p14="http://schemas.microsoft.com/office/powerpoint/2010/main" val="3198153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98BE0C7-81AB-BFCC-F3DA-94A512C3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9C9A811-68E5-89B8-E047-8B7B779A3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BC69AC1-3FAA-EB4A-AC52-909C63525239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TextBox 7">
            <a:extLst>
              <a:ext uri="{FF2B5EF4-FFF2-40B4-BE49-F238E27FC236}">
                <a16:creationId xmlns:a16="http://schemas.microsoft.com/office/drawing/2014/main" id="{0BC32BA7-1193-372B-C70B-E6321C1B8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919163"/>
            <a:ext cx="8550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Assumptions:</a:t>
            </a:r>
          </a:p>
        </p:txBody>
      </p:sp>
      <p:sp>
        <p:nvSpPr>
          <p:cNvPr id="16388" name="TextBox 4">
            <a:extLst>
              <a:ext uri="{FF2B5EF4-FFF2-40B4-BE49-F238E27FC236}">
                <a16:creationId xmlns:a16="http://schemas.microsoft.com/office/drawing/2014/main" id="{E338B43E-6178-2F8D-BCE0-607CE96A3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1485900"/>
            <a:ext cx="8767763" cy="388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7155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Char char="-"/>
            </a:pPr>
            <a:r>
              <a:rPr lang="en-US" altLang="en-US" sz="16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Horizontally homogeneous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vegetation canopy</a:t>
            </a:r>
          </a:p>
          <a:p>
            <a:pPr>
              <a:buFontTx/>
              <a:buChar char="-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consist of </a:t>
            </a:r>
            <a:r>
              <a:rPr lang="en-US" altLang="en-US" sz="16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planar leaves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</a:p>
          <a:p>
            <a:pPr>
              <a:buFontTx/>
              <a:buChar char="-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illuminated from above by</a:t>
            </a:r>
          </a:p>
          <a:p>
            <a:pPr lvl="1">
              <a:buFontTx/>
              <a:buChar char="-"/>
            </a:pPr>
            <a:r>
              <a:rPr lang="en-US" altLang="en-US" sz="16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solar radiation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(photons did not experience interactions in the atmosphere above)</a:t>
            </a:r>
          </a:p>
          <a:p>
            <a:pPr lvl="1">
              <a:buFontTx/>
              <a:buChar char="-"/>
            </a:pPr>
            <a:r>
              <a:rPr lang="en-US" altLang="en-US" sz="16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isotropic diffuse sky radiation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(photons did experience interactions in the atmosphere above)</a:t>
            </a:r>
          </a:p>
          <a:p>
            <a:pPr>
              <a:buFontTx/>
              <a:buChar char="-"/>
            </a:pPr>
            <a:r>
              <a:rPr lang="en-US" altLang="en-US" sz="16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Stationary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(time-independent) problem</a:t>
            </a:r>
          </a:p>
          <a:p>
            <a:pPr>
              <a:buFontTx/>
              <a:buChar char="-"/>
            </a:pPr>
            <a:r>
              <a:rPr lang="en-US" altLang="en-US" sz="16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frequency shifting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interactions</a:t>
            </a:r>
          </a:p>
          <a:p>
            <a:pPr>
              <a:buFontTx/>
              <a:buChar char="-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Scattering cross section </a:t>
            </a:r>
            <a:r>
              <a:rPr lang="en-US" altLang="en-US" sz="1600" dirty="0">
                <a:solidFill>
                  <a:srgbClr val="222D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wavelength</a:t>
            </a:r>
          </a:p>
          <a:p>
            <a:pPr>
              <a:buFontTx/>
              <a:buChar char="-"/>
            </a:pPr>
            <a:r>
              <a:rPr lang="en-US" altLang="en-US" sz="16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emission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radiation within the medium</a:t>
            </a:r>
          </a:p>
          <a:p>
            <a:pPr>
              <a:buFontTx/>
              <a:buChar char="-"/>
            </a:pPr>
            <a:r>
              <a:rPr lang="en-US" altLang="en-US" sz="16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boundary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medium is non-reflecting (medium </a:t>
            </a:r>
            <a:r>
              <a:rPr lang="en-US" altLang="en-US" sz="16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non-re-entrant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top)</a:t>
            </a:r>
          </a:p>
          <a:p>
            <a:pPr>
              <a:buFontTx/>
              <a:buChar char="-"/>
            </a:pPr>
            <a:r>
              <a:rPr lang="en-US" altLang="en-US" sz="16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 boundary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reflecting (medium is </a:t>
            </a:r>
            <a:r>
              <a:rPr lang="en-US" altLang="en-US" sz="16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re-entrant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bottom)</a:t>
            </a:r>
          </a:p>
          <a:p>
            <a:pPr>
              <a:buFontTx/>
              <a:buChar char="-"/>
            </a:pPr>
            <a:r>
              <a:rPr lang="en-US" altLang="en-US" sz="16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Collided photons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photons that </a:t>
            </a:r>
            <a:r>
              <a:rPr lang="en-US" altLang="en-US" sz="16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collided with leaf elements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vegetation medium</a:t>
            </a:r>
          </a:p>
          <a:p>
            <a:pPr>
              <a:buFontTx/>
              <a:buChar char="-"/>
            </a:pPr>
            <a:r>
              <a:rPr lang="en-US" altLang="en-US" sz="16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Uncollided photons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photons that </a:t>
            </a:r>
            <a:r>
              <a:rPr lang="en-US" altLang="en-US" sz="16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 not interact with leaf elements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vegetation medium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CE913C8-80DF-F647-1F2D-D0BDC2F5B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750D91E-3FD2-0746-5009-1EF332F85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4B138CF-0072-C848-ABB0-5A2EF391F57B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TextBox 7">
            <a:extLst>
              <a:ext uri="{FF2B5EF4-FFF2-40B4-BE49-F238E27FC236}">
                <a16:creationId xmlns:a16="http://schemas.microsoft.com/office/drawing/2014/main" id="{0D297B78-7EB8-8F3F-890D-5477D0FC3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38" y="725488"/>
            <a:ext cx="2936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Schematic of 1D Problem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D997FF-A25F-7990-254B-527E6BF3F12B}"/>
              </a:ext>
            </a:extLst>
          </p:cNvPr>
          <p:cNvCxnSpPr/>
          <p:nvPr/>
        </p:nvCxnSpPr>
        <p:spPr>
          <a:xfrm>
            <a:off x="2871788" y="2963863"/>
            <a:ext cx="3435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3A027B-9CB8-4D84-8CAA-4AF9DA925E4F}"/>
              </a:ext>
            </a:extLst>
          </p:cNvPr>
          <p:cNvCxnSpPr/>
          <p:nvPr/>
        </p:nvCxnSpPr>
        <p:spPr>
          <a:xfrm>
            <a:off x="2836863" y="4433888"/>
            <a:ext cx="3435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8" name="Picture 9">
            <a:extLst>
              <a:ext uri="{FF2B5EF4-FFF2-40B4-BE49-F238E27FC236}">
                <a16:creationId xmlns:a16="http://schemas.microsoft.com/office/drawing/2014/main" id="{7DE6498A-1618-9604-7491-8B0098C5D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2963863"/>
            <a:ext cx="2828925" cy="85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15">
            <a:extLst>
              <a:ext uri="{FF2B5EF4-FFF2-40B4-BE49-F238E27FC236}">
                <a16:creationId xmlns:a16="http://schemas.microsoft.com/office/drawing/2014/main" id="{693CFFFF-4417-BE21-D2C6-5CC0238ED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3582988"/>
            <a:ext cx="2828925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Picture 12">
            <a:extLst>
              <a:ext uri="{FF2B5EF4-FFF2-40B4-BE49-F238E27FC236}">
                <a16:creationId xmlns:a16="http://schemas.microsoft.com/office/drawing/2014/main" id="{39BB4F74-5490-0CEE-A1DB-C2F735857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363" y="1493838"/>
            <a:ext cx="293687" cy="29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6C6566-09C0-FF5B-7344-518E0E37B2D2}"/>
              </a:ext>
            </a:extLst>
          </p:cNvPr>
          <p:cNvCxnSpPr/>
          <p:nvPr/>
        </p:nvCxnSpPr>
        <p:spPr>
          <a:xfrm>
            <a:off x="3321050" y="1787525"/>
            <a:ext cx="914400" cy="914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42" name="Picture 18">
            <a:extLst>
              <a:ext uri="{FF2B5EF4-FFF2-40B4-BE49-F238E27FC236}">
                <a16:creationId xmlns:a16="http://schemas.microsoft.com/office/drawing/2014/main" id="{C3F2E420-B177-8E12-7BE5-B5123BD6B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975" y="1743075"/>
            <a:ext cx="163195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3" name="TextBox 19">
            <a:extLst>
              <a:ext uri="{FF2B5EF4-FFF2-40B4-BE49-F238E27FC236}">
                <a16:creationId xmlns:a16="http://schemas.microsoft.com/office/drawing/2014/main" id="{08BBF0EB-48F6-571D-A3BD-AF6966C6F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138" y="2740025"/>
            <a:ext cx="511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top</a:t>
            </a:r>
          </a:p>
        </p:txBody>
      </p:sp>
      <p:sp>
        <p:nvSpPr>
          <p:cNvPr id="18444" name="TextBox 23">
            <a:extLst>
              <a:ext uri="{FF2B5EF4-FFF2-40B4-BE49-F238E27FC236}">
                <a16:creationId xmlns:a16="http://schemas.microsoft.com/office/drawing/2014/main" id="{0823EC36-6E9C-C04F-CC01-89CBA1BED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2213" y="4233863"/>
            <a:ext cx="2346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Bottom (e.g. ground)</a:t>
            </a:r>
          </a:p>
        </p:txBody>
      </p:sp>
      <p:sp>
        <p:nvSpPr>
          <p:cNvPr id="18445" name="TextBox 24">
            <a:extLst>
              <a:ext uri="{FF2B5EF4-FFF2-40B4-BE49-F238E27FC236}">
                <a16:creationId xmlns:a16="http://schemas.microsoft.com/office/drawing/2014/main" id="{6E3AC637-3CC7-FC50-F0F9-AD2E1B0D6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138" y="3467100"/>
            <a:ext cx="1371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leaf canopy</a:t>
            </a:r>
          </a:p>
        </p:txBody>
      </p:sp>
      <p:sp>
        <p:nvSpPr>
          <p:cNvPr id="18446" name="TextBox 26">
            <a:extLst>
              <a:ext uri="{FF2B5EF4-FFF2-40B4-BE49-F238E27FC236}">
                <a16:creationId xmlns:a16="http://schemas.microsoft.com/office/drawing/2014/main" id="{2FD1028F-E8BB-0278-CC97-FBA7F8332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1997075"/>
            <a:ext cx="26797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Diffuse sky illumination</a:t>
            </a:r>
          </a:p>
        </p:txBody>
      </p:sp>
      <p:sp>
        <p:nvSpPr>
          <p:cNvPr id="18447" name="TextBox 27">
            <a:extLst>
              <a:ext uri="{FF2B5EF4-FFF2-40B4-BE49-F238E27FC236}">
                <a16:creationId xmlns:a16="http://schemas.microsoft.com/office/drawing/2014/main" id="{2711EBEB-EB6C-EF60-0C59-3097915EC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3413" y="1930400"/>
            <a:ext cx="1712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Direct sunlight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BCF36C-62B3-30F1-B46C-9985E68D483E}"/>
              </a:ext>
            </a:extLst>
          </p:cNvPr>
          <p:cNvCxnSpPr/>
          <p:nvPr/>
        </p:nvCxnSpPr>
        <p:spPr>
          <a:xfrm>
            <a:off x="2552700" y="2947988"/>
            <a:ext cx="0" cy="15462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9" name="TextBox 30">
            <a:extLst>
              <a:ext uri="{FF2B5EF4-FFF2-40B4-BE49-F238E27FC236}">
                <a16:creationId xmlns:a16="http://schemas.microsoft.com/office/drawing/2014/main" id="{CED95C4E-A2DB-6509-AE87-1663A8C76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3313113"/>
            <a:ext cx="22256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 axis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 = cumulated LAI</a:t>
            </a:r>
          </a:p>
        </p:txBody>
      </p:sp>
      <p:sp>
        <p:nvSpPr>
          <p:cNvPr id="18450" name="TextBox 31">
            <a:extLst>
              <a:ext uri="{FF2B5EF4-FFF2-40B4-BE49-F238E27FC236}">
                <a16:creationId xmlns:a16="http://schemas.microsoft.com/office/drawing/2014/main" id="{3C7027C3-EB51-0574-4B25-B856891BF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738" y="2687638"/>
            <a:ext cx="1460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z=0 or L = 0</a:t>
            </a:r>
          </a:p>
        </p:txBody>
      </p:sp>
      <p:sp>
        <p:nvSpPr>
          <p:cNvPr id="18451" name="TextBox 32">
            <a:extLst>
              <a:ext uri="{FF2B5EF4-FFF2-40B4-BE49-F238E27FC236}">
                <a16:creationId xmlns:a16="http://schemas.microsoft.com/office/drawing/2014/main" id="{203B61E2-8B60-39CE-2B90-A2E7D0D36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4217988"/>
            <a:ext cx="1870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z=z</a:t>
            </a:r>
            <a:r>
              <a:rPr lang="en-US" altLang="en-US" sz="2000" baseline="-25000">
                <a:latin typeface="Times New Roman" panose="02020603050405020304" pitchFamily="18" charset="0"/>
              </a:rPr>
              <a:t>H</a:t>
            </a:r>
            <a:r>
              <a:rPr lang="en-US" altLang="en-US" sz="2000">
                <a:latin typeface="Times New Roman" panose="02020603050405020304" pitchFamily="18" charset="0"/>
              </a:rPr>
              <a:t> or L = LAI</a:t>
            </a:r>
            <a:endParaRPr lang="en-US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CDEBFC-D8FF-C6D9-9C4E-D752C65ECD62}"/>
              </a:ext>
            </a:extLst>
          </p:cNvPr>
          <p:cNvSpPr/>
          <p:nvPr/>
        </p:nvSpPr>
        <p:spPr>
          <a:xfrm>
            <a:off x="3616325" y="1916113"/>
            <a:ext cx="349250" cy="2778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u="sng" baseline="-250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o</a:t>
            </a:r>
            <a:endParaRPr lang="en-US" baseline="-25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88A270-2EFC-6C16-6F72-951F91D6246A}"/>
              </a:ext>
            </a:extLst>
          </p:cNvPr>
          <p:cNvSpPr/>
          <p:nvPr/>
        </p:nvSpPr>
        <p:spPr>
          <a:xfrm>
            <a:off x="5505450" y="1719263"/>
            <a:ext cx="350838" cy="2762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u="sng" baseline="-250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d</a:t>
            </a:r>
            <a:endParaRPr lang="en-US" baseline="-25000" dirty="0"/>
          </a:p>
        </p:txBody>
      </p:sp>
      <p:sp>
        <p:nvSpPr>
          <p:cNvPr id="18454" name="Rectangle 2">
            <a:extLst>
              <a:ext uri="{FF2B5EF4-FFF2-40B4-BE49-F238E27FC236}">
                <a16:creationId xmlns:a16="http://schemas.microsoft.com/office/drawing/2014/main" id="{4991C607-BE32-C36A-1AB8-336A8444D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3900" y="1406525"/>
            <a:ext cx="436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</a:p>
        </p:txBody>
      </p:sp>
      <p:sp>
        <p:nvSpPr>
          <p:cNvPr id="18455" name="Rectangle 29">
            <a:extLst>
              <a:ext uri="{FF2B5EF4-FFF2-40B4-BE49-F238E27FC236}">
                <a16:creationId xmlns:a16="http://schemas.microsoft.com/office/drawing/2014/main" id="{4B7C373B-AB8E-2DA4-E44F-617951894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900" y="2286000"/>
            <a:ext cx="43815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</a:p>
        </p:txBody>
      </p:sp>
      <p:sp>
        <p:nvSpPr>
          <p:cNvPr id="18456" name="Rectangle 30">
            <a:extLst>
              <a:ext uri="{FF2B5EF4-FFF2-40B4-BE49-F238E27FC236}">
                <a16:creationId xmlns:a16="http://schemas.microsoft.com/office/drawing/2014/main" id="{5D08AB32-17FB-127E-774E-556102085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1417638"/>
            <a:ext cx="1084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δ(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u="sng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457" name="TextBox 7">
            <a:extLst>
              <a:ext uri="{FF2B5EF4-FFF2-40B4-BE49-F238E27FC236}">
                <a16:creationId xmlns:a16="http://schemas.microsoft.com/office/drawing/2014/main" id="{F64C899C-4B2C-B973-3C0C-6E9F611E3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038" y="4983163"/>
            <a:ext cx="428625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LAI: leaf area index of the canopy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-z axis pointed upwards towards the zenith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Directions measured with respect to –z axis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 &gt; 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upward directions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downward directions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10BFBCB-30BD-3475-782D-1A6CDDBD3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A5B2A4D-87F9-AD52-40E5-FD68E8BBE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891D308-9D5A-384D-B215-9D03EC05EB7A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TextBox 7">
            <a:extLst>
              <a:ext uri="{FF2B5EF4-FFF2-40B4-BE49-F238E27FC236}">
                <a16:creationId xmlns:a16="http://schemas.microsoft.com/office/drawing/2014/main" id="{B213560E-14CC-ECC0-C792-EE2A63F1D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803275"/>
            <a:ext cx="2936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Incident Radiation Field</a:t>
            </a:r>
          </a:p>
        </p:txBody>
      </p:sp>
      <p:sp>
        <p:nvSpPr>
          <p:cNvPr id="18436" name="TextBox 7">
            <a:extLst>
              <a:ext uri="{FF2B5EF4-FFF2-40B4-BE49-F238E27FC236}">
                <a16:creationId xmlns:a16="http://schemas.microsoft.com/office/drawing/2014/main" id="{B1926743-AFC5-C745-7203-543A9C508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1355725"/>
            <a:ext cx="8850313" cy="50784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top of the canopy:</a:t>
            </a:r>
          </a:p>
          <a:p>
            <a:pPr>
              <a:spcBef>
                <a:spcPct val="0"/>
              </a:spcBef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solar radiation flux: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US" altLang="en-US" sz="1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Diffuse sky radiation flux: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altLang="en-US" sz="1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RTE is linear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respect to incident radiation field. Therefore,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incident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(1-f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x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incident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let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incident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Watt/m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fraction of direct solar flux in the incident field (</a:t>
            </a:r>
            <a:r>
              <a:rPr lang="en-US" altLang="en-US" sz="18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Therefore,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defRPr/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(</a:t>
            </a:r>
            <a:r>
              <a:rPr lang="en-US" altLang="en-US" sz="18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completely overcast sky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defRPr/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(</a:t>
            </a:r>
            <a:r>
              <a:rPr lang="en-US" altLang="en-US" sz="18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completely clear sunny sky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In general,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</a:t>
            </a:r>
            <a:r>
              <a:rPr lang="en-US" altLang="en-US" sz="18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wavelength dependent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749952A2-7141-77BD-54A8-48815CDB4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A5EADF7-ECCA-93E8-8257-8BF62B9BC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FC1054D2-08E1-8C41-95F1-A2166F90574B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1" name="TextBox 7">
            <a:extLst>
              <a:ext uri="{FF2B5EF4-FFF2-40B4-BE49-F238E27FC236}">
                <a16:creationId xmlns:a16="http://schemas.microsoft.com/office/drawing/2014/main" id="{8FAE506C-A5B8-DC08-5CD0-CFBC0C9EE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38" y="771525"/>
            <a:ext cx="43227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 Boundary Condition</a:t>
            </a:r>
          </a:p>
        </p:txBody>
      </p:sp>
      <p:sp>
        <p:nvSpPr>
          <p:cNvPr id="22532" name="TextBox 7">
            <a:extLst>
              <a:ext uri="{FF2B5EF4-FFF2-40B4-BE49-F238E27FC236}">
                <a16:creationId xmlns:a16="http://schemas.microsoft.com/office/drawing/2014/main" id="{DD577E17-3272-D052-F20D-A158F4C20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38" y="1314450"/>
            <a:ext cx="88503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terms of incident intensities,</a:t>
            </a:r>
          </a:p>
        </p:txBody>
      </p:sp>
      <p:pic>
        <p:nvPicPr>
          <p:cNvPr id="22533" name="Picture 3">
            <a:extLst>
              <a:ext uri="{FF2B5EF4-FFF2-40B4-BE49-F238E27FC236}">
                <a16:creationId xmlns:a16="http://schemas.microsoft.com/office/drawing/2014/main" id="{2358A8EF-6CC6-1763-6239-2CC8B7BF0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1836738"/>
            <a:ext cx="36068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TextBox 7">
            <a:extLst>
              <a:ext uri="{FF2B5EF4-FFF2-40B4-BE49-F238E27FC236}">
                <a16:creationId xmlns:a16="http://schemas.microsoft.com/office/drawing/2014/main" id="{8BC2E3F3-81E1-61B3-7863-E4CBCD2C7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3089275"/>
            <a:ext cx="8850312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where d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anisotropy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of the incident sky diffuse radiation field.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Assume isotropic, then d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(1/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l-GR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direction of incident direct solar radiation, 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requires (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,ϕ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,ϕ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are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solidFill>
                <a:srgbClr val="1B26F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Thus,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at the top (upper boundary) of the vegetation canopy is,</a:t>
            </a:r>
          </a:p>
        </p:txBody>
      </p:sp>
      <p:pic>
        <p:nvPicPr>
          <p:cNvPr id="22535" name="Picture 4">
            <a:extLst>
              <a:ext uri="{FF2B5EF4-FFF2-40B4-BE49-F238E27FC236}">
                <a16:creationId xmlns:a16="http://schemas.microsoft.com/office/drawing/2014/main" id="{AC252B6B-61C1-F6F1-6ADD-8C6D19557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5899150"/>
            <a:ext cx="460533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0CC2FA8-2272-DDBA-D1BD-8B53611FC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AEECFAD-6F8C-1B8D-9078-14161157E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F8CFC0C4-5A4D-0E45-BAB6-99698D912DB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TextBox 7">
            <a:extLst>
              <a:ext uri="{FF2B5EF4-FFF2-40B4-BE49-F238E27FC236}">
                <a16:creationId xmlns:a16="http://schemas.microsoft.com/office/drawing/2014/main" id="{60024F0D-142B-4404-C4C7-9512E8317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47713"/>
            <a:ext cx="43227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Boundary Condition</a:t>
            </a:r>
          </a:p>
        </p:txBody>
      </p:sp>
      <p:sp>
        <p:nvSpPr>
          <p:cNvPr id="24580" name="TextBox 7">
            <a:extLst>
              <a:ext uri="{FF2B5EF4-FFF2-40B4-BE49-F238E27FC236}">
                <a16:creationId xmlns:a16="http://schemas.microsoft.com/office/drawing/2014/main" id="{83284AF2-C617-3F11-BC62-77F6C46F5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1387475"/>
            <a:ext cx="885031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At the bottom of the vegetation canopy, we have a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reflecting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boundary (usually soil or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understory vegetation, and maybe even snow ….,</a:t>
            </a:r>
          </a:p>
        </p:txBody>
      </p:sp>
      <p:sp>
        <p:nvSpPr>
          <p:cNvPr id="24581" name="TextBox 7">
            <a:extLst>
              <a:ext uri="{FF2B5EF4-FFF2-40B4-BE49-F238E27FC236}">
                <a16:creationId xmlns:a16="http://schemas.microsoft.com/office/drawing/2014/main" id="{4707113B-63F2-EC46-99AC-1D395CF29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2263775"/>
            <a:ext cx="88503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corresponding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is,</a:t>
            </a:r>
          </a:p>
        </p:txBody>
      </p:sp>
      <p:pic>
        <p:nvPicPr>
          <p:cNvPr id="24582" name="Picture 8">
            <a:extLst>
              <a:ext uri="{FF2B5EF4-FFF2-40B4-BE49-F238E27FC236}">
                <a16:creationId xmlns:a16="http://schemas.microsoft.com/office/drawing/2014/main" id="{9184E92E-55B8-1ACF-3F61-F526AF285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538" y="2889250"/>
            <a:ext cx="5864225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TextBox 9">
            <a:extLst>
              <a:ext uri="{FF2B5EF4-FFF2-40B4-BE49-F238E27FC236}">
                <a16:creationId xmlns:a16="http://schemas.microsoft.com/office/drawing/2014/main" id="{1D6D42EF-0290-3C5E-1085-CAE7A0909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868738"/>
            <a:ext cx="8821737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Here, </a:t>
            </a:r>
            <a:r>
              <a:rPr lang="el-GR" altLang="en-US" sz="1800">
                <a:latin typeface="Times New Roman" panose="02020603050405020304" pitchFamily="18" charset="0"/>
              </a:rPr>
              <a:t>ρ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  <a:r>
              <a:rPr lang="el-GR" altLang="en-US" sz="1800" baseline="-25000">
                <a:latin typeface="Times New Roman" panose="02020603050405020304" pitchFamily="18" charset="0"/>
              </a:rPr>
              <a:t>λ </a:t>
            </a:r>
            <a:r>
              <a:rPr lang="en-US" altLang="en-US" sz="1800">
                <a:latin typeface="Times New Roman" panose="02020603050405020304" pitchFamily="18" charset="0"/>
              </a:rPr>
              <a:t>is the wavelength-dependent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bi-directional reflectance function </a:t>
            </a:r>
            <a:r>
              <a:rPr lang="en-US" altLang="en-US" sz="1800">
                <a:latin typeface="Times New Roman" panose="02020603050405020304" pitchFamily="18" charset="0"/>
              </a:rPr>
              <a:t>of the lower surface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If this lower surface is assumed to be an isotropic reflector, then </a:t>
            </a:r>
            <a:r>
              <a:rPr lang="el-GR" altLang="en-US" sz="1800">
                <a:latin typeface="Times New Roman" panose="02020603050405020304" pitchFamily="18" charset="0"/>
              </a:rPr>
              <a:t>ρ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  <a:r>
              <a:rPr lang="el-GR" altLang="en-US" sz="1800" baseline="-25000">
                <a:latin typeface="Times New Roman" panose="02020603050405020304" pitchFamily="18" charset="0"/>
              </a:rPr>
              <a:t>λ </a:t>
            </a:r>
            <a:r>
              <a:rPr lang="en-US" altLang="en-US" sz="1800">
                <a:latin typeface="Times New Roman" panose="02020603050405020304" pitchFamily="18" charset="0"/>
              </a:rPr>
              <a:t>= </a:t>
            </a:r>
            <a:r>
              <a:rPr lang="el-GR" altLang="en-US" sz="1800">
                <a:latin typeface="Times New Roman" panose="02020603050405020304" pitchFamily="18" charset="0"/>
              </a:rPr>
              <a:t>ρ</a:t>
            </a:r>
            <a:r>
              <a:rPr lang="en-US" altLang="en-US" sz="1800" baseline="-25000">
                <a:latin typeface="Times New Roman" panose="02020603050405020304" pitchFamily="18" charset="0"/>
              </a:rPr>
              <a:t>g</a:t>
            </a:r>
            <a:r>
              <a:rPr lang="el-GR" altLang="en-US" sz="1800" baseline="-25000">
                <a:latin typeface="Times New Roman" panose="02020603050405020304" pitchFamily="18" charset="0"/>
              </a:rPr>
              <a:t>λ </a:t>
            </a:r>
            <a:endParaRPr lang="en-US" altLang="en-US" sz="1800" baseline="-250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Here, </a:t>
            </a:r>
            <a:r>
              <a:rPr lang="el-GR" altLang="en-US" sz="1800">
                <a:latin typeface="Times New Roman" panose="02020603050405020304" pitchFamily="18" charset="0"/>
              </a:rPr>
              <a:t>ρ</a:t>
            </a:r>
            <a:r>
              <a:rPr lang="en-US" altLang="en-US" sz="1800" baseline="-25000">
                <a:latin typeface="Times New Roman" panose="02020603050405020304" pitchFamily="18" charset="0"/>
              </a:rPr>
              <a:t>g</a:t>
            </a:r>
            <a:r>
              <a:rPr lang="el-GR" altLang="en-US" sz="1800" baseline="-25000">
                <a:latin typeface="Times New Roman" panose="02020603050405020304" pitchFamily="18" charset="0"/>
              </a:rPr>
              <a:t>λ </a:t>
            </a:r>
            <a:r>
              <a:rPr lang="en-US" altLang="en-US" sz="1800">
                <a:latin typeface="Times New Roman" panose="02020603050405020304" pitchFamily="18" charset="0"/>
              </a:rPr>
              <a:t> is the wavelength dependent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reflection coefficient </a:t>
            </a:r>
            <a:r>
              <a:rPr lang="en-US" altLang="en-US" sz="1800">
                <a:latin typeface="Times New Roman" panose="02020603050405020304" pitchFamily="18" charset="0"/>
              </a:rPr>
              <a:t>of the lower surface (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800">
                <a:latin typeface="Times New Roman" panose="02020603050405020304" pitchFamily="18" charset="0"/>
              </a:rPr>
              <a:t>) which does not depend on directions. Thus,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I</a:t>
            </a:r>
            <a:r>
              <a:rPr lang="el-GR" altLang="en-US" sz="1800" baseline="-25000">
                <a:latin typeface="Times New Roman" panose="02020603050405020304" pitchFamily="18" charset="0"/>
              </a:rPr>
              <a:t> λ</a:t>
            </a:r>
            <a:r>
              <a:rPr lang="en-US" altLang="en-US" sz="1800">
                <a:latin typeface="Times New Roman" panose="02020603050405020304" pitchFamily="18" charset="0"/>
              </a:rPr>
              <a:t>(z = z</a:t>
            </a:r>
            <a:r>
              <a:rPr lang="en-US" altLang="en-US" sz="1800" baseline="-25000">
                <a:latin typeface="Times New Roman" panose="02020603050405020304" pitchFamily="18" charset="0"/>
              </a:rPr>
              <a:t>H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  <a:r>
              <a:rPr lang="el-GR" altLang="en-US" sz="12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l-GR" altLang="en-US" sz="1800">
                <a:latin typeface="Times New Roman" panose="02020603050405020304" pitchFamily="18" charset="0"/>
              </a:rPr>
              <a:t>Ω</a:t>
            </a:r>
            <a:r>
              <a:rPr lang="en-US" altLang="en-US" sz="1800">
                <a:latin typeface="Times New Roman" panose="02020603050405020304" pitchFamily="18" charset="0"/>
              </a:rPr>
              <a:t>) = F</a:t>
            </a:r>
            <a:r>
              <a:rPr lang="en-US" altLang="en-US" sz="1800" baseline="30000"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latin typeface="Times New Roman" panose="02020603050405020304" pitchFamily="18" charset="0"/>
              </a:rPr>
              <a:t>(z = z</a:t>
            </a:r>
            <a:r>
              <a:rPr lang="en-US" altLang="en-US" sz="1800" baseline="-25000">
                <a:latin typeface="Times New Roman" panose="02020603050405020304" pitchFamily="18" charset="0"/>
              </a:rPr>
              <a:t>H</a:t>
            </a:r>
            <a:r>
              <a:rPr lang="en-US" altLang="en-US" sz="1800">
                <a:latin typeface="Times New Roman" panose="02020603050405020304" pitchFamily="18" charset="0"/>
              </a:rPr>
              <a:t>) (</a:t>
            </a:r>
            <a:r>
              <a:rPr lang="el-GR" altLang="en-US" sz="1800">
                <a:latin typeface="Times New Roman" panose="02020603050405020304" pitchFamily="18" charset="0"/>
              </a:rPr>
              <a:t>ρ</a:t>
            </a:r>
            <a:r>
              <a:rPr lang="en-US" altLang="en-US" sz="1800" baseline="-25000">
                <a:latin typeface="Times New Roman" panose="02020603050405020304" pitchFamily="18" charset="0"/>
              </a:rPr>
              <a:t>g</a:t>
            </a:r>
            <a:r>
              <a:rPr lang="el-GR" altLang="en-US" sz="1800" baseline="-25000">
                <a:latin typeface="Times New Roman" panose="02020603050405020304" pitchFamily="18" charset="0"/>
              </a:rPr>
              <a:t>λ</a:t>
            </a:r>
            <a:r>
              <a:rPr lang="en-US" altLang="en-US" sz="1800">
                <a:latin typeface="Times New Roman" panose="02020603050405020304" pitchFamily="18" charset="0"/>
              </a:rPr>
              <a:t>/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l-GR" altLang="en-US" sz="1800">
                <a:latin typeface="Times New Roman" panose="02020603050405020304" pitchFamily="18" charset="0"/>
              </a:rPr>
              <a:t>μ &gt; 0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where F</a:t>
            </a:r>
            <a:r>
              <a:rPr lang="en-US" altLang="en-US" sz="1800" baseline="30000"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latin typeface="Times New Roman" panose="02020603050405020304" pitchFamily="18" charset="0"/>
              </a:rPr>
              <a:t> is downward flux at z= z</a:t>
            </a:r>
            <a:r>
              <a:rPr lang="en-US" altLang="en-US" sz="1800" baseline="-25000">
                <a:latin typeface="Times New Roman" panose="02020603050405020304" pitchFamily="18" charset="0"/>
              </a:rPr>
              <a:t>H</a:t>
            </a:r>
            <a:r>
              <a:rPr lang="en-US" altLang="en-US" sz="1800">
                <a:latin typeface="Times New Roman" panose="02020603050405020304" pitchFamily="18" charset="0"/>
              </a:rPr>
              <a:t>.</a:t>
            </a:r>
            <a:endParaRPr lang="el-GR" altLang="en-US" sz="1800">
              <a:latin typeface="Times New Roman" panose="02020603050405020304" pitchFamily="18" charset="0"/>
            </a:endParaRPr>
          </a:p>
        </p:txBody>
      </p:sp>
      <p:sp>
        <p:nvSpPr>
          <p:cNvPr id="24584" name="TextBox 2">
            <a:extLst>
              <a:ext uri="{FF2B5EF4-FFF2-40B4-BE49-F238E27FC236}">
                <a16:creationId xmlns:a16="http://schemas.microsoft.com/office/drawing/2014/main" id="{CD0DB309-1C54-0E02-740D-4202D6AE7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288" y="5799138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2CEACD20-8EDC-38D4-9DDE-B798F367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6829162-9D62-957D-3808-B4F014F9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DAF686A3-0DFD-AB4B-894E-74C0E26720F7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TextBox 7">
            <a:extLst>
              <a:ext uri="{FF2B5EF4-FFF2-40B4-BE49-F238E27FC236}">
                <a16:creationId xmlns:a16="http://schemas.microsoft.com/office/drawing/2014/main" id="{63ACEDC7-45F3-1D42-D195-7E45FE410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47713"/>
            <a:ext cx="43227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1D RTE</a:t>
            </a:r>
          </a:p>
        </p:txBody>
      </p:sp>
      <p:sp>
        <p:nvSpPr>
          <p:cNvPr id="26628" name="TextBox 7">
            <a:extLst>
              <a:ext uri="{FF2B5EF4-FFF2-40B4-BE49-F238E27FC236}">
                <a16:creationId xmlns:a16="http://schemas.microsoft.com/office/drawing/2014/main" id="{0FB4A6A7-BC2E-710E-9616-EA913C299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1387475"/>
            <a:ext cx="88503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1D RTE is,</a:t>
            </a:r>
          </a:p>
        </p:txBody>
      </p:sp>
      <p:sp>
        <p:nvSpPr>
          <p:cNvPr id="26629" name="TextBox 9">
            <a:extLst>
              <a:ext uri="{FF2B5EF4-FFF2-40B4-BE49-F238E27FC236}">
                <a16:creationId xmlns:a16="http://schemas.microsoft.com/office/drawing/2014/main" id="{8B3A41B2-E0AD-05C9-FBEB-0001DA8E8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2513013"/>
            <a:ext cx="8821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with the following boundary conditions,</a:t>
            </a:r>
          </a:p>
        </p:txBody>
      </p:sp>
      <p:pic>
        <p:nvPicPr>
          <p:cNvPr id="26630" name="Picture 3">
            <a:extLst>
              <a:ext uri="{FF2B5EF4-FFF2-40B4-BE49-F238E27FC236}">
                <a16:creationId xmlns:a16="http://schemas.microsoft.com/office/drawing/2014/main" id="{8BFA6B4D-2B46-6AC8-E784-673EF7B91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1757363"/>
            <a:ext cx="6226175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5">
            <a:extLst>
              <a:ext uri="{FF2B5EF4-FFF2-40B4-BE49-F238E27FC236}">
                <a16:creationId xmlns:a16="http://schemas.microsoft.com/office/drawing/2014/main" id="{E7BC3742-9273-231D-D5D8-F693A50BC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388" y="2952750"/>
            <a:ext cx="5659437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TextBox 7">
            <a:extLst>
              <a:ext uri="{FF2B5EF4-FFF2-40B4-BE49-F238E27FC236}">
                <a16:creationId xmlns:a16="http://schemas.microsoft.com/office/drawing/2014/main" id="{72F28F11-612C-5B05-8B14-64CE20057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4330700"/>
            <a:ext cx="88217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The specific intensity I is thus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wavelength dependent</a:t>
            </a:r>
            <a:r>
              <a:rPr lang="en-US" altLang="en-US" sz="1800">
                <a:latin typeface="Times New Roman" panose="02020603050405020304" pitchFamily="18" charset="0"/>
              </a:rPr>
              <a:t>. However, for ease of expression, this dependence will be not explicitly shown from now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A1A296F5-8FC3-DC33-70EB-89F1D47D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3D91F45-8EAA-4685-8581-B8F6748C1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63C0013-A5B8-CA4C-8F72-C459CFBA8C7D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TextBox 7">
            <a:extLst>
              <a:ext uri="{FF2B5EF4-FFF2-40B4-BE49-F238E27FC236}">
                <a16:creationId xmlns:a16="http://schemas.microsoft.com/office/drawing/2014/main" id="{37AD8028-3BC0-C476-812B-4C7BF75F6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47713"/>
            <a:ext cx="43227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Cross Sections</a:t>
            </a:r>
          </a:p>
        </p:txBody>
      </p:sp>
      <p:sp>
        <p:nvSpPr>
          <p:cNvPr id="28676" name="TextBox 7">
            <a:extLst>
              <a:ext uri="{FF2B5EF4-FFF2-40B4-BE49-F238E27FC236}">
                <a16:creationId xmlns:a16="http://schemas.microsoft.com/office/drawing/2014/main" id="{26D4AF23-029F-ACE3-C258-52E8FB39C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1387475"/>
            <a:ext cx="88503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normal orientation distribution function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assumed independent of depth z in the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canopy, the two cross sections are,</a:t>
            </a:r>
          </a:p>
        </p:txBody>
      </p:sp>
      <p:sp>
        <p:nvSpPr>
          <p:cNvPr id="28677" name="TextBox 7">
            <a:extLst>
              <a:ext uri="{FF2B5EF4-FFF2-40B4-BE49-F238E27FC236}">
                <a16:creationId xmlns:a16="http://schemas.microsoft.com/office/drawing/2014/main" id="{9662BF92-E760-784F-0416-C3654A637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5716588"/>
            <a:ext cx="8821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with </a:t>
            </a:r>
            <a:r>
              <a:rPr lang="el-GR" altLang="en-US" sz="1800">
                <a:latin typeface="Times New Roman" panose="02020603050405020304" pitchFamily="18" charset="0"/>
              </a:rPr>
              <a:t>γ</a:t>
            </a:r>
            <a:r>
              <a:rPr lang="en-US" altLang="en-US" sz="1800" baseline="-25000">
                <a:latin typeface="Times New Roman" panose="02020603050405020304" pitchFamily="18" charset="0"/>
              </a:rPr>
              <a:t>L</a:t>
            </a:r>
            <a:r>
              <a:rPr lang="en-US" altLang="en-US" sz="1800">
                <a:latin typeface="Times New Roman" panose="02020603050405020304" pitchFamily="18" charset="0"/>
              </a:rPr>
              <a:t> being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leaf scattering phase function</a:t>
            </a:r>
            <a:r>
              <a:rPr lang="en-US" altLang="en-US" sz="180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28678" name="Picture 8">
            <a:extLst>
              <a:ext uri="{FF2B5EF4-FFF2-40B4-BE49-F238E27FC236}">
                <a16:creationId xmlns:a16="http://schemas.microsoft.com/office/drawing/2014/main" id="{E1A05F1C-C998-3282-E2B9-FDACE6937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325" y="2089150"/>
            <a:ext cx="3629025" cy="100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9" name="TextBox 13">
            <a:extLst>
              <a:ext uri="{FF2B5EF4-FFF2-40B4-BE49-F238E27FC236}">
                <a16:creationId xmlns:a16="http://schemas.microsoft.com/office/drawing/2014/main" id="{17ADC54E-87FF-08CA-C437-3F6779338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3055938"/>
            <a:ext cx="8821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where u</a:t>
            </a:r>
            <a:r>
              <a:rPr lang="en-US" altLang="en-US" sz="1800" baseline="-25000">
                <a:latin typeface="Times New Roman" panose="02020603050405020304" pitchFamily="18" charset="0"/>
              </a:rPr>
              <a:t>L</a:t>
            </a:r>
            <a:r>
              <a:rPr lang="en-US" altLang="en-US" sz="1800">
                <a:latin typeface="Times New Roman" panose="02020603050405020304" pitchFamily="18" charset="0"/>
              </a:rPr>
              <a:t> is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leaf area density distribution function </a:t>
            </a:r>
            <a:r>
              <a:rPr lang="en-US" altLang="en-US" sz="1800">
                <a:latin typeface="Times New Roman" panose="02020603050405020304" pitchFamily="18" charset="0"/>
              </a:rPr>
              <a:t>and G is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geometry factor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</a:p>
        </p:txBody>
      </p:sp>
      <p:pic>
        <p:nvPicPr>
          <p:cNvPr id="28680" name="Picture 11">
            <a:extLst>
              <a:ext uri="{FF2B5EF4-FFF2-40B4-BE49-F238E27FC236}">
                <a16:creationId xmlns:a16="http://schemas.microsoft.com/office/drawing/2014/main" id="{73E0727F-9FD8-3B60-BC2D-96D7C05AB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038" y="3425825"/>
            <a:ext cx="3402012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1" name="Rectangle 12">
            <a:extLst>
              <a:ext uri="{FF2B5EF4-FFF2-40B4-BE49-F238E27FC236}">
                <a16:creationId xmlns:a16="http://schemas.microsoft.com/office/drawing/2014/main" id="{E0134C06-4B9D-E1BC-A942-D7BBC5065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" y="4386263"/>
            <a:ext cx="4127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and, 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Γ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scattering phase function</a:t>
            </a:r>
          </a:p>
        </p:txBody>
      </p:sp>
      <p:pic>
        <p:nvPicPr>
          <p:cNvPr id="28682" name="Picture 15">
            <a:extLst>
              <a:ext uri="{FF2B5EF4-FFF2-40B4-BE49-F238E27FC236}">
                <a16:creationId xmlns:a16="http://schemas.microsoft.com/office/drawing/2014/main" id="{570EEFA7-E0B5-363D-C492-F0A27F34E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688" y="4756150"/>
            <a:ext cx="601662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776C80-9FDB-972C-1F51-D49658378928}"/>
              </a:ext>
            </a:extLst>
          </p:cNvPr>
          <p:cNvCxnSpPr/>
          <p:nvPr/>
        </p:nvCxnSpPr>
        <p:spPr>
          <a:xfrm flipH="1">
            <a:off x="4598988" y="2314575"/>
            <a:ext cx="265112" cy="1920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B4784957-5ED9-9D16-5B0D-5909D1DCC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2D03470-7699-7E70-27E6-7AD534CF3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FFB184BD-5F9A-444D-9823-EE29B7D57AF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TextBox 7">
            <a:extLst>
              <a:ext uri="{FF2B5EF4-FFF2-40B4-BE49-F238E27FC236}">
                <a16:creationId xmlns:a16="http://schemas.microsoft.com/office/drawing/2014/main" id="{EFC0AA9A-047E-9220-19D1-270DE69A2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47713"/>
            <a:ext cx="43227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from z to L</a:t>
            </a:r>
          </a:p>
        </p:txBody>
      </p:sp>
      <p:sp>
        <p:nvSpPr>
          <p:cNvPr id="30724" name="TextBox 7">
            <a:extLst>
              <a:ext uri="{FF2B5EF4-FFF2-40B4-BE49-F238E27FC236}">
                <a16:creationId xmlns:a16="http://schemas.microsoft.com/office/drawing/2014/main" id="{9388EAED-A2A5-108A-40EB-499F0517D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1387475"/>
            <a:ext cx="8850312" cy="225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vertical coordinate z can be changed to cumulative leaf area index L by dividing the RTE with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vegetation canopy is now contained between L = 0 at the top and L = 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bottom, where 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leaf area index (</a:t>
            </a:r>
            <a:r>
              <a:rPr lang="en-US" altLang="en-US" sz="1800" dirty="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of the canopy. 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1D RT problem is thus:</a:t>
            </a:r>
          </a:p>
        </p:txBody>
      </p:sp>
      <p:pic>
        <p:nvPicPr>
          <p:cNvPr id="30725" name="Picture 3">
            <a:extLst>
              <a:ext uri="{FF2B5EF4-FFF2-40B4-BE49-F238E27FC236}">
                <a16:creationId xmlns:a16="http://schemas.microsoft.com/office/drawing/2014/main" id="{E89C719A-2684-5849-5D10-A97BF67C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3746500"/>
            <a:ext cx="5929313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50A779-AD26-A69A-76A1-A0A07D0A1E6C}"/>
              </a:ext>
            </a:extLst>
          </p:cNvPr>
          <p:cNvCxnSpPr/>
          <p:nvPr/>
        </p:nvCxnSpPr>
        <p:spPr>
          <a:xfrm flipH="1">
            <a:off x="3300413" y="4121150"/>
            <a:ext cx="165100" cy="1222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0998903F-D3E6-83A9-8296-6B495D7C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9C290F2-E219-84BE-4A09-E8D1BF83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AE3309B-599F-FF4D-B6F0-3A83F718F4D1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1" name="TextBox 7">
            <a:extLst>
              <a:ext uri="{FF2B5EF4-FFF2-40B4-BE49-F238E27FC236}">
                <a16:creationId xmlns:a16="http://schemas.microsoft.com/office/drawing/2014/main" id="{408D7EA4-3EBB-7965-8410-DB237140E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654050"/>
            <a:ext cx="43227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7">
                <a:extLst>
                  <a:ext uri="{FF2B5EF4-FFF2-40B4-BE49-F238E27FC236}">
                    <a16:creationId xmlns:a16="http://schemas.microsoft.com/office/drawing/2014/main" id="{7988CB15-46BD-8630-6F81-006B0CFDAF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888" y="1054100"/>
                <a:ext cx="8850312" cy="5558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marL="288925" indent="-28892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arenR"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Incident radiation field: </a:t>
                </a:r>
              </a:p>
              <a:p>
                <a:pPr>
                  <a:defRPr/>
                </a:pPr>
                <a:r>
                  <a:rPr lang="en-US" alt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alt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input,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be </a:t>
                </a:r>
                <a:r>
                  <a:rPr lang="en-US" alt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 dependent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</a:t>
                </a:r>
              </a:p>
              <a:p>
                <a:pPr>
                  <a:defRPr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l-G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1600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alt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en-US" altLang="en-US" sz="16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𝑜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(solar radiation direction)</a:t>
                </a:r>
              </a:p>
              <a:p>
                <a:pPr>
                  <a:defRPr/>
                </a:pPr>
                <a:endParaRPr lang="en-US" alt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Canopy structure (</a:t>
                </a:r>
                <a:r>
                  <a:rPr 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 independent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LAI (</a:t>
                </a:r>
                <a:r>
                  <a:rPr 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(1/2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l-GR" altLang="en-US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given by [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l-G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x (1/2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models (</a:t>
                </a:r>
                <a:r>
                  <a:rPr 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for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l-G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assume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(uniform distribution)</a:t>
                </a:r>
              </a:p>
              <a:p>
                <a:pPr marL="0" indent="0">
                  <a:buFont typeface="Arial" panose="020B0604020202020204" pitchFamily="34" charset="0"/>
                  <a:buNone/>
                  <a:defRPr/>
                </a:pP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3) Canopy optics (</a:t>
                </a:r>
                <a:r>
                  <a:rPr 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 dependent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>
                  <a:defRPr/>
                </a:pP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leaf scattering phase function</a:t>
                </a:r>
              </a:p>
              <a:p>
                <a:pPr lvl="1">
                  <a:buFontTx/>
                  <a:buChar char="-"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Neglect specular reflection from leaf surface</a:t>
                </a:r>
              </a:p>
              <a:p>
                <a:pPr lvl="1">
                  <a:buFontTx/>
                  <a:buChar char="-"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bi-Lambertian model for diffuse leaf-internal scattering</a:t>
                </a:r>
              </a:p>
              <a:p>
                <a:pPr lvl="1">
                  <a:buFontTx/>
                  <a:buChar char="-"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abaxial and adaxial sides are similar</a:t>
                </a:r>
              </a:p>
              <a:p>
                <a:pPr lvl="1">
                  <a:buFontTx/>
                  <a:buChar char="-"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Leaf reflection (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ρ</a:t>
                </a:r>
                <a:r>
                  <a:rPr 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transmission (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</a:t>
                </a:r>
                <a:r>
                  <a:rPr 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coefficients are </a:t>
                </a:r>
                <a:r>
                  <a:rPr 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inputs</a:t>
                </a:r>
              </a:p>
              <a:p>
                <a:pPr>
                  <a:buFontTx/>
                  <a:buChar char="-"/>
                  <a:defRPr/>
                </a:pP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4) Ground optics (</a:t>
                </a:r>
                <a:r>
                  <a:rPr 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 dependent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>
                  <a:defRPr/>
                </a:pPr>
                <a:r>
                  <a:rPr lang="el-GR" sz="1600" dirty="0"/>
                  <a:t>ρ</a:t>
                </a:r>
                <a:r>
                  <a:rPr lang="en-US" sz="1600" baseline="-25000" dirty="0"/>
                  <a:t>g</a:t>
                </a:r>
                <a:r>
                  <a:rPr lang="el-GR" sz="1600" baseline="-25000" dirty="0"/>
                  <a:t>λ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ground reflection coefficient (</a:t>
                </a:r>
                <a:r>
                  <a:rPr 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Assumed isotropic reflector</a:t>
                </a:r>
              </a:p>
            </p:txBody>
          </p:sp>
        </mc:Choice>
        <mc:Fallback xmlns="">
          <p:sp>
            <p:nvSpPr>
              <p:cNvPr id="29" name="TextBox 7">
                <a:extLst>
                  <a:ext uri="{FF2B5EF4-FFF2-40B4-BE49-F238E27FC236}">
                    <a16:creationId xmlns:a16="http://schemas.microsoft.com/office/drawing/2014/main" id="{7988CB15-46BD-8630-6F81-006B0CFDA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888" y="1054100"/>
                <a:ext cx="8850312" cy="5558445"/>
              </a:xfrm>
              <a:prstGeom prst="rect">
                <a:avLst/>
              </a:prstGeom>
              <a:blipFill>
                <a:blip r:embed="rId3"/>
                <a:stretch>
                  <a:fillRect l="-430" t="-457" b="-4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3" name="TextBox 2">
            <a:extLst>
              <a:ext uri="{FF2B5EF4-FFF2-40B4-BE49-F238E27FC236}">
                <a16:creationId xmlns:a16="http://schemas.microsoft.com/office/drawing/2014/main" id="{BA31534B-5DB6-BAFD-BA48-638FE2E8C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4328" y="2598609"/>
            <a:ext cx="2730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>
                <a:latin typeface="Times New Roman" panose="02020603050405020304" pitchFamily="18" charset="0"/>
              </a:rPr>
              <a:t>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2E437D65-6FD5-EE0D-EE65-660A4E387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23D4671-FCCD-69A6-7821-C28C3FBB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13C12A93-8BB3-BB4D-8E89-4867EDDDBFA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TextBox 7">
            <a:extLst>
              <a:ext uri="{FF2B5EF4-FFF2-40B4-BE49-F238E27FC236}">
                <a16:creationId xmlns:a16="http://schemas.microsoft.com/office/drawing/2014/main" id="{805FCA61-8737-E0F7-E5F0-41EB5A7DA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908050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Separation into Collided and Uncollided Problems</a:t>
            </a:r>
          </a:p>
        </p:txBody>
      </p:sp>
      <p:sp>
        <p:nvSpPr>
          <p:cNvPr id="34820" name="TextBox 7">
            <a:extLst>
              <a:ext uri="{FF2B5EF4-FFF2-40B4-BE49-F238E27FC236}">
                <a16:creationId xmlns:a16="http://schemas.microsoft.com/office/drawing/2014/main" id="{C52A43EB-61B2-7BFE-33A5-D18CA5858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1808163"/>
            <a:ext cx="8850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Separate the uncollided radiation field from the collided field</a:t>
            </a:r>
          </a:p>
        </p:txBody>
      </p:sp>
      <p:pic>
        <p:nvPicPr>
          <p:cNvPr id="34821" name="Picture 4">
            <a:extLst>
              <a:ext uri="{FF2B5EF4-FFF2-40B4-BE49-F238E27FC236}">
                <a16:creationId xmlns:a16="http://schemas.microsoft.com/office/drawing/2014/main" id="{398693B5-3AF8-725A-5543-302FDFDDE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963" y="2417763"/>
            <a:ext cx="2593975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TextBox 5">
            <a:extLst>
              <a:ext uri="{FF2B5EF4-FFF2-40B4-BE49-F238E27FC236}">
                <a16:creationId xmlns:a16="http://schemas.microsoft.com/office/drawing/2014/main" id="{C3D358D4-3A11-396C-2104-C8AC78EAB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087688"/>
            <a:ext cx="8850312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where I</a:t>
            </a:r>
            <a:r>
              <a:rPr lang="en-US" altLang="en-US" sz="1800" baseline="30000"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</a:rPr>
              <a:t> is the specific intensity of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uncollided</a:t>
            </a:r>
            <a:r>
              <a:rPr lang="en-US" altLang="en-US" sz="1800">
                <a:latin typeface="Times New Roman" panose="02020603050405020304" pitchFamily="18" charset="0"/>
              </a:rPr>
              <a:t> photons and I</a:t>
            </a:r>
            <a:r>
              <a:rPr lang="en-US" altLang="en-US" sz="1800" baseline="30000">
                <a:latin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</a:rPr>
              <a:t> is the specific intensity of photons which experienced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collisions </a:t>
            </a:r>
            <a:r>
              <a:rPr lang="en-US" altLang="en-US" sz="1800">
                <a:latin typeface="Times New Roman" panose="02020603050405020304" pitchFamily="18" charset="0"/>
              </a:rPr>
              <a:t>with elements of the host medium.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Thus, 1D boundary value problem can be split in to an 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Uncollided problem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Collided problem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8998815A-3487-50BF-D005-424E08799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6FDFF0E-DE57-A122-302C-7FB0F45A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3C7D4028-4938-304B-A9D4-9DBC37CE368A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Box 7">
            <a:extLst>
              <a:ext uri="{FF2B5EF4-FFF2-40B4-BE49-F238E27FC236}">
                <a16:creationId xmlns:a16="http://schemas.microsoft.com/office/drawing/2014/main" id="{C89393BC-3609-8CAF-A0EE-C027E7728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6517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Uncollided Problem</a:t>
            </a:r>
          </a:p>
        </p:txBody>
      </p:sp>
      <p:pic>
        <p:nvPicPr>
          <p:cNvPr id="36868" name="Picture 3">
            <a:extLst>
              <a:ext uri="{FF2B5EF4-FFF2-40B4-BE49-F238E27FC236}">
                <a16:creationId xmlns:a16="http://schemas.microsoft.com/office/drawing/2014/main" id="{CE4FCAE3-02E2-B204-B6DC-8C6C380FF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1624013"/>
            <a:ext cx="7027863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9FB7A224-F592-181B-1224-2381D468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1F50361-0C68-ECD4-ADBA-368519F2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5F6BABA2-C052-B64A-87C7-191543C8B0F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5" name="TextBox 7">
            <a:extLst>
              <a:ext uri="{FF2B5EF4-FFF2-40B4-BE49-F238E27FC236}">
                <a16:creationId xmlns:a16="http://schemas.microsoft.com/office/drawing/2014/main" id="{07FF4F25-6B33-D833-B9D4-DC887A769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6517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Collided Problem</a:t>
            </a:r>
          </a:p>
        </p:txBody>
      </p:sp>
      <p:pic>
        <p:nvPicPr>
          <p:cNvPr id="38916" name="Picture 4">
            <a:extLst>
              <a:ext uri="{FF2B5EF4-FFF2-40B4-BE49-F238E27FC236}">
                <a16:creationId xmlns:a16="http://schemas.microsoft.com/office/drawing/2014/main" id="{C30B3507-A869-DEB2-C50D-14A0BC92F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1319213"/>
            <a:ext cx="791527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TextBox 5">
            <a:extLst>
              <a:ext uri="{FF2B5EF4-FFF2-40B4-BE49-F238E27FC236}">
                <a16:creationId xmlns:a16="http://schemas.microsoft.com/office/drawing/2014/main" id="{FCAA40D6-9346-628C-B7B4-20E1E1D98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221038"/>
            <a:ext cx="3525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where Q is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first collision source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</a:p>
        </p:txBody>
      </p:sp>
      <p:pic>
        <p:nvPicPr>
          <p:cNvPr id="38918" name="Picture 7">
            <a:extLst>
              <a:ext uri="{FF2B5EF4-FFF2-40B4-BE49-F238E27FC236}">
                <a16:creationId xmlns:a16="http://schemas.microsoft.com/office/drawing/2014/main" id="{B97BD806-18A8-34EE-A38C-8AA4EE01A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3802063"/>
            <a:ext cx="38735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9" name="TextBox 10">
            <a:extLst>
              <a:ext uri="{FF2B5EF4-FFF2-40B4-BE49-F238E27FC236}">
                <a16:creationId xmlns:a16="http://schemas.microsoft.com/office/drawing/2014/main" id="{3FE4EAA4-E5EE-BE19-F9DD-9F49CBA47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4632325"/>
            <a:ext cx="48529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and S is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distributed (multiple-collision) source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</a:p>
        </p:txBody>
      </p:sp>
      <p:pic>
        <p:nvPicPr>
          <p:cNvPr id="38920" name="Picture 9">
            <a:extLst>
              <a:ext uri="{FF2B5EF4-FFF2-40B4-BE49-F238E27FC236}">
                <a16:creationId xmlns:a16="http://schemas.microsoft.com/office/drawing/2014/main" id="{DEFDCCF1-FEF3-4788-5F6E-3A411EEF4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38" y="5360988"/>
            <a:ext cx="4094162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BC17D6F2-ED71-E277-46CC-71C669008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D429B13-C619-CE23-782B-66B334EB2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9770AC2-54F6-6845-8829-8E43F1EC6EE2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3" name="TextBox 7">
            <a:extLst>
              <a:ext uri="{FF2B5EF4-FFF2-40B4-BE49-F238E27FC236}">
                <a16:creationId xmlns:a16="http://schemas.microsoft.com/office/drawing/2014/main" id="{F64342F4-80EC-14BA-ED2E-4EE1E597E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6517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of the Uncollided Problem</a:t>
            </a:r>
          </a:p>
        </p:txBody>
      </p:sp>
      <p:sp>
        <p:nvSpPr>
          <p:cNvPr id="40964" name="TextBox 7">
            <a:extLst>
              <a:ext uri="{FF2B5EF4-FFF2-40B4-BE49-F238E27FC236}">
                <a16:creationId xmlns:a16="http://schemas.microsoft.com/office/drawing/2014/main" id="{85AB2EBD-FAD8-8FA8-FAAB-16CFC5729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1276350"/>
            <a:ext cx="8850312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uncollided problem has an analytical solution.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downward directions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0965" name="Picture 3">
            <a:extLst>
              <a:ext uri="{FF2B5EF4-FFF2-40B4-BE49-F238E27FC236}">
                <a16:creationId xmlns:a16="http://schemas.microsoft.com/office/drawing/2014/main" id="{6C324016-F866-A128-8DF1-C5C00EBD4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2370138"/>
            <a:ext cx="4395788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7">
            <a:extLst>
              <a:ext uri="{FF2B5EF4-FFF2-40B4-BE49-F238E27FC236}">
                <a16:creationId xmlns:a16="http://schemas.microsoft.com/office/drawing/2014/main" id="{CAFDB376-FF87-7450-4C00-6CB9B9352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2932113"/>
            <a:ext cx="8850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upward directions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0967" name="Picture 6">
            <a:extLst>
              <a:ext uri="{FF2B5EF4-FFF2-40B4-BE49-F238E27FC236}">
                <a16:creationId xmlns:a16="http://schemas.microsoft.com/office/drawing/2014/main" id="{DE6FC822-641A-FA22-00BE-0C6C0CCAC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3403600"/>
            <a:ext cx="4333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8" name="TextBox 7">
            <a:extLst>
              <a:ext uri="{FF2B5EF4-FFF2-40B4-BE49-F238E27FC236}">
                <a16:creationId xmlns:a16="http://schemas.microsoft.com/office/drawing/2014/main" id="{77C84FE0-63B4-5EFE-4729-659D26BD5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884613"/>
            <a:ext cx="8850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</p:txBody>
      </p:sp>
      <p:pic>
        <p:nvPicPr>
          <p:cNvPr id="40969" name="Picture 9">
            <a:extLst>
              <a:ext uri="{FF2B5EF4-FFF2-40B4-BE49-F238E27FC236}">
                <a16:creationId xmlns:a16="http://schemas.microsoft.com/office/drawing/2014/main" id="{698D9D94-C2AD-BDF0-FD2D-01418EB36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4037013"/>
            <a:ext cx="3943350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0" name="TextBox 7">
            <a:extLst>
              <a:ext uri="{FF2B5EF4-FFF2-40B4-BE49-F238E27FC236}">
                <a16:creationId xmlns:a16="http://schemas.microsoft.com/office/drawing/2014/main" id="{BFC38DF7-87EA-E608-C5A1-98EC4B471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5094288"/>
            <a:ext cx="88487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denotes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photons not experiencing collisions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while traveling along 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between depth L1 and L2 (L2&gt;L1).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3C6FB129-C3B9-4116-11FF-9C54BE8A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2CEF34D-1DC7-8BD6-9C4D-3D3EF7DE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5E847687-5325-F641-A42C-8167E308E5C8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TextBox 7">
            <a:extLst>
              <a:ext uri="{FF2B5EF4-FFF2-40B4-BE49-F238E27FC236}">
                <a16:creationId xmlns:a16="http://schemas.microsoft.com/office/drawing/2014/main" id="{7E46EC59-9913-4DCF-A778-7F4A45E82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225" y="677863"/>
            <a:ext cx="8850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Pictorial Illustration of the Solution to the Uncollided Problem</a:t>
            </a:r>
          </a:p>
        </p:txBody>
      </p:sp>
      <p:sp>
        <p:nvSpPr>
          <p:cNvPr id="43012" name="TextBox 7">
            <a:extLst>
              <a:ext uri="{FF2B5EF4-FFF2-40B4-BE49-F238E27FC236}">
                <a16:creationId xmlns:a16="http://schemas.microsoft.com/office/drawing/2014/main" id="{683B1796-699E-D16F-8C7B-0D2E94908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89025"/>
            <a:ext cx="8850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downward directions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3013" name="Picture 3">
            <a:extLst>
              <a:ext uri="{FF2B5EF4-FFF2-40B4-BE49-F238E27FC236}">
                <a16:creationId xmlns:a16="http://schemas.microsoft.com/office/drawing/2014/main" id="{5E2AB6F0-73A9-D8C3-64E8-2BE41CF34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0" y="1525588"/>
            <a:ext cx="439578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65C605C-F7F6-F42E-C5F4-0D4F07C5F3E9}"/>
              </a:ext>
            </a:extLst>
          </p:cNvPr>
          <p:cNvCxnSpPr/>
          <p:nvPr/>
        </p:nvCxnSpPr>
        <p:spPr>
          <a:xfrm>
            <a:off x="2476500" y="3381375"/>
            <a:ext cx="3116263" cy="2379663"/>
          </a:xfrm>
          <a:prstGeom prst="straightConnector1">
            <a:avLst/>
          </a:prstGeom>
          <a:ln w="38100">
            <a:solidFill>
              <a:srgbClr val="1D1D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B08664C8-8F10-1E1D-AB2D-D430FA517612}"/>
              </a:ext>
            </a:extLst>
          </p:cNvPr>
          <p:cNvSpPr/>
          <p:nvPr/>
        </p:nvSpPr>
        <p:spPr>
          <a:xfrm>
            <a:off x="3781425" y="4397375"/>
            <a:ext cx="61913" cy="71438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345905E-11A7-BB54-2DC1-F58A27417150}"/>
              </a:ext>
            </a:extLst>
          </p:cNvPr>
          <p:cNvSpPr/>
          <p:nvPr/>
        </p:nvSpPr>
        <p:spPr>
          <a:xfrm>
            <a:off x="5089525" y="5362575"/>
            <a:ext cx="61913" cy="71438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7" name="TextBox 25">
            <a:extLst>
              <a:ext uri="{FF2B5EF4-FFF2-40B4-BE49-F238E27FC236}">
                <a16:creationId xmlns:a16="http://schemas.microsoft.com/office/drawing/2014/main" id="{D9CF224E-BB99-58F9-A15E-B5CCD87BC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25" y="5181600"/>
            <a:ext cx="211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8E0EE0-68F0-294C-7958-A0C136D759E0}"/>
              </a:ext>
            </a:extLst>
          </p:cNvPr>
          <p:cNvSpPr/>
          <p:nvPr/>
        </p:nvSpPr>
        <p:spPr>
          <a:xfrm>
            <a:off x="5532438" y="5534025"/>
            <a:ext cx="37623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0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endParaRPr lang="en-US" sz="20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A5DE860-DF6D-373D-23C1-707B84433A8B}"/>
              </a:ext>
            </a:extLst>
          </p:cNvPr>
          <p:cNvCxnSpPr/>
          <p:nvPr/>
        </p:nvCxnSpPr>
        <p:spPr>
          <a:xfrm>
            <a:off x="1700213" y="4438650"/>
            <a:ext cx="54070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093E614-C509-4F5D-0100-0CC96B9CACC5}"/>
              </a:ext>
            </a:extLst>
          </p:cNvPr>
          <p:cNvCxnSpPr/>
          <p:nvPr/>
        </p:nvCxnSpPr>
        <p:spPr>
          <a:xfrm>
            <a:off x="1700213" y="6580188"/>
            <a:ext cx="54070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021" name="Picture 4">
            <a:extLst>
              <a:ext uri="{FF2B5EF4-FFF2-40B4-BE49-F238E27FC236}">
                <a16:creationId xmlns:a16="http://schemas.microsoft.com/office/drawing/2014/main" id="{9C8E6330-A0B4-2703-0C99-3D1F9ACEB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238" y="4211638"/>
            <a:ext cx="1165225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2" name="Picture 10">
            <a:extLst>
              <a:ext uri="{FF2B5EF4-FFF2-40B4-BE49-F238E27FC236}">
                <a16:creationId xmlns:a16="http://schemas.microsoft.com/office/drawing/2014/main" id="{2804830D-3271-1BF9-55B2-8699E3777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100" y="5111750"/>
            <a:ext cx="9620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5F45039-2447-8BEE-DDFB-6D4047B45607}"/>
              </a:ext>
            </a:extLst>
          </p:cNvPr>
          <p:cNvCxnSpPr/>
          <p:nvPr/>
        </p:nvCxnSpPr>
        <p:spPr>
          <a:xfrm>
            <a:off x="1630363" y="5426075"/>
            <a:ext cx="54070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24" name="TextBox 25">
            <a:extLst>
              <a:ext uri="{FF2B5EF4-FFF2-40B4-BE49-F238E27FC236}">
                <a16:creationId xmlns:a16="http://schemas.microsoft.com/office/drawing/2014/main" id="{A4D73E27-22D5-4BD8-0E8A-B6279540C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25" y="6380163"/>
            <a:ext cx="879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3025" name="TextBox 7">
            <a:extLst>
              <a:ext uri="{FF2B5EF4-FFF2-40B4-BE49-F238E27FC236}">
                <a16:creationId xmlns:a16="http://schemas.microsoft.com/office/drawing/2014/main" id="{95473D7C-2824-BC2F-1F69-2F246D269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38" y="2024063"/>
            <a:ext cx="7289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photons not experiencing collisions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while traveling along 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between depths L and 0</a:t>
            </a:r>
          </a:p>
        </p:txBody>
      </p:sp>
      <p:pic>
        <p:nvPicPr>
          <p:cNvPr id="43026" name="Picture 27">
            <a:extLst>
              <a:ext uri="{FF2B5EF4-FFF2-40B4-BE49-F238E27FC236}">
                <a16:creationId xmlns:a16="http://schemas.microsoft.com/office/drawing/2014/main" id="{35CC51FC-DE92-26AE-D86C-F17A156EE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2081213"/>
            <a:ext cx="1077912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7" name="Picture 33">
            <a:extLst>
              <a:ext uri="{FF2B5EF4-FFF2-40B4-BE49-F238E27FC236}">
                <a16:creationId xmlns:a16="http://schemas.microsoft.com/office/drawing/2014/main" id="{A61B3509-3CFA-457F-D51F-58773F1D1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2700338"/>
            <a:ext cx="116522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28" name="TextBox 7">
            <a:extLst>
              <a:ext uri="{FF2B5EF4-FFF2-40B4-BE49-F238E27FC236}">
                <a16:creationId xmlns:a16="http://schemas.microsoft.com/office/drawing/2014/main" id="{D983E548-087E-ABA1-82B4-8297A460D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2717800"/>
            <a:ext cx="7291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incident (uncollided!) intensity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(known from upper boundary condition)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33AC1067-85B6-868E-04C0-AAE80E6E6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495524A-E0D3-D7A9-D7D7-078531D3B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2F7D1E9-0017-6647-8A35-109A85E0DCC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TextBox 7">
            <a:extLst>
              <a:ext uri="{FF2B5EF4-FFF2-40B4-BE49-F238E27FC236}">
                <a16:creationId xmlns:a16="http://schemas.microsoft.com/office/drawing/2014/main" id="{B2BC2E6B-FEFB-8C07-6892-878C11DCB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225" y="693738"/>
            <a:ext cx="8850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Pictorial Illustration of the Solution to the Uncollided Problem</a:t>
            </a:r>
          </a:p>
        </p:txBody>
      </p:sp>
      <p:sp>
        <p:nvSpPr>
          <p:cNvPr id="45060" name="TextBox 7">
            <a:extLst>
              <a:ext uri="{FF2B5EF4-FFF2-40B4-BE49-F238E27FC236}">
                <a16:creationId xmlns:a16="http://schemas.microsoft.com/office/drawing/2014/main" id="{ED65BCE0-7244-5FB2-FD5E-41EACC7F5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9688" y="1169988"/>
            <a:ext cx="88503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upward directions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F54CB34-5A82-DDBB-B709-94A721BFC483}"/>
              </a:ext>
            </a:extLst>
          </p:cNvPr>
          <p:cNvSpPr/>
          <p:nvPr/>
        </p:nvSpPr>
        <p:spPr>
          <a:xfrm>
            <a:off x="5867400" y="6529388"/>
            <a:ext cx="61913" cy="71437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60A52EC-2248-7CFA-0553-16A9337395A9}"/>
              </a:ext>
            </a:extLst>
          </p:cNvPr>
          <p:cNvSpPr/>
          <p:nvPr/>
        </p:nvSpPr>
        <p:spPr>
          <a:xfrm>
            <a:off x="4689475" y="5372100"/>
            <a:ext cx="61913" cy="71438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063" name="TextBox 25">
            <a:extLst>
              <a:ext uri="{FF2B5EF4-FFF2-40B4-BE49-F238E27FC236}">
                <a16:creationId xmlns:a16="http://schemas.microsoft.com/office/drawing/2014/main" id="{FC865204-0274-2461-D95B-BB3B4077A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25" y="5181600"/>
            <a:ext cx="211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6EE773-A584-3377-2F61-F8B706191258}"/>
              </a:ext>
            </a:extLst>
          </p:cNvPr>
          <p:cNvSpPr/>
          <p:nvPr/>
        </p:nvSpPr>
        <p:spPr>
          <a:xfrm>
            <a:off x="3689350" y="4586288"/>
            <a:ext cx="376238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0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endParaRPr lang="en-US" sz="20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5C242C-E12D-4A90-6072-82F108329A36}"/>
              </a:ext>
            </a:extLst>
          </p:cNvPr>
          <p:cNvCxnSpPr/>
          <p:nvPr/>
        </p:nvCxnSpPr>
        <p:spPr>
          <a:xfrm>
            <a:off x="1616075" y="4092575"/>
            <a:ext cx="54070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76936BE-184C-EF7B-3D9B-F55C98BF64DC}"/>
              </a:ext>
            </a:extLst>
          </p:cNvPr>
          <p:cNvCxnSpPr/>
          <p:nvPr/>
        </p:nvCxnSpPr>
        <p:spPr>
          <a:xfrm>
            <a:off x="1700213" y="6580188"/>
            <a:ext cx="54070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067" name="Picture 10">
            <a:extLst>
              <a:ext uri="{FF2B5EF4-FFF2-40B4-BE49-F238E27FC236}">
                <a16:creationId xmlns:a16="http://schemas.microsoft.com/office/drawing/2014/main" id="{868BEA6F-D6EB-F29A-8AE1-051D8FA5C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100" y="5111750"/>
            <a:ext cx="9620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AC47C1A-EB9A-6114-8EA9-5752F1F76ABB}"/>
              </a:ext>
            </a:extLst>
          </p:cNvPr>
          <p:cNvCxnSpPr/>
          <p:nvPr/>
        </p:nvCxnSpPr>
        <p:spPr>
          <a:xfrm>
            <a:off x="1630363" y="5426075"/>
            <a:ext cx="54070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69" name="TextBox 25">
            <a:extLst>
              <a:ext uri="{FF2B5EF4-FFF2-40B4-BE49-F238E27FC236}">
                <a16:creationId xmlns:a16="http://schemas.microsoft.com/office/drawing/2014/main" id="{C4C791BA-20BE-9625-129A-B7523273F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25" y="6380163"/>
            <a:ext cx="879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5070" name="TextBox 7">
            <a:extLst>
              <a:ext uri="{FF2B5EF4-FFF2-40B4-BE49-F238E27FC236}">
                <a16:creationId xmlns:a16="http://schemas.microsoft.com/office/drawing/2014/main" id="{99F91F71-BC56-0EE6-4F51-161EA1C6D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38" y="2282825"/>
            <a:ext cx="7289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photons not experiencing collisions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while traveling along 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between depths 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and L</a:t>
            </a:r>
          </a:p>
        </p:txBody>
      </p:sp>
      <p:sp>
        <p:nvSpPr>
          <p:cNvPr id="45071" name="TextBox 7">
            <a:extLst>
              <a:ext uri="{FF2B5EF4-FFF2-40B4-BE49-F238E27FC236}">
                <a16:creationId xmlns:a16="http://schemas.microsoft.com/office/drawing/2014/main" id="{6CECB5E3-EA85-7717-BE5D-24BFFF093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3097213"/>
            <a:ext cx="72913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incident intensity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(known from lower boundary condition)</a:t>
            </a:r>
          </a:p>
        </p:txBody>
      </p:sp>
      <p:pic>
        <p:nvPicPr>
          <p:cNvPr id="45072" name="Picture 21">
            <a:extLst>
              <a:ext uri="{FF2B5EF4-FFF2-40B4-BE49-F238E27FC236}">
                <a16:creationId xmlns:a16="http://schemas.microsoft.com/office/drawing/2014/main" id="{33B6D191-1801-AAFD-3917-72BCF8B3F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213" y="1671638"/>
            <a:ext cx="43338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73" name="Picture 6">
            <a:extLst>
              <a:ext uri="{FF2B5EF4-FFF2-40B4-BE49-F238E27FC236}">
                <a16:creationId xmlns:a16="http://schemas.microsoft.com/office/drawing/2014/main" id="{61274833-041C-CF19-FCD3-A49113012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92350"/>
            <a:ext cx="1312863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74" name="Picture 8">
            <a:extLst>
              <a:ext uri="{FF2B5EF4-FFF2-40B4-BE49-F238E27FC236}">
                <a16:creationId xmlns:a16="http://schemas.microsoft.com/office/drawing/2014/main" id="{A9055A52-63D1-7FAE-8CF3-81A0C2B18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73400"/>
            <a:ext cx="1311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9F7D63-FEDE-93AB-EF4A-37904FC4CD2E}"/>
              </a:ext>
            </a:extLst>
          </p:cNvPr>
          <p:cNvCxnSpPr/>
          <p:nvPr/>
        </p:nvCxnSpPr>
        <p:spPr>
          <a:xfrm flipH="1" flipV="1">
            <a:off x="4065588" y="4776788"/>
            <a:ext cx="1865312" cy="1803400"/>
          </a:xfrm>
          <a:prstGeom prst="straightConnector1">
            <a:avLst/>
          </a:prstGeom>
          <a:ln w="38100">
            <a:solidFill>
              <a:srgbClr val="1B26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076" name="Picture 31">
            <a:extLst>
              <a:ext uri="{FF2B5EF4-FFF2-40B4-BE49-F238E27FC236}">
                <a16:creationId xmlns:a16="http://schemas.microsoft.com/office/drawing/2014/main" id="{A140C65C-3024-9438-BD06-38464A0A8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238" y="6364288"/>
            <a:ext cx="1311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03A1E-307D-9D25-22E8-EF24A8A33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ED25A35E-3B3A-4A4E-6E96-276D89ADC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6" y="1483730"/>
            <a:ext cx="8870179" cy="4270147"/>
          </a:xfrm>
          <a:prstGeom prst="rect">
            <a:avLst/>
          </a:prstGeom>
        </p:spPr>
      </p:pic>
      <p:sp>
        <p:nvSpPr>
          <p:cNvPr id="45057" name="Rectangle 2">
            <a:extLst>
              <a:ext uri="{FF2B5EF4-FFF2-40B4-BE49-F238E27FC236}">
                <a16:creationId xmlns:a16="http://schemas.microsoft.com/office/drawing/2014/main" id="{F0E235B1-7EF8-4F8C-2FCB-F53E8BB2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A1102F9-62D0-A66F-CD74-6D144F57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2F7D1E9-0017-6647-8A35-109A85E0DCC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TextBox 7">
            <a:extLst>
              <a:ext uri="{FF2B5EF4-FFF2-40B4-BE49-F238E27FC236}">
                <a16:creationId xmlns:a16="http://schemas.microsoft.com/office/drawing/2014/main" id="{0A2DB7F2-F02E-1522-E263-BFB9CC65C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225" y="693738"/>
            <a:ext cx="8850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</a:t>
            </a:r>
          </a:p>
        </p:txBody>
      </p:sp>
    </p:spTree>
    <p:extLst>
      <p:ext uri="{BB962C8B-B14F-4D97-AF65-F5344CB8AC3E}">
        <p14:creationId xmlns:p14="http://schemas.microsoft.com/office/powerpoint/2010/main" val="550913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115E-5E41-FD63-D361-A2A88E94E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F5CB84DA-59F5-AEFF-B7AC-4ECB32FAB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1B7F063-814E-E204-02EE-B847A7BC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2F7D1E9-0017-6647-8A35-109A85E0DCC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TextBox 7">
            <a:extLst>
              <a:ext uri="{FF2B5EF4-FFF2-40B4-BE49-F238E27FC236}">
                <a16:creationId xmlns:a16="http://schemas.microsoft.com/office/drawing/2014/main" id="{C406B37B-896B-3910-A13E-FCCEC6A1C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225" y="693738"/>
            <a:ext cx="8850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</a:t>
            </a:r>
          </a:p>
        </p:txBody>
      </p:sp>
      <p:pic>
        <p:nvPicPr>
          <p:cNvPr id="5" name="Picture 4" descr="A graph of different types of curves&#10;&#10;AI-generated content may be incorrect.">
            <a:extLst>
              <a:ext uri="{FF2B5EF4-FFF2-40B4-BE49-F238E27FC236}">
                <a16:creationId xmlns:a16="http://schemas.microsoft.com/office/drawing/2014/main" id="{0271A0A2-51F0-CDBD-5E3D-E4618C562B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5" y="1419258"/>
            <a:ext cx="9004106" cy="433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15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6959</TotalTime>
  <Words>1524</Words>
  <Application>Microsoft Macintosh PowerPoint</Application>
  <PresentationFormat>On-screen Show (4:3)</PresentationFormat>
  <Paragraphs>233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 Math</vt:lpstr>
      <vt:lpstr>Times</vt:lpstr>
      <vt:lpstr>Times New Roman</vt:lpstr>
      <vt:lpstr>Office Theme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</vt:vector>
  </TitlesOfParts>
  <Company>OAO/JPL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OAO JPL</dc:creator>
  <cp:lastModifiedBy>Myneni, Ranga</cp:lastModifiedBy>
  <cp:revision>780</cp:revision>
  <cp:lastPrinted>2019-09-03T16:52:39Z</cp:lastPrinted>
  <dcterms:created xsi:type="dcterms:W3CDTF">2012-01-16T18:47:06Z</dcterms:created>
  <dcterms:modified xsi:type="dcterms:W3CDTF">2026-03-24T16:41:09Z</dcterms:modified>
</cp:coreProperties>
</file>