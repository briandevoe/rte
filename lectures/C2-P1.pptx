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20"/>
  </p:notesMasterIdLst>
  <p:sldIdLst>
    <p:sldId id="740" r:id="rId2"/>
    <p:sldId id="712" r:id="rId3"/>
    <p:sldId id="782" r:id="rId4"/>
    <p:sldId id="783" r:id="rId5"/>
    <p:sldId id="784" r:id="rId6"/>
    <p:sldId id="785" r:id="rId7"/>
    <p:sldId id="786" r:id="rId8"/>
    <p:sldId id="758" r:id="rId9"/>
    <p:sldId id="787" r:id="rId10"/>
    <p:sldId id="788" r:id="rId11"/>
    <p:sldId id="789" r:id="rId12"/>
    <p:sldId id="790" r:id="rId13"/>
    <p:sldId id="792" r:id="rId14"/>
    <p:sldId id="791" r:id="rId15"/>
    <p:sldId id="793" r:id="rId16"/>
    <p:sldId id="777" r:id="rId17"/>
    <p:sldId id="778" r:id="rId18"/>
    <p:sldId id="779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1FF4"/>
    <a:srgbClr val="101F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57"/>
    <p:restoredTop sz="94660"/>
  </p:normalViewPr>
  <p:slideViewPr>
    <p:cSldViewPr snapToGrid="0">
      <p:cViewPr varScale="1">
        <p:scale>
          <a:sx n="127" d="100"/>
          <a:sy n="127" d="100"/>
        </p:scale>
        <p:origin x="1320" y="192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336E9D42-D229-40D7-5157-CFC8C52B9D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D5BEDFC7-8C5B-AD79-9177-2F66BDF3BB8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18CD7D1E-DEED-CE90-6C48-28E4E96A9D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468DAA47-D1C7-9CE5-8840-33D8A6110B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6BC8E3A5-6E86-0813-5A1A-D626C0AEBB7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189E6C98-0BDA-4483-54C6-5E46694755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62755BFF-C6C7-B241-80F6-D68E61EC0C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82A0-8186-4BB6-DCB8-AA85412DC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22B5EE70-94D4-9272-BFD1-B747074F11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56C75F4-7D05-FC4E-9750-536E1F11BFCE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5ED0536-1B4A-EDE3-4D6B-7931320FD3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0BB4201-0EB2-CF8B-45B6-24B896BCD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7019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23D41053-C4F6-C843-BCC4-62B6EF238F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30448C1-3584-48B2-3051-85BB56B1D7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4E448CF-751F-06E2-7121-B960C99DB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4E797-DDE5-BD9F-2E01-810F8941A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814CE3D9-E681-B298-0137-991AD9CA99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B11A692-2C9D-7883-FC6F-A40DCB34B8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FFAC9F4-4EE9-09C1-F5BA-F27ADD9DD2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599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8FB69-FBA3-DC7D-5719-2F644C1A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87395FE7-EA5B-4949-B6A3-7FC7A24F63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4036E8C-2138-A74B-0546-3A206236AC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6F05B95-8017-1497-80B5-B4F5CFD719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9197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5DA38-335C-1F30-1A1E-6CB956F3E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BBB4C68D-A17C-1BAE-2D14-A33191B9A0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195EB50C-70F5-08C3-1F21-3BC8900D1A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15D15ED-162F-FCA2-49DE-06CF5983B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290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F1CE-E2D9-FFB8-80F9-BCDB24C23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1F258CB2-3BCB-1165-AA1A-587082D11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4966193-913E-97D9-CD98-FC8CEE788D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0C3B569-7971-35B7-DC4C-280933EC51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5385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0E502-CED4-BB00-6D65-42C9D5587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9AE35F4F-9F37-B9FA-3939-0E7E7C1EF3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946DFCAC-583A-F580-3490-1A7735885D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AC70A46-4C9F-D858-92FC-149CCB218D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16195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6499C880-A41A-0938-B714-42F1380EBB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60A1C6-4DFB-1547-9688-403B47E0D6C1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65C61B1C-A96F-56C8-21AB-DDC1361042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2B6706F-3013-824E-17E4-FADB7D8B95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1FC8-12DF-7E90-F89B-D54EC0EA9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4F0FA582-1BC5-60AB-E7AD-9921D8677E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2A06CD2D-3DCE-70BE-F0D5-268CD95EE6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3394103-6D61-C0CD-BB41-1DEE73FE4A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790321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595B-54A5-34AB-6E95-25669F06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5FAA8130-34B4-9C89-4E31-811CCF2255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FBBFE95B-C5A2-D45D-EDF8-573200208E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1DC8817-E76D-0A47-9F20-BD3B074321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6389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525B-C8AE-B564-B17E-0C6EA508C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95233DC5-AF73-DE3A-D77A-9D66A25DFF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CF5CA89-CF35-F727-C8BB-90D1877270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E351BCE-9A7F-A208-6EC5-05DE814144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2457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68BC-4F0A-C253-D91A-38DF381C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D1AD64F5-1C0D-C5C4-42E0-31DF06EE84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582A993-BBB7-B245-5685-C37A6D2397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D837F21-2647-5AFD-9678-3C11F9AD0D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175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86D93-E7A2-442F-CE8B-1237B41E2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5062CB53-F08F-779F-9726-F8E469EEDA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5D60A23-B1D9-DBCC-F13F-B495B4D7F5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E7006B2-996A-094E-8859-9F347E3E36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8226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48FCE-5A35-B6CD-7E71-9F699DF3F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8C0FAA13-E515-09DF-6E0F-5C354F3691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79E25AED-36DE-C884-4E34-472A71643B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5341C50-717E-8B84-3C61-40EF4C077D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32314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7DAF1-01E8-E94F-CA64-9C06750A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D846A29B-0F0A-80AE-051B-3232915EEE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72F0776-6154-0846-BFAA-DCC3C8DE9C19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B9722EAD-2303-D19C-EC3E-D1EA2A5D1C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9CD06C7-9EE1-83FD-A66B-D9F033B85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96519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F3D02B06-1A9C-570A-C518-81FF338934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F61A14F-36A0-4A4C-A223-EE447950EB78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F9C8A559-0567-5C57-ADEF-DF799F977D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8BBB32B-9006-E7A6-92B4-3DE5D108C2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1A557473-1C30-A434-C328-E57953AD69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33B751D-3EE2-DC4E-83B8-95BF51B8DA83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EBF15A84-119C-74E6-636C-D7C26389E0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A513A6E-52C6-B4B9-8BA4-A598D10A4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BE0E822B-07B6-3EDF-E989-35EC2CABA8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6F00A27-9207-F44B-9B5B-072256EDF151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B7F12C11-3A8C-5DAF-B7AE-C9B500B4C9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71FB704-45E8-0983-D270-D5BE5B03C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8EEE0-8788-50BD-DEFA-0FFAEAD79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7A39F-CA4D-1742-A090-B974EE92BD8D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CA9F9-E1E0-6DEA-4602-759CF384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C0C98-D346-E42A-7284-DFE3FD0F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A2236-7D5D-344F-B690-23D4D0D032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034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B74F9-B6AF-EF57-49FC-A7125B54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C3187C-E850-074A-8A4C-0AFB2A8AE049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A437D-DEA7-25FC-6D19-E9EEF2663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046C5-DB0A-1A18-3AC2-42E2E610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10822F-EF54-B248-ACCD-EDD3971496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490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002E1-1AB7-85CE-BCF9-A2792BB2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56ACF-E5C7-7647-86C0-FAC1B6400112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163A5-EB9B-AED1-94EF-2EC6EE554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17A02-4CA1-2620-67D7-2DEB81F1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B4868-56E6-EA4E-A9D9-C129EAC5BB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185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26741FD-A2F4-0651-B3EE-A601BAC3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B11153-2B71-614F-9D7E-930B6EA90AB2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AE352D-439C-B7AE-5643-633962E25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C9436C-D4F1-1936-28BB-ADC60B90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1D495-9313-F44B-8BCA-C5B464027B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549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7C2F66-3FE5-F682-E359-0E960BD0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412B1F-1AF1-7E4D-8554-1E3904BBE351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107CEE0-5910-01EB-1E9A-4BB04139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FC9AF5F-93E5-E517-1C00-68C2082F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9F9DE-ADAD-7549-AA46-B318AF61CE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73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D515AA6-0C3B-6395-5915-AFA85C842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CAE77-E0EB-9540-8177-687054C3BA22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D04CC4-D4C7-B5EB-07B6-A47E64D8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3C55551-53E8-669A-929A-8443D469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AE19E-5726-B444-9BFC-D72CECDFCB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252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E6603FF-AAC6-D655-7399-CE0BF4F6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DD9422-529B-2B48-89EF-66C6656B8FC5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2757371-D555-B90C-2C1E-2C2090FA4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3B17A4-C7B1-5CD4-A4A0-2B67834D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3AB65-6AAC-0B4F-B63F-E2AA80F492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1092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4CF9C10-5EFE-7EAC-5814-DDAC397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BD4D4-B06B-6A4E-92CD-D11F0977E3DE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ABB0668-2773-6D5C-D1D4-41EA6279C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F293808-E761-82E0-7387-17B0D203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912D3-A719-4C43-8552-6C771314F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895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0EC9F45-8AD0-75FC-FC49-E7C53A290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FFB8F-55EB-1440-B190-8C0D33222183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094F3E-499C-83FF-8C6D-643A8568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A97AD8-6ADE-A333-DE3C-0D99B0F5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1577A7-A662-FA46-99D2-5EF68C342C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2745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CBA7D-5780-0A1C-F7EF-6BB94526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A1892-EE57-D44B-8982-092DCD99928E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4531E-7616-6E86-A069-AA56309E5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A29C0-2560-9634-ECE6-7A254393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18B1B3-6076-5942-A45A-B4B3D02A05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921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D7125-D085-C3BD-09AD-7E89592A8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D4C43-97AC-044B-A06D-5570C0BBD102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587AF-F63E-231B-287E-0F92EF8AA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F3079-A757-0A81-724B-A1F49DC4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C6C4A-664D-8A46-8F84-864B591728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33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8B5AA77-5F7D-B80C-1C31-14E85D15408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29CE084-066D-E217-DAE5-39CA0DCB784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9726E-0B7E-AA13-C3F8-737D19562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AE253408-C043-134A-A7B1-963A4749B782}" type="datetime1">
              <a:rPr lang="en-US"/>
              <a:pPr>
                <a:defRPr/>
              </a:pPr>
              <a:t>3/2/26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01E90-E25F-9364-35AA-77FD426D2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A1459-F681-D6F9-D99A-755AB5158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42F702DA-AACD-054A-B050-09BC62E46D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RangaBU/EE445-645-Spr2026/blob/main/C2-P1-01-Sim-Lidar.html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github.com/RangaBU/EE445-645-Spr2026/blob/main/C2-P1-02-LAD-3D.html" TargetMode="Externa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hyperlink" Target="https://github.com/RangaBU/EE445-645-Spr2026/blob/main/C2-P1-03-LAD-Profile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hyperlink" Target="https://github.com/RangaBU/EE445-645-Spr2026/blob/main/C2-P1-04-LAI.html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hyperlink" Target="https://github.com/RangaBU/EE445-645-Spr2026/blob/main/C2-P1-05-LND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hyperlink" Target="https://github.com/RangaBU/EE445-645-Spr2026/blob/main/C2-P1-06-gbarL.html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hyperlink" Target="https://github.com/RangaBU/EE445-645-Spr2026/blob/main/C2-P1-05-LND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RangaBU/EE445-645-Spr2026/blob/main/C2-P1-07-hsubL.html" TargetMode="Externa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RangaBU/EE445-645-Spr2026/blob/main/C2-P1-07-hsubL.html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RangaBU/EE445-645-Spr2026/blob/main/C2-P1-08-Conifer-Shoot.html" TargetMode="External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40B98-FAB5-FF94-5255-9FB5647F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9E22925-5879-DD13-5EA7-C57575DB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DA7BDD3-FD3C-8443-BFB5-386A14229BAA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6377F5-AF77-5F48-785A-73E765AFE90C}"/>
              </a:ext>
            </a:extLst>
          </p:cNvPr>
          <p:cNvSpPr txBox="1"/>
          <p:nvPr/>
        </p:nvSpPr>
        <p:spPr>
          <a:xfrm>
            <a:off x="1393205" y="1300329"/>
            <a:ext cx="7062818" cy="4083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Turbid Medium</a:t>
            </a:r>
            <a:endParaRPr lang="en-US" sz="1600" b="1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Lidar Scanning of Vegetation Canopies</a:t>
            </a:r>
            <a:endParaRPr lang="en-US" sz="1600" b="1" dirty="0"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tx1"/>
                </a:solidFill>
                <a:cs typeface="Times New Roman" panose="02020603050405020304" pitchFamily="18" charset="0"/>
              </a:rPr>
              <a:t>Simulated Lidar Cloud of Foliage: Temperature Forest</a:t>
            </a:r>
          </a:p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Leaf Area Density</a:t>
            </a:r>
            <a:endParaRPr lang="en-US" sz="1600" b="1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Vertical Profile of LAD</a:t>
            </a:r>
          </a:p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Leaf Area Index</a:t>
            </a:r>
          </a:p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Leaf Normal Distribution Function</a:t>
            </a:r>
          </a:p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Leaf Normal Inclination and Azimuthal Distribution Functions</a:t>
            </a:r>
          </a:p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Models for Leaf Normal Inclination Distribution Function</a:t>
            </a:r>
          </a:p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a typeface="MS Mincho" panose="02020609040205080304" pitchFamily="49" charset="-128"/>
                <a:cs typeface="Times New Roman" panose="02020603050405020304" pitchFamily="18" charset="0"/>
              </a:rPr>
              <a:t>Models for Leaf Normal Azimuthal Distribution Function</a:t>
            </a:r>
          </a:p>
          <a:p>
            <a:pPr marL="285750" marR="0" indent="-285750" algn="just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  <a:effectLst/>
                <a:ea typeface="MS Mincho" panose="02020609040205080304" pitchFamily="49" charset="-128"/>
                <a:cs typeface="Times New Roman" panose="02020603050405020304" pitchFamily="18" charset="0"/>
              </a:rPr>
              <a:t>Case of Needle Canopies</a:t>
            </a:r>
            <a:endParaRPr lang="en-US" sz="1600" b="1" dirty="0">
              <a:effectLst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D28CC-E475-419A-DF79-3D5865F74B53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9144000" cy="654051"/>
          </a:xfrm>
          <a:prstGeom prst="rect">
            <a:avLst/>
          </a:prstGeom>
          <a:solidFill>
            <a:srgbClr val="1C80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ＭＳ Ｐゴシック" pitchFamily="-110" charset="-128"/>
                <a:cs typeface="ＭＳ Ｐゴシック" pitchFamily="-110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pitchFamily="-110" charset="-128"/>
                <a:cs typeface="ＭＳ Ｐゴシック" pitchFamily="-11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pitchFamily="-110" charset="-128"/>
                <a:cs typeface="ＭＳ Ｐゴシック" pitchFamily="-11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pitchFamily="-110" charset="-128"/>
                <a:cs typeface="ＭＳ Ｐゴシック" pitchFamily="-11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pitchFamily="-110" charset="-128"/>
                <a:cs typeface="ＭＳ Ｐゴシック" pitchFamily="-11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545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95C0B428-757C-6BC0-B574-9A41F31A1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CDDB30F-991C-D43D-6600-97C7CF3D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2C923553-647B-EAC9-956A-46982AA4F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09" y="649288"/>
            <a:ext cx="2571931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Turbid medium</a:t>
            </a: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055B2788-853D-9BFC-978B-5712E685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9" y="3816128"/>
            <a:ext cx="8767762" cy="2505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Canopies of natural vegetation exhibit significant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structure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Trying to capture this complexity and dynamic is a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not impossible, task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vegetation canopy is idealized as a medium filled densely with small planar elements of negligible thickness and area, i.e., a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turbid medium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green gas.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abstraction ignores all organs other than green leaves. It captures the most significant aspect of the canopy that plays a central role in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exchanges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energy, mass and momentum with the overlying boundary layer.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key variables,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area density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normal orientation distribution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capture characteristics of the vegetation canopy in this context.</a:t>
            </a:r>
          </a:p>
        </p:txBody>
      </p:sp>
      <p:pic>
        <p:nvPicPr>
          <p:cNvPr id="1026" name="Picture 2" descr="86,300+ Forest Canopies Stock Photos, Pictures &amp; Royalty-Free Images -  iStock">
            <a:extLst>
              <a:ext uri="{FF2B5EF4-FFF2-40B4-BE49-F238E27FC236}">
                <a16:creationId xmlns:a16="http://schemas.microsoft.com/office/drawing/2014/main" id="{C41FEF65-06AB-7626-4C49-453809BB4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3" y="1113586"/>
            <a:ext cx="3742577" cy="249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olorful cloud in a glass box&#10;&#10;AI-generated content may be incorrect.">
            <a:extLst>
              <a:ext uri="{FF2B5EF4-FFF2-40B4-BE49-F238E27FC236}">
                <a16:creationId xmlns:a16="http://schemas.microsoft.com/office/drawing/2014/main" id="{89C78F83-E8FD-1C16-A6F1-F2A5A90EB2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113586"/>
            <a:ext cx="4485061" cy="24950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8A19-18AE-7DCF-09B0-463A12637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68081DB3-D988-974D-4FE0-F6B363501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84F7270-401C-381D-D4D7-13F7D83B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2B4C9E4E-E38C-088D-2118-1F8039233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649288"/>
            <a:ext cx="46532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Scanning of Vegetation Canopies</a:t>
            </a: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6382CAE8-4C5B-529F-B6B6-B1B66D3D3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9" y="4969316"/>
            <a:ext cx="8767762" cy="1471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Airborne or ground based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Lidar scanning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to recreate vegetation canopies.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scans can be converted into precise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foliage elements in the canopy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reconstructed canopies not only look realistic but accurately represent the 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spatial distribution of foliage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canopy space</a:t>
            </a:r>
          </a:p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extremely useful in studies of vegetation structure, biomass, carbon, hydrology etc.</a:t>
            </a:r>
          </a:p>
        </p:txBody>
      </p:sp>
      <p:pic>
        <p:nvPicPr>
          <p:cNvPr id="5" name="Picture 4" descr="A close-up of a tree&#10;&#10;AI-generated content may be incorrect.">
            <a:extLst>
              <a:ext uri="{FF2B5EF4-FFF2-40B4-BE49-F238E27FC236}">
                <a16:creationId xmlns:a16="http://schemas.microsoft.com/office/drawing/2014/main" id="{B30968B1-072F-B111-4A19-63ED8BF57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38" y="1171055"/>
            <a:ext cx="5931780" cy="3293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3D4FED-3A69-5098-5006-40B4CE1483B2}"/>
              </a:ext>
            </a:extLst>
          </p:cNvPr>
          <p:cNvSpPr txBox="1"/>
          <p:nvPr/>
        </p:nvSpPr>
        <p:spPr>
          <a:xfrm>
            <a:off x="1959482" y="4540731"/>
            <a:ext cx="50032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Santopuoli, G. et al., (2020). Remote Sensing. 12. 1-19. 10.3390/rs12132142. </a:t>
            </a:r>
          </a:p>
        </p:txBody>
      </p:sp>
    </p:spTree>
    <p:extLst>
      <p:ext uri="{BB962C8B-B14F-4D97-AF65-F5344CB8AC3E}">
        <p14:creationId xmlns:p14="http://schemas.microsoft.com/office/powerpoint/2010/main" val="3149689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6563-CC75-7AAE-636B-6C0CAB02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660FCB9-342A-56CC-C3E3-1E3D152BF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D0B821A-A684-D3D0-006A-3AF02CA0B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99E27B1F-098F-D394-0242-605B50820A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649288"/>
            <a:ext cx="76054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Simulated Lidar Cloud of Foliage: Temperature Forest</a:t>
            </a: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5F3A0933-3BEB-D3B5-AAA7-F6EFDD578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19" y="5241012"/>
            <a:ext cx="8767762" cy="1471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/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Plot dimensions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120 x 60 m</a:t>
            </a:r>
          </a:p>
          <a:p>
            <a:pPr algn="just"/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density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500 Individual trees, ~700 trees/ha, random tree location, 10 broadleaf deciduous species</a:t>
            </a:r>
          </a:p>
          <a:p>
            <a:pPr algn="just"/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area index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3.84 (each leaf of about 0.0411 m</a:t>
            </a:r>
            <a:r>
              <a:rPr lang="en-US" alt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750,000 to 850,000 points (700,000 leaf points, rest for other foliage elements)</a:t>
            </a:r>
          </a:p>
        </p:txBody>
      </p:sp>
      <p:pic>
        <p:nvPicPr>
          <p:cNvPr id="4" name="Picture 3" descr="A green object with lines and a black background&#10;&#10;AI-generated content may be incorrect.">
            <a:extLst>
              <a:ext uri="{FF2B5EF4-FFF2-40B4-BE49-F238E27FC236}">
                <a16:creationId xmlns:a16="http://schemas.microsoft.com/office/drawing/2014/main" id="{1CB551C1-407B-2FB6-9296-9A94C6A4A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867" y="1049398"/>
            <a:ext cx="4405533" cy="3676064"/>
          </a:xfrm>
          <a:prstGeom prst="rect">
            <a:avLst/>
          </a:prstGeom>
        </p:spPr>
      </p:pic>
      <p:pic>
        <p:nvPicPr>
          <p:cNvPr id="8" name="Picture 7" descr="A green smoke in a rectangular box&#10;&#10;AI-generated content may be incorrect.">
            <a:extLst>
              <a:ext uri="{FF2B5EF4-FFF2-40B4-BE49-F238E27FC236}">
                <a16:creationId xmlns:a16="http://schemas.microsoft.com/office/drawing/2014/main" id="{E8CD57A1-710A-0732-E016-880ED07749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19" y="1049398"/>
            <a:ext cx="4265465" cy="27394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43F9C1-6020-E064-C4E7-5BB2A98DA8CA}"/>
              </a:ext>
            </a:extLst>
          </p:cNvPr>
          <p:cNvSpPr txBox="1"/>
          <p:nvPr/>
        </p:nvSpPr>
        <p:spPr>
          <a:xfrm>
            <a:off x="557579" y="4135075"/>
            <a:ext cx="352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5"/>
              </a:rPr>
              <a:t>Simulated Temperate Forest Lidar Scans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06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83B1-C0DD-6454-9A69-2D4C4E892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19E0A17E-CB68-B95E-E599-6C394513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153828C-67C7-FB86-C5FF-26413F3D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4D4DF667-0AAA-ED45-A1C0-ABC215DD1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649288"/>
            <a:ext cx="76054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Area Density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TextBox 4">
                <a:extLst>
                  <a:ext uri="{FF2B5EF4-FFF2-40B4-BE49-F238E27FC236}">
                    <a16:creationId xmlns:a16="http://schemas.microsoft.com/office/drawing/2014/main" id="{CFF36640-5501-A5FC-508F-482BE57D9A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119" y="5401413"/>
                <a:ext cx="8767762" cy="12249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971550" indent="-3429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area density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r>
                  <a:rPr lang="en-US" altLang="en-US" sz="1600" dirty="0">
                    <a:solidFill>
                      <a:srgbClr val="383A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Broadleaf leaf canopies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one-sided green leaf area per unit volume </a:t>
                </a:r>
              </a:p>
              <a:p>
                <a:r>
                  <a:rPr lang="en-US" altLang="en-US" sz="1600" dirty="0">
                    <a:solidFill>
                      <a:srgbClr val="383A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Needle leaf canopies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hemi-surface (half-of-total) green needle surface area per unit volume</a:t>
                </a:r>
              </a:p>
              <a:p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m</a:t>
                </a:r>
                <a:r>
                  <a:rPr lang="en-US" altLang="en-US" sz="1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leaf area per m</a:t>
                </a:r>
                <a:r>
                  <a:rPr lang="en-US" altLang="en-US" sz="1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volume (m</a:t>
                </a:r>
                <a:r>
                  <a:rPr lang="en-US" altLang="en-US" sz="1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4340" name="TextBox 4">
                <a:extLst>
                  <a:ext uri="{FF2B5EF4-FFF2-40B4-BE49-F238E27FC236}">
                    <a16:creationId xmlns:a16="http://schemas.microsoft.com/office/drawing/2014/main" id="{CFF36640-5501-A5FC-508F-482BE57D9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119" y="5401413"/>
                <a:ext cx="8767762" cy="1224951"/>
              </a:xfrm>
              <a:prstGeom prst="rect">
                <a:avLst/>
              </a:prstGeom>
              <a:blipFill>
                <a:blip r:embed="rId3"/>
                <a:stretch>
                  <a:fillRect l="-289" t="-5155" b="-61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9B3AC4D-5ED0-E5D2-04F5-29092F22A88E}"/>
              </a:ext>
            </a:extLst>
          </p:cNvPr>
          <p:cNvSpPr txBox="1"/>
          <p:nvPr/>
        </p:nvSpPr>
        <p:spPr>
          <a:xfrm>
            <a:off x="1412207" y="3715975"/>
            <a:ext cx="970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4"/>
              </a:rPr>
              <a:t>LAD-3D</a:t>
            </a:r>
            <a:endParaRPr lang="en-US" sz="1600" dirty="0">
              <a:solidFill>
                <a:srgbClr val="C00000"/>
              </a:solidFill>
            </a:endParaRPr>
          </a:p>
        </p:txBody>
      </p:sp>
      <p:pic>
        <p:nvPicPr>
          <p:cNvPr id="5" name="Picture 4" descr="A graph of data in a box&#10;&#10;AI-generated content may be incorrect.">
            <a:extLst>
              <a:ext uri="{FF2B5EF4-FFF2-40B4-BE49-F238E27FC236}">
                <a16:creationId xmlns:a16="http://schemas.microsoft.com/office/drawing/2014/main" id="{221E8102-6D83-8E80-B541-48C26B46FE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441" y="710844"/>
            <a:ext cx="5388960" cy="3608607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7B618DB6-12B7-6142-D96D-337E33EF5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966819" y="1452453"/>
            <a:ext cx="686622" cy="1931851"/>
          </a:xfrm>
          <a:prstGeom prst="rect">
            <a:avLst/>
          </a:prstGeom>
        </p:spPr>
      </p:pic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6DD63B1-5D70-CAA9-A7EC-3A4B0C009D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80" y="1703449"/>
            <a:ext cx="2572839" cy="1438577"/>
          </a:xfrm>
          <a:prstGeom prst="rect">
            <a:avLst/>
          </a:prstGeom>
        </p:spPr>
      </p:pic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794981A6-5035-65EE-1782-CDB6752A28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992317"/>
              </p:ext>
            </p:extLst>
          </p:nvPr>
        </p:nvGraphicFramePr>
        <p:xfrm>
          <a:off x="3904343" y="4381007"/>
          <a:ext cx="18446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8" imgW="3327400" imgH="1727200" progId="Word.Picture.8">
                  <p:embed/>
                </p:oleObj>
              </mc:Choice>
              <mc:Fallback>
                <p:oleObj name="Picture" r:id="rId8" imgW="3327400" imgH="1727200" progId="Word.Picture.8">
                  <p:embed/>
                  <p:pic>
                    <p:nvPicPr>
                      <p:cNvPr id="18439" name="Object 2">
                        <a:extLst>
                          <a:ext uri="{FF2B5EF4-FFF2-40B4-BE49-F238E27FC236}">
                            <a16:creationId xmlns:a16="http://schemas.microsoft.com/office/drawing/2014/main" id="{ABD99FBC-3AEA-06A1-6F35-301AB86430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4343" y="4381007"/>
                        <a:ext cx="184467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2844EAE-C52A-A8A7-5502-20722FD6F236}"/>
              </a:ext>
            </a:extLst>
          </p:cNvPr>
          <p:cNvCxnSpPr>
            <a:cxnSpLocks/>
          </p:cNvCxnSpPr>
          <p:nvPr/>
        </p:nvCxnSpPr>
        <p:spPr>
          <a:xfrm flipH="1">
            <a:off x="5224871" y="2392417"/>
            <a:ext cx="2055495" cy="208054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407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BE665-FDC9-B21E-B991-9F0EF87E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063B6906-E598-FC66-C67B-E1BA3128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4078188-273E-2331-A637-0E6A7982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588B04B0-3F3C-C0CB-A35F-BF6331862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649288"/>
            <a:ext cx="34776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 Profile of LAD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TextBox 4">
                <a:extLst>
                  <a:ext uri="{FF2B5EF4-FFF2-40B4-BE49-F238E27FC236}">
                    <a16:creationId xmlns:a16="http://schemas.microsoft.com/office/drawing/2014/main" id="{E263F217-53FF-BAC6-8CE8-FF60341841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119" y="4605492"/>
                <a:ext cx="8767762" cy="21429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971550" indent="-3429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indent="0"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vertical profile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leaf area density evaluated as,</a:t>
                </a:r>
              </a:p>
              <a:p>
                <a:pPr marL="0" indent="0"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nary>
                      <m:naryPr>
                        <m:limLoc m:val="undOvr"/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  <m:sup/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altLang="en-US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sub>
                      <m:sup/>
                      <m:e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𝑑𝑦</m:t>
                        </m:r>
                      </m:e>
                    </m:nary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shown above for the simulated forest in previous slides. It depicts the average distribution of leaf area in the canopy along the vertical. Most of the foliage is located at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about 60%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total height above the ground. The second peak towards the bottom of the canopy represents leaf area from the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understory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340" name="TextBox 4">
                <a:extLst>
                  <a:ext uri="{FF2B5EF4-FFF2-40B4-BE49-F238E27FC236}">
                    <a16:creationId xmlns:a16="http://schemas.microsoft.com/office/drawing/2014/main" id="{E263F217-53FF-BAC6-8CE8-FF6034184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119" y="4605492"/>
                <a:ext cx="8767762" cy="2142959"/>
              </a:xfrm>
              <a:prstGeom prst="rect">
                <a:avLst/>
              </a:prstGeom>
              <a:blipFill>
                <a:blip r:embed="rId3"/>
                <a:stretch>
                  <a:fillRect l="-289" t="-588" b="-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7DC11AB-9F00-F738-2045-DF119B2F7AA1}"/>
              </a:ext>
            </a:extLst>
          </p:cNvPr>
          <p:cNvSpPr txBox="1"/>
          <p:nvPr/>
        </p:nvSpPr>
        <p:spPr>
          <a:xfrm>
            <a:off x="905692" y="2393145"/>
            <a:ext cx="1271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4"/>
              </a:rPr>
              <a:t>LAD-Profile</a:t>
            </a:r>
            <a:endParaRPr lang="en-US" sz="1600" dirty="0">
              <a:solidFill>
                <a:srgbClr val="C00000"/>
              </a:solidFill>
            </a:endParaRPr>
          </a:p>
        </p:txBody>
      </p:sp>
      <p:pic>
        <p:nvPicPr>
          <p:cNvPr id="4" name="Picture 3" descr="A graph of a leaf area density&#10;&#10;AI-generated content may be incorrect.">
            <a:extLst>
              <a:ext uri="{FF2B5EF4-FFF2-40B4-BE49-F238E27FC236}">
                <a16:creationId xmlns:a16="http://schemas.microsoft.com/office/drawing/2014/main" id="{6F6A297C-1227-9993-C56B-2553358242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491" y="739555"/>
            <a:ext cx="6409509" cy="398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80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6356F-66A0-527C-2CD1-DDB93A32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and yellow squares&#10;&#10;AI-generated content may be incorrect.">
            <a:extLst>
              <a:ext uri="{FF2B5EF4-FFF2-40B4-BE49-F238E27FC236}">
                <a16:creationId xmlns:a16="http://schemas.microsoft.com/office/drawing/2014/main" id="{FCC6B36A-B02E-33E8-BC65-33B09767CA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8856"/>
            <a:ext cx="4572000" cy="2146549"/>
          </a:xfrm>
          <a:prstGeom prst="rect">
            <a:avLst/>
          </a:prstGeom>
        </p:spPr>
      </p:pic>
      <p:sp>
        <p:nvSpPr>
          <p:cNvPr id="14337" name="Rectangle 2">
            <a:extLst>
              <a:ext uri="{FF2B5EF4-FFF2-40B4-BE49-F238E27FC236}">
                <a16:creationId xmlns:a16="http://schemas.microsoft.com/office/drawing/2014/main" id="{65C4D721-9E2F-158F-B9DD-ED8CE336C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3B486DF0-878E-FC60-E83A-AD4CEE13D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B59E7051-F061-81CF-BCF3-4137F457F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649288"/>
            <a:ext cx="22410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Area Index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TextBox 4">
                <a:extLst>
                  <a:ext uri="{FF2B5EF4-FFF2-40B4-BE49-F238E27FC236}">
                    <a16:creationId xmlns:a16="http://schemas.microsoft.com/office/drawing/2014/main" id="{F770A1B8-8B1F-250A-CC50-3D2E7B29EB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25" y="4156087"/>
                <a:ext cx="9048750" cy="24167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971550" indent="-3429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just"/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area index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LAI (</a:t>
                </a:r>
                <a:r>
                  <a:rPr lang="en-US" altLang="en-US" sz="16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</a:t>
                </a:r>
                <a:r>
                  <a:rPr lang="en-US" alt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nary>
                      <m:nary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sup>
                      <m:e>
                        <m:sSub>
                          <m:sSub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6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en-US" sz="1600" dirty="0">
                    <a:solidFill>
                      <a:srgbClr val="383A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Broadleaf leaf canopies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one-sided green leaf area per unit ground area </a:t>
                </a:r>
              </a:p>
              <a:p>
                <a:pPr algn="just"/>
                <a:r>
                  <a:rPr lang="en-US" altLang="en-US" sz="1600" dirty="0">
                    <a:solidFill>
                      <a:srgbClr val="383A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Needle leaf canopies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half-of-total green needle surface area per unit ground area</a:t>
                </a:r>
              </a:p>
              <a:p>
                <a:pPr algn="just"/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Units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 m</a:t>
                </a:r>
                <a:r>
                  <a:rPr lang="en-US" altLang="en-US" sz="1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leaf area per m</a:t>
                </a:r>
                <a:r>
                  <a:rPr lang="en-US" altLang="en-US" sz="16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ground area (dimensionless)</a:t>
                </a:r>
              </a:p>
              <a:p>
                <a:pPr algn="just"/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Leaves play the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central role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exchange of energy, mass (CO2, H2O, Volatile Organic Compounds, etc.) and momentum between the vegetated surface and the boundary layer. </a:t>
                </a:r>
              </a:p>
              <a:p>
                <a:pPr algn="just"/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knowing LAI is key to quantifying the role of vegetation in the global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climate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biogeochemical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cycles</a:t>
                </a:r>
              </a:p>
            </p:txBody>
          </p:sp>
        </mc:Choice>
        <mc:Fallback xmlns="">
          <p:sp>
            <p:nvSpPr>
              <p:cNvPr id="14340" name="TextBox 4">
                <a:extLst>
                  <a:ext uri="{FF2B5EF4-FFF2-40B4-BE49-F238E27FC236}">
                    <a16:creationId xmlns:a16="http://schemas.microsoft.com/office/drawing/2014/main" id="{F770A1B8-8B1F-250A-CC50-3D2E7B29E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25" y="4156087"/>
                <a:ext cx="9048750" cy="2416752"/>
              </a:xfrm>
              <a:prstGeom prst="rect">
                <a:avLst/>
              </a:prstGeom>
              <a:blipFill>
                <a:blip r:embed="rId4"/>
                <a:stretch>
                  <a:fillRect l="-280" t="-17277" r="-280" b="-1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6FC44E2-263A-9C43-6E2C-77C66CDD04EF}"/>
              </a:ext>
            </a:extLst>
          </p:cNvPr>
          <p:cNvSpPr txBox="1"/>
          <p:nvPr/>
        </p:nvSpPr>
        <p:spPr>
          <a:xfrm>
            <a:off x="2048610" y="3316419"/>
            <a:ext cx="5879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5"/>
              </a:rPr>
              <a:t>LAI</a:t>
            </a:r>
            <a:endParaRPr lang="en-US" sz="1600" dirty="0">
              <a:solidFill>
                <a:srgbClr val="C00000"/>
              </a:solidFill>
            </a:endParaRPr>
          </a:p>
        </p:txBody>
      </p:sp>
      <p:pic>
        <p:nvPicPr>
          <p:cNvPr id="4" name="Picture 3" descr="A colorful rainbow colored crystals&#10;&#10;AI-generated content may be incorrect.">
            <a:extLst>
              <a:ext uri="{FF2B5EF4-FFF2-40B4-BE49-F238E27FC236}">
                <a16:creationId xmlns:a16="http://schemas.microsoft.com/office/drawing/2014/main" id="{BD8E0869-D494-B9CF-DD32-0EB3EBC593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5840" y="849343"/>
            <a:ext cx="4511112" cy="260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59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2EFBE2FD-34BD-EB04-2E6F-55C055ADE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</a:t>
            </a:r>
            <a:r>
              <a:rPr lang="en-US" alt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CanopyStructure</a:t>
            </a: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99A1144-B9B4-3350-AF54-A8F99A41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B7F2C9C4-5062-8A40-8E7C-6D6C22C5D727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TextBox 7">
            <a:extLst>
              <a:ext uri="{FF2B5EF4-FFF2-40B4-BE49-F238E27FC236}">
                <a16:creationId xmlns:a16="http://schemas.microsoft.com/office/drawing/2014/main" id="{9690FAAE-3317-38BF-5238-C9F45E642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649288"/>
            <a:ext cx="8550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Leaf Area Index:</a:t>
            </a:r>
          </a:p>
        </p:txBody>
      </p:sp>
      <p:pic>
        <p:nvPicPr>
          <p:cNvPr id="24580" name="Picture 2" descr="http://cliveg.bu.edu/images/lai.jpg">
            <a:extLst>
              <a:ext uri="{FF2B5EF4-FFF2-40B4-BE49-F238E27FC236}">
                <a16:creationId xmlns:a16="http://schemas.microsoft.com/office/drawing/2014/main" id="{822384CB-A78E-19EF-93B2-1CF46DA21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38" y="1303338"/>
            <a:ext cx="5749925" cy="384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Rectangle 2">
            <a:extLst>
              <a:ext uri="{FF2B5EF4-FFF2-40B4-BE49-F238E27FC236}">
                <a16:creationId xmlns:a16="http://schemas.microsoft.com/office/drawing/2014/main" id="{97D7135B-1BE6-30E2-106D-9236C6EB8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8" y="5402263"/>
            <a:ext cx="8823325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distribution of </a:t>
            </a:r>
            <a:r>
              <a:rPr lang="en-US" altLang="en-US" sz="18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annual average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vegetation green leaf area index 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L(</a:t>
            </a:r>
            <a:r>
              <a:rPr lang="en-US" alt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1 km resolution derived from </a:t>
            </a:r>
            <a:r>
              <a:rPr lang="en-US" altLang="en-US" sz="18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measurements of surface reflectances using the Knyazikhin algorithm.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4F51F-B6E1-54A8-E8DF-2D4B9F5D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115A597F-C83C-8D6F-217B-59634CA6D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258E7E6-FEFC-0E79-ADAF-C01269219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568439AE-956A-6C0A-07BE-4E16023BB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649288"/>
            <a:ext cx="426139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Normal Distribution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TextBox 4">
                <a:extLst>
                  <a:ext uri="{FF2B5EF4-FFF2-40B4-BE49-F238E27FC236}">
                    <a16:creationId xmlns:a16="http://schemas.microsoft.com/office/drawing/2014/main" id="{F6704C80-4E99-7BA8-C097-B1CF53DF7C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304" y="4184824"/>
                <a:ext cx="7650752" cy="18238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971550" indent="-3429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indent="0">
                  <a:buNone/>
                </a:pPr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sz="1600" i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denote the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</a:t>
                </a:r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the leaf surface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en-US" sz="160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denote the probability density function (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pdf</a:t>
                </a:r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of leaf normal distribution</a:t>
                </a:r>
              </a:p>
              <a:p>
                <a:pPr marL="0" indent="0">
                  <a:buNone/>
                </a:pPr>
                <a:endParaRPr lang="en-US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 that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nary>
                    <m:bar>
                      <m:bar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1</a:t>
                </a:r>
                <a:endParaRPr lang="en-US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340" name="TextBox 4">
                <a:extLst>
                  <a:ext uri="{FF2B5EF4-FFF2-40B4-BE49-F238E27FC236}">
                    <a16:creationId xmlns:a16="http://schemas.microsoft.com/office/drawing/2014/main" id="{F6704C80-4E99-7BA8-C097-B1CF53DF7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304" y="4184824"/>
                <a:ext cx="7650752" cy="1823833"/>
              </a:xfrm>
              <a:prstGeom prst="rect">
                <a:avLst/>
              </a:prstGeom>
              <a:blipFill>
                <a:blip r:embed="rId3"/>
                <a:stretch>
                  <a:fillRect l="-331" t="-690" b="-3517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01CC0D8-3953-0940-4F7D-F3704EFF4EE2}"/>
              </a:ext>
            </a:extLst>
          </p:cNvPr>
          <p:cNvSpPr txBox="1"/>
          <p:nvPr/>
        </p:nvSpPr>
        <p:spPr>
          <a:xfrm>
            <a:off x="2360023" y="2191245"/>
            <a:ext cx="2481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4"/>
              </a:rPr>
              <a:t>Geometry of Leaf Normals</a:t>
            </a:r>
            <a:endParaRPr lang="en-US" sz="1600" dirty="0">
              <a:solidFill>
                <a:srgbClr val="C00000"/>
              </a:solidFill>
            </a:endParaRPr>
          </a:p>
        </p:txBody>
      </p:sp>
      <p:pic>
        <p:nvPicPr>
          <p:cNvPr id="7" name="Picture 6" descr="A green sphere with arrows and lines&#10;&#10;AI-generated content may be incorrect.">
            <a:extLst>
              <a:ext uri="{FF2B5EF4-FFF2-40B4-BE49-F238E27FC236}">
                <a16:creationId xmlns:a16="http://schemas.microsoft.com/office/drawing/2014/main" id="{F5E0AB2A-C839-736A-F727-A1AF58424F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647" y="684743"/>
            <a:ext cx="3712754" cy="370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73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981D1-AB38-A598-BA76-90647647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31962EDA-08DE-D511-90D7-898D427ED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A22AA7B-A54B-68D4-30E3-E43504D3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6C90CFA2-06FA-D19B-FC3D-4736285AA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9" y="649288"/>
            <a:ext cx="77796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Normal Inclination and Azimuthal Distribution Functions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40" name="TextBox 4">
                <a:extLst>
                  <a:ext uri="{FF2B5EF4-FFF2-40B4-BE49-F238E27FC236}">
                    <a16:creationId xmlns:a16="http://schemas.microsoft.com/office/drawing/2014/main" id="{783B258C-F43E-8152-3970-68E21BA5DE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071" y="1303339"/>
                <a:ext cx="8681857" cy="35001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342900" indent="-3429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971550" indent="-3429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assume that the two variates,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are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independent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</a:t>
                </a:r>
              </a:p>
              <a:p>
                <a:pPr marL="0" indent="0" algn="just"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  <a:p>
                <a:pPr marL="0" indent="0" algn="just">
                  <a:buNone/>
                </a:pPr>
                <a:endParaRPr lang="en-US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en-US" sz="1600" i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the leaf normal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azimuthal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 function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the leaf normal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inclination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distribution function. The two functions satisfy the normalization:</a:t>
                </a:r>
              </a:p>
              <a:p>
                <a:pPr marL="0" indent="0" algn="just">
                  <a:buNone/>
                </a:pPr>
                <a:endParaRPr lang="en-US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p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</m:nary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)= 1 ,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/2</m:t>
                        </m:r>
                      </m:sup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</m:nary>
                    <m:bar>
                      <m:barPr>
                        <m:pos m:val="top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en-US" sz="16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sin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600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1 .</a:t>
                </a:r>
              </a:p>
              <a:p>
                <a:pPr marL="0" indent="0" algn="just">
                  <a:buNone/>
                </a:pPr>
                <a:endParaRPr lang="en-US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functions,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will depend on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location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canopy, but this has been suppressed for clarity.</a:t>
                </a:r>
              </a:p>
            </p:txBody>
          </p:sp>
        </mc:Choice>
        <mc:Fallback>
          <p:sp>
            <p:nvSpPr>
              <p:cNvPr id="14340" name="TextBox 4">
                <a:extLst>
                  <a:ext uri="{FF2B5EF4-FFF2-40B4-BE49-F238E27FC236}">
                    <a16:creationId xmlns:a16="http://schemas.microsoft.com/office/drawing/2014/main" id="{783B258C-F43E-8152-3970-68E21BA5D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071" y="1303339"/>
                <a:ext cx="8681857" cy="3500125"/>
              </a:xfrm>
              <a:prstGeom prst="rect">
                <a:avLst/>
              </a:prstGeom>
              <a:blipFill>
                <a:blip r:embed="rId3"/>
                <a:stretch>
                  <a:fillRect l="-439" t="-361" r="-439" b="-14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8001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5A204-0D90-6AF8-10B7-ED483AB0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847FB01D-04F7-AE57-A94F-3C5A8B4D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DA731D0-1C6D-8AF1-9B0C-93DA9A458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3AEC4E69-FB82-EC54-8D62-2B3C911861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9" y="587742"/>
            <a:ext cx="77796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for Leaf Normal Inclination Distribution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">
                <a:extLst>
                  <a:ext uri="{FF2B5EF4-FFF2-40B4-BE49-F238E27FC236}">
                    <a16:creationId xmlns:a16="http://schemas.microsoft.com/office/drawing/2014/main" id="{E426F0BF-792A-07CD-3AE0-2BC17A20FC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625" y="4150490"/>
                <a:ext cx="8845396" cy="24792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285750" indent="-285750">
                  <a:spcBef>
                    <a:spcPct val="0"/>
                  </a:spcBef>
                </a:pP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Uniform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        All inclinations equally probable: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1</a:t>
                </a:r>
              </a:p>
              <a:p>
                <a:pPr marL="285750" indent="-285750">
                  <a:spcBef>
                    <a:spcPct val="0"/>
                  </a:spcBef>
                </a:pPr>
                <a:r>
                  <a:rPr lang="en-US" altLang="en-US" sz="1600" dirty="0" err="1">
                    <a:solidFill>
                      <a:srgbClr val="233A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Planophile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     Mostly horizontal leaves: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3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ct val="0"/>
                  </a:spcBef>
                </a:pPr>
                <a:r>
                  <a:rPr lang="en-US" altLang="en-US" sz="1600" dirty="0" err="1">
                    <a:solidFill>
                      <a:srgbClr val="233A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Erectophile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    Mostly erect leaves: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ct val="0"/>
                  </a:spcBef>
                </a:pPr>
                <a:r>
                  <a:rPr lang="en-US" altLang="en-US" sz="1600" dirty="0" err="1">
                    <a:solidFill>
                      <a:srgbClr val="233A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Plagiophile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    Mostly leaves at 45 degrees: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num>
                      <m:den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den>
                    </m:f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𝑠𝑖𝑛</m:t>
                        </m:r>
                      </m:e>
                      <m:sup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ct val="0"/>
                  </a:spcBef>
                </a:pPr>
                <a:r>
                  <a:rPr lang="en-US" altLang="en-US" sz="1600" dirty="0">
                    <a:solidFill>
                      <a:srgbClr val="233A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Extremophile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 Mostly horizontal and vertical leaves: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num>
                      <m:den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den>
                    </m:f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2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ct val="0"/>
                  </a:spcBef>
                </a:pPr>
                <a:r>
                  <a:rPr lang="en-US" altLang="en-US" sz="1600" dirty="0">
                    <a:solidFill>
                      <a:srgbClr val="233A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Spherical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       Leaf normal distributed as on a sphere: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spcBef>
                    <a:spcPct val="0"/>
                  </a:spcBef>
                </a:pPr>
                <a:r>
                  <a:rPr lang="en-US" altLang="en-US" sz="1600" dirty="0">
                    <a:solidFill>
                      <a:srgbClr val="15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Constant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        All leaf normals have a constant inclination angle,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,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6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r>
                      <a:rPr lang="en-US" alt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r>
                      <a:rPr lang="en-US" alt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𝛿</m:t>
                    </m:r>
                    <m:d>
                      <m:dPr>
                        <m:ctrlP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1600" b="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/sin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endParaRPr lang="en-US" altLang="en-US" sz="16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</a:t>
                </a:r>
                <a:r>
                  <a:rPr lang="en-US" altLang="en-US" sz="1600" dirty="0">
                    <a:solidFill>
                      <a:srgbClr val="15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horizontal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altLang="en-US" sz="1600" dirty="0">
                    <a:solidFill>
                      <a:srgbClr val="15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vertical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leaves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4">
                <a:extLst>
                  <a:ext uri="{FF2B5EF4-FFF2-40B4-BE49-F238E27FC236}">
                    <a16:creationId xmlns:a16="http://schemas.microsoft.com/office/drawing/2014/main" id="{E426F0BF-792A-07CD-3AE0-2BC17A20F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25" y="4150490"/>
                <a:ext cx="8845396" cy="2479268"/>
              </a:xfrm>
              <a:prstGeom prst="rect">
                <a:avLst/>
              </a:prstGeom>
              <a:blipFill>
                <a:blip r:embed="rId3"/>
                <a:stretch>
                  <a:fillRect l="-287" t="-508" b="-20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BBFC517-62C3-9D21-663D-4A0C1B5F304A}"/>
              </a:ext>
            </a:extLst>
          </p:cNvPr>
          <p:cNvSpPr txBox="1"/>
          <p:nvPr/>
        </p:nvSpPr>
        <p:spPr>
          <a:xfrm>
            <a:off x="1525476" y="1017587"/>
            <a:ext cx="32547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4"/>
              </a:rPr>
              <a:t>Leaf Normal Inclination Distribution</a:t>
            </a:r>
            <a:endParaRPr lang="en-US" sz="1600" dirty="0">
              <a:solidFill>
                <a:srgbClr val="C00000"/>
              </a:solidFill>
            </a:endParaRPr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9D66156-F335-5E1B-E31E-FEA2A26CAC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766" y="1049398"/>
            <a:ext cx="4234229" cy="28999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181912-94F8-F152-5BDC-2352641B74B9}"/>
              </a:ext>
            </a:extLst>
          </p:cNvPr>
          <p:cNvSpPr txBox="1"/>
          <p:nvPr/>
        </p:nvSpPr>
        <p:spPr>
          <a:xfrm>
            <a:off x="0" y="2067950"/>
            <a:ext cx="4624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The models below differ from those conventionally used as these pdfs satisfy the normalization given in the previous slide.</a:t>
            </a:r>
          </a:p>
        </p:txBody>
      </p:sp>
    </p:spTree>
    <p:extLst>
      <p:ext uri="{BB962C8B-B14F-4D97-AF65-F5344CB8AC3E}">
        <p14:creationId xmlns:p14="http://schemas.microsoft.com/office/powerpoint/2010/main" val="2252680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B7A56-9B17-B7F8-71FE-0D35E19DD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86C9A729-79E2-B4C1-188C-9572F326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FED38B5-33F6-8E74-FD74-3E3B604A0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284E044F-3C68-B1BB-F786-5852941F4D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2827"/>
            <a:ext cx="77796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for Leaf Normal Inclination Distribution Function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41627509-A367-B6D9-09F5-9DF3BD7CB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9" y="5030390"/>
            <a:ext cx="520364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dirty="0">
                <a:solidFill>
                  <a:srgbClr val="10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Uniform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 inclinations equally probable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en-US" sz="1600" dirty="0" err="1">
                <a:solidFill>
                  <a:srgbClr val="233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Planophile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mostly horizontal leaves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altLang="en-US" sz="1600" dirty="0" err="1">
                <a:solidFill>
                  <a:srgbClr val="233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Erectophile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mostly erect leaves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altLang="en-US" sz="1600" dirty="0" err="1">
                <a:solidFill>
                  <a:srgbClr val="233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Plagiophile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mostly leaves at 45 degrees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</a:t>
            </a:r>
            <a:r>
              <a:rPr lang="en-US" altLang="en-US" sz="1600" dirty="0">
                <a:solidFill>
                  <a:srgbClr val="233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Extremophile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mostly horizontal and vertical leaves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 </a:t>
            </a:r>
            <a:r>
              <a:rPr lang="en-US" altLang="en-US" sz="1600" dirty="0">
                <a:solidFill>
                  <a:srgbClr val="233A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Spherical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leaf normal distributed as on a sphere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8D10B6C3-8B31-F1B3-CC46-82AA3E8510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620" y="3085480"/>
            <a:ext cx="2800078" cy="1710115"/>
          </a:xfrm>
          <a:prstGeom prst="rect">
            <a:avLst/>
          </a:prstGeom>
        </p:spPr>
      </p:pic>
      <p:pic>
        <p:nvPicPr>
          <p:cNvPr id="8" name="Picture 7" descr="A diagram of a math problem&#10;&#10;AI-generated content may be incorrect.">
            <a:extLst>
              <a:ext uri="{FF2B5EF4-FFF2-40B4-BE49-F238E27FC236}">
                <a16:creationId xmlns:a16="http://schemas.microsoft.com/office/drawing/2014/main" id="{8424B80D-4FC7-9F9D-77E0-79AF6AB1E6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" y="1288078"/>
            <a:ext cx="2923867" cy="1697413"/>
          </a:xfrm>
          <a:prstGeom prst="rect">
            <a:avLst/>
          </a:prstGeom>
        </p:spPr>
      </p:pic>
      <p:pic>
        <p:nvPicPr>
          <p:cNvPr id="10" name="Picture 9" descr="A screen shot of a graph&#10;&#10;AI-generated content may be incorrect.">
            <a:extLst>
              <a:ext uri="{FF2B5EF4-FFF2-40B4-BE49-F238E27FC236}">
                <a16:creationId xmlns:a16="http://schemas.microsoft.com/office/drawing/2014/main" id="{DC423CDE-4233-BA25-47E4-24D8FA4A4D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98" y="1296895"/>
            <a:ext cx="3043291" cy="1697413"/>
          </a:xfrm>
          <a:prstGeom prst="rect">
            <a:avLst/>
          </a:prstGeom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27A3EB55-FA7C-75DD-7418-D41A44F532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620" y="1279252"/>
            <a:ext cx="2983755" cy="1696646"/>
          </a:xfrm>
          <a:prstGeom prst="rect">
            <a:avLst/>
          </a:prstGeom>
        </p:spPr>
      </p:pic>
      <p:pic>
        <p:nvPicPr>
          <p:cNvPr id="14" name="Picture 13" descr="A screenshot of a graph&#10;&#10;AI-generated content may be incorrect.">
            <a:extLst>
              <a:ext uri="{FF2B5EF4-FFF2-40B4-BE49-F238E27FC236}">
                <a16:creationId xmlns:a16="http://schemas.microsoft.com/office/drawing/2014/main" id="{0A9B89BF-0294-4225-78D0-D9D4A08934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" y="3085480"/>
            <a:ext cx="2923866" cy="1625439"/>
          </a:xfrm>
          <a:prstGeom prst="rect">
            <a:avLst/>
          </a:prstGeom>
        </p:spPr>
      </p:pic>
      <p:pic>
        <p:nvPicPr>
          <p:cNvPr id="16" name="Picture 15" descr="A screen shot of a graph&#10;&#10;AI-generated content may be incorrect.">
            <a:extLst>
              <a:ext uri="{FF2B5EF4-FFF2-40B4-BE49-F238E27FC236}">
                <a16:creationId xmlns:a16="http://schemas.microsoft.com/office/drawing/2014/main" id="{14C6AF98-BFF7-D65B-3C42-045D879065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497" y="3085480"/>
            <a:ext cx="3043291" cy="16763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1BD111-7075-456E-3B84-99AC86AC8170}"/>
              </a:ext>
            </a:extLst>
          </p:cNvPr>
          <p:cNvSpPr txBox="1"/>
          <p:nvPr/>
        </p:nvSpPr>
        <p:spPr>
          <a:xfrm>
            <a:off x="5508868" y="4795595"/>
            <a:ext cx="36351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9"/>
              </a:rPr>
              <a:t>Models for Leaf Normal Inclination PDFs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718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BF28-FFD1-B941-4C0A-5FFC0F9B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10761D52-BF46-A39A-C393-4EC96244C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7EE6074-6035-CD13-1952-930E8E5E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F79A6FF2-FDD0-BAB0-0E90-7DB78F7A9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992" y="604545"/>
            <a:ext cx="77796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for Leaf Normal Azimuthal Distribution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8314CEE5-534E-F5E9-D01E-D82C6672BD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399" y="4199462"/>
                <a:ext cx="8943976" cy="2657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A simple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model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is,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en-US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altLang="en-US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) ,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is the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difference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between the azimuth of the maximum of the distribution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and the azimuth of the incident photon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(or the solar azimuth in case of heliotropic behavior).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We can formulate two models: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 err="1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Diaheliotropic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: maximize the projected leaf area to the incident photon stream,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= 0 , and</a:t>
                </a:r>
              </a:p>
            </p:txBody>
          </p:sp>
        </mc:Choice>
        <mc:Fallback xmlns="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8314CEE5-534E-F5E9-D01E-D82C6672B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399" y="4199462"/>
                <a:ext cx="8943976" cy="2657266"/>
              </a:xfrm>
              <a:prstGeom prst="rect">
                <a:avLst/>
              </a:prstGeom>
              <a:blipFill>
                <a:blip r:embed="rId3"/>
                <a:stretch>
                  <a:fillRect l="-426" t="-476" r="-284" b="-19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diagram of a solar system&#10;&#10;AI-generated content may be incorrect.">
            <a:extLst>
              <a:ext uri="{FF2B5EF4-FFF2-40B4-BE49-F238E27FC236}">
                <a16:creationId xmlns:a16="http://schemas.microsoft.com/office/drawing/2014/main" id="{CA308BFB-BB13-F2C0-4AC3-2845A4348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30" y="1038609"/>
            <a:ext cx="3539490" cy="3079273"/>
          </a:xfrm>
          <a:prstGeom prst="rect">
            <a:avLst/>
          </a:prstGeom>
        </p:spPr>
      </p:pic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55AFA3F8-74C9-ECDD-AEA6-3DCF8F053A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854" y="1017382"/>
            <a:ext cx="3050721" cy="3100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566693-2DCE-D3E0-5E55-341A249FA4ED}"/>
              </a:ext>
            </a:extLst>
          </p:cNvPr>
          <p:cNvSpPr txBox="1"/>
          <p:nvPr/>
        </p:nvSpPr>
        <p:spPr>
          <a:xfrm>
            <a:off x="5643154" y="4117882"/>
            <a:ext cx="3348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6"/>
              </a:rPr>
              <a:t>Leaf Normal Azimuthal Distribution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323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6522C-F8E9-6F02-E97A-28F2F0B6D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26E988AD-5816-90F2-203C-6ED6CD46E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8146B3E-7967-BAB6-74F7-07258FA0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0E404F84-8936-6E4E-3C34-A3B8D0E7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" y="622117"/>
            <a:ext cx="777965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for Leaf Normal Azimuthal Distribution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D9707EE8-A392-92FB-E62C-76C30E476E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012" y="4117882"/>
                <a:ext cx="8943976" cy="26572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A simple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model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is,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en-US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</a:rPr>
                          <m:t>𝑐𝑜𝑠</m:t>
                        </m:r>
                      </m:e>
                      <m:sup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altLang="en-US" sz="1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) ,</a:t>
                </a: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is the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difference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between the azimuth of the maximum of the distribution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and the azimuth of the incident photon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𝜑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(or the solar azimuth in case of heliotropic behavior).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We can formulate two models: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 err="1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Paraheliotropic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: minimize the projected leaf area to the incident photon stream, </a:t>
                </a:r>
                <a14:m>
                  <m:oMath xmlns:m="http://schemas.openxmlformats.org/officeDocument/2006/math"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en-US" alt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.</a:t>
                </a:r>
              </a:p>
            </p:txBody>
          </p:sp>
        </mc:Choice>
        <mc:Fallback xmlns="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D9707EE8-A392-92FB-E62C-76C30E476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012" y="4117882"/>
                <a:ext cx="8943976" cy="2657266"/>
              </a:xfrm>
              <a:prstGeom prst="rect">
                <a:avLst/>
              </a:prstGeom>
              <a:blipFill>
                <a:blip r:embed="rId3"/>
                <a:stretch>
                  <a:fillRect l="-283" t="-476" r="-283" b="-190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A diagram of a solar system&#10;&#10;AI-generated content may be incorrect.">
            <a:extLst>
              <a:ext uri="{FF2B5EF4-FFF2-40B4-BE49-F238E27FC236}">
                <a16:creationId xmlns:a16="http://schemas.microsoft.com/office/drawing/2014/main" id="{DD859DB4-9D06-F3FD-29CC-EDC64B7B4A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34" y="1022227"/>
            <a:ext cx="3561762" cy="3044732"/>
          </a:xfrm>
          <a:prstGeom prst="rect">
            <a:avLst/>
          </a:prstGeom>
        </p:spPr>
      </p:pic>
      <p:pic>
        <p:nvPicPr>
          <p:cNvPr id="15" name="Picture 14" descr="A screen shot of a graph&#10;&#10;AI-generated content may be incorrect.">
            <a:extLst>
              <a:ext uri="{FF2B5EF4-FFF2-40B4-BE49-F238E27FC236}">
                <a16:creationId xmlns:a16="http://schemas.microsoft.com/office/drawing/2014/main" id="{F611531E-B825-DC7E-92ED-FFF86C6B38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218" y="1022227"/>
            <a:ext cx="3003464" cy="29896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D0BECA-B764-EA7B-9662-EAA5B9E2BEE1}"/>
              </a:ext>
            </a:extLst>
          </p:cNvPr>
          <p:cNvSpPr txBox="1"/>
          <p:nvPr/>
        </p:nvSpPr>
        <p:spPr>
          <a:xfrm>
            <a:off x="5643154" y="4117882"/>
            <a:ext cx="3348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6"/>
              </a:rPr>
              <a:t>Leaf Normal Azimuthal Distribution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6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20F48-F41E-4311-A95A-BE90FBD6A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12E689F6-FB32-B809-F2D6-2F984E225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Canopy Structure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D881A1D-52CF-B629-7C80-CCDE11473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A5C144A3-F61D-8843-B899-2702142B714C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F792AA5F-0BFF-87E5-5FCD-6000955E4E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" y="622117"/>
            <a:ext cx="29091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of Needle Canopies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E41779BE-A756-AA59-69A5-87DAC1D47A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012" y="5342215"/>
                <a:ext cx="8943976" cy="1323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In the case of coniferous vegetation (pine, for example), we use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shoots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as basic foliage elements, </a:t>
                </a:r>
                <a:r>
                  <a:rPr lang="en-US" altLang="en-US" sz="1600" i="1" dirty="0">
                    <a:latin typeface="Times New Roman" panose="02020603050405020304" pitchFamily="18" charset="0"/>
                  </a:rPr>
                  <a:t>i.e.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, each shoot is treated as a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leaf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.  Then, the leaf area density and index are defined in terms of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one-half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the total needle surface area. The shoot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orientation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distribution is defined in terms of the shoot axis. Two additional issues arise in this case: (a) the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rotation angle  </a:t>
                </a:r>
                <a14:m>
                  <m:oMath xmlns:m="http://schemas.openxmlformats.org/officeDocument/2006/math">
                    <m:r>
                      <a:rPr lang="en-US" alt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should be defined and (b) </a:t>
                </a:r>
                <a:r>
                  <a:rPr lang="en-US" altLang="en-US" sz="1600" dirty="0">
                    <a:solidFill>
                      <a:srgbClr val="101FF4"/>
                    </a:solidFill>
                    <a:latin typeface="Times New Roman" panose="02020603050405020304" pitchFamily="18" charset="0"/>
                  </a:rPr>
                  <a:t>clumping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of needles on the shoots must be accounted. </a:t>
                </a:r>
              </a:p>
            </p:txBody>
          </p:sp>
        </mc:Choice>
        <mc:Fallback xmlns=""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E41779BE-A756-AA59-69A5-87DAC1D47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012" y="5342215"/>
                <a:ext cx="8943976" cy="1323439"/>
              </a:xfrm>
              <a:prstGeom prst="rect">
                <a:avLst/>
              </a:prstGeom>
              <a:blipFill>
                <a:blip r:embed="rId3"/>
                <a:stretch>
                  <a:fillRect l="-283" t="-952" r="-283" b="-47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F6B27A0E-9F03-6F89-D749-FA569C15331E}"/>
              </a:ext>
            </a:extLst>
          </p:cNvPr>
          <p:cNvSpPr txBox="1"/>
          <p:nvPr/>
        </p:nvSpPr>
        <p:spPr>
          <a:xfrm>
            <a:off x="7267112" y="4603968"/>
            <a:ext cx="1776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C2-P1-07-hsubL</a:t>
            </a:r>
          </a:p>
        </p:txBody>
      </p:sp>
      <p:pic>
        <p:nvPicPr>
          <p:cNvPr id="5" name="Picture 4" descr="A pine branch with needles&#10;&#10;AI-generated content may be incorrect.">
            <a:extLst>
              <a:ext uri="{FF2B5EF4-FFF2-40B4-BE49-F238E27FC236}">
                <a16:creationId xmlns:a16="http://schemas.microsoft.com/office/drawing/2014/main" id="{D02AB9A9-0813-3BF3-FE25-22019157E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84" y="1064906"/>
            <a:ext cx="2366249" cy="1399967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AC35D0D-CAA9-7676-340F-4E6FAFAD1A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83" y="2586445"/>
            <a:ext cx="2909107" cy="2656520"/>
          </a:xfrm>
          <a:prstGeom prst="rect">
            <a:avLst/>
          </a:prstGeom>
        </p:spPr>
      </p:pic>
      <p:pic>
        <p:nvPicPr>
          <p:cNvPr id="12" name="Picture 11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50E39E54-8F78-0991-75C2-D37E362B7A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276" y="1064906"/>
            <a:ext cx="5787712" cy="4178059"/>
          </a:xfrm>
          <a:prstGeom prst="rect">
            <a:avLst/>
          </a:prstGeom>
        </p:spPr>
      </p:pic>
      <p:pic>
        <p:nvPicPr>
          <p:cNvPr id="7" name="Picture 6" descr="A close up of a pine branch&#10;&#10;AI-generated content may be incorrect.">
            <a:extLst>
              <a:ext uri="{FF2B5EF4-FFF2-40B4-BE49-F238E27FC236}">
                <a16:creationId xmlns:a16="http://schemas.microsoft.com/office/drawing/2014/main" id="{7DE0A227-401F-2817-08CD-91A69C1B45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614" y="1365073"/>
            <a:ext cx="2110196" cy="13999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77B5E0-C076-C385-5C4E-F158FCBB7D70}"/>
              </a:ext>
            </a:extLst>
          </p:cNvPr>
          <p:cNvSpPr txBox="1"/>
          <p:nvPr/>
        </p:nvSpPr>
        <p:spPr>
          <a:xfrm>
            <a:off x="6234893" y="649288"/>
            <a:ext cx="2909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8"/>
              </a:rPr>
              <a:t>Shoot Idealization and Geometry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796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Box 13">
            <a:extLst>
              <a:ext uri="{FF2B5EF4-FFF2-40B4-BE49-F238E27FC236}">
                <a16:creationId xmlns:a16="http://schemas.microsoft.com/office/drawing/2014/main" id="{8A59BCD8-C394-B7E0-234B-6E9BFCEEB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800100"/>
            <a:ext cx="886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Gauss (double) Quadrature: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E59F21EB-4ABE-C8C6-09F9-7AC25ED4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</a:t>
            </a:r>
            <a:r>
              <a:rPr lang="en-US" alt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CanopyStructure</a:t>
            </a: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38915" name="TextBox 5">
            <a:extLst>
              <a:ext uri="{FF2B5EF4-FFF2-40B4-BE49-F238E27FC236}">
                <a16:creationId xmlns:a16="http://schemas.microsoft.com/office/drawing/2014/main" id="{DDB86526-D316-3960-BFAD-D5062CCAF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238" y="1282700"/>
            <a:ext cx="87598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N : </a:t>
            </a:r>
            <a:r>
              <a:rPr lang="en-US" altLang="en-US" sz="1800">
                <a:solidFill>
                  <a:srgbClr val="252AF4"/>
                </a:solidFill>
                <a:latin typeface="Times New Roman" panose="02020603050405020304" pitchFamily="18" charset="0"/>
              </a:rPr>
              <a:t>Orde</a:t>
            </a:r>
            <a:r>
              <a:rPr lang="en-US" altLang="en-US" sz="1800">
                <a:latin typeface="Times New Roman" panose="02020603050405020304" pitchFamily="18" charset="0"/>
              </a:rPr>
              <a:t>r of Gauss quadrature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: Quadrature </a:t>
            </a:r>
            <a:r>
              <a:rPr lang="en-US" altLang="en-US" sz="1800">
                <a:solidFill>
                  <a:srgbClr val="252AF4"/>
                </a:solidFill>
                <a:latin typeface="Times New Roman" panose="02020603050405020304" pitchFamily="18" charset="0"/>
              </a:rPr>
              <a:t>weights</a:t>
            </a:r>
            <a:r>
              <a:rPr lang="en-US" altLang="en-US" sz="1800">
                <a:latin typeface="Times New Roman" panose="02020603050405020304" pitchFamily="18" charset="0"/>
              </a:rPr>
              <a:t> (w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, w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, …, w</a:t>
            </a:r>
            <a:r>
              <a:rPr lang="en-US" altLang="en-US" sz="1800" baseline="-25000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: Quadrature </a:t>
            </a:r>
            <a:r>
              <a:rPr lang="en-US" altLang="en-US" sz="1800">
                <a:solidFill>
                  <a:srgbClr val="252AF4"/>
                </a:solidFill>
                <a:latin typeface="Times New Roman" panose="02020603050405020304" pitchFamily="18" charset="0"/>
              </a:rPr>
              <a:t>ordinates</a:t>
            </a:r>
            <a:r>
              <a:rPr lang="en-US" altLang="en-US" sz="1800">
                <a:latin typeface="Times New Roman" panose="02020603050405020304" pitchFamily="18" charset="0"/>
              </a:rPr>
              <a:t> (x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,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, …,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N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2524F4"/>
                </a:solidFill>
                <a:latin typeface="Times New Roman" panose="02020603050405020304" pitchFamily="18" charset="0"/>
              </a:rPr>
              <a:t>Example</a:t>
            </a:r>
            <a:r>
              <a:rPr lang="en-US" altLang="en-US" sz="1800">
                <a:latin typeface="Times New Roman" panose="02020603050405020304" pitchFamily="18" charset="0"/>
              </a:rPr>
              <a:t>: Say N = 12, it means -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D1EDDF-1A24-24C9-35B0-1206C0A9BD3D}"/>
              </a:ext>
            </a:extLst>
          </p:cNvPr>
          <p:cNvCxnSpPr/>
          <p:nvPr/>
        </p:nvCxnSpPr>
        <p:spPr>
          <a:xfrm>
            <a:off x="4394200" y="4056063"/>
            <a:ext cx="0" cy="382587"/>
          </a:xfrm>
          <a:prstGeom prst="line">
            <a:avLst/>
          </a:prstGeom>
          <a:ln w="38100">
            <a:solidFill>
              <a:srgbClr val="252A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E1819D-8436-D739-8050-05D7E0EC0389}"/>
              </a:ext>
            </a:extLst>
          </p:cNvPr>
          <p:cNvCxnSpPr>
            <a:cxnSpLocks/>
          </p:cNvCxnSpPr>
          <p:nvPr/>
        </p:nvCxnSpPr>
        <p:spPr>
          <a:xfrm>
            <a:off x="803275" y="4246563"/>
            <a:ext cx="71183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7CAB21-1EF1-8600-1587-8A24B2D048D8}"/>
              </a:ext>
            </a:extLst>
          </p:cNvPr>
          <p:cNvCxnSpPr/>
          <p:nvPr/>
        </p:nvCxnSpPr>
        <p:spPr>
          <a:xfrm>
            <a:off x="803275" y="4056063"/>
            <a:ext cx="0" cy="382587"/>
          </a:xfrm>
          <a:prstGeom prst="line">
            <a:avLst/>
          </a:prstGeom>
          <a:ln w="38100">
            <a:solidFill>
              <a:srgbClr val="252A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3B5F85-1CEB-EC06-EAD7-084BD2C0BA5D}"/>
              </a:ext>
            </a:extLst>
          </p:cNvPr>
          <p:cNvCxnSpPr/>
          <p:nvPr/>
        </p:nvCxnSpPr>
        <p:spPr>
          <a:xfrm>
            <a:off x="7916863" y="4056063"/>
            <a:ext cx="0" cy="382587"/>
          </a:xfrm>
          <a:prstGeom prst="line">
            <a:avLst/>
          </a:prstGeom>
          <a:ln w="38100">
            <a:solidFill>
              <a:srgbClr val="252AF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0" name="TextBox 10">
            <a:extLst>
              <a:ext uri="{FF2B5EF4-FFF2-40B4-BE49-F238E27FC236}">
                <a16:creationId xmlns:a16="http://schemas.microsoft.com/office/drawing/2014/main" id="{5CCB2FFB-247B-7BF3-4D8E-67F4A2CA2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3" y="4038600"/>
            <a:ext cx="39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38921" name="TextBox 16">
            <a:extLst>
              <a:ext uri="{FF2B5EF4-FFF2-40B4-BE49-F238E27FC236}">
                <a16:creationId xmlns:a16="http://schemas.microsoft.com/office/drawing/2014/main" id="{245886F2-934F-C81E-CE0B-1D1004808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100" y="4043363"/>
            <a:ext cx="45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38922" name="TextBox 17">
            <a:extLst>
              <a:ext uri="{FF2B5EF4-FFF2-40B4-BE49-F238E27FC236}">
                <a16:creationId xmlns:a16="http://schemas.microsoft.com/office/drawing/2014/main" id="{9118913E-5292-65EB-F9C8-980D4CABC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5925" y="4624388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FAA5C1E-DBBC-4285-4EEC-9166BAB8A353}"/>
              </a:ext>
            </a:extLst>
          </p:cNvPr>
          <p:cNvSpPr/>
          <p:nvPr/>
        </p:nvSpPr>
        <p:spPr>
          <a:xfrm>
            <a:off x="871538" y="4181475"/>
            <a:ext cx="106362" cy="1063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7B8E6FD-D70C-CFD7-FB48-668ABE77E174}"/>
              </a:ext>
            </a:extLst>
          </p:cNvPr>
          <p:cNvSpPr/>
          <p:nvPr/>
        </p:nvSpPr>
        <p:spPr>
          <a:xfrm>
            <a:off x="7654925" y="4198938"/>
            <a:ext cx="107950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4A7A3E9-66B6-AEDD-5943-FFD63D196298}"/>
              </a:ext>
            </a:extLst>
          </p:cNvPr>
          <p:cNvSpPr/>
          <p:nvPr/>
        </p:nvSpPr>
        <p:spPr>
          <a:xfrm>
            <a:off x="1266825" y="4194175"/>
            <a:ext cx="107950" cy="1063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08620E-6243-FA99-6F21-3B98B9B7E366}"/>
              </a:ext>
            </a:extLst>
          </p:cNvPr>
          <p:cNvSpPr/>
          <p:nvPr/>
        </p:nvSpPr>
        <p:spPr>
          <a:xfrm>
            <a:off x="7288213" y="4194175"/>
            <a:ext cx="107950" cy="1063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E16CA2-1E1D-E5EA-418A-10FFED6B13D2}"/>
              </a:ext>
            </a:extLst>
          </p:cNvPr>
          <p:cNvSpPr/>
          <p:nvPr/>
        </p:nvSpPr>
        <p:spPr>
          <a:xfrm>
            <a:off x="1897063" y="4189413"/>
            <a:ext cx="106362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4DFC4A7-2CDF-42D5-C650-A951DB8CD1D5}"/>
              </a:ext>
            </a:extLst>
          </p:cNvPr>
          <p:cNvSpPr/>
          <p:nvPr/>
        </p:nvSpPr>
        <p:spPr>
          <a:xfrm>
            <a:off x="6765925" y="4198938"/>
            <a:ext cx="107950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575D87-66E4-DA7F-072D-6FDFC86FA34F}"/>
              </a:ext>
            </a:extLst>
          </p:cNvPr>
          <p:cNvSpPr/>
          <p:nvPr/>
        </p:nvSpPr>
        <p:spPr>
          <a:xfrm>
            <a:off x="2840038" y="4189413"/>
            <a:ext cx="106362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EBAB165-026D-8F54-AC96-F8B003AA72FC}"/>
              </a:ext>
            </a:extLst>
          </p:cNvPr>
          <p:cNvSpPr/>
          <p:nvPr/>
        </p:nvSpPr>
        <p:spPr>
          <a:xfrm>
            <a:off x="5734050" y="4198938"/>
            <a:ext cx="106363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13A5BF0-6603-1950-A555-4EEC46024E9C}"/>
              </a:ext>
            </a:extLst>
          </p:cNvPr>
          <p:cNvSpPr/>
          <p:nvPr/>
        </p:nvSpPr>
        <p:spPr>
          <a:xfrm>
            <a:off x="4137025" y="4198938"/>
            <a:ext cx="106363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1C3A78B-35E1-91F6-70BD-9BD7866EA17C}"/>
              </a:ext>
            </a:extLst>
          </p:cNvPr>
          <p:cNvSpPr/>
          <p:nvPr/>
        </p:nvSpPr>
        <p:spPr>
          <a:xfrm>
            <a:off x="4652963" y="4181475"/>
            <a:ext cx="107950" cy="10636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3F76614-B23F-D243-9887-C415323C8AE8}"/>
              </a:ext>
            </a:extLst>
          </p:cNvPr>
          <p:cNvSpPr/>
          <p:nvPr/>
        </p:nvSpPr>
        <p:spPr>
          <a:xfrm>
            <a:off x="3563938" y="4198938"/>
            <a:ext cx="107950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B63EF94-FA28-B22F-46E5-7BE9A801F2E3}"/>
              </a:ext>
            </a:extLst>
          </p:cNvPr>
          <p:cNvSpPr/>
          <p:nvPr/>
        </p:nvSpPr>
        <p:spPr>
          <a:xfrm>
            <a:off x="5087938" y="4198938"/>
            <a:ext cx="107950" cy="10795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35" name="Rectangle 31">
            <a:extLst>
              <a:ext uri="{FF2B5EF4-FFF2-40B4-BE49-F238E27FC236}">
                <a16:creationId xmlns:a16="http://schemas.microsoft.com/office/drawing/2014/main" id="{D1787BF7-5A17-DD08-855C-31E38D61C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350" y="3781425"/>
            <a:ext cx="427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6" name="Rectangle 32">
            <a:extLst>
              <a:ext uri="{FF2B5EF4-FFF2-40B4-BE49-F238E27FC236}">
                <a16:creationId xmlns:a16="http://schemas.microsoft.com/office/drawing/2014/main" id="{195D46BF-DDBE-6AF2-C1B5-69DE6E55C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811588"/>
            <a:ext cx="42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3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7" name="Rectangle 33">
            <a:extLst>
              <a:ext uri="{FF2B5EF4-FFF2-40B4-BE49-F238E27FC236}">
                <a16:creationId xmlns:a16="http://schemas.microsoft.com/office/drawing/2014/main" id="{DFFB79C3-4079-AC76-CF68-66F74A4EA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3790950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4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8" name="Rectangle 34">
            <a:extLst>
              <a:ext uri="{FF2B5EF4-FFF2-40B4-BE49-F238E27FC236}">
                <a16:creationId xmlns:a16="http://schemas.microsoft.com/office/drawing/2014/main" id="{924C407A-EE73-0160-EE4C-93903C9C9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3" y="3800475"/>
            <a:ext cx="427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5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9" name="Rectangle 35">
            <a:extLst>
              <a:ext uri="{FF2B5EF4-FFF2-40B4-BE49-F238E27FC236}">
                <a16:creationId xmlns:a16="http://schemas.microsoft.com/office/drawing/2014/main" id="{2BBB70FE-33E2-0C62-9D8B-5176EFE30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3811588"/>
            <a:ext cx="427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6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0" name="Rectangle 36">
            <a:extLst>
              <a:ext uri="{FF2B5EF4-FFF2-40B4-BE49-F238E27FC236}">
                <a16:creationId xmlns:a16="http://schemas.microsoft.com/office/drawing/2014/main" id="{7FE1F80B-622A-DAE5-4D2F-CC7780168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3790950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7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1" name="Rectangle 37">
            <a:extLst>
              <a:ext uri="{FF2B5EF4-FFF2-40B4-BE49-F238E27FC236}">
                <a16:creationId xmlns:a16="http://schemas.microsoft.com/office/drawing/2014/main" id="{66B32146-0FFA-42DE-B008-799030434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0" y="3800475"/>
            <a:ext cx="428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8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2" name="Rectangle 38">
            <a:extLst>
              <a:ext uri="{FF2B5EF4-FFF2-40B4-BE49-F238E27FC236}">
                <a16:creationId xmlns:a16="http://schemas.microsoft.com/office/drawing/2014/main" id="{B2A6192D-FC80-F169-E8F9-EF3272743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938" y="3811588"/>
            <a:ext cx="42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9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3" name="Rectangle 39">
            <a:extLst>
              <a:ext uri="{FF2B5EF4-FFF2-40B4-BE49-F238E27FC236}">
                <a16:creationId xmlns:a16="http://schemas.microsoft.com/office/drawing/2014/main" id="{F1AFC27B-BD11-B947-BB79-35C56BF32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3800475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10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4" name="Rectangle 40">
            <a:extLst>
              <a:ext uri="{FF2B5EF4-FFF2-40B4-BE49-F238E27FC236}">
                <a16:creationId xmlns:a16="http://schemas.microsoft.com/office/drawing/2014/main" id="{42610150-1F54-C3F9-A6EC-41900BCC0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75" y="3790950"/>
            <a:ext cx="5000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11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5" name="Rectangle 41">
            <a:extLst>
              <a:ext uri="{FF2B5EF4-FFF2-40B4-BE49-F238E27FC236}">
                <a16:creationId xmlns:a16="http://schemas.microsoft.com/office/drawing/2014/main" id="{B0979250-E84B-FD9A-C5C8-A4270312A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25" y="3790950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12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6" name="Rectangle 43">
            <a:extLst>
              <a:ext uri="{FF2B5EF4-FFF2-40B4-BE49-F238E27FC236}">
                <a16:creationId xmlns:a16="http://schemas.microsoft.com/office/drawing/2014/main" id="{F78D548C-C6DC-34E0-A3DB-66F766AC3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350" y="4267200"/>
            <a:ext cx="3762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7" name="Rectangle 44">
            <a:extLst>
              <a:ext uri="{FF2B5EF4-FFF2-40B4-BE49-F238E27FC236}">
                <a16:creationId xmlns:a16="http://schemas.microsoft.com/office/drawing/2014/main" id="{3D930A82-D271-64AA-24D8-AA8A99D75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4297363"/>
            <a:ext cx="3762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3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8" name="Rectangle 45">
            <a:extLst>
              <a:ext uri="{FF2B5EF4-FFF2-40B4-BE49-F238E27FC236}">
                <a16:creationId xmlns:a16="http://schemas.microsoft.com/office/drawing/2014/main" id="{DF0BF64E-16C1-65F5-1B24-091E0CF86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9225" y="4276725"/>
            <a:ext cx="377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4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9" name="Rectangle 46">
            <a:extLst>
              <a:ext uri="{FF2B5EF4-FFF2-40B4-BE49-F238E27FC236}">
                <a16:creationId xmlns:a16="http://schemas.microsoft.com/office/drawing/2014/main" id="{A3D873D7-7B8D-78D9-DA2D-6BC280255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8363" y="4286250"/>
            <a:ext cx="376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5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0" name="Rectangle 47">
            <a:extLst>
              <a:ext uri="{FF2B5EF4-FFF2-40B4-BE49-F238E27FC236}">
                <a16:creationId xmlns:a16="http://schemas.microsoft.com/office/drawing/2014/main" id="{E5C6BEA9-E745-3F51-1CB2-D252B0E1F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113" y="4297363"/>
            <a:ext cx="376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6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1" name="Rectangle 48">
            <a:extLst>
              <a:ext uri="{FF2B5EF4-FFF2-40B4-BE49-F238E27FC236}">
                <a16:creationId xmlns:a16="http://schemas.microsoft.com/office/drawing/2014/main" id="{E44CD607-F88E-BED9-F6FD-27BCB1D00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0" y="4276725"/>
            <a:ext cx="377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7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2" name="Rectangle 49">
            <a:extLst>
              <a:ext uri="{FF2B5EF4-FFF2-40B4-BE49-F238E27FC236}">
                <a16:creationId xmlns:a16="http://schemas.microsoft.com/office/drawing/2014/main" id="{C1F5E08F-57D4-1464-6F51-963F5206B1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0" y="4286250"/>
            <a:ext cx="377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8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3" name="Rectangle 50">
            <a:extLst>
              <a:ext uri="{FF2B5EF4-FFF2-40B4-BE49-F238E27FC236}">
                <a16:creationId xmlns:a16="http://schemas.microsoft.com/office/drawing/2014/main" id="{AF4327E0-8054-0DF7-CDFC-AE8970263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938" y="4297363"/>
            <a:ext cx="377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9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4" name="Rectangle 51">
            <a:extLst>
              <a:ext uri="{FF2B5EF4-FFF2-40B4-BE49-F238E27FC236}">
                <a16:creationId xmlns:a16="http://schemas.microsoft.com/office/drawing/2014/main" id="{420F1095-2CB0-1AF3-F9A4-EF5CFC649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5588" y="428625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10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5" name="Rectangle 52">
            <a:extLst>
              <a:ext uri="{FF2B5EF4-FFF2-40B4-BE49-F238E27FC236}">
                <a16:creationId xmlns:a16="http://schemas.microsoft.com/office/drawing/2014/main" id="{28F6997C-EEA8-12C5-FD7C-A1FC547C1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5175" y="4276725"/>
            <a:ext cx="447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11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6" name="Rectangle 53">
            <a:extLst>
              <a:ext uri="{FF2B5EF4-FFF2-40B4-BE49-F238E27FC236}">
                <a16:creationId xmlns:a16="http://schemas.microsoft.com/office/drawing/2014/main" id="{5708A84B-F2B0-CBCA-2892-3D1DAFFDA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25" y="4276725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12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7" name="Rectangle 54">
            <a:extLst>
              <a:ext uri="{FF2B5EF4-FFF2-40B4-BE49-F238E27FC236}">
                <a16:creationId xmlns:a16="http://schemas.microsoft.com/office/drawing/2014/main" id="{0FA2CE36-4044-06F6-9DE7-50C300057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838" y="3798888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w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8" name="Rectangle 56">
            <a:extLst>
              <a:ext uri="{FF2B5EF4-FFF2-40B4-BE49-F238E27FC236}">
                <a16:creationId xmlns:a16="http://schemas.microsoft.com/office/drawing/2014/main" id="{78D5BA6A-C6B5-1E2B-C6BD-1BAA0BCCC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4254500"/>
            <a:ext cx="376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endParaRPr lang="en-US" altLang="en-US" sz="18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9" name="TextBox 5">
            <a:extLst>
              <a:ext uri="{FF2B5EF4-FFF2-40B4-BE49-F238E27FC236}">
                <a16:creationId xmlns:a16="http://schemas.microsoft.com/office/drawing/2014/main" id="{28E91457-58AB-B91A-843E-52B9E143D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" y="5318125"/>
            <a:ext cx="87598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You have N/2 weights and ordinates between the interval (-1,0) and the same between (0,1)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59" name="Slide Number Placeholder 6">
            <a:extLst>
              <a:ext uri="{FF2B5EF4-FFF2-40B4-BE49-F238E27FC236}">
                <a16:creationId xmlns:a16="http://schemas.microsoft.com/office/drawing/2014/main" id="{E8EFAEE2-4F84-8162-F02C-D8CD256D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214E598E-495E-0E4E-A304-2B6CD1958A4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Box 13">
            <a:extLst>
              <a:ext uri="{FF2B5EF4-FFF2-40B4-BE49-F238E27FC236}">
                <a16:creationId xmlns:a16="http://schemas.microsoft.com/office/drawing/2014/main" id="{DF9892F6-2FEA-5E5D-7DB6-AD82D81E2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804863"/>
            <a:ext cx="886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Weights: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02636CAD-5D3C-5774-5DD5-AC47319BC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</a:t>
            </a:r>
            <a:r>
              <a:rPr lang="en-US" alt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CanopyStructure</a:t>
            </a: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40963" name="Rectangle 1">
            <a:extLst>
              <a:ext uri="{FF2B5EF4-FFF2-40B4-BE49-F238E27FC236}">
                <a16:creationId xmlns:a16="http://schemas.microsoft.com/office/drawing/2014/main" id="{AED6E2AA-8E9C-ACC5-767F-DE04F579C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8" y="1552575"/>
            <a:ext cx="2555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itchFamily="2" charset="0"/>
              </a:rPr>
              <a:t>∫</a:t>
            </a:r>
          </a:p>
        </p:txBody>
      </p:sp>
      <p:sp>
        <p:nvSpPr>
          <p:cNvPr id="40964" name="TextBox 2">
            <a:extLst>
              <a:ext uri="{FF2B5EF4-FFF2-40B4-BE49-F238E27FC236}">
                <a16:creationId xmlns:a16="http://schemas.microsoft.com/office/drawing/2014/main" id="{16BD8748-1659-9530-8C07-891CFA4E5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1825625"/>
            <a:ext cx="355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-1</a:t>
            </a:r>
          </a:p>
        </p:txBody>
      </p:sp>
      <p:sp>
        <p:nvSpPr>
          <p:cNvPr id="40965" name="TextBox 55">
            <a:extLst>
              <a:ext uri="{FF2B5EF4-FFF2-40B4-BE49-F238E27FC236}">
                <a16:creationId xmlns:a16="http://schemas.microsoft.com/office/drawing/2014/main" id="{1BFCFB9C-DAA2-6533-2221-4CB89D7D5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1325563"/>
            <a:ext cx="401638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40966" name="TextBox 3">
            <a:extLst>
              <a:ext uri="{FF2B5EF4-FFF2-40B4-BE49-F238E27FC236}">
                <a16:creationId xmlns:a16="http://schemas.microsoft.com/office/drawing/2014/main" id="{ADA8A9BA-8F52-B83D-485E-A6C3871C0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1552575"/>
            <a:ext cx="841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dx  =  </a:t>
            </a:r>
          </a:p>
        </p:txBody>
      </p:sp>
      <p:sp>
        <p:nvSpPr>
          <p:cNvPr id="40967" name="Rectangle 4">
            <a:extLst>
              <a:ext uri="{FF2B5EF4-FFF2-40B4-BE49-F238E27FC236}">
                <a16:creationId xmlns:a16="http://schemas.microsoft.com/office/drawing/2014/main" id="{CA37B17E-1D73-F108-1885-F45B33145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75" y="1552575"/>
            <a:ext cx="366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8" name="TextBox 5">
            <a:extLst>
              <a:ext uri="{FF2B5EF4-FFF2-40B4-BE49-F238E27FC236}">
                <a16:creationId xmlns:a16="http://schemas.microsoft.com/office/drawing/2014/main" id="{A5A93895-D7DA-F4A2-969E-B457C32CB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188" y="1335088"/>
            <a:ext cx="3317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0969" name="TextBox 58">
            <a:extLst>
              <a:ext uri="{FF2B5EF4-FFF2-40B4-BE49-F238E27FC236}">
                <a16:creationId xmlns:a16="http://schemas.microsoft.com/office/drawing/2014/main" id="{2160986A-6150-89FA-B16A-D88D0B014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575" y="1787525"/>
            <a:ext cx="460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i=1</a:t>
            </a:r>
          </a:p>
        </p:txBody>
      </p:sp>
      <p:sp>
        <p:nvSpPr>
          <p:cNvPr id="40970" name="TextBox 7">
            <a:extLst>
              <a:ext uri="{FF2B5EF4-FFF2-40B4-BE49-F238E27FC236}">
                <a16:creationId xmlns:a16="http://schemas.microsoft.com/office/drawing/2014/main" id="{797B18D1-0928-EB3C-51D9-5399E83F9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2800" y="1549400"/>
            <a:ext cx="819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w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= 2</a:t>
            </a:r>
          </a:p>
        </p:txBody>
      </p:sp>
      <p:sp>
        <p:nvSpPr>
          <p:cNvPr id="40971" name="Rectangle 59">
            <a:extLst>
              <a:ext uri="{FF2B5EF4-FFF2-40B4-BE49-F238E27FC236}">
                <a16:creationId xmlns:a16="http://schemas.microsoft.com/office/drawing/2014/main" id="{735E283A-672F-C6F9-D0BB-BF0F94DF9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2735263"/>
            <a:ext cx="25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itchFamily="2" charset="0"/>
              </a:rPr>
              <a:t>∫</a:t>
            </a:r>
          </a:p>
        </p:txBody>
      </p:sp>
      <p:sp>
        <p:nvSpPr>
          <p:cNvPr id="40972" name="TextBox 60">
            <a:extLst>
              <a:ext uri="{FF2B5EF4-FFF2-40B4-BE49-F238E27FC236}">
                <a16:creationId xmlns:a16="http://schemas.microsoft.com/office/drawing/2014/main" id="{6C75AF59-799B-E7A7-8E77-7C4C48198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3016250"/>
            <a:ext cx="2873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0973" name="TextBox 61">
            <a:extLst>
              <a:ext uri="{FF2B5EF4-FFF2-40B4-BE49-F238E27FC236}">
                <a16:creationId xmlns:a16="http://schemas.microsoft.com/office/drawing/2014/main" id="{0488753C-858F-FC99-5D12-8FF5A08CA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2536825"/>
            <a:ext cx="4016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+1</a:t>
            </a:r>
          </a:p>
        </p:txBody>
      </p:sp>
      <p:sp>
        <p:nvSpPr>
          <p:cNvPr id="40974" name="TextBox 62">
            <a:extLst>
              <a:ext uri="{FF2B5EF4-FFF2-40B4-BE49-F238E27FC236}">
                <a16:creationId xmlns:a16="http://schemas.microsoft.com/office/drawing/2014/main" id="{8A92FAE1-B729-AC2E-7415-6E2D3315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0" y="2735263"/>
            <a:ext cx="969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dx x =  </a:t>
            </a:r>
          </a:p>
        </p:txBody>
      </p:sp>
      <p:sp>
        <p:nvSpPr>
          <p:cNvPr id="40975" name="Rectangle 63">
            <a:extLst>
              <a:ext uri="{FF2B5EF4-FFF2-40B4-BE49-F238E27FC236}">
                <a16:creationId xmlns:a16="http://schemas.microsoft.com/office/drawing/2014/main" id="{4734652A-5DBD-C27F-0620-353C914F6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755900"/>
            <a:ext cx="36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76" name="TextBox 64">
            <a:extLst>
              <a:ext uri="{FF2B5EF4-FFF2-40B4-BE49-F238E27FC236}">
                <a16:creationId xmlns:a16="http://schemas.microsoft.com/office/drawing/2014/main" id="{8569A952-FE32-9C56-D8F4-5DAE9F778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100" y="2536825"/>
            <a:ext cx="333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0977" name="TextBox 65">
            <a:extLst>
              <a:ext uri="{FF2B5EF4-FFF2-40B4-BE49-F238E27FC236}">
                <a16:creationId xmlns:a16="http://schemas.microsoft.com/office/drawing/2014/main" id="{7A1D31A4-541F-23C8-67B0-0AFBADB80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3" y="3082925"/>
            <a:ext cx="10223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i=(N/2)+1</a:t>
            </a:r>
          </a:p>
        </p:txBody>
      </p:sp>
      <p:sp>
        <p:nvSpPr>
          <p:cNvPr id="40978" name="TextBox 66">
            <a:extLst>
              <a:ext uri="{FF2B5EF4-FFF2-40B4-BE49-F238E27FC236}">
                <a16:creationId xmlns:a16="http://schemas.microsoft.com/office/drawing/2014/main" id="{0B3579DD-CA65-9CE9-1CBA-1AE64B4ED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150" y="2752725"/>
            <a:ext cx="1252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w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= 0.5</a:t>
            </a:r>
          </a:p>
        </p:txBody>
      </p:sp>
      <p:sp>
        <p:nvSpPr>
          <p:cNvPr id="68" name="Slide Number Placeholder 6">
            <a:extLst>
              <a:ext uri="{FF2B5EF4-FFF2-40B4-BE49-F238E27FC236}">
                <a16:creationId xmlns:a16="http://schemas.microsoft.com/office/drawing/2014/main" id="{4FB74F0E-2D57-F868-53A6-2AE6F5D9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C3617287-59FF-0345-B1DF-4E07DF3C6362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80" name="TextBox 13">
            <a:extLst>
              <a:ext uri="{FF2B5EF4-FFF2-40B4-BE49-F238E27FC236}">
                <a16:creationId xmlns:a16="http://schemas.microsoft.com/office/drawing/2014/main" id="{C3423E26-41D5-0110-2315-6B0D62DB9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3786188"/>
            <a:ext cx="886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Case: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81" name="Rectangle 59">
            <a:extLst>
              <a:ext uri="{FF2B5EF4-FFF2-40B4-BE49-F238E27FC236}">
                <a16:creationId xmlns:a16="http://schemas.microsoft.com/office/drawing/2014/main" id="{B617E437-1E2D-87AF-1DD8-51A4B584E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4576763"/>
            <a:ext cx="25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itchFamily="2" charset="0"/>
              </a:rPr>
              <a:t>∫</a:t>
            </a:r>
          </a:p>
        </p:txBody>
      </p:sp>
      <p:sp>
        <p:nvSpPr>
          <p:cNvPr id="40982" name="TextBox 60">
            <a:extLst>
              <a:ext uri="{FF2B5EF4-FFF2-40B4-BE49-F238E27FC236}">
                <a16:creationId xmlns:a16="http://schemas.microsoft.com/office/drawing/2014/main" id="{C29123CD-E857-EB58-369A-B28E83E07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4865688"/>
            <a:ext cx="3317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0983" name="TextBox 61">
            <a:extLst>
              <a:ext uri="{FF2B5EF4-FFF2-40B4-BE49-F238E27FC236}">
                <a16:creationId xmlns:a16="http://schemas.microsoft.com/office/drawing/2014/main" id="{882F3932-193E-9BCD-EB36-EA6CAF5CF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4359275"/>
            <a:ext cx="3222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0984" name="TextBox 62">
            <a:extLst>
              <a:ext uri="{FF2B5EF4-FFF2-40B4-BE49-F238E27FC236}">
                <a16:creationId xmlns:a16="http://schemas.microsoft.com/office/drawing/2014/main" id="{9E56882D-99D5-76C4-97F9-250772D52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4576763"/>
            <a:ext cx="1333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dx x =  C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0985" name="Rectangle 63">
            <a:extLst>
              <a:ext uri="{FF2B5EF4-FFF2-40B4-BE49-F238E27FC236}">
                <a16:creationId xmlns:a16="http://schemas.microsoft.com/office/drawing/2014/main" id="{57EF22EB-5DD2-BD6C-ADC4-2503BB233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025" y="4598988"/>
            <a:ext cx="36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86" name="TextBox 64">
            <a:extLst>
              <a:ext uri="{FF2B5EF4-FFF2-40B4-BE49-F238E27FC236}">
                <a16:creationId xmlns:a16="http://schemas.microsoft.com/office/drawing/2014/main" id="{7413D90A-EBCF-E78A-67A9-B5A9D8FEF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2488" y="4379913"/>
            <a:ext cx="333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0987" name="TextBox 65">
            <a:extLst>
              <a:ext uri="{FF2B5EF4-FFF2-40B4-BE49-F238E27FC236}">
                <a16:creationId xmlns:a16="http://schemas.microsoft.com/office/drawing/2014/main" id="{B2C74C70-D3F5-951E-2F0E-1938B0D98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5338" y="4889500"/>
            <a:ext cx="4603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i=1</a:t>
            </a:r>
          </a:p>
        </p:txBody>
      </p:sp>
      <p:sp>
        <p:nvSpPr>
          <p:cNvPr id="40988" name="TextBox 66">
            <a:extLst>
              <a:ext uri="{FF2B5EF4-FFF2-40B4-BE49-F238E27FC236}">
                <a16:creationId xmlns:a16="http://schemas.microsoft.com/office/drawing/2014/main" id="{5879D95C-9D60-7541-171B-692C9F8FB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2538" y="4595813"/>
            <a:ext cx="742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x’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w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0989" name="TextBox 1">
            <a:extLst>
              <a:ext uri="{FF2B5EF4-FFF2-40B4-BE49-F238E27FC236}">
                <a16:creationId xmlns:a16="http://schemas.microsoft.com/office/drawing/2014/main" id="{12230E8E-8250-4622-757A-D25C3E00F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5380038"/>
            <a:ext cx="1704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x’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= C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+ C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  </a:t>
            </a:r>
          </a:p>
        </p:txBody>
      </p:sp>
      <p:sp>
        <p:nvSpPr>
          <p:cNvPr id="40990" name="TextBox 30">
            <a:extLst>
              <a:ext uri="{FF2B5EF4-FFF2-40B4-BE49-F238E27FC236}">
                <a16:creationId xmlns:a16="http://schemas.microsoft.com/office/drawing/2014/main" id="{8C0CDFD5-E08C-7565-3288-7EBF71ED3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5929313"/>
            <a:ext cx="3197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= (B-A)/2 and C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 = (B+A)/2 </a:t>
            </a:r>
          </a:p>
        </p:txBody>
      </p:sp>
      <p:sp>
        <p:nvSpPr>
          <p:cNvPr id="40991" name="TextBox 31">
            <a:extLst>
              <a:ext uri="{FF2B5EF4-FFF2-40B4-BE49-F238E27FC236}">
                <a16:creationId xmlns:a16="http://schemas.microsoft.com/office/drawing/2014/main" id="{160B72CF-50A6-EA73-AB5B-0D684B3EF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6448425"/>
            <a:ext cx="6570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In the above, x’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are the </a:t>
            </a:r>
            <a:r>
              <a:rPr lang="en-US" altLang="en-US" sz="1800">
                <a:solidFill>
                  <a:srgbClr val="2524F4"/>
                </a:solidFill>
                <a:latin typeface="Times New Roman" panose="02020603050405020304" pitchFamily="18" charset="0"/>
              </a:rPr>
              <a:t>modified ordinates </a:t>
            </a:r>
            <a:r>
              <a:rPr lang="en-US" altLang="en-US" sz="1800">
                <a:latin typeface="Times New Roman" panose="02020603050405020304" pitchFamily="18" charset="0"/>
              </a:rPr>
              <a:t>that run between A and 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7442FF2E-0906-CD2D-52ED-915252FAF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54050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02– Part 01: Vegetation </a:t>
            </a:r>
            <a:r>
              <a:rPr lang="en-US" alt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CanopyStructure</a:t>
            </a:r>
            <a:endParaRPr lang="en-US" altLang="en-US" sz="2000" b="1" dirty="0">
              <a:solidFill>
                <a:schemeClr val="bg1"/>
              </a:solidFill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68" name="Slide Number Placeholder 6">
            <a:extLst>
              <a:ext uri="{FF2B5EF4-FFF2-40B4-BE49-F238E27FC236}">
                <a16:creationId xmlns:a16="http://schemas.microsoft.com/office/drawing/2014/main" id="{8E150A88-7D2F-6BFD-82C3-71774E97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8E40436D-A374-0E4C-81A2-3500A1899585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TextBox 13">
            <a:extLst>
              <a:ext uri="{FF2B5EF4-FFF2-40B4-BE49-F238E27FC236}">
                <a16:creationId xmlns:a16="http://schemas.microsoft.com/office/drawing/2014/main" id="{9CB0E0E4-C639-5512-5B37-D79CCB47A5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792163"/>
            <a:ext cx="886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Case: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2" name="Rectangle 59">
            <a:extLst>
              <a:ext uri="{FF2B5EF4-FFF2-40B4-BE49-F238E27FC236}">
                <a16:creationId xmlns:a16="http://schemas.microsoft.com/office/drawing/2014/main" id="{B6E581C7-B626-B6ED-876B-07990C545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1452563"/>
            <a:ext cx="25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itchFamily="2" charset="0"/>
              </a:rPr>
              <a:t>∫</a:t>
            </a:r>
          </a:p>
        </p:txBody>
      </p:sp>
      <p:sp>
        <p:nvSpPr>
          <p:cNvPr id="43013" name="TextBox 60">
            <a:extLst>
              <a:ext uri="{FF2B5EF4-FFF2-40B4-BE49-F238E27FC236}">
                <a16:creationId xmlns:a16="http://schemas.microsoft.com/office/drawing/2014/main" id="{4F75D687-65D7-BAE2-C2BB-15F60D59E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1743075"/>
            <a:ext cx="3317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43014" name="TextBox 61">
            <a:extLst>
              <a:ext uri="{FF2B5EF4-FFF2-40B4-BE49-F238E27FC236}">
                <a16:creationId xmlns:a16="http://schemas.microsoft.com/office/drawing/2014/main" id="{B970C9D0-95E9-092B-99CC-F3B88D2E8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236663"/>
            <a:ext cx="322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43015" name="TextBox 62">
            <a:extLst>
              <a:ext uri="{FF2B5EF4-FFF2-40B4-BE49-F238E27FC236}">
                <a16:creationId xmlns:a16="http://schemas.microsoft.com/office/drawing/2014/main" id="{E7E8D9AB-AFB1-C313-7ADC-C527F362D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1452563"/>
            <a:ext cx="1333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dx x =  C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3016" name="Rectangle 63">
            <a:extLst>
              <a:ext uri="{FF2B5EF4-FFF2-40B4-BE49-F238E27FC236}">
                <a16:creationId xmlns:a16="http://schemas.microsoft.com/office/drawing/2014/main" id="{64CB19DB-2BFB-64AD-EB9D-FDA7E5C8A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8150" y="1476375"/>
            <a:ext cx="368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2" charset="2"/>
              </a:rPr>
              <a:t></a:t>
            </a:r>
            <a:endParaRPr lang="en-US" altLang="en-US" sz="20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7" name="TextBox 64">
            <a:extLst>
              <a:ext uri="{FF2B5EF4-FFF2-40B4-BE49-F238E27FC236}">
                <a16:creationId xmlns:a16="http://schemas.microsoft.com/office/drawing/2014/main" id="{F87FFE83-25FC-1C78-5805-D5059F280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5613" y="1257300"/>
            <a:ext cx="333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43018" name="TextBox 65">
            <a:extLst>
              <a:ext uri="{FF2B5EF4-FFF2-40B4-BE49-F238E27FC236}">
                <a16:creationId xmlns:a16="http://schemas.microsoft.com/office/drawing/2014/main" id="{537FC3B5-0D5E-8FED-02B8-DFEF9B7E0A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463" y="1766888"/>
            <a:ext cx="4603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i=1</a:t>
            </a:r>
          </a:p>
        </p:txBody>
      </p:sp>
      <p:sp>
        <p:nvSpPr>
          <p:cNvPr id="43019" name="TextBox 66">
            <a:extLst>
              <a:ext uri="{FF2B5EF4-FFF2-40B4-BE49-F238E27FC236}">
                <a16:creationId xmlns:a16="http://schemas.microsoft.com/office/drawing/2014/main" id="{FAF74BD0-01D8-360E-0B2B-63B766A9E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663" y="1473200"/>
            <a:ext cx="742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x’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 w</a:t>
            </a:r>
            <a:r>
              <a:rPr lang="en-US" altLang="en-US" sz="2000" baseline="-25000">
                <a:latin typeface="Times New Roman" panose="02020603050405020304" pitchFamily="18" charset="0"/>
              </a:rPr>
              <a:t>i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43020" name="TextBox 1">
            <a:extLst>
              <a:ext uri="{FF2B5EF4-FFF2-40B4-BE49-F238E27FC236}">
                <a16:creationId xmlns:a16="http://schemas.microsoft.com/office/drawing/2014/main" id="{58E1ADF6-24DD-7AF8-B88A-6E6F61671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255838"/>
            <a:ext cx="16462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x’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= C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x</a:t>
            </a:r>
            <a:r>
              <a:rPr lang="en-US" altLang="en-US" sz="1800" baseline="-25000">
                <a:latin typeface="Times New Roman" panose="02020603050405020304" pitchFamily="18" charset="0"/>
              </a:rPr>
              <a:t>i</a:t>
            </a:r>
            <a:r>
              <a:rPr lang="en-US" altLang="en-US" sz="1800">
                <a:latin typeface="Times New Roman" panose="02020603050405020304" pitchFamily="18" charset="0"/>
              </a:rPr>
              <a:t> + C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3021" name="TextBox 30">
            <a:extLst>
              <a:ext uri="{FF2B5EF4-FFF2-40B4-BE49-F238E27FC236}">
                <a16:creationId xmlns:a16="http://schemas.microsoft.com/office/drawing/2014/main" id="{40742AEF-2B08-F9F1-FFC3-6524E9ACE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806700"/>
            <a:ext cx="3197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C</a:t>
            </a:r>
            <a:r>
              <a:rPr lang="en-US" altLang="en-US" sz="1800" baseline="-25000">
                <a:latin typeface="Times New Roman" panose="02020603050405020304" pitchFamily="18" charset="0"/>
              </a:rPr>
              <a:t>1</a:t>
            </a:r>
            <a:r>
              <a:rPr lang="en-US" altLang="en-US" sz="1800">
                <a:latin typeface="Times New Roman" panose="02020603050405020304" pitchFamily="18" charset="0"/>
              </a:rPr>
              <a:t> = (B-A)/2 and C</a:t>
            </a:r>
            <a:r>
              <a:rPr lang="en-US" altLang="en-US" sz="1800" baseline="-25000">
                <a:latin typeface="Times New Roman" panose="02020603050405020304" pitchFamily="18" charset="0"/>
              </a:rPr>
              <a:t>2</a:t>
            </a:r>
            <a:r>
              <a:rPr lang="en-US" altLang="en-US" sz="1800">
                <a:latin typeface="Times New Roman" panose="02020603050405020304" pitchFamily="18" charset="0"/>
              </a:rPr>
              <a:t> = (B+A)/2 </a:t>
            </a:r>
          </a:p>
        </p:txBody>
      </p:sp>
      <p:sp>
        <p:nvSpPr>
          <p:cNvPr id="43022" name="TextBox 13">
            <a:extLst>
              <a:ext uri="{FF2B5EF4-FFF2-40B4-BE49-F238E27FC236}">
                <a16:creationId xmlns:a16="http://schemas.microsoft.com/office/drawing/2014/main" id="{380EB1C5-362E-B800-1813-831212058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" y="3462338"/>
            <a:ext cx="8866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b="1" u="sng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Case:</a:t>
            </a:r>
            <a:endParaRPr lang="en-US" altLang="en-US" sz="2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23" name="Rectangle 59">
            <a:extLst>
              <a:ext uri="{FF2B5EF4-FFF2-40B4-BE49-F238E27FC236}">
                <a16:creationId xmlns:a16="http://schemas.microsoft.com/office/drawing/2014/main" id="{B8232C2E-9C55-239E-85D2-19DD3CD6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4151313"/>
            <a:ext cx="254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Helvetica" pitchFamily="2" charset="0"/>
              </a:rPr>
              <a:t>∫</a:t>
            </a:r>
          </a:p>
        </p:txBody>
      </p:sp>
      <p:sp>
        <p:nvSpPr>
          <p:cNvPr id="43024" name="TextBox 60">
            <a:extLst>
              <a:ext uri="{FF2B5EF4-FFF2-40B4-BE49-F238E27FC236}">
                <a16:creationId xmlns:a16="http://schemas.microsoft.com/office/drawing/2014/main" id="{5F5EFB23-8F64-E08F-7E77-DDE68E819C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188" y="4441825"/>
            <a:ext cx="2873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43025" name="TextBox 61">
            <a:extLst>
              <a:ext uri="{FF2B5EF4-FFF2-40B4-BE49-F238E27FC236}">
                <a16:creationId xmlns:a16="http://schemas.microsoft.com/office/drawing/2014/main" id="{0A61D3B7-435F-0C6C-DFEF-A2CE4FBD9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438" y="3898900"/>
            <a:ext cx="490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/2</a:t>
            </a:r>
            <a:endParaRPr lang="en-US" altLang="en-US" sz="1800">
              <a:latin typeface="Times New Roman" panose="02020603050405020304" pitchFamily="18" charset="0"/>
            </a:endParaRPr>
          </a:p>
        </p:txBody>
      </p:sp>
      <p:sp>
        <p:nvSpPr>
          <p:cNvPr id="43026" name="TextBox 62">
            <a:extLst>
              <a:ext uri="{FF2B5EF4-FFF2-40B4-BE49-F238E27FC236}">
                <a16:creationId xmlns:a16="http://schemas.microsoft.com/office/drawing/2014/main" id="{295A1CCE-4D47-3670-DE6D-FD58D6AB3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325" y="4151313"/>
            <a:ext cx="530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</a:t>
            </a:r>
            <a:r>
              <a:rPr lang="el-GR" altLang="en-US" sz="1800">
                <a:latin typeface="Times New Roman" panose="02020603050405020304" pitchFamily="18" charset="0"/>
              </a:rPr>
              <a:t>θ</a:t>
            </a:r>
            <a:r>
              <a:rPr lang="en-US" altLang="en-US" sz="1800" baseline="-25000"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</a:rPr>
              <a:t> g</a:t>
            </a:r>
            <a:r>
              <a:rPr lang="en-US" altLang="en-US" sz="1800" baseline="-25000"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l-GR" altLang="en-US" sz="1800">
                <a:latin typeface="Times New Roman" panose="02020603050405020304" pitchFamily="18" charset="0"/>
              </a:rPr>
              <a:t>θ</a:t>
            </a:r>
            <a:r>
              <a:rPr lang="en-US" altLang="en-US" sz="1800" baseline="-25000"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</a:rPr>
              <a:t>) sin </a:t>
            </a:r>
            <a:r>
              <a:rPr lang="el-GR" altLang="en-US" sz="1800">
                <a:latin typeface="Times New Roman" panose="02020603050405020304" pitchFamily="18" charset="0"/>
              </a:rPr>
              <a:t>θ</a:t>
            </a:r>
            <a:r>
              <a:rPr lang="en-US" altLang="en-US" sz="1800" baseline="-25000"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</a:rPr>
              <a:t> = 1, where g</a:t>
            </a:r>
            <a:r>
              <a:rPr lang="en-US" altLang="en-US" sz="1800" baseline="-25000"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l-GR" altLang="en-US" sz="1800">
                <a:latin typeface="Times New Roman" panose="02020603050405020304" pitchFamily="18" charset="0"/>
              </a:rPr>
              <a:t>θ</a:t>
            </a:r>
            <a:r>
              <a:rPr lang="en-US" altLang="en-US" sz="1800" baseline="-25000">
                <a:latin typeface="Times New Roman" panose="02020603050405020304" pitchFamily="18" charset="0"/>
              </a:rPr>
              <a:t>L</a:t>
            </a:r>
            <a:r>
              <a:rPr lang="en-US" altLang="en-US" sz="1800">
                <a:latin typeface="Times New Roman" panose="02020603050405020304" pitchFamily="18" charset="0"/>
              </a:rPr>
              <a:t>) = </a:t>
            </a:r>
            <a:r>
              <a:rPr lang="en-US" altLang="en-US" sz="1200">
                <a:solidFill>
                  <a:schemeClr val="bg1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>
                <a:latin typeface="Times New Roman" panose="02020603050405020304" pitchFamily="18" charset="0"/>
              </a:rPr>
              <a:t>2/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 </a:t>
            </a:r>
            <a:r>
              <a:rPr lang="en-US" altLang="en-US" sz="1800">
                <a:latin typeface="Times New Roman" panose="02020603050405020304" pitchFamily="18" charset="0"/>
              </a:rPr>
              <a:t>(1 + cos 2</a:t>
            </a:r>
            <a:r>
              <a:rPr lang="el-GR" altLang="en-US" sz="1800">
                <a:latin typeface="Times New Roman" panose="02020603050405020304" pitchFamily="18" charset="0"/>
              </a:rPr>
              <a:t>θ</a:t>
            </a:r>
            <a:r>
              <a:rPr lang="en-US" altLang="en-US" sz="1800" baseline="-25000">
                <a:latin typeface="Times New Roman" panose="02020603050405020304" pitchFamily="18" charset="0"/>
              </a:rPr>
              <a:t>L</a:t>
            </a:r>
            <a:r>
              <a:rPr lang="el-GR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>
                <a:latin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027" name="TextBox 13">
                <a:extLst>
                  <a:ext uri="{FF2B5EF4-FFF2-40B4-BE49-F238E27FC236}">
                    <a16:creationId xmlns:a16="http://schemas.microsoft.com/office/drawing/2014/main" id="{E12B09B5-8081-D969-5695-5C71AE9110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188" y="4879975"/>
                <a:ext cx="8763087" cy="15388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 marL="457200" indent="-4572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en-US" sz="2000" b="1" dirty="0">
                    <a:solidFill>
                      <a:srgbClr val="10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Report:</a:t>
                </a:r>
                <a:endParaRPr lang="en-US" alt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Plot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figure on Slide 11 of this Lecture and write the caption</a:t>
                </a:r>
              </a:p>
              <a:p>
                <a:pPr eaLnBrk="1" hangingPunct="1">
                  <a:spcBef>
                    <a:spcPct val="0"/>
                  </a:spcBef>
                </a:pPr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Download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from Class Website</a:t>
                </a:r>
                <a:b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Code 01 – Sets up 12-point Gauss Quadrature and Verifies</a:t>
                </a:r>
              </a:p>
              <a:p>
                <a:pPr marL="0" indent="0" eaLnBrk="1" hangingPunct="1">
                  <a:spcBef>
                    <a:spcPct val="0"/>
                  </a:spcBef>
                  <a:buNone/>
                </a:pPr>
                <a:r>
                  <a:rPr lang="en-US" altLang="en-US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Code 02– 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Verifies that various models for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2000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are </a:t>
                </a:r>
                <a:r>
                  <a:rPr lang="en-US" alt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pdf</a:t>
                </a:r>
                <a:r>
                  <a:rPr lang="en-US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</a:p>
            </p:txBody>
          </p:sp>
        </mc:Choice>
        <mc:Fallback xmlns="">
          <p:sp>
            <p:nvSpPr>
              <p:cNvPr id="43027" name="TextBox 13">
                <a:extLst>
                  <a:ext uri="{FF2B5EF4-FFF2-40B4-BE49-F238E27FC236}">
                    <a16:creationId xmlns:a16="http://schemas.microsoft.com/office/drawing/2014/main" id="{E12B09B5-8081-D969-5695-5C71AE911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188" y="4879975"/>
                <a:ext cx="8763087" cy="1538883"/>
              </a:xfrm>
              <a:prstGeom prst="rect">
                <a:avLst/>
              </a:prstGeom>
              <a:blipFill>
                <a:blip r:embed="rId3"/>
                <a:stretch>
                  <a:fillRect l="-1884" t="-4918" b="-901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28" name="TextBox 1">
            <a:extLst>
              <a:ext uri="{FF2B5EF4-FFF2-40B4-BE49-F238E27FC236}">
                <a16:creationId xmlns:a16="http://schemas.microsoft.com/office/drawing/2014/main" id="{9F45EC63-EB53-CA35-A038-9CA34889B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6113" y="3952875"/>
            <a:ext cx="314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_</a:t>
            </a:r>
          </a:p>
        </p:txBody>
      </p:sp>
      <p:sp>
        <p:nvSpPr>
          <p:cNvPr id="43029" name="TextBox 2">
            <a:extLst>
              <a:ext uri="{FF2B5EF4-FFF2-40B4-BE49-F238E27FC236}">
                <a16:creationId xmlns:a16="http://schemas.microsoft.com/office/drawing/2014/main" id="{9AAD0BC7-BE48-4CDE-B9D6-BE1F07FCB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3870325"/>
            <a:ext cx="338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bg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chemeClr val="tx1"/>
                </a:solidFill>
              </a:rPr>
              <a:t>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7459</TotalTime>
  <Words>1978</Words>
  <Application>Microsoft Macintosh PowerPoint</Application>
  <PresentationFormat>On-screen Show (4:3)</PresentationFormat>
  <Paragraphs>255</Paragraphs>
  <Slides>18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MS Mincho</vt:lpstr>
      <vt:lpstr>Arial</vt:lpstr>
      <vt:lpstr>Calibri</vt:lpstr>
      <vt:lpstr>Cambria Math</vt:lpstr>
      <vt:lpstr>Helvetica</vt:lpstr>
      <vt:lpstr>Times</vt:lpstr>
      <vt:lpstr>Times New Roman</vt:lpstr>
      <vt:lpstr>Office Theme</vt:lpstr>
      <vt:lpstr>Picture</vt:lpstr>
      <vt:lpstr>PowerPoint Presentation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CanopyStructure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 Structure</vt:lpstr>
      <vt:lpstr>PHYSICAL MODELS IN REMOTE SENSING Chapter 02– Part 01: Vegetation CanopyStructure</vt:lpstr>
      <vt:lpstr>PHYSICAL MODELS IN REMOTE SENSING Chapter 02– Part 01: Vegetation CanopyStructure</vt:lpstr>
      <vt:lpstr>PHYSICAL MODELS IN REMOTE SENSING Chapter 02– Part 01: Vegetation CanopyStructure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 B</cp:lastModifiedBy>
  <cp:revision>823</cp:revision>
  <cp:lastPrinted>2019-09-03T16:52:39Z</cp:lastPrinted>
  <dcterms:created xsi:type="dcterms:W3CDTF">2012-01-16T18:47:06Z</dcterms:created>
  <dcterms:modified xsi:type="dcterms:W3CDTF">2026-03-02T21:15:06Z</dcterms:modified>
</cp:coreProperties>
</file>