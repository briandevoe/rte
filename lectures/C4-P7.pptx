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4"/>
  </p:notesMasterIdLst>
  <p:sldIdLst>
    <p:sldId id="762" r:id="rId2"/>
    <p:sldId id="785" r:id="rId3"/>
    <p:sldId id="786" r:id="rId4"/>
    <p:sldId id="787" r:id="rId5"/>
    <p:sldId id="788" r:id="rId6"/>
    <p:sldId id="789" r:id="rId7"/>
    <p:sldId id="790" r:id="rId8"/>
    <p:sldId id="791" r:id="rId9"/>
    <p:sldId id="792" r:id="rId10"/>
    <p:sldId id="793" r:id="rId11"/>
    <p:sldId id="794" r:id="rId12"/>
    <p:sldId id="795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41"/>
    <p:restoredTop sz="94660"/>
  </p:normalViewPr>
  <p:slideViewPr>
    <p:cSldViewPr snapToGrid="0">
      <p:cViewPr varScale="1">
        <p:scale>
          <a:sx n="146" d="100"/>
          <a:sy n="146" d="100"/>
        </p:scale>
        <p:origin x="1440" y="176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7E4638DB-2DC7-EDF5-3919-35955B6E1C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E3414FFF-5F71-1AF1-2B9E-0B2219B20C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8F49FFEE-889B-81F0-526C-8855F05F803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0C5ED618-ACE8-0B5B-2417-25F1378CF5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CFA5C986-AB37-B0A8-BAFF-E40EC78B51F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92D31802-4410-E2A5-914D-240360015C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662CC968-65CE-4146-876C-EA031E98C6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EFF347B8-9090-B6BF-3FF1-21ADC8D13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BE5372-6580-0944-B980-FE2592E99ECA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5593C00-88BB-4725-33A1-C0F082D91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39B4D9D-7723-FF16-7FA0-1C293C776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AA5665AB-7B01-5F61-45FD-54B33E38B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3AD92BD-18C8-5549-8DB5-EBDB505537AA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D5E9FA32-1B3B-7631-D5D1-5F5A57D991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5306402-D910-E57B-6054-655EC50D9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3789E3A7-AC1F-B9F1-B654-13276CAA6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ABD190-B435-9348-8061-CBCB4DC2A60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4ED62A09-507E-76CC-E1E3-8E60B8C66C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C99CD78E-6670-8F98-7220-D8F60AF49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551910CC-C756-57DD-CFA0-5885530BA0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C3F6F0-12B6-9042-9822-D74CBA78E167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17757093-8589-FE84-61BB-4C7173AA85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3733C05-A3C1-37E9-7365-2CD1FE0DB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32405E36-ABC5-C320-E8A8-0EED648B6A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B1BDF4E-B3E5-E649-87A9-FFED395D6480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9CB4BD41-7ABE-9EEF-EF2E-4456C084E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3BEE573-4A6B-2E13-99C0-EA04698FB7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F07ADB03-2ADB-C533-DADB-ADEBB697D4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A2CEA6-DF5B-3E4B-8114-4F85010278B7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2B17851A-658B-5C72-DAB8-36E9F6D22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75D0DDEA-3617-3700-AF52-8CB43CD14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6C4177DE-0603-6E68-113A-42CFC2090D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C00C90-C436-DF49-9DC5-60F6CD45DF29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9123549-2AD7-8495-7CF9-84EB87F42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6DEC507-F3A7-2319-AAC7-80443DEC5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9A36C423-6581-38D7-E189-DEDE0B5DB3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03C5E0-E32D-714F-86A4-324EB1CB545A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D4BBA421-9F8B-1852-063D-893288EF6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947AF51-F5C8-C80E-1511-EEF4032ED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DAE0E394-EB8A-296A-774E-45A6C2D798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2B6DED-F3D5-7246-9B79-44DDD1194CDF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5F409D4F-A166-D1F8-B399-A3B5ED3802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0EF0953-FFFE-EC2F-916C-855F37972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F2288-F431-C937-6A6E-0E27A415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A5CCB79A-CCDB-4C72-6F01-CB40C93459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2B6DED-F3D5-7246-9B79-44DDD1194CDF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EA2468BC-9D95-E7B4-2B24-65CEAFA326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7BA2F88-98A6-8360-2E14-3F33CB23B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7043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346E-7C75-0910-9EE7-EEE6271E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C343B2D6-625D-0A54-D716-238B852D2E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2B6DED-F3D5-7246-9B79-44DDD1194CDF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2EA091C2-F106-820F-25F0-6AFCBDDA0F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4AC8F6A-97F4-CA7B-93AE-A59684BCA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3368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F22D-668E-1896-E8B2-9640E92D0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2D07219-8C83-EC96-4A56-FD0D26B4BC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2B6DED-F3D5-7246-9B79-44DDD1194CDF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A21D031-3FED-C198-70AE-686484148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7FFC310-FEF2-EBC6-7A0C-9CD136F08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574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4EA3F-26FC-5D19-F229-A2E0C0C7B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3E415-DD48-5E4C-A505-BA0357522076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BE3A-B9BA-BAA3-629F-4147198C6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E882F-10AE-FD01-B67E-842832CE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C81B1-3071-F242-991B-FD82824F17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051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A029-75F5-0C91-94DA-8A051E509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467240-8660-4F4E-A8DD-A4276803E844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56A13-33F0-90E3-CBFF-975E7221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BE1D-474B-1228-F507-D5227688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7DCA9-4F94-3D49-8E2D-21FF916398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296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1962-2886-F1ED-2DA1-F5A22103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C94D2-E359-5C41-8D21-BA05520E7615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A81AC-4654-43CA-A2ED-D2ED0A24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BE999-6D1D-7D56-68D4-58E5FA8E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BA637-C6C5-1147-996A-602348228C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59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F28FE8-E70F-1540-DB22-E13A4BE18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6DBAA-7BED-8749-976C-EEF073809D37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99735E6-584F-3F87-8F79-A7898B85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A47940-0CE9-ADCC-507F-5B9BAFFE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5A372-F33B-C443-A5ED-180D14C1F9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4674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A8FEEC-F41D-D656-3399-F4DF45BCD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B609B-7677-564E-9A5E-12E8882586BE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C13F9F-3928-3827-3AEF-D744C1D0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DA96BE5-EB83-7F5F-5618-7C1F2A1B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AE612-C2DA-9C40-BEE0-191D56FF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156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1BE5188-A539-0A8D-7D9A-F8C168E7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0889B-67DF-E144-9A32-BC490B0D41CD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2240289-39C5-54E0-DA17-53862CA6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2D9B3B5-1E63-F07D-2E3B-BD21A72C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7AA95-C5E7-5E47-A066-2E077ECD47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68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6A09BEC-7E4B-678F-E5C6-7FC38411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1BA17-62C9-BA4F-B012-1D1FAC990518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B91890D-EFEF-7526-CAC6-C7E562D3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9ACFFB-0193-F23D-F0E6-205FBEBCA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099D8-AFF2-3249-B5A7-7EC2565419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70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040DA5B-4679-E50A-36F6-B0D568F2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26FE7-315F-1942-BD26-8389C9DD2F86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A3AFB-3FF5-E22A-200A-56EC7DD6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AB6FA61-D3A5-487C-A9B5-0F9FE038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E7567-8529-1348-AEDE-31075C3E9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812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EF2BB3B-F2FE-820C-8265-00C8E60C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B6920-5001-2949-A64C-E565716B9A54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74C8F5-D029-814A-FB23-BD8E554D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0B3FA0-892E-BC09-922D-5DE8B9E1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9345E-9B79-CC43-B4AC-BD68C02323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36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8CD84-6D9B-930A-339A-C754316C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AAB1E-6EE1-DF47-9B4B-00A5DB4D935C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6E716-56E2-9269-5735-B46E432E9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D63C3-8A4E-4021-FED6-E2F80204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DA131-C589-C446-8DB9-455783A6F5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601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DAB34-1F2B-42B6-68C7-4617DEC9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FAAC0-BE07-234E-B341-9718E19C58C1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6C013-3AE0-1741-8312-F446782E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0B9E-7505-8FCB-F55E-1262637E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D38B4-5689-4A44-A52B-791746610C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44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C284E7C-B502-8602-C8D6-E3A4CF57DB5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E6C2849-5A32-FE78-373A-C488F5C624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771A-3E57-BDF9-13A7-9B9498BD6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D048DB4B-947A-8D4C-8B09-FCAED1117622}" type="datetime1">
              <a:rPr lang="en-US"/>
              <a:pPr>
                <a:defRPr/>
              </a:pPr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F0EB2-FBEA-1DE5-D052-56051AA7B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ED441-6EF9-8FD2-79A8-D8BAC7E01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0FC986D-C744-5B40-944D-BFB1747817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D2C1BAA8-AC06-9E1E-6871-326A8EF2C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82424FC-977F-9C49-ECD2-A75E32F10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85A48A2-3D19-1849-965C-96376B3D2E6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457B174C-56C7-CAFB-B428-87393415E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8031"/>
            <a:ext cx="273417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Fluxes vs Intensities</a:t>
            </a:r>
          </a:p>
        </p:txBody>
      </p:sp>
      <p:sp>
        <p:nvSpPr>
          <p:cNvPr id="14340" name="TextBox 7">
            <a:extLst>
              <a:ext uri="{FF2B5EF4-FFF2-40B4-BE49-F238E27FC236}">
                <a16:creationId xmlns:a16="http://schemas.microsoft.com/office/drawing/2014/main" id="{684B07E2-CB59-CD09-25CA-73E85F2DA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4" y="1525523"/>
            <a:ext cx="8850312" cy="502291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cases,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of interest as opposed to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intensities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 in remote sensing). 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include: </a:t>
            </a:r>
            <a:r>
              <a:rPr lang="en-US" altLang="en-US" sz="1800" dirty="0">
                <a:solidFill>
                  <a:srgbClr val="184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land surface energy budget, carbon assimilation, hydrology, etc. 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such models require –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defRPr/>
            </a:pP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reflected flux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surface energy budget),</a:t>
            </a:r>
          </a:p>
          <a:p>
            <a:pPr marL="285750" indent="-285750"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defRPr/>
            </a:pP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absorbed flux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GPP calculation)</a:t>
            </a:r>
          </a:p>
          <a:p>
            <a:pPr marL="285750" indent="-285750"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defRPr/>
            </a:pP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transmitted flux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 ground heat/temp calculation)</a:t>
            </a:r>
          </a:p>
          <a:p>
            <a:pPr marL="285750" indent="-285750"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there is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need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solve the RTE in terms of intensities. A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simplified approach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often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39C8D88-B55F-95EF-453B-FD5987F4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D26E8FB-A1BC-F2C0-2E4F-DAA18DFD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F71840C-BB27-4F4D-9220-33D052983531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387" name="TextBox 7">
            <a:extLst>
              <a:ext uri="{FF2B5EF4-FFF2-40B4-BE49-F238E27FC236}">
                <a16:creationId xmlns:a16="http://schemas.microsoft.com/office/drawing/2014/main" id="{F5ECD7E3-B1EE-E5E8-32D9-6D1B8205F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840582"/>
            <a:ext cx="250775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Fluxes vs Intensities</a:t>
            </a:r>
          </a:p>
        </p:txBody>
      </p:sp>
      <p:sp>
        <p:nvSpPr>
          <p:cNvPr id="16388" name="TextBox 7">
            <a:extLst>
              <a:ext uri="{FF2B5EF4-FFF2-40B4-BE49-F238E27FC236}">
                <a16:creationId xmlns:a16="http://schemas.microsoft.com/office/drawing/2014/main" id="{7887120A-3BFE-ABE2-3D25-4B11BC195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602977"/>
            <a:ext cx="8850312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the relation between the two. For example, the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downward flux density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crossing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horizontally surface at depth L is:</a:t>
            </a:r>
          </a:p>
        </p:txBody>
      </p:sp>
      <p:pic>
        <p:nvPicPr>
          <p:cNvPr id="16389" name="Picture 3">
            <a:extLst>
              <a:ext uri="{FF2B5EF4-FFF2-40B4-BE49-F238E27FC236}">
                <a16:creationId xmlns:a16="http://schemas.microsoft.com/office/drawing/2014/main" id="{D2E43528-57C9-35DF-DCFC-180ED68B9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131" y="2736452"/>
            <a:ext cx="2565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Box 7">
            <a:extLst>
              <a:ext uri="{FF2B5EF4-FFF2-40B4-BE49-F238E27FC236}">
                <a16:creationId xmlns:a16="http://schemas.microsoft.com/office/drawing/2014/main" id="{6FBBE591-F836-DD29-B8AD-E1A6A57A7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4033838"/>
            <a:ext cx="88503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 integrating over the upper hemisphere yields the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upward flux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L.</a:t>
            </a:r>
          </a:p>
        </p:txBody>
      </p:sp>
      <p:sp>
        <p:nvSpPr>
          <p:cNvPr id="16391" name="TextBox 12">
            <a:extLst>
              <a:ext uri="{FF2B5EF4-FFF2-40B4-BE49-F238E27FC236}">
                <a16:creationId xmlns:a16="http://schemas.microsoft.com/office/drawing/2014/main" id="{F5B927D3-51F8-BBBD-CCA0-5D43BD61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2131" y="5014912"/>
            <a:ext cx="2405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F</a:t>
            </a:r>
            <a:r>
              <a:rPr lang="en-US" altLang="en-US" sz="1800" baseline="30000" dirty="0">
                <a:latin typeface="Times New Roman" panose="02020603050405020304" pitchFamily="18" charset="0"/>
              </a:rPr>
              <a:t>u</a:t>
            </a:r>
            <a:r>
              <a:rPr lang="en-US" altLang="en-US" sz="1800" dirty="0">
                <a:latin typeface="Times New Roman" panose="02020603050405020304" pitchFamily="18" charset="0"/>
              </a:rPr>
              <a:t>(L) = ∫ d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l-GR" altLang="en-US" sz="1800" dirty="0">
                <a:latin typeface="Times New Roman" panose="02020603050405020304" pitchFamily="18" charset="0"/>
              </a:rPr>
              <a:t>μ</a:t>
            </a:r>
            <a:r>
              <a:rPr lang="en-US" altLang="en-US" sz="1800" dirty="0">
                <a:latin typeface="Times New Roman" panose="02020603050405020304" pitchFamily="18" charset="0"/>
              </a:rPr>
              <a:t>| I(L,</a:t>
            </a:r>
            <a:r>
              <a:rPr lang="el-GR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l-GR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6392" name="Rectangle 13">
            <a:extLst>
              <a:ext uri="{FF2B5EF4-FFF2-40B4-BE49-F238E27FC236}">
                <a16:creationId xmlns:a16="http://schemas.microsoft.com/office/drawing/2014/main" id="{A04880C3-3C5C-92DB-D4BE-CF6B37BB5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922" y="5255023"/>
            <a:ext cx="503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2π</a:t>
            </a:r>
            <a:r>
              <a:rPr lang="en-US" altLang="en-US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l-GR" altLang="en-US" sz="1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CE05AB5-BC25-9BEB-FEF1-3C92D4DB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2C75F19-4F58-63E8-CED3-FAD488AE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9649419-E1C9-4E49-AF8B-2AC05B05F74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TextBox 7">
            <a:extLst>
              <a:ext uri="{FF2B5EF4-FFF2-40B4-BE49-F238E27FC236}">
                <a16:creationId xmlns:a16="http://schemas.microsoft.com/office/drawing/2014/main" id="{E4AB04F3-415E-41AD-33DE-9E4FEB23E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41375"/>
            <a:ext cx="1157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</a:p>
        </p:txBody>
      </p:sp>
      <p:sp>
        <p:nvSpPr>
          <p:cNvPr id="18436" name="TextBox 7">
            <a:extLst>
              <a:ext uri="{FF2B5EF4-FFF2-40B4-BE49-F238E27FC236}">
                <a16:creationId xmlns:a16="http://schemas.microsoft.com/office/drawing/2014/main" id="{2BA92594-BB10-3572-C58B-F9804379C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695450"/>
            <a:ext cx="8850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8437" name="Picture 3">
            <a:extLst>
              <a:ext uri="{FF2B5EF4-FFF2-40B4-BE49-F238E27FC236}">
                <a16:creationId xmlns:a16="http://schemas.microsoft.com/office/drawing/2014/main" id="{389BCB4A-8E76-F517-1110-36DA670BA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694" y="2389187"/>
            <a:ext cx="5929313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F0FA21F-7DA4-2892-3C56-9C61136E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D836160-73BD-E1EE-2F95-ACFE3D7D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468FEA7D-FC0E-DC47-A8AD-9E26EAFD937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TextBox 7">
            <a:extLst>
              <a:ext uri="{FF2B5EF4-FFF2-40B4-BE49-F238E27FC236}">
                <a16:creationId xmlns:a16="http://schemas.microsoft.com/office/drawing/2014/main" id="{A41529A2-7785-5CB6-53CF-DEF80D208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930" y="831056"/>
            <a:ext cx="1297259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</a:p>
        </p:txBody>
      </p:sp>
      <p:sp>
        <p:nvSpPr>
          <p:cNvPr id="20484" name="TextBox 7">
            <a:extLst>
              <a:ext uri="{FF2B5EF4-FFF2-40B4-BE49-F238E27FC236}">
                <a16:creationId xmlns:a16="http://schemas.microsoft.com/office/drawing/2014/main" id="{3608376A-F590-8F1F-5BB6-8443ADE1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509713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transport equation over all downward directions:</a:t>
            </a:r>
          </a:p>
        </p:txBody>
      </p:sp>
      <p:pic>
        <p:nvPicPr>
          <p:cNvPr id="20485" name="Picture 3">
            <a:extLst>
              <a:ext uri="{FF2B5EF4-FFF2-40B4-BE49-F238E27FC236}">
                <a16:creationId xmlns:a16="http://schemas.microsoft.com/office/drawing/2014/main" id="{65B95F68-1205-35EB-EC2D-713A08CAA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303463"/>
            <a:ext cx="36576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5">
            <a:extLst>
              <a:ext uri="{FF2B5EF4-FFF2-40B4-BE49-F238E27FC236}">
                <a16:creationId xmlns:a16="http://schemas.microsoft.com/office/drawing/2014/main" id="{DBDAB83B-DF23-B4B6-2592-D00D749F4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3433763"/>
            <a:ext cx="57023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639471E-1F02-7685-674C-FBB32B8C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991DEB2-5F7F-8B07-4EFD-B6B1BFC3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B1B1C72-2579-8242-B92F-B95CF9ABC6A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1" name="TextBox 7">
            <a:extLst>
              <a:ext uri="{FF2B5EF4-FFF2-40B4-BE49-F238E27FC236}">
                <a16:creationId xmlns:a16="http://schemas.microsoft.com/office/drawing/2014/main" id="{58BC9D65-6474-B0D9-25A0-4B1D7DCED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5" y="863601"/>
            <a:ext cx="11656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</a:p>
        </p:txBody>
      </p:sp>
      <p:sp>
        <p:nvSpPr>
          <p:cNvPr id="22532" name="TextBox 7">
            <a:extLst>
              <a:ext uri="{FF2B5EF4-FFF2-40B4-BE49-F238E27FC236}">
                <a16:creationId xmlns:a16="http://schemas.microsoft.com/office/drawing/2014/main" id="{26A76428-4312-81E2-E12A-CAE1E0C74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58908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results in a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 for downward fluxes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FBF12A69-6F66-4F54-2337-AA3B85135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50" y="2122488"/>
            <a:ext cx="40259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Box 7">
            <a:extLst>
              <a:ext uri="{FF2B5EF4-FFF2-40B4-BE49-F238E27FC236}">
                <a16:creationId xmlns:a16="http://schemas.microsoft.com/office/drawing/2014/main" id="{DEAA52A0-BAFC-ED4D-8333-8BBA4DA1E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5" y="3640138"/>
            <a:ext cx="1095964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</a:p>
        </p:txBody>
      </p:sp>
      <p:sp>
        <p:nvSpPr>
          <p:cNvPr id="22535" name="TextBox 7">
            <a:extLst>
              <a:ext uri="{FF2B5EF4-FFF2-40B4-BE49-F238E27FC236}">
                <a16:creationId xmlns:a16="http://schemas.microsoft.com/office/drawing/2014/main" id="{87382A0D-3863-5229-086C-35BF07C17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4287838"/>
            <a:ext cx="88503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you can derive another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equation for upward fluxes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2536" name="Picture 7">
            <a:extLst>
              <a:ext uri="{FF2B5EF4-FFF2-40B4-BE49-F238E27FC236}">
                <a16:creationId xmlns:a16="http://schemas.microsoft.com/office/drawing/2014/main" id="{B09322F5-6BD0-05CF-A6B0-F5FD8B0F5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5103813"/>
            <a:ext cx="41021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E19F0B12-EAE5-C643-6E70-AFBB3CD9D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2EDBFF6-31B1-3CBF-4E78-2EF254D6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39D04C7-E6EF-DC4E-B32E-99AF7180298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F7AB6493-A8CC-AD22-D0BD-6C5C5646A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" y="826294"/>
            <a:ext cx="136593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</a:p>
        </p:txBody>
      </p:sp>
      <p:sp>
        <p:nvSpPr>
          <p:cNvPr id="24580" name="TextBox 7">
            <a:extLst>
              <a:ext uri="{FF2B5EF4-FFF2-40B4-BE49-F238E27FC236}">
                <a16:creationId xmlns:a16="http://schemas.microsoft.com/office/drawing/2014/main" id="{6D976B27-EF25-43FA-E5DE-3548E06A1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58908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4581" name="Picture 3">
            <a:extLst>
              <a:ext uri="{FF2B5EF4-FFF2-40B4-BE49-F238E27FC236}">
                <a16:creationId xmlns:a16="http://schemas.microsoft.com/office/drawing/2014/main" id="{8F6B5BA6-F334-F096-9B3B-B9C2EA54E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825" y="2247900"/>
            <a:ext cx="4762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7">
            <a:extLst>
              <a:ext uri="{FF2B5EF4-FFF2-40B4-BE49-F238E27FC236}">
                <a16:creationId xmlns:a16="http://schemas.microsoft.com/office/drawing/2014/main" id="{481985F7-9D2F-2A83-D743-3B5D76CAF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379253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where r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the ground reflectance.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B8FFDF83-471E-8D74-996E-E9069021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F950DD4-D208-AE36-6D9F-BD422C74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552D2D32-CBD4-B342-97DB-A274292E8A7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TextBox 7">
            <a:extLst>
              <a:ext uri="{FF2B5EF4-FFF2-40B4-BE49-F238E27FC236}">
                <a16:creationId xmlns:a16="http://schemas.microsoft.com/office/drawing/2014/main" id="{9684753A-B570-4681-905E-1C6132119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3" y="841376"/>
            <a:ext cx="357790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Two-Stream Problem: </a:t>
            </a:r>
          </a:p>
        </p:txBody>
      </p:sp>
      <p:sp>
        <p:nvSpPr>
          <p:cNvPr id="26628" name="TextBox 7">
            <a:extLst>
              <a:ext uri="{FF2B5EF4-FFF2-40B4-BE49-F238E27FC236}">
                <a16:creationId xmlns:a16="http://schemas.microsoft.com/office/drawing/2014/main" id="{C078BDB5-2967-F96E-50DC-1A168F37A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50018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two-stream problem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thus:</a:t>
            </a:r>
          </a:p>
        </p:txBody>
      </p:sp>
      <p:pic>
        <p:nvPicPr>
          <p:cNvPr id="26629" name="Picture 3">
            <a:extLst>
              <a:ext uri="{FF2B5EF4-FFF2-40B4-BE49-F238E27FC236}">
                <a16:creationId xmlns:a16="http://schemas.microsoft.com/office/drawing/2014/main" id="{9035E699-4880-3B24-16DE-0880C243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3970338"/>
            <a:ext cx="4762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Box 7">
            <a:extLst>
              <a:ext uri="{FF2B5EF4-FFF2-40B4-BE49-F238E27FC236}">
                <a16:creationId xmlns:a16="http://schemas.microsoft.com/office/drawing/2014/main" id="{05B8E3BC-CDF4-AFBA-C781-FBBB2BD5C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3484563"/>
            <a:ext cx="8848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with the following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6631" name="Picture 4">
            <a:extLst>
              <a:ext uri="{FF2B5EF4-FFF2-40B4-BE49-F238E27FC236}">
                <a16:creationId xmlns:a16="http://schemas.microsoft.com/office/drawing/2014/main" id="{C1CCF712-704F-3734-681B-51B6FCF8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238" y="1870075"/>
            <a:ext cx="38481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6">
            <a:extLst>
              <a:ext uri="{FF2B5EF4-FFF2-40B4-BE49-F238E27FC236}">
                <a16:creationId xmlns:a16="http://schemas.microsoft.com/office/drawing/2014/main" id="{E743CED6-4539-1605-9D74-4D5DCC61D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838" y="2657475"/>
            <a:ext cx="4000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TextBox 7">
            <a:extLst>
              <a:ext uri="{FF2B5EF4-FFF2-40B4-BE49-F238E27FC236}">
                <a16:creationId xmlns:a16="http://schemas.microsoft.com/office/drawing/2014/main" id="{97494E55-3DC9-BD46-F923-E47108CC5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5307013"/>
            <a:ext cx="8848725" cy="10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the general case, it is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possible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derive analytical expressions for the coefficients. So,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some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cases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8FEB62EF-CF6D-D350-4C72-25570F76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1183C95-634A-62C7-FFE8-CF6C2094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70F0DCA-A8B2-F84B-888E-35F830DB5DEB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TextBox 7">
            <a:extLst>
              <a:ext uri="{FF2B5EF4-FFF2-40B4-BE49-F238E27FC236}">
                <a16:creationId xmlns:a16="http://schemas.microsoft.com/office/drawing/2014/main" id="{52817FFA-DF09-DC8A-94FC-9BD44EA5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8445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leaves: </a:t>
            </a:r>
          </a:p>
        </p:txBody>
      </p:sp>
      <p:sp>
        <p:nvSpPr>
          <p:cNvPr id="28676" name="TextBox 7">
            <a:extLst>
              <a:ext uri="{FF2B5EF4-FFF2-40B4-BE49-F238E27FC236}">
                <a16:creationId xmlns:a16="http://schemas.microsoft.com/office/drawing/2014/main" id="{9FE800BA-AEDB-CDE5-C641-94B7A925F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50018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l-GR" altLang="en-US" sz="1800" u="sng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function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equal to |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| and 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is,</a:t>
            </a:r>
          </a:p>
        </p:txBody>
      </p:sp>
      <p:sp>
        <p:nvSpPr>
          <p:cNvPr id="28677" name="TextBox 7">
            <a:extLst>
              <a:ext uri="{FF2B5EF4-FFF2-40B4-BE49-F238E27FC236}">
                <a16:creationId xmlns:a16="http://schemas.microsoft.com/office/drawing/2014/main" id="{B57C4AFF-827F-F671-4966-2313086F3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3033713"/>
            <a:ext cx="8848725" cy="103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 specular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reflection from leaf surfaces. In the above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reflectance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>
              <a:solidFill>
                <a:srgbClr val="1A22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transmittance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coefficients. 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coefficients in the flux equations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are simply:</a:t>
            </a:r>
          </a:p>
        </p:txBody>
      </p:sp>
      <p:sp>
        <p:nvSpPr>
          <p:cNvPr id="28678" name="TextBox 7">
            <a:extLst>
              <a:ext uri="{FF2B5EF4-FFF2-40B4-BE49-F238E27FC236}">
                <a16:creationId xmlns:a16="http://schemas.microsoft.com/office/drawing/2014/main" id="{01965A20-B280-40FC-51A5-9AC3E513B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5307013"/>
            <a:ext cx="88487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coefficients, the two-stream equations can be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analytically solved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(see Notes).</a:t>
            </a:r>
          </a:p>
        </p:txBody>
      </p:sp>
      <p:pic>
        <p:nvPicPr>
          <p:cNvPr id="28679" name="Picture 5">
            <a:extLst>
              <a:ext uri="{FF2B5EF4-FFF2-40B4-BE49-F238E27FC236}">
                <a16:creationId xmlns:a16="http://schemas.microsoft.com/office/drawing/2014/main" id="{390DFDCB-E9D4-747C-6C46-3C98065CA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8" y="1962150"/>
            <a:ext cx="3403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Picture 8">
            <a:extLst>
              <a:ext uri="{FF2B5EF4-FFF2-40B4-BE49-F238E27FC236}">
                <a16:creationId xmlns:a16="http://schemas.microsoft.com/office/drawing/2014/main" id="{38E55392-A98B-E03A-D12C-EC8CCC639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516438"/>
            <a:ext cx="48768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867A6580-F0ED-5E6D-DFBC-2C29A01A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550D538-5A6C-ECF5-03F5-BF53761A6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D8A39FF-FB20-BA4C-A61C-904D2CF3A0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53179173-93A6-36E4-C1CE-CE08C25E5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844550"/>
            <a:ext cx="6924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Spherically-Oriented leaves: </a:t>
            </a:r>
          </a:p>
        </p:txBody>
      </p:sp>
      <p:sp>
        <p:nvSpPr>
          <p:cNvPr id="30724" name="TextBox 7">
            <a:extLst>
              <a:ext uri="{FF2B5EF4-FFF2-40B4-BE49-F238E27FC236}">
                <a16:creationId xmlns:a16="http://schemas.microsoft.com/office/drawing/2014/main" id="{A0F08EFB-B1BC-FE37-D6D5-B4AAC2581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500188"/>
            <a:ext cx="8850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G(</a:t>
            </a:r>
            <a:r>
              <a:rPr lang="el-GR" altLang="en-US" sz="1800" u="sng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function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 equal to 0.5 and the </a:t>
            </a:r>
            <a:r>
              <a:rPr lang="en-US" altLang="en-US" sz="180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is,</a:t>
            </a:r>
          </a:p>
        </p:txBody>
      </p:sp>
      <p:sp>
        <p:nvSpPr>
          <p:cNvPr id="30725" name="TextBox 7">
            <a:extLst>
              <a:ext uri="{FF2B5EF4-FFF2-40B4-BE49-F238E27FC236}">
                <a16:creationId xmlns:a16="http://schemas.microsoft.com/office/drawing/2014/main" id="{3A19A906-2A23-995D-60DC-04D681445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8" y="3033713"/>
            <a:ext cx="8848725" cy="236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ignore specular reflection from leaf surfaces. In the above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en-US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reflectance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solidFill>
                <a:srgbClr val="1A22F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transmittance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coefficients. The coefficients in the flux equations can be derived and 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corresponding two-stream equations can be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analytically solved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(see Notes).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particular case has been </a:t>
            </a:r>
            <a:r>
              <a:rPr lang="en-US" altLang="en-US" sz="1800" dirty="0">
                <a:solidFill>
                  <a:srgbClr val="1A22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most land surface models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30726" name="Picture 3">
            <a:extLst>
              <a:ext uri="{FF2B5EF4-FFF2-40B4-BE49-F238E27FC236}">
                <a16:creationId xmlns:a16="http://schemas.microsoft.com/office/drawing/2014/main" id="{EA4D7A55-BF44-43EC-B74B-FCCDB8CE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188" y="2027238"/>
            <a:ext cx="37973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E7C33-01BA-B41B-7334-0A4DBA8E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313630AA-3C0D-B1BD-57D5-6251588F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B4C180A-BD60-CD86-DDA5-7A8BFEE6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D8A39FF-FB20-BA4C-A61C-904D2CF3A0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7B000B00-4D77-6FC2-6A43-65B9F541B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77545"/>
            <a:ext cx="2149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41A6E4C-E114-D480-93E4-D148E345E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431811"/>
                  </p:ext>
                </p:extLst>
              </p:nvPr>
            </p:nvGraphicFramePr>
            <p:xfrm>
              <a:off x="297497" y="1480955"/>
              <a:ext cx="8549005" cy="3186838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1064059">
                      <a:extLst>
                        <a:ext uri="{9D8B030D-6E8A-4147-A177-3AD203B41FA5}">
                          <a16:colId xmlns:a16="http://schemas.microsoft.com/office/drawing/2014/main" val="694427897"/>
                        </a:ext>
                      </a:extLst>
                    </a:gridCol>
                    <a:gridCol w="2548261">
                      <a:extLst>
                        <a:ext uri="{9D8B030D-6E8A-4147-A177-3AD203B41FA5}">
                          <a16:colId xmlns:a16="http://schemas.microsoft.com/office/drawing/2014/main" val="3102255592"/>
                        </a:ext>
                      </a:extLst>
                    </a:gridCol>
                    <a:gridCol w="4936685">
                      <a:extLst>
                        <a:ext uri="{9D8B030D-6E8A-4147-A177-3AD203B41FA5}">
                          <a16:colId xmlns:a16="http://schemas.microsoft.com/office/drawing/2014/main" val="1794562438"/>
                        </a:ext>
                      </a:extLst>
                    </a:gridCol>
                  </a:tblGrid>
                  <a:tr h="328328">
                    <a:tc gridSpan="3"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Table 1. Computed and reported quantities for every canopy type and illumination case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7364467"/>
                      </a:ext>
                    </a:extLst>
                  </a:tr>
                  <a:tr h="328328"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:r>
                            <a:rPr lang="en-US" sz="1000">
                              <a:effectLst/>
                            </a:rPr>
                            <a:t>Quantity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Definition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Physical Meaning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968887010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↓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𝐿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Full solution at depth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𝐿</m:t>
                              </m:r>
                            </m:oMath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Downwelling flux; drives photosynthesis at each layer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970191973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↑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𝐿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Full solution at depth </a:t>
                          </a:r>
                          <a14:m>
                            <m:oMath xmlns:m="http://schemas.openxmlformats.org/officeDocument/2006/math">
                              <m:r>
                                <a:rPr lang="en-US" sz="1000">
                                  <a:effectLst/>
                                </a:rPr>
                                <m:t>𝐿</m:t>
                              </m:r>
                            </m:oMath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Upwelling flux; includes all scattered radiation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671977139"/>
                      </a:ext>
                    </a:extLst>
                  </a:tr>
                  <a:tr h="525325"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↑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Evaluated at top boundary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Canopy reflectance (hemispherical or directional-hemispherical)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477291304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↓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𝐻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Evaluated at bottom boundary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Total flux incident on soil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413253143"/>
                      </a:ext>
                    </a:extLst>
                  </a:tr>
                  <a:tr h="545846"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>
                                    <a:effectLst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45720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US" sz="1000">
                                    <a:effectLst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↑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sz="1000">
                                    <a:effectLst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𝐹</m:t>
                                    </m:r>
                                  </m:e>
                                  <m:sup>
                                    <m:r>
                                      <a:rPr lang="en-US" sz="1000">
                                        <a:effectLst/>
                                      </a:rPr>
                                      <m:t>↓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𝐻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ctrlPr>
                                      <a:rPr lang="en-US" sz="1000">
                                        <a:effectLst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00">
                                        <a:effectLst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US" sz="1000">
                                            <a:effectLst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000">
                                            <a:effectLst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Canopy absorbed flux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661707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941A6E4C-E114-D480-93E4-D148E345E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431811"/>
                  </p:ext>
                </p:extLst>
              </p:nvPr>
            </p:nvGraphicFramePr>
            <p:xfrm>
              <a:off x="297497" y="1480955"/>
              <a:ext cx="8549005" cy="3186838"/>
            </p:xfrm>
            <a:graphic>
              <a:graphicData uri="http://schemas.openxmlformats.org/drawingml/2006/table">
                <a:tbl>
                  <a:tblPr firstRow="1" bandRow="1" bandCol="1">
                    <a:tableStyleId>{5C22544A-7EE6-4342-B048-85BDC9FD1C3A}</a:tableStyleId>
                  </a:tblPr>
                  <a:tblGrid>
                    <a:gridCol w="1064059">
                      <a:extLst>
                        <a:ext uri="{9D8B030D-6E8A-4147-A177-3AD203B41FA5}">
                          <a16:colId xmlns:a16="http://schemas.microsoft.com/office/drawing/2014/main" val="694427897"/>
                        </a:ext>
                      </a:extLst>
                    </a:gridCol>
                    <a:gridCol w="2548261">
                      <a:extLst>
                        <a:ext uri="{9D8B030D-6E8A-4147-A177-3AD203B41FA5}">
                          <a16:colId xmlns:a16="http://schemas.microsoft.com/office/drawing/2014/main" val="3102255592"/>
                        </a:ext>
                      </a:extLst>
                    </a:gridCol>
                    <a:gridCol w="4936685">
                      <a:extLst>
                        <a:ext uri="{9D8B030D-6E8A-4147-A177-3AD203B41FA5}">
                          <a16:colId xmlns:a16="http://schemas.microsoft.com/office/drawing/2014/main" val="1794562438"/>
                        </a:ext>
                      </a:extLst>
                    </a:gridCol>
                  </a:tblGrid>
                  <a:tr h="328328">
                    <a:tc gridSpan="3">
                      <a:txBody>
                        <a:bodyPr/>
                        <a:lstStyle/>
                        <a:p>
                          <a:pPr marL="0" marR="0" indent="0" algn="l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Table 1. Computed and reported quantities for every canopy type and illumination case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7364467"/>
                      </a:ext>
                    </a:extLst>
                  </a:tr>
                  <a:tr h="328328"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  <a:tabLst>
                              <a:tab pos="2971800" algn="ctr"/>
                            </a:tabLst>
                          </a:pPr>
                          <a:r>
                            <a:rPr lang="en-US" sz="1000">
                              <a:effectLst/>
                            </a:rPr>
                            <a:t>Quantity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Definition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Physical Meaning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968887010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1190" t="-139474" r="-704762" b="-4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42289" t="-139474" r="-194527" b="-4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Downwelling flux; drives photosynthesis at each layer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970191973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1190" t="-233333" r="-704762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42289" t="-233333" r="-194527" b="-3179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Upwelling flux; includes all scattered radiation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671977139"/>
                      </a:ext>
                    </a:extLst>
                  </a:tr>
                  <a:tr h="5253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1190" t="-317073" r="-704762" b="-2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Evaluated at top boundary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Canopy reflectance (hemispherical or directional-hemispherical)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477291304"/>
                      </a:ext>
                    </a:extLst>
                  </a:tr>
                  <a:tr h="4863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1190" t="-438462" r="-704762" b="-112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Evaluated at bottom boundary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Total flux incident on soil</a:t>
                          </a:r>
                          <a:endParaRPr lang="en-US" sz="12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413253143"/>
                      </a:ext>
                    </a:extLst>
                  </a:tr>
                  <a:tr h="5458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1190" t="-488372" r="-704762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50800" marB="50800" anchor="ctr">
                        <a:blipFill>
                          <a:blip r:embed="rId3"/>
                          <a:stretch>
                            <a:fillRect l="-42289" t="-488372" r="-194527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Canopy absorbed flux</a:t>
                          </a:r>
                          <a:endParaRPr lang="en-US" sz="12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8661707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8079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10FBA-4155-6282-5E13-2948D85C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0BC6EA39-5099-7FE9-4896-36C1194F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AD37D09-E5DB-A1EF-74F2-F9AB4E52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D8A39FF-FB20-BA4C-A61C-904D2CF3A0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8F85C69B-64ED-8138-B754-96E3AF72D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77545"/>
            <a:ext cx="2149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9A321C-B4A4-73E9-6713-F775255B85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98" y="1101090"/>
            <a:ext cx="6979221" cy="4907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46471-7906-8E21-A601-7348046005B1}"/>
                  </a:ext>
                </a:extLst>
              </p:cNvPr>
              <p:cNvSpPr txBox="1"/>
              <p:nvPr/>
            </p:nvSpPr>
            <p:spPr>
              <a:xfrm>
                <a:off x="174171" y="6079102"/>
                <a:ext cx="8712385" cy="603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Canopy reflectance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↑</m:t>
                        </m:r>
                      </m:sup>
                    </m:sSup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(top row) and canopy absorptance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(bottom row) computed from the three </a:t>
                </a:r>
              </a:p>
              <a:p>
                <a:r>
                  <a:rPr lang="en-US" sz="1600">
                    <a:solidFill>
                      <a:schemeClr val="tx1"/>
                    </a:solidFill>
                  </a:rPr>
                  <a:t>two-stream </a:t>
                </a:r>
                <a:r>
                  <a:rPr lang="en-US" sz="1600" dirty="0">
                    <a:solidFill>
                      <a:schemeClr val="tx1"/>
                    </a:solidFill>
                  </a:rPr>
                  <a:t>models for </a:t>
                </a:r>
                <a:r>
                  <a:rPr lang="en-US" sz="1600">
                    <a:solidFill>
                      <a:schemeClr val="tx1"/>
                    </a:solidFill>
                  </a:rPr>
                  <a:t>an incident </a:t>
                </a:r>
                <a:r>
                  <a:rPr lang="en-US" sz="1600" dirty="0">
                    <a:solidFill>
                      <a:schemeClr val="tx1"/>
                    </a:solidFill>
                  </a:rPr>
                  <a:t>flux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1 </m:t>
                    </m:r>
                    <m:r>
                      <m:rPr>
                        <m:sty m:val="p"/>
                      </m:rP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sSup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46471-7906-8E21-A601-734804600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1" y="6079102"/>
                <a:ext cx="8712385" cy="603242"/>
              </a:xfrm>
              <a:prstGeom prst="rect">
                <a:avLst/>
              </a:prstGeom>
              <a:blipFill>
                <a:blip r:embed="rId4"/>
                <a:stretch>
                  <a:fillRect l="-29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93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8973A-58EC-846D-3813-963E1C9C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95A5ADDA-7295-ECE3-EEEA-E79F8BEF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04 – Part 07: Two-Stream Approximation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E12B188-B742-AC79-F40F-48AAF1F3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8325" y="6365875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ED8A39FF-FB20-BA4C-A61C-904D2CF3A033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TextBox 7">
            <a:extLst>
              <a:ext uri="{FF2B5EF4-FFF2-40B4-BE49-F238E27FC236}">
                <a16:creationId xmlns:a16="http://schemas.microsoft.com/office/drawing/2014/main" id="{88B97D43-CA43-7ED0-DA92-07CEA7010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77545"/>
            <a:ext cx="21497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2907F6-5244-69BA-9DE7-525109F10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84"/>
                  </p:ext>
                </p:extLst>
              </p:nvPr>
            </p:nvGraphicFramePr>
            <p:xfrm>
              <a:off x="905572" y="1101090"/>
              <a:ext cx="7541743" cy="55619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72631">
                      <a:extLst>
                        <a:ext uri="{9D8B030D-6E8A-4147-A177-3AD203B41FA5}">
                          <a16:colId xmlns:a16="http://schemas.microsoft.com/office/drawing/2014/main" val="1739278849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3181413879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3367194824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2614759267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2372196287"/>
                        </a:ext>
                      </a:extLst>
                    </a:gridCol>
                  </a:tblGrid>
                  <a:tr h="235772">
                    <a:tc gridSpan="5"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Table A2. Uniform-normal leaves: G = 1/2; bi-Lambertian Γ</a:t>
                          </a:r>
                          <a:r>
                            <a:rPr lang="en-US" sz="800" baseline="-25000">
                              <a:effectLst/>
                            </a:rPr>
                            <a:t>LD</a:t>
                          </a:r>
                          <a:r>
                            <a:rPr lang="en-US" sz="800">
                              <a:effectLst/>
                            </a:rPr>
                            <a:t>,U(β); β₁ from Norman–Jarvis (1975). 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1197337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Quantity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Red band (ω</a:t>
                          </a:r>
                          <a:r>
                            <a:rPr lang="en-US" sz="800" baseline="-25000">
                              <a:effectLst/>
                            </a:rPr>
                            <a:t>L</a:t>
                          </a:r>
                          <a:r>
                            <a:rPr lang="en-US" sz="800">
                              <a:effectLst/>
                            </a:rPr>
                            <a:t> = 0.10)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NIR band (ωL = 0.90)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8006995"/>
                      </a:ext>
                    </a:extLst>
                  </a:tr>
                  <a:tr h="267207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 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4227819767"/>
                      </a:ext>
                    </a:extLst>
                  </a:tr>
                  <a:tr h="235772">
                    <a:tc gridSpan="5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Diffuse illumination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674307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↑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0.0303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0.0266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0.4073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0.4588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495067748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↑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0.0322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0.0297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0.4306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0.4938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760694616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+0.0019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+0.0031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+0.0233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+0.0350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065001098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↓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00">
                                          <a:effectLst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0.2299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0.0647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0.5044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0.2839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897802316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↓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00">
                                          <a:effectLst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0.1917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0.0367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0.4976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0.2740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4012722896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-0.0382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-0.0280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-0.0068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436932442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>
                                      <a:effectLst/>
                                    </a:rPr>
                                    <m:t>c</m:t>
                                  </m:r>
                                  <m:r>
                                    <a:rPr lang="en-US" sz="800">
                                      <a:effectLst/>
                                    </a:rPr>
                                    <m:t>𝑎𝑛𝑜𝑝𝑦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0.7628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0.9151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0.1892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0.3141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367992541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>
                                      <a:effectLst/>
                                    </a:rPr>
                                    <m:t>c</m:t>
                                  </m:r>
                                  <m:r>
                                    <a:rPr lang="en-US" sz="800">
                                      <a:effectLst/>
                                    </a:rPr>
                                    <m:t>𝑎𝑛𝑜𝑝𝑦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0.7953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0.9373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0.1713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0.2870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859905804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+0.0325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+0.0222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-0.0179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-0.0271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266521634"/>
                      </a:ext>
                    </a:extLst>
                  </a:tr>
                  <a:tr h="235772">
                    <a:tc gridSpan="5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Beam illumination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4838880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↑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0.0301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0.4391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0.4893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655474307"/>
                      </a:ext>
                    </a:extLst>
                  </a:tr>
                  <a:tr h="236434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↑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0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0.0262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0.0240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0.4184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0.4809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973944934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-0.0207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896051885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↓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00">
                                          <a:effectLst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0.1468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0.4387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0.2300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964368374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p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en-US" sz="800">
                                      <a:effectLst/>
                                    </a:rPr>
                                    <m:t>↓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00">
                                          <a:effectLst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800">
                                          <a:effectLst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sz="800">
                                          <a:effectLst/>
                                        </a:rPr>
                                        <m:t>𝐻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0.1548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0.4991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0.2746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961600837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+0.0080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+0.0604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+0.0446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194788720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>
                                      <a:effectLst/>
                                    </a:rPr>
                                    <m:t>c</m:t>
                                  </m:r>
                                  <m:r>
                                    <a:rPr lang="en-US" sz="800">
                                      <a:effectLst/>
                                    </a:rPr>
                                    <m:t>𝑎𝑛𝑜𝑝𝑦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0.8378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0.9523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0.2099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0.3267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555264126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800">
                                      <a:effectLst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>
                                      <a:effectLst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800">
                                      <a:effectLst/>
                                    </a:rPr>
                                    <m:t>c</m:t>
                                  </m:r>
                                  <m:r>
                                    <a:rPr lang="en-US" sz="800">
                                      <a:effectLst/>
                                    </a:rPr>
                                    <m:t>𝑎𝑛𝑜𝑝𝑦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800">
                              <a:effectLst/>
                            </a:rPr>
                            <a:t> TS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0.8345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0.9538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0.1823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0.2994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697176059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+0.0015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-0.0273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0351894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F2907F6-5244-69BA-9DE7-525109F10A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184"/>
                  </p:ext>
                </p:extLst>
              </p:nvPr>
            </p:nvGraphicFramePr>
            <p:xfrm>
              <a:off x="905572" y="1101090"/>
              <a:ext cx="7541743" cy="5561934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772631">
                      <a:extLst>
                        <a:ext uri="{9D8B030D-6E8A-4147-A177-3AD203B41FA5}">
                          <a16:colId xmlns:a16="http://schemas.microsoft.com/office/drawing/2014/main" val="1739278849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3181413879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3367194824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2614759267"/>
                        </a:ext>
                      </a:extLst>
                    </a:gridCol>
                    <a:gridCol w="1442278">
                      <a:extLst>
                        <a:ext uri="{9D8B030D-6E8A-4147-A177-3AD203B41FA5}">
                          <a16:colId xmlns:a16="http://schemas.microsoft.com/office/drawing/2014/main" val="2372196287"/>
                        </a:ext>
                      </a:extLst>
                    </a:gridCol>
                  </a:tblGrid>
                  <a:tr h="235772">
                    <a:tc gridSpan="5"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Table A2. Uniform-normal leaves: G = 1/2; bi-Lambertian Γ</a:t>
                          </a:r>
                          <a:r>
                            <a:rPr lang="en-US" sz="800" baseline="-25000">
                              <a:effectLst/>
                            </a:rPr>
                            <a:t>LD</a:t>
                          </a:r>
                          <a:r>
                            <a:rPr lang="en-US" sz="800">
                              <a:effectLst/>
                            </a:rPr>
                            <a:t>,U(β); β₁ from Norman–Jarvis (1975). 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1197337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Quantity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Red band (ω</a:t>
                          </a:r>
                          <a:r>
                            <a:rPr lang="en-US" sz="800" baseline="-25000">
                              <a:effectLst/>
                            </a:rPr>
                            <a:t>L</a:t>
                          </a:r>
                          <a:r>
                            <a:rPr lang="en-US" sz="800">
                              <a:effectLst/>
                            </a:rPr>
                            <a:t> = 0.10)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NIR band (ωL = 0.90)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8006995"/>
                      </a:ext>
                    </a:extLst>
                  </a:tr>
                  <a:tr h="267207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 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L</a:t>
                          </a:r>
                          <a:r>
                            <a:rPr lang="en-US" sz="800" baseline="-25000">
                              <a:effectLst/>
                            </a:rPr>
                            <a:t>H</a:t>
                          </a:r>
                          <a:r>
                            <a:rPr lang="en-US" sz="800">
                              <a:effectLst/>
                            </a:rPr>
                            <a:t> = 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4227819767"/>
                      </a:ext>
                    </a:extLst>
                  </a:tr>
                  <a:tr h="235772">
                    <a:tc gridSpan="5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Diffuse illumination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674307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410526" r="-325714" b="-18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0.0303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0.0266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0.4073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0.4588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495067748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510526" r="-325714" b="-17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0.0322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0.0297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>
                              <a:solidFill>
                                <a:srgbClr val="FF0000"/>
                              </a:solidFill>
                              <a:effectLst/>
                            </a:rPr>
                            <a:t>0.4306</a:t>
                          </a:r>
                          <a:endParaRPr lang="en-US" sz="1000" b="1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0.4938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760694616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+0.0019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+0.0031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+0.0233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b="1" dirty="0">
                              <a:solidFill>
                                <a:srgbClr val="FF0000"/>
                              </a:solidFill>
                              <a:effectLst/>
                            </a:rPr>
                            <a:t>+0.0350</a:t>
                          </a:r>
                          <a:endParaRPr lang="en-US" sz="1000" b="1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065001098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710526" r="-325714" b="-15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0.2299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0.0647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0.5044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0.2839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897802316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770000" r="-325714" b="-13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0.1917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0.0367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0.4976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0.2740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4012722896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-0.0382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-0.0280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-0.0068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436932442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960000" r="-325714" b="-1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0.7628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0.9151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0.1892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0.3141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367992541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115789" r="-325714" b="-11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0.7953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0.9373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0.1713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0.2870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859905804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+0.0325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+0.0222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-0.0179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-0.0271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266521634"/>
                      </a:ext>
                    </a:extLst>
                  </a:tr>
                  <a:tr h="235772">
                    <a:tc gridSpan="5"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Beam illumination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04838880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415789" r="-325714" b="-8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0.0301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0.4391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0.4893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2655474307"/>
                      </a:ext>
                    </a:extLst>
                  </a:tr>
                  <a:tr h="2364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600000" r="-325714" b="-7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0.0262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0.0240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0.4184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0.4809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973944934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-0.0207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-0.0084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896051885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710526" r="-325714" b="-5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0.1468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0.4387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0.2300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964368374"/>
                      </a:ext>
                    </a:extLst>
                  </a:tr>
                  <a:tr h="2439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720000" r="-325714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0.1548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0.0246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0.4991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0.2746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961600837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+0.0080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+0.0604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+0.0446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194788720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1910000" r="-32571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0.8378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0.9523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0.2099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0.3267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1555264126"/>
                      </a:ext>
                    </a:extLst>
                  </a:tr>
                  <a:tr h="2482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577" marR="42577" marT="31933" marB="31933" anchor="ctr">
                        <a:blipFill>
                          <a:blip r:embed="rId3"/>
                          <a:stretch>
                            <a:fillRect l="-714" t="-2115789" r="-325714" b="-1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0.8345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0.9538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0.1823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0.2994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697176059"/>
                      </a:ext>
                    </a:extLst>
                  </a:tr>
                  <a:tr h="235772">
                    <a:tc>
                      <a:txBody>
                        <a:bodyPr/>
                        <a:lstStyle/>
                        <a:p>
                          <a:pPr marL="0" marR="0" algn="just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TS−DOM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-0.0033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+0.0015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>
                              <a:effectLst/>
                            </a:rPr>
                            <a:t>-0.0276</a:t>
                          </a:r>
                          <a:endParaRPr lang="en-US" sz="100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Aft>
                              <a:spcPts val="1200"/>
                            </a:spcAft>
                            <a:buNone/>
                          </a:pPr>
                          <a:r>
                            <a:rPr lang="en-US" sz="800" dirty="0">
                              <a:effectLst/>
                            </a:rPr>
                            <a:t>-0.0273</a:t>
                          </a:r>
                          <a:endParaRPr lang="en-US" sz="1000" dirty="0">
                            <a:effectLst/>
                            <a:latin typeface="Times New Roman" panose="020206030504050203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2577" marR="42577" marT="31933" marB="31933" anchor="ctr"/>
                    </a:tc>
                    <a:extLst>
                      <a:ext uri="{0D108BD9-81ED-4DB2-BD59-A6C34878D82A}">
                        <a16:rowId xmlns:a16="http://schemas.microsoft.com/office/drawing/2014/main" val="30351894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7159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7358</TotalTime>
  <Words>928</Words>
  <Application>Microsoft Macintosh PowerPoint</Application>
  <PresentationFormat>On-screen Show (4:3)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Times</vt:lpstr>
      <vt:lpstr>Times New Roman</vt:lpstr>
      <vt:lpstr>Office Theme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  <vt:lpstr>PHYSICAL MODELS IN REMOTE SENSING Chapter 04 – Part 07: Two-Stream Approximation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870</cp:revision>
  <cp:lastPrinted>2019-09-03T16:52:39Z</cp:lastPrinted>
  <dcterms:created xsi:type="dcterms:W3CDTF">2012-01-16T18:47:06Z</dcterms:created>
  <dcterms:modified xsi:type="dcterms:W3CDTF">2026-04-20T13:24:49Z</dcterms:modified>
</cp:coreProperties>
</file>