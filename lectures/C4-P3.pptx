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5"/>
  </p:notesMasterIdLst>
  <p:sldIdLst>
    <p:sldId id="762" r:id="rId2"/>
    <p:sldId id="754" r:id="rId3"/>
    <p:sldId id="791" r:id="rId4"/>
    <p:sldId id="763" r:id="rId5"/>
    <p:sldId id="794" r:id="rId6"/>
    <p:sldId id="761" r:id="rId7"/>
    <p:sldId id="765" r:id="rId8"/>
    <p:sldId id="792" r:id="rId9"/>
    <p:sldId id="793" r:id="rId10"/>
    <p:sldId id="766" r:id="rId11"/>
    <p:sldId id="767" r:id="rId12"/>
    <p:sldId id="774" r:id="rId13"/>
    <p:sldId id="787" r:id="rId14"/>
    <p:sldId id="768" r:id="rId15"/>
    <p:sldId id="775" r:id="rId16"/>
    <p:sldId id="769" r:id="rId17"/>
    <p:sldId id="796" r:id="rId18"/>
    <p:sldId id="770" r:id="rId19"/>
    <p:sldId id="788" r:id="rId20"/>
    <p:sldId id="795" r:id="rId21"/>
    <p:sldId id="798" r:id="rId22"/>
    <p:sldId id="764" r:id="rId23"/>
    <p:sldId id="797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2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8"/>
    <p:restoredTop sz="94660"/>
  </p:normalViewPr>
  <p:slideViewPr>
    <p:cSldViewPr snapToGrid="0">
      <p:cViewPr varScale="1">
        <p:scale>
          <a:sx n="146" d="100"/>
          <a:sy n="146" d="100"/>
        </p:scale>
        <p:origin x="680" y="200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67E6101E-259F-3714-BCB1-D316684370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89928C29-1A27-BFD7-E56C-85B7C4EF36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36C801B-0D7A-5EB3-F5A0-87F13CDED80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614AAF7F-C590-CAE6-EA65-088F2D3C0D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9A448705-7C1D-1A2C-5628-DC6D7EE6B5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6010A7ED-3BC0-1981-5A21-8F8FAE60C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244CD94-4F3F-3643-A497-3346C0BF52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EAE1120-8C31-7A50-327E-E67303BC9E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172C6D-1122-404E-877B-23EB2EE95B0D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91F5A-D79A-9D81-B7A9-58250934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999AE8-C064-F23D-186D-36A4B5716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F7CC363F-C3A7-989B-CE60-0C829AD3F4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BD234A-C614-4D4F-8378-31F65F2CB541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E8E88BE-0ACB-EC3F-AF85-42F6E41612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DF82739-07C0-F70D-666B-9F12C805A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0E3F-3962-ECB8-21A2-7143A9AB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A19B60A-7408-33B4-2EC0-587C99CC7B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172C6D-1122-404E-877B-23EB2EE95B0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8D912AD-73C3-B089-4E5C-1372A4C201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37A68CD-B0D0-FD42-ECB6-1772C464E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498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32AB42BB-9D5C-EAFF-1DAD-D1244B4403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A1D683-5735-C140-BE2C-6927BEF233BB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2A1E217-D63E-CDD9-9EBD-7F39EF2A93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DE3C566-1C02-7E7F-F891-94F5477B7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F005B64C-626F-7383-FDB2-2E44A6F7D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7AA756-4C5B-8E4F-809D-B495A130DA42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D7F9AF-5347-ED9C-264B-42758120B5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6272F85-C5CE-9D3F-1536-073BEB093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08F5C65-3CED-6D9C-D8D0-B482512BEA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6AADDD-0DC1-AD44-9158-011E6C8F07E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1D0EAB7-C2C3-F0FD-9712-3C1EC4A15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02A7D20-FEDF-7E5D-14D2-52A0DCA43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CE16483B-B47E-12A4-77B6-115471639C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1831DC2-E2BB-E94C-9FA3-3F6BD961218E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2CE3BD0-8959-D707-15B0-A7A550082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339F8ED-BDB7-73D2-FA55-E9475841D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F3D02B06-1A9C-570A-C518-81FF33893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61A14F-36A0-4A4C-A223-EE447950EB78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F9C8A559-0567-5C57-ADEF-DF799F977D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8BBB32B-9006-E7A6-92B4-3DE5D108C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A557473-1C30-A434-C328-E57953AD69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3B751D-3EE2-DC4E-83B8-95BF51B8DA83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EBF15A84-119C-74E6-636C-D7C26389E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A513A6E-52C6-B4B9-8BA4-A598D10A4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4A11CA10-55D6-72E8-B100-24BACAD93C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2E6A54-3728-C746-874B-72F0B3E03529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3569611A-6AA1-F887-E1C9-A70019D8F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BFAB6AB-E217-DA4F-A580-7D0F2399B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118AA236-54A1-E1EF-571B-14D3F95E2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B4D7DD-0E47-264B-A224-3ED6E9557D87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95E97567-E3DB-A77A-F307-BF1730C5B6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3580DF6-F867-FECE-CB69-F54979DD9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79616CD2-2F9F-F98F-AA7B-00185CBAEB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0B400DB-D936-FF4A-8876-1E716F4C4D52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F53AA2B8-58CF-CF47-46E1-F07667167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35E24E2-D528-0C97-12AE-1D68D76B3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9EB16156-9FB0-44F5-67A6-A6E635970D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B03095-E418-4F4D-8994-37B850097378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DFC8CD8-768A-A1B3-0822-9F2B9422F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F2A293-0F54-86F2-CF0E-2B55998B6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0BF07671-A9BF-D946-0D9B-A32905B571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367B3F-0C5E-364C-8097-EC586E1937E5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94F92A8-BBA0-B900-0A4D-4800BFF31C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678F32-3DB8-4F7B-41B8-6237720ED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492FA60-0D47-62FD-7014-C3E814C7B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F74999-162E-224C-8A90-9B1E2342DB80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716AA04-EDAA-8823-0BF4-1C712F48F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76B5B95-4FA1-23E7-AFF1-D384FFACA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4F7D8C14-AE7C-35CE-CD9C-BE55078B13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8E96EA-C82E-7049-9822-410CCE0CE4FE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0D71D0CB-7C09-615E-5647-42C7A3B4A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6642BA5-76A7-4FDA-3D81-3D02F7B4D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512E-D170-BD42-5E63-F6AB9424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3AF04D6-41B9-5A38-65D7-423CF1AD1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8E96EA-C82E-7049-9822-410CCE0CE4FE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E6E5D2F-6CD5-DE4D-03C9-CF4F074CD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E9F838D-0F39-6C6E-B0BF-D8BE48943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2753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2E0B0574-F278-946C-E4BE-974451960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74B9FD-1E96-3946-8C46-01DC59F3B431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EEF21A6-E5D7-FB5B-6376-E1590FE77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CA81221-FB9B-D028-514D-2DC742B01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3DEA4DAE-90DB-8086-49BA-8A3F67151A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9F7AB3-6DA2-2148-B9E8-CF570679D17D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01C84F4F-3F4B-1F75-C97B-ABF783D18C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44199C0-FDAA-5A23-9ECB-5815AE7E5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33B0-5B21-9B20-2C77-EA47523F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73F1B42-57C7-EA6A-336E-A056BDA383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9F7AB3-6DA2-2148-B9E8-CF570679D17D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971A39C1-4BDD-D3EF-54A8-B24A8DB03E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FC233BF-F7DE-70D4-7385-D31678B9D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0080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512E-D170-BD42-5E63-F6AB9424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3AF04D6-41B9-5A38-65D7-423CF1AD1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8E96EA-C82E-7049-9822-410CCE0CE4FE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E6E5D2F-6CD5-DE4D-03C9-CF4F074CD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E9F838D-0F39-6C6E-B0BF-D8BE48943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2753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53A15CC-2E32-08DF-A67C-570E3272F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F9C7C39-950F-3047-A4B7-BEE15E284593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D1EF8BD2-4D4E-4DFC-EC0D-D6E7C4FB3B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BF447F0-7C08-0B6C-DE1E-C68E9CC04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0CD9-9E65-D040-49DB-959654C6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AA36A5C-6B6F-31AD-DF5A-5FD91EFCA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F9C7C39-950F-3047-A4B7-BEE15E284593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485DBF4-8DDE-743F-167D-D3AD254561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0EA5E61-BD81-22F3-571E-612120EE0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2417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6815-5457-1853-C04A-89D7E2C0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2D9B1-5BCD-6F4F-BA81-D268C32A6E39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3D40-977B-3027-5087-D2DA0B52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CF3D-A344-1E56-1874-EEAF460E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3814F-AC31-BB4D-97A2-3957BB5140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0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F7CE-5362-0C36-BA3B-E16758F3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C7248-24C2-ED41-B7AE-7DA15D318B4C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3834-137A-163E-D902-0B82278C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F552-6CA1-BBB7-0C42-F405F1F1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55C69-A0B6-724F-ADDD-CCE4E78C3B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51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82223-E569-240E-17D0-6958371C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A5A0E-25C7-7747-978E-A12643A05C1E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B1C8-FAEC-2791-EE2D-9D6F828D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7A4D-D731-72DE-E057-2B496DCE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39F7A-A8A6-0745-9EE2-79A2C1217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3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F7549C-71A6-7C06-CBFD-C8EE6CF2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952E7-79AC-0946-B287-86803D92738B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A1776E-1B8A-47D9-2993-E2E57A1B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A4E35B-B30A-E7F8-C4D6-4B1B5362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A424C-F6C7-814A-B351-7CB57825BF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81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4E3068-9BC7-46DF-7231-954E11F9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C25F-002C-6D41-8292-5530EC6A1DE0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3F7FBEE-AF42-2247-B41F-B5EC9B2C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EF8823-AD02-3049-A51B-DDB6DBFA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6FC78-8509-6A4E-B38F-9F70DEA959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8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E5913C6-87CA-ADC5-4C81-97911F78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CBD89-1842-9A49-AC32-C05CFEDC3139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59A70D-820E-6950-A80B-50188C99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4AE443-A1BF-0DD1-FA56-1748E583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1529A-AD09-AC44-A9DF-80B3CCBB1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5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DEF7F7A-2C74-B815-C70E-645B2423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68E8A-F794-C04F-9A00-AB16C837AFD8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EFAF47F-3572-C412-CB5F-81025B5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2B89D5-4E0C-6DA4-0863-474FC8CF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90E96-ECAB-1D4D-9789-62F5A92197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62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6DB9B6-5B80-A721-58AC-C50886DA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D6892-A10A-5344-98A5-0792775CB028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40EBA4-6662-3E85-1C6F-ED101DA2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2B2F4B-DDE8-DCE5-A47F-F4FF6C2E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28EB4-19B7-0747-A3C3-03EBA4D3D9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78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A6E1CB-1839-D0EC-4F7A-0CB7ED43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FEEBD-28D8-2C46-A2A9-892CE2F3B669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1C4569-130F-C191-43B6-C892D57A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69FF66-DA1E-CF6F-30DD-95DFAFF6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741B5-3CAE-3A45-8F78-427BCC33E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67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E3BC7-0913-888F-84B1-22532E8A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1A063-41BD-4541-BD98-F74A0BAB0E71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4936F-D173-CF1C-D67D-357984E9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7538-CAB8-0220-F7D5-63D03E49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E5D24-28B8-2245-A1A8-631C29F0FF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7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99854-509B-C682-E8DD-99A679C7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0157B-8D54-9C43-893B-A706E9856088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7E2A-6D75-B0DD-4658-CCA7904D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01DC-EECE-F9A4-BD83-935522ED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261FE-B3F3-CA44-B51C-45E0AD7353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7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67A1266-C456-D8FF-E9C4-CB3D5B4ACE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EB56EA-8812-5AE9-25C1-2E1EA4D26E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5DCF-8724-87E8-EAA9-C93586506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C93E46D3-6E91-514B-9AA5-985B47C0D48F}" type="datetime1">
              <a:rPr lang="en-US"/>
              <a:pPr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A7F4-93A3-E094-AD4D-4DA2B835A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70F5-1C0F-27DB-B30B-9222161B5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53E07F1-F4C6-3244-9EA8-03B0F4854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gaBU/EE445-645-Spr2026/commit/ed81aa2f664fb9fe4add778c567d2e9eb4cf13b5#diff-e8259842da7347f8f29a8930cf4892b0b86f933164fdef1d39f60f43ba015e46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7063843-B062-BF2B-C089-3ECD36F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1543B33-5FC8-447B-AADB-518C2CFF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8950" y="6492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16F9198-9E77-2142-ACE0-993C763014D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426D822A-F4D8-8E39-8350-DB48ACA61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778" y="1306179"/>
            <a:ext cx="6216685" cy="358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uncollided radiation field from the collided field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Discretization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 Quadrature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for Uncollided Intensity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for Downward Intensity: Direct Solar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for Downward Intensity: Diffuse Sky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the Lower Boundary Condition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for Upward Uncollided Intensity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First Collision Source</a:t>
            </a:r>
          </a:p>
          <a:p>
            <a:pPr marL="285750" indent="-285750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CE913C8-80DF-F647-1F2D-D0BDC2F5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750D91E-3FD2-0746-5009-1EF332F8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4B138CF-0072-C848-ABB0-5A2EF391F57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0D297B78-7EB8-8F3F-890D-5477D0FC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725488"/>
            <a:ext cx="293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1D Problem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997FF-A25F-7990-254B-527E6BF3F12B}"/>
              </a:ext>
            </a:extLst>
          </p:cNvPr>
          <p:cNvCxnSpPr/>
          <p:nvPr/>
        </p:nvCxnSpPr>
        <p:spPr>
          <a:xfrm>
            <a:off x="2871788" y="2963863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3A027B-9CB8-4D84-8CAA-4AF9DA925E4F}"/>
              </a:ext>
            </a:extLst>
          </p:cNvPr>
          <p:cNvCxnSpPr/>
          <p:nvPr/>
        </p:nvCxnSpPr>
        <p:spPr>
          <a:xfrm>
            <a:off x="2836863" y="4433888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8" name="Picture 9">
            <a:extLst>
              <a:ext uri="{FF2B5EF4-FFF2-40B4-BE49-F238E27FC236}">
                <a16:creationId xmlns:a16="http://schemas.microsoft.com/office/drawing/2014/main" id="{7DE6498A-1618-9604-7491-8B0098C5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2963863"/>
            <a:ext cx="2828925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5">
            <a:extLst>
              <a:ext uri="{FF2B5EF4-FFF2-40B4-BE49-F238E27FC236}">
                <a16:creationId xmlns:a16="http://schemas.microsoft.com/office/drawing/2014/main" id="{693CFFFF-4417-BE21-D2C6-5CC0238ED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582988"/>
            <a:ext cx="28289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12">
            <a:extLst>
              <a:ext uri="{FF2B5EF4-FFF2-40B4-BE49-F238E27FC236}">
                <a16:creationId xmlns:a16="http://schemas.microsoft.com/office/drawing/2014/main" id="{39BB4F74-5490-0CEE-A1DB-C2F735857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3" y="1493838"/>
            <a:ext cx="293687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6C6566-09C0-FF5B-7344-518E0E37B2D2}"/>
              </a:ext>
            </a:extLst>
          </p:cNvPr>
          <p:cNvCxnSpPr/>
          <p:nvPr/>
        </p:nvCxnSpPr>
        <p:spPr>
          <a:xfrm>
            <a:off x="3321050" y="1787525"/>
            <a:ext cx="914400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42" name="Picture 18">
            <a:extLst>
              <a:ext uri="{FF2B5EF4-FFF2-40B4-BE49-F238E27FC236}">
                <a16:creationId xmlns:a16="http://schemas.microsoft.com/office/drawing/2014/main" id="{C3F2E420-B177-8E12-7BE5-B5123BD6B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1743075"/>
            <a:ext cx="163195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3" name="TextBox 19">
            <a:extLst>
              <a:ext uri="{FF2B5EF4-FFF2-40B4-BE49-F238E27FC236}">
                <a16:creationId xmlns:a16="http://schemas.microsoft.com/office/drawing/2014/main" id="{08BBF0EB-48F6-571D-A3BD-AF6966C6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2740025"/>
            <a:ext cx="51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18444" name="TextBox 23">
            <a:extLst>
              <a:ext uri="{FF2B5EF4-FFF2-40B4-BE49-F238E27FC236}">
                <a16:creationId xmlns:a16="http://schemas.microsoft.com/office/drawing/2014/main" id="{0823EC36-6E9C-C04F-CC01-89CBA1BED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4233863"/>
            <a:ext cx="2346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Bottom (e.g. ground)</a:t>
            </a:r>
          </a:p>
        </p:txBody>
      </p:sp>
      <p:sp>
        <p:nvSpPr>
          <p:cNvPr id="18445" name="TextBox 24">
            <a:extLst>
              <a:ext uri="{FF2B5EF4-FFF2-40B4-BE49-F238E27FC236}">
                <a16:creationId xmlns:a16="http://schemas.microsoft.com/office/drawing/2014/main" id="{6E3AC637-3CC7-FC50-F0F9-AD2E1B0D6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346710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leaf canopy</a:t>
            </a:r>
          </a:p>
        </p:txBody>
      </p:sp>
      <p:sp>
        <p:nvSpPr>
          <p:cNvPr id="18446" name="TextBox 26">
            <a:extLst>
              <a:ext uri="{FF2B5EF4-FFF2-40B4-BE49-F238E27FC236}">
                <a16:creationId xmlns:a16="http://schemas.microsoft.com/office/drawing/2014/main" id="{2FD1028F-E8BB-0278-CC97-FBA7F8332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997075"/>
            <a:ext cx="26797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Diffuse sky illumination</a:t>
            </a:r>
          </a:p>
        </p:txBody>
      </p:sp>
      <p:sp>
        <p:nvSpPr>
          <p:cNvPr id="18447" name="TextBox 27">
            <a:extLst>
              <a:ext uri="{FF2B5EF4-FFF2-40B4-BE49-F238E27FC236}">
                <a16:creationId xmlns:a16="http://schemas.microsoft.com/office/drawing/2014/main" id="{2711EBEB-EB6C-EF60-0C59-3097915EC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1930400"/>
            <a:ext cx="171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Direct sunlight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BCF36C-62B3-30F1-B46C-9985E68D483E}"/>
              </a:ext>
            </a:extLst>
          </p:cNvPr>
          <p:cNvCxnSpPr/>
          <p:nvPr/>
        </p:nvCxnSpPr>
        <p:spPr>
          <a:xfrm>
            <a:off x="2552700" y="2947988"/>
            <a:ext cx="0" cy="1546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9" name="TextBox 30">
            <a:extLst>
              <a:ext uri="{FF2B5EF4-FFF2-40B4-BE49-F238E27FC236}">
                <a16:creationId xmlns:a16="http://schemas.microsoft.com/office/drawing/2014/main" id="{CED95C4E-A2DB-6509-AE87-1663A8C76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3313113"/>
            <a:ext cx="2225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 axis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cumulated LAI</a:t>
            </a:r>
          </a:p>
        </p:txBody>
      </p:sp>
      <p:sp>
        <p:nvSpPr>
          <p:cNvPr id="18450" name="TextBox 31">
            <a:extLst>
              <a:ext uri="{FF2B5EF4-FFF2-40B4-BE49-F238E27FC236}">
                <a16:creationId xmlns:a16="http://schemas.microsoft.com/office/drawing/2014/main" id="{3C7027C3-EB51-0574-4B25-B856891B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2687638"/>
            <a:ext cx="1460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 or L = 0</a:t>
            </a:r>
          </a:p>
        </p:txBody>
      </p:sp>
      <p:sp>
        <p:nvSpPr>
          <p:cNvPr id="18451" name="TextBox 32">
            <a:extLst>
              <a:ext uri="{FF2B5EF4-FFF2-40B4-BE49-F238E27FC236}">
                <a16:creationId xmlns:a16="http://schemas.microsoft.com/office/drawing/2014/main" id="{203B61E2-8B60-39CE-2B90-A2E7D0D36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4217988"/>
            <a:ext cx="1870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or L = LAI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DEBFC-D8FF-C6D9-9C4E-D752C65ECD62}"/>
              </a:ext>
            </a:extLst>
          </p:cNvPr>
          <p:cNvSpPr/>
          <p:nvPr/>
        </p:nvSpPr>
        <p:spPr>
          <a:xfrm>
            <a:off x="3616325" y="1916113"/>
            <a:ext cx="349250" cy="2778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o</a:t>
            </a:r>
            <a:endParaRPr lang="en-US" baseline="-25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88A270-2EFC-6C16-6F72-951F91D6246A}"/>
              </a:ext>
            </a:extLst>
          </p:cNvPr>
          <p:cNvSpPr/>
          <p:nvPr/>
        </p:nvSpPr>
        <p:spPr>
          <a:xfrm>
            <a:off x="5505450" y="1719263"/>
            <a:ext cx="350838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endParaRPr lang="en-US" baseline="-25000" dirty="0"/>
          </a:p>
        </p:txBody>
      </p:sp>
      <p:sp>
        <p:nvSpPr>
          <p:cNvPr id="18454" name="Rectangle 2">
            <a:extLst>
              <a:ext uri="{FF2B5EF4-FFF2-40B4-BE49-F238E27FC236}">
                <a16:creationId xmlns:a16="http://schemas.microsoft.com/office/drawing/2014/main" id="{4991C607-BE32-C36A-1AB8-336A8444D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1406525"/>
            <a:ext cx="436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18455" name="Rectangle 29">
            <a:extLst>
              <a:ext uri="{FF2B5EF4-FFF2-40B4-BE49-F238E27FC236}">
                <a16:creationId xmlns:a16="http://schemas.microsoft.com/office/drawing/2014/main" id="{4B7C373B-AB8E-2DA4-E44F-61795189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2286000"/>
            <a:ext cx="4381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18456" name="Rectangle 30">
            <a:extLst>
              <a:ext uri="{FF2B5EF4-FFF2-40B4-BE49-F238E27FC236}">
                <a16:creationId xmlns:a16="http://schemas.microsoft.com/office/drawing/2014/main" id="{5D08AB32-17FB-127E-774E-55610208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1417638"/>
            <a:ext cx="1084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457" name="TextBox 7">
            <a:extLst>
              <a:ext uri="{FF2B5EF4-FFF2-40B4-BE49-F238E27FC236}">
                <a16:creationId xmlns:a16="http://schemas.microsoft.com/office/drawing/2014/main" id="{F64C899C-4B2C-B973-3C0C-6E9F611E3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4983163"/>
            <a:ext cx="42862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LAI: leaf area index of the canopy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-z axis pointed upwards towards the zenith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Directions measured with respect to –z axis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 &gt;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directions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AA3D-F240-A490-80EF-FFA3FB10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DC7DBEA0-029E-7145-B2D9-9CBC34D00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0FB65BE-C25D-C3AD-1017-BC36784A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8950" y="6492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16F9198-9E77-2142-ACE0-993C763014D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D5B2E244-7D74-5069-9C04-27725AABA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into Collided and Uncollided Problems</a:t>
            </a: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C0B3B5F1-07A1-98A3-1034-898CE5FEA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302544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uncollided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radiation field from the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field</a:t>
            </a:r>
          </a:p>
        </p:txBody>
      </p:sp>
      <p:pic>
        <p:nvPicPr>
          <p:cNvPr id="14341" name="Picture 4">
            <a:extLst>
              <a:ext uri="{FF2B5EF4-FFF2-40B4-BE49-F238E27FC236}">
                <a16:creationId xmlns:a16="http://schemas.microsoft.com/office/drawing/2014/main" id="{A4FB6FCB-C3B1-E6B9-3295-37CC9EF46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313" y="1912144"/>
            <a:ext cx="2593975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5">
            <a:extLst>
              <a:ext uri="{FF2B5EF4-FFF2-40B4-BE49-F238E27FC236}">
                <a16:creationId xmlns:a16="http://schemas.microsoft.com/office/drawing/2014/main" id="{7053512B-B84C-5254-784A-67B3F9A6E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2672556"/>
            <a:ext cx="885031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I</a:t>
            </a:r>
            <a:r>
              <a:rPr lang="en-US" altLang="en-US" sz="1800" baseline="30000"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</a:t>
            </a:r>
            <a:r>
              <a:rPr lang="en-US" altLang="en-US" sz="1800">
                <a:latin typeface="Times New Roman" panose="02020603050405020304" pitchFamily="18" charset="0"/>
              </a:rPr>
              <a:t> photons and I</a:t>
            </a:r>
            <a:r>
              <a:rPr lang="en-US" altLang="en-US" sz="1800" baseline="30000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photons which experienced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collisions </a:t>
            </a:r>
            <a:r>
              <a:rPr lang="en-US" altLang="en-US" sz="1800">
                <a:latin typeface="Times New Roman" panose="02020603050405020304" pitchFamily="18" charset="0"/>
              </a:rPr>
              <a:t>with elements of the host medium.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Thus, 1D boundary value problem can be split in to an (see Part 01)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 problem</a:t>
            </a:r>
            <a:endParaRPr lang="en-US" altLang="en-US" sz="180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Collided problem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343" name="TextBox 3">
            <a:extLst>
              <a:ext uri="{FF2B5EF4-FFF2-40B4-BE49-F238E27FC236}">
                <a16:creationId xmlns:a16="http://schemas.microsoft.com/office/drawing/2014/main" id="{64C3538E-33FB-4672-11A2-AF2AED24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4687888"/>
            <a:ext cx="8953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problem can be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analytically. That means we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0 </a:t>
            </a:r>
            <a:r>
              <a:rPr lang="en-US" altLang="en-US" sz="1800" dirty="0">
                <a:latin typeface="Times New Roman" panose="02020603050405020304" pitchFamily="18" charset="0"/>
              </a:rPr>
              <a:t>at any depth L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(between 0 and L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H</a:t>
            </a:r>
            <a:r>
              <a:rPr lang="en-US" altLang="en-US" sz="1800" dirty="0">
                <a:latin typeface="Times New Roman" panose="02020603050405020304" pitchFamily="18" charset="0"/>
              </a:rPr>
              <a:t>) and for all directions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(see C4-P1).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we will solve </a:t>
            </a:r>
            <a:r>
              <a:rPr lang="en-US" altLang="en-US" sz="1800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and collided problems using the discrete ordinates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(Part One)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48872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8998815A-3487-50BF-D005-424E0879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6FDFF0E-DE57-A122-302C-7FB0F45A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C7D4028-4938-304B-A9D4-9DBC37CE368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C89393BC-3609-8CAF-A0EE-C027E772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Problem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CE4FCAE3-02E2-B204-B6DC-8C6C380FF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624013"/>
            <a:ext cx="702786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9FB7A224-F592-181B-1224-2381D468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1F50361-0C68-ECD4-ADBA-368519F2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F6BABA2-C052-B64A-87C7-191543C8B0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TextBox 7">
            <a:extLst>
              <a:ext uri="{FF2B5EF4-FFF2-40B4-BE49-F238E27FC236}">
                <a16:creationId xmlns:a16="http://schemas.microsoft.com/office/drawing/2014/main" id="{07FF4F25-6B33-D833-B9D4-DC887A76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C30B3507-A869-DEB2-C50D-14A0BC92F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19213"/>
            <a:ext cx="79152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5">
            <a:extLst>
              <a:ext uri="{FF2B5EF4-FFF2-40B4-BE49-F238E27FC236}">
                <a16:creationId xmlns:a16="http://schemas.microsoft.com/office/drawing/2014/main" id="{FCAA40D6-9346-628C-B7B4-20E1E1D98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221038"/>
            <a:ext cx="3525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Q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first collision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8918" name="Picture 7">
            <a:extLst>
              <a:ext uri="{FF2B5EF4-FFF2-40B4-BE49-F238E27FC236}">
                <a16:creationId xmlns:a16="http://schemas.microsoft.com/office/drawing/2014/main" id="{B97BD806-18A8-34EE-A38C-8AA4EE01A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802063"/>
            <a:ext cx="38735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TextBox 10">
            <a:extLst>
              <a:ext uri="{FF2B5EF4-FFF2-40B4-BE49-F238E27FC236}">
                <a16:creationId xmlns:a16="http://schemas.microsoft.com/office/drawing/2014/main" id="{3FE4EAA4-E5EE-BE19-F9DD-9F49CBA47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632325"/>
            <a:ext cx="4852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and S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distributed (multiple-collision)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8920" name="Picture 9">
            <a:extLst>
              <a:ext uri="{FF2B5EF4-FFF2-40B4-BE49-F238E27FC236}">
                <a16:creationId xmlns:a16="http://schemas.microsoft.com/office/drawing/2014/main" id="{DEFDCCF1-FEF3-4788-5F6E-3A411EEF4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5360988"/>
            <a:ext cx="409416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0998903F-D3E6-83A9-8296-6B495D7C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Discrete Ordinates Method (Part One)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9C290F2-E219-84BE-4A09-E8D1BF83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AE3309B-599F-FF4D-B6F0-3A83F718F4D1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408D7EA4-3EBB-7965-8410-DB237140E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654050"/>
            <a:ext cx="4322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7988CB15-46BD-8630-6F81-006B0CFDA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888" y="1054100"/>
                <a:ext cx="8850312" cy="55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arenR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Incident radiation field: </a:t>
                </a:r>
              </a:p>
              <a:p>
                <a:pPr lvl="1">
                  <a:defRPr/>
                </a:pPr>
                <a:r>
                  <a:rPr lang="en-US" alt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input,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</a:t>
                </a:r>
                <a:r>
                  <a:rPr lang="en-US" alt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</a:t>
                </a:r>
              </a:p>
              <a:p>
                <a:pPr lvl="1">
                  <a:defRPr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en-US" sz="1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(solar radiation direction, which is a downward direction)</a:t>
                </a:r>
              </a:p>
              <a:p>
                <a:pPr>
                  <a:defRPr/>
                </a:pPr>
                <a:endParaRPr lang="en-US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Canopy structure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independent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LAI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(1/2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given by [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x (1/2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lvl="2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models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for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assume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(uniform distribution)</a:t>
                </a: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Canopy optics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1">
                  <a:defRPr/>
                </a:pP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scattering phase function</a:t>
                </a:r>
              </a:p>
              <a:p>
                <a:pPr lvl="2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Neglect specular reflection from leaf surface</a:t>
                </a:r>
              </a:p>
              <a:p>
                <a:pPr lvl="2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bi-Lambertian model for diffuse leaf-internal scattering</a:t>
                </a:r>
              </a:p>
              <a:p>
                <a:pPr lvl="2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abaxial and adaxial sides are similar</a:t>
                </a:r>
              </a:p>
              <a:p>
                <a:pPr lvl="2">
                  <a:buFontTx/>
                  <a:buChar char="-"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reflection (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transmission (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coefficients are 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</a:t>
                </a:r>
              </a:p>
              <a:p>
                <a:pPr>
                  <a:buFontTx/>
                  <a:buChar char="-"/>
                  <a:defRPr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Ground optics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dependent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1">
                  <a:defRPr/>
                </a:pPr>
                <a:r>
                  <a:rPr lang="el-GR" sz="1600" dirty="0"/>
                  <a:t>ρ</a:t>
                </a:r>
                <a:r>
                  <a:rPr lang="en-US" sz="1600" baseline="-25000" dirty="0"/>
                  <a:t>g</a:t>
                </a:r>
                <a:r>
                  <a:rPr lang="el-GR" sz="1600" baseline="-25000" dirty="0"/>
                  <a:t>λ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reflection coefficient (</a:t>
                </a:r>
                <a:r>
                  <a:rPr lang="en-US" sz="1600" dirty="0">
                    <a:solidFill>
                      <a:srgbClr val="1B26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2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Assumed isotropic reflector</a:t>
                </a:r>
              </a:p>
            </p:txBody>
          </p:sp>
        </mc:Choice>
        <mc:Fallback xmlns="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7988CB15-46BD-8630-6F81-006B0CFD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888" y="1054100"/>
                <a:ext cx="8850312" cy="5558445"/>
              </a:xfrm>
              <a:prstGeom prst="rect">
                <a:avLst/>
              </a:prstGeom>
              <a:blipFill>
                <a:blip r:embed="rId3"/>
                <a:stretch>
                  <a:fillRect l="-430" t="-457" b="-4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3" name="TextBox 2">
            <a:extLst>
              <a:ext uri="{FF2B5EF4-FFF2-40B4-BE49-F238E27FC236}">
                <a16:creationId xmlns:a16="http://schemas.microsoft.com/office/drawing/2014/main" id="{BA31534B-5DB6-BAFD-BA48-638FE2E8C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8928" y="2592388"/>
            <a:ext cx="273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Times New Roman" panose="02020603050405020304" pitchFamily="18" charset="0"/>
              </a:rPr>
              <a:t>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F661636-3E47-6B07-CDB0-8805E758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7BCE9BA-5F33-4945-BFF8-2BE9C9D33CF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6" name="TextBox 7">
            <a:extLst>
              <a:ext uri="{FF2B5EF4-FFF2-40B4-BE49-F238E27FC236}">
                <a16:creationId xmlns:a16="http://schemas.microsoft.com/office/drawing/2014/main" id="{22A0AB58-D7F7-4EB6-0C74-D05E3549B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3438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Angular Discretization</a:t>
            </a:r>
          </a:p>
        </p:txBody>
      </p:sp>
      <p:sp>
        <p:nvSpPr>
          <p:cNvPr id="16387" name="TextBox 9">
            <a:extLst>
              <a:ext uri="{FF2B5EF4-FFF2-40B4-BE49-F238E27FC236}">
                <a16:creationId xmlns:a16="http://schemas.microsoft.com/office/drawing/2014/main" id="{DA332B69-D477-2EEE-AFA2-60268D460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6" y="1412876"/>
            <a:ext cx="8848725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Discretize the direction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Gauss quadrature in N x M directions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l-GR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3779AEF-362C-4434-465C-AE052434F06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16389" name="TextBox 9">
            <a:extLst>
              <a:ext uri="{FF2B5EF4-FFF2-40B4-BE49-F238E27FC236}">
                <a16:creationId xmlns:a16="http://schemas.microsoft.com/office/drawing/2014/main" id="{4E84011B-A82A-E72B-9876-4F9532ED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5" y="2707482"/>
            <a:ext cx="884872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cross sections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where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solar direction 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inputs)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where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Gauss direction (matrix of size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where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Gauss direction (matrix of size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where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Gauss directions (matrix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NxMxNxM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56149619-51F4-AE37-F73E-159EE78E5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5" y="4808649"/>
            <a:ext cx="8848725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leaf normal orientation [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and (1/2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1]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0.5</a:t>
            </a:r>
            <a:endParaRPr lang="en-US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an analytical solution</a:t>
            </a:r>
            <a:endParaRPr lang="en-US" alt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3">
            <a:extLst>
              <a:ext uri="{FF2B5EF4-FFF2-40B4-BE49-F238E27FC236}">
                <a16:creationId xmlns:a16="http://schemas.microsoft.com/office/drawing/2014/main" id="{8A59BCD8-C394-B7E0-234B-6E9BFCEEB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800100"/>
            <a:ext cx="886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(double) Quadrature: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E59F21EB-4ABE-C8C6-09F9-7AC25ED4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04– Part 03: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Ordinates Method (Part One)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8915" name="TextBox 5">
            <a:extLst>
              <a:ext uri="{FF2B5EF4-FFF2-40B4-BE49-F238E27FC236}">
                <a16:creationId xmlns:a16="http://schemas.microsoft.com/office/drawing/2014/main" id="{DDB86526-D316-3960-BFAD-D5062CCAF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1301750"/>
            <a:ext cx="410368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 :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Orde</a:t>
            </a:r>
            <a:r>
              <a:rPr lang="en-US" altLang="en-US" sz="1800">
                <a:latin typeface="Times New Roman" panose="02020603050405020304" pitchFamily="18" charset="0"/>
              </a:rPr>
              <a:t>r of Gauss quadrature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: Quadrature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weights</a:t>
            </a:r>
            <a:r>
              <a:rPr lang="en-US" altLang="en-US" sz="1800">
                <a:latin typeface="Times New Roman" panose="02020603050405020304" pitchFamily="18" charset="0"/>
              </a:rPr>
              <a:t> (w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, w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, …, w</a:t>
            </a:r>
            <a:r>
              <a:rPr lang="en-US" altLang="en-US" sz="1800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: Quadrature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ordinates</a:t>
            </a:r>
            <a:r>
              <a:rPr lang="en-US" altLang="en-US" sz="1800">
                <a:latin typeface="Times New Roman" panose="02020603050405020304" pitchFamily="18" charset="0"/>
              </a:rPr>
              <a:t> (x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,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, …,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524F4"/>
                </a:solidFill>
                <a:latin typeface="Times New Roman" panose="02020603050405020304" pitchFamily="18" charset="0"/>
              </a:rPr>
              <a:t>Example</a:t>
            </a:r>
            <a:r>
              <a:rPr lang="en-US" altLang="en-US" sz="1800">
                <a:latin typeface="Times New Roman" panose="02020603050405020304" pitchFamily="18" charset="0"/>
              </a:rPr>
              <a:t>: Say N = 12, it means -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D1EDDF-1A24-24C9-35B0-1206C0A9BD3D}"/>
              </a:ext>
            </a:extLst>
          </p:cNvPr>
          <p:cNvCxnSpPr/>
          <p:nvPr/>
        </p:nvCxnSpPr>
        <p:spPr>
          <a:xfrm>
            <a:off x="4502150" y="4084638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E1819D-8436-D739-8050-05D7E0EC0389}"/>
              </a:ext>
            </a:extLst>
          </p:cNvPr>
          <p:cNvCxnSpPr>
            <a:cxnSpLocks/>
          </p:cNvCxnSpPr>
          <p:nvPr/>
        </p:nvCxnSpPr>
        <p:spPr>
          <a:xfrm>
            <a:off x="911225" y="4275138"/>
            <a:ext cx="7118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7CAB21-1EF1-8600-1587-8A24B2D048D8}"/>
              </a:ext>
            </a:extLst>
          </p:cNvPr>
          <p:cNvCxnSpPr/>
          <p:nvPr/>
        </p:nvCxnSpPr>
        <p:spPr>
          <a:xfrm>
            <a:off x="911225" y="4084638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3B5F85-1CEB-EC06-EAD7-084BD2C0BA5D}"/>
              </a:ext>
            </a:extLst>
          </p:cNvPr>
          <p:cNvCxnSpPr/>
          <p:nvPr/>
        </p:nvCxnSpPr>
        <p:spPr>
          <a:xfrm>
            <a:off x="8024813" y="4084638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TextBox 10">
            <a:extLst>
              <a:ext uri="{FF2B5EF4-FFF2-40B4-BE49-F238E27FC236}">
                <a16:creationId xmlns:a16="http://schemas.microsoft.com/office/drawing/2014/main" id="{5CCB2FFB-247B-7BF3-4D8E-67F4A2CA2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4067175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8921" name="TextBox 16">
            <a:extLst>
              <a:ext uri="{FF2B5EF4-FFF2-40B4-BE49-F238E27FC236}">
                <a16:creationId xmlns:a16="http://schemas.microsoft.com/office/drawing/2014/main" id="{245886F2-934F-C81E-CE0B-1D100480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050" y="40719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38922" name="TextBox 17">
            <a:extLst>
              <a:ext uri="{FF2B5EF4-FFF2-40B4-BE49-F238E27FC236}">
                <a16:creationId xmlns:a16="http://schemas.microsoft.com/office/drawing/2014/main" id="{9118913E-5292-65EB-F9C8-980D4CAB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465296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A5C1E-DBBC-4285-4EEC-9166BAB8A353}"/>
              </a:ext>
            </a:extLst>
          </p:cNvPr>
          <p:cNvSpPr/>
          <p:nvPr/>
        </p:nvSpPr>
        <p:spPr>
          <a:xfrm>
            <a:off x="979488" y="4210050"/>
            <a:ext cx="106362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B8E6FD-D70C-CFD7-FB48-668ABE77E174}"/>
              </a:ext>
            </a:extLst>
          </p:cNvPr>
          <p:cNvSpPr/>
          <p:nvPr/>
        </p:nvSpPr>
        <p:spPr>
          <a:xfrm>
            <a:off x="7762875" y="4227513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A7A3E9-66B6-AEDD-5943-FFD63D196298}"/>
              </a:ext>
            </a:extLst>
          </p:cNvPr>
          <p:cNvSpPr/>
          <p:nvPr/>
        </p:nvSpPr>
        <p:spPr>
          <a:xfrm>
            <a:off x="1374775" y="4222750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08620E-6243-FA99-6F21-3B98B9B7E366}"/>
              </a:ext>
            </a:extLst>
          </p:cNvPr>
          <p:cNvSpPr/>
          <p:nvPr/>
        </p:nvSpPr>
        <p:spPr>
          <a:xfrm>
            <a:off x="7396163" y="4222750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16CA2-1E1D-E5EA-418A-10FFED6B13D2}"/>
              </a:ext>
            </a:extLst>
          </p:cNvPr>
          <p:cNvSpPr/>
          <p:nvPr/>
        </p:nvSpPr>
        <p:spPr>
          <a:xfrm>
            <a:off x="2005013" y="4217988"/>
            <a:ext cx="106362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DFC4A7-2CDF-42D5-C650-A951DB8CD1D5}"/>
              </a:ext>
            </a:extLst>
          </p:cNvPr>
          <p:cNvSpPr/>
          <p:nvPr/>
        </p:nvSpPr>
        <p:spPr>
          <a:xfrm>
            <a:off x="6873875" y="4227513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575D87-66E4-DA7F-072D-6FDFC86FA34F}"/>
              </a:ext>
            </a:extLst>
          </p:cNvPr>
          <p:cNvSpPr/>
          <p:nvPr/>
        </p:nvSpPr>
        <p:spPr>
          <a:xfrm>
            <a:off x="2947988" y="4217988"/>
            <a:ext cx="106362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EBAB165-026D-8F54-AC96-F8B003AA72FC}"/>
              </a:ext>
            </a:extLst>
          </p:cNvPr>
          <p:cNvSpPr/>
          <p:nvPr/>
        </p:nvSpPr>
        <p:spPr>
          <a:xfrm>
            <a:off x="5842000" y="4227513"/>
            <a:ext cx="106363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3A5BF0-6603-1950-A555-4EEC46024E9C}"/>
              </a:ext>
            </a:extLst>
          </p:cNvPr>
          <p:cNvSpPr/>
          <p:nvPr/>
        </p:nvSpPr>
        <p:spPr>
          <a:xfrm>
            <a:off x="4244975" y="4227513"/>
            <a:ext cx="106363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C3A78B-35E1-91F6-70BD-9BD7866EA17C}"/>
              </a:ext>
            </a:extLst>
          </p:cNvPr>
          <p:cNvSpPr/>
          <p:nvPr/>
        </p:nvSpPr>
        <p:spPr>
          <a:xfrm>
            <a:off x="4760913" y="4210050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F76614-B23F-D243-9887-C415323C8AE8}"/>
              </a:ext>
            </a:extLst>
          </p:cNvPr>
          <p:cNvSpPr/>
          <p:nvPr/>
        </p:nvSpPr>
        <p:spPr>
          <a:xfrm>
            <a:off x="3671888" y="4227513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63EF94-FA28-B22F-46E5-7BE9A801F2E3}"/>
              </a:ext>
            </a:extLst>
          </p:cNvPr>
          <p:cNvSpPr/>
          <p:nvPr/>
        </p:nvSpPr>
        <p:spPr>
          <a:xfrm>
            <a:off x="5195888" y="4227513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35" name="Rectangle 31">
            <a:extLst>
              <a:ext uri="{FF2B5EF4-FFF2-40B4-BE49-F238E27FC236}">
                <a16:creationId xmlns:a16="http://schemas.microsoft.com/office/drawing/2014/main" id="{D1787BF7-5A17-DD08-855C-31E38D61C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3810000"/>
            <a:ext cx="427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6" name="Rectangle 32">
            <a:extLst>
              <a:ext uri="{FF2B5EF4-FFF2-40B4-BE49-F238E27FC236}">
                <a16:creationId xmlns:a16="http://schemas.microsoft.com/office/drawing/2014/main" id="{195D46BF-DDBE-6AF2-C1B5-69DE6E55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3840163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3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7" name="Rectangle 33">
            <a:extLst>
              <a:ext uri="{FF2B5EF4-FFF2-40B4-BE49-F238E27FC236}">
                <a16:creationId xmlns:a16="http://schemas.microsoft.com/office/drawing/2014/main" id="{DFFB79C3-4079-AC76-CF68-66F74A4E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5" y="3819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8" name="Rectangle 34">
            <a:extLst>
              <a:ext uri="{FF2B5EF4-FFF2-40B4-BE49-F238E27FC236}">
                <a16:creationId xmlns:a16="http://schemas.microsoft.com/office/drawing/2014/main" id="{924C407A-EE73-0160-EE4C-93903C9C9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3829050"/>
            <a:ext cx="427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9" name="Rectangle 35">
            <a:extLst>
              <a:ext uri="{FF2B5EF4-FFF2-40B4-BE49-F238E27FC236}">
                <a16:creationId xmlns:a16="http://schemas.microsoft.com/office/drawing/2014/main" id="{2BBB70FE-33E2-0C62-9D8B-5176EFE3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3840163"/>
            <a:ext cx="42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6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0" name="Rectangle 36">
            <a:extLst>
              <a:ext uri="{FF2B5EF4-FFF2-40B4-BE49-F238E27FC236}">
                <a16:creationId xmlns:a16="http://schemas.microsoft.com/office/drawing/2014/main" id="{7FE1F80B-622A-DAE5-4D2F-CC7780168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3819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7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1" name="Rectangle 37">
            <a:extLst>
              <a:ext uri="{FF2B5EF4-FFF2-40B4-BE49-F238E27FC236}">
                <a16:creationId xmlns:a16="http://schemas.microsoft.com/office/drawing/2014/main" id="{66B32146-0FFA-42DE-B008-799030434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38290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8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2" name="Rectangle 38">
            <a:extLst>
              <a:ext uri="{FF2B5EF4-FFF2-40B4-BE49-F238E27FC236}">
                <a16:creationId xmlns:a16="http://schemas.microsoft.com/office/drawing/2014/main" id="{B2A6192D-FC80-F169-E8F9-EF3272743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88" y="3840163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9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3" name="Rectangle 39">
            <a:extLst>
              <a:ext uri="{FF2B5EF4-FFF2-40B4-BE49-F238E27FC236}">
                <a16:creationId xmlns:a16="http://schemas.microsoft.com/office/drawing/2014/main" id="{F1AFC27B-BD11-B947-BB79-35C56BF3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382905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10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4" name="Rectangle 40">
            <a:extLst>
              <a:ext uri="{FF2B5EF4-FFF2-40B4-BE49-F238E27FC236}">
                <a16:creationId xmlns:a16="http://schemas.microsoft.com/office/drawing/2014/main" id="{42610150-1F54-C3F9-A6EC-41900BCC0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3819525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5" name="Rectangle 41">
            <a:extLst>
              <a:ext uri="{FF2B5EF4-FFF2-40B4-BE49-F238E27FC236}">
                <a16:creationId xmlns:a16="http://schemas.microsoft.com/office/drawing/2014/main" id="{B0979250-E84B-FD9A-C5C8-A4270312A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381952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6" name="Rectangle 43">
            <a:extLst>
              <a:ext uri="{FF2B5EF4-FFF2-40B4-BE49-F238E27FC236}">
                <a16:creationId xmlns:a16="http://schemas.microsoft.com/office/drawing/2014/main" id="{F78D548C-C6DC-34E0-A3DB-66F766AC3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4295775"/>
            <a:ext cx="37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7" name="Rectangle 44">
            <a:extLst>
              <a:ext uri="{FF2B5EF4-FFF2-40B4-BE49-F238E27FC236}">
                <a16:creationId xmlns:a16="http://schemas.microsoft.com/office/drawing/2014/main" id="{3D930A82-D271-64AA-24D8-AA8A99D75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4325938"/>
            <a:ext cx="37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3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8" name="Rectangle 45">
            <a:extLst>
              <a:ext uri="{FF2B5EF4-FFF2-40B4-BE49-F238E27FC236}">
                <a16:creationId xmlns:a16="http://schemas.microsoft.com/office/drawing/2014/main" id="{DF0BF64E-16C1-65F5-1B24-091E0CF86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5" y="4305300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9" name="Rectangle 46">
            <a:extLst>
              <a:ext uri="{FF2B5EF4-FFF2-40B4-BE49-F238E27FC236}">
                <a16:creationId xmlns:a16="http://schemas.microsoft.com/office/drawing/2014/main" id="{A3D873D7-7B8D-78D9-DA2D-6BC28025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4314825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0" name="Rectangle 47">
            <a:extLst>
              <a:ext uri="{FF2B5EF4-FFF2-40B4-BE49-F238E27FC236}">
                <a16:creationId xmlns:a16="http://schemas.microsoft.com/office/drawing/2014/main" id="{E5C6BEA9-E745-3F51-1CB2-D252B0E1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4325938"/>
            <a:ext cx="376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6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1" name="Rectangle 48">
            <a:extLst>
              <a:ext uri="{FF2B5EF4-FFF2-40B4-BE49-F238E27FC236}">
                <a16:creationId xmlns:a16="http://schemas.microsoft.com/office/drawing/2014/main" id="{E44CD607-F88E-BED9-F6FD-27BCB1D00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4305300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7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2" name="Rectangle 49">
            <a:extLst>
              <a:ext uri="{FF2B5EF4-FFF2-40B4-BE49-F238E27FC236}">
                <a16:creationId xmlns:a16="http://schemas.microsoft.com/office/drawing/2014/main" id="{C1F5E08F-57D4-1464-6F51-963F5206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4314825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8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3" name="Rectangle 50">
            <a:extLst>
              <a:ext uri="{FF2B5EF4-FFF2-40B4-BE49-F238E27FC236}">
                <a16:creationId xmlns:a16="http://schemas.microsoft.com/office/drawing/2014/main" id="{AF4327E0-8054-0DF7-CDFC-AE8970263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88" y="4325938"/>
            <a:ext cx="377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9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4" name="Rectangle 51">
            <a:extLst>
              <a:ext uri="{FF2B5EF4-FFF2-40B4-BE49-F238E27FC236}">
                <a16:creationId xmlns:a16="http://schemas.microsoft.com/office/drawing/2014/main" id="{420F1095-2CB0-1AF3-F9A4-EF5CFC649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4314825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10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5" name="Rectangle 52">
            <a:extLst>
              <a:ext uri="{FF2B5EF4-FFF2-40B4-BE49-F238E27FC236}">
                <a16:creationId xmlns:a16="http://schemas.microsoft.com/office/drawing/2014/main" id="{28F6997C-EEA8-12C5-FD7C-A1FC547C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305300"/>
            <a:ext cx="447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6" name="Rectangle 53">
            <a:extLst>
              <a:ext uri="{FF2B5EF4-FFF2-40B4-BE49-F238E27FC236}">
                <a16:creationId xmlns:a16="http://schemas.microsoft.com/office/drawing/2014/main" id="{5708A84B-F2B0-CBCA-2892-3D1DAFFDA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305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7" name="Rectangle 54">
            <a:extLst>
              <a:ext uri="{FF2B5EF4-FFF2-40B4-BE49-F238E27FC236}">
                <a16:creationId xmlns:a16="http://schemas.microsoft.com/office/drawing/2014/main" id="{0FA2CE36-4044-06F6-9DE7-50C300057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827463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8" name="Rectangle 56">
            <a:extLst>
              <a:ext uri="{FF2B5EF4-FFF2-40B4-BE49-F238E27FC236}">
                <a16:creationId xmlns:a16="http://schemas.microsoft.com/office/drawing/2014/main" id="{78D5BA6A-C6B5-1E2B-C6BD-1BAA0BCC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4283075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9" name="TextBox 5">
            <a:extLst>
              <a:ext uri="{FF2B5EF4-FFF2-40B4-BE49-F238E27FC236}">
                <a16:creationId xmlns:a16="http://schemas.microsoft.com/office/drawing/2014/main" id="{28E91457-58AB-B91A-843E-52B9E143D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5318125"/>
            <a:ext cx="8759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You have N/2 weights and ordinates between the interval (-1,0) and the same between (0,1)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59" name="Slide Number Placeholder 6">
            <a:extLst>
              <a:ext uri="{FF2B5EF4-FFF2-40B4-BE49-F238E27FC236}">
                <a16:creationId xmlns:a16="http://schemas.microsoft.com/office/drawing/2014/main" id="{E8EFAEE2-4F84-8162-F02C-D8CD256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14E598E-495E-0E4E-A304-2B6CD1958A4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Box 13">
            <a:extLst>
              <a:ext uri="{FF2B5EF4-FFF2-40B4-BE49-F238E27FC236}">
                <a16:creationId xmlns:a16="http://schemas.microsoft.com/office/drawing/2014/main" id="{DF9892F6-2FEA-5E5D-7DB6-AD82D81E2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804863"/>
            <a:ext cx="886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Weights: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02636CAD-5D3C-5774-5DD5-AC47319B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04– Part 03: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Ordinates Method (Part One)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0963" name="Rectangle 1">
            <a:extLst>
              <a:ext uri="{FF2B5EF4-FFF2-40B4-BE49-F238E27FC236}">
                <a16:creationId xmlns:a16="http://schemas.microsoft.com/office/drawing/2014/main" id="{AED6E2AA-8E9C-ACC5-767F-DE04F579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1416050"/>
            <a:ext cx="255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64" name="TextBox 2">
            <a:extLst>
              <a:ext uri="{FF2B5EF4-FFF2-40B4-BE49-F238E27FC236}">
                <a16:creationId xmlns:a16="http://schemas.microsoft.com/office/drawing/2014/main" id="{16BD8748-1659-9530-8C07-891CFA4E5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1689100"/>
            <a:ext cx="355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40965" name="TextBox 55">
            <a:extLst>
              <a:ext uri="{FF2B5EF4-FFF2-40B4-BE49-F238E27FC236}">
                <a16:creationId xmlns:a16="http://schemas.microsoft.com/office/drawing/2014/main" id="{1BFCFB9C-DAA2-6533-2221-4CB89D7D5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1189038"/>
            <a:ext cx="401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40966" name="TextBox 3">
            <a:extLst>
              <a:ext uri="{FF2B5EF4-FFF2-40B4-BE49-F238E27FC236}">
                <a16:creationId xmlns:a16="http://schemas.microsoft.com/office/drawing/2014/main" id="{ADA8A9BA-8F52-B83D-485E-A6C3871C0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1416050"/>
            <a:ext cx="841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 =  </a:t>
            </a:r>
          </a:p>
        </p:txBody>
      </p:sp>
      <p:sp>
        <p:nvSpPr>
          <p:cNvPr id="40967" name="Rectangle 4">
            <a:extLst>
              <a:ext uri="{FF2B5EF4-FFF2-40B4-BE49-F238E27FC236}">
                <a16:creationId xmlns:a16="http://schemas.microsoft.com/office/drawing/2014/main" id="{CA37B17E-1D73-F108-1885-F45B33145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416050"/>
            <a:ext cx="36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8" name="TextBox 5">
            <a:extLst>
              <a:ext uri="{FF2B5EF4-FFF2-40B4-BE49-F238E27FC236}">
                <a16:creationId xmlns:a16="http://schemas.microsoft.com/office/drawing/2014/main" id="{A5A93895-D7DA-F4A2-969E-B457C32C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3813" y="1198563"/>
            <a:ext cx="331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69" name="TextBox 58">
            <a:extLst>
              <a:ext uri="{FF2B5EF4-FFF2-40B4-BE49-F238E27FC236}">
                <a16:creationId xmlns:a16="http://schemas.microsoft.com/office/drawing/2014/main" id="{2160986A-6150-89FA-B16A-D88D0B014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1651000"/>
            <a:ext cx="460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i=1</a:t>
            </a:r>
          </a:p>
        </p:txBody>
      </p:sp>
      <p:sp>
        <p:nvSpPr>
          <p:cNvPr id="40970" name="TextBox 7">
            <a:extLst>
              <a:ext uri="{FF2B5EF4-FFF2-40B4-BE49-F238E27FC236}">
                <a16:creationId xmlns:a16="http://schemas.microsoft.com/office/drawing/2014/main" id="{797B18D1-0928-EB3C-51D9-5399E83F9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1412875"/>
            <a:ext cx="819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= 2</a:t>
            </a:r>
          </a:p>
        </p:txBody>
      </p:sp>
      <p:sp>
        <p:nvSpPr>
          <p:cNvPr id="40971" name="Rectangle 59">
            <a:extLst>
              <a:ext uri="{FF2B5EF4-FFF2-40B4-BE49-F238E27FC236}">
                <a16:creationId xmlns:a16="http://schemas.microsoft.com/office/drawing/2014/main" id="{735E283A-672F-C6F9-D0BB-BF0F94DF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2598738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72" name="TextBox 60">
            <a:extLst>
              <a:ext uri="{FF2B5EF4-FFF2-40B4-BE49-F238E27FC236}">
                <a16:creationId xmlns:a16="http://schemas.microsoft.com/office/drawing/2014/main" id="{6C75AF59-799B-E7A7-8E77-7C4C48198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2879725"/>
            <a:ext cx="2873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973" name="TextBox 61">
            <a:extLst>
              <a:ext uri="{FF2B5EF4-FFF2-40B4-BE49-F238E27FC236}">
                <a16:creationId xmlns:a16="http://schemas.microsoft.com/office/drawing/2014/main" id="{0488753C-858F-FC99-5D12-8FF5A08C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2400300"/>
            <a:ext cx="401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40974" name="TextBox 62">
            <a:extLst>
              <a:ext uri="{FF2B5EF4-FFF2-40B4-BE49-F238E27FC236}">
                <a16:creationId xmlns:a16="http://schemas.microsoft.com/office/drawing/2014/main" id="{8A92FAE1-B729-AC2E-7415-6E2D3315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2598738"/>
            <a:ext cx="969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x =  </a:t>
            </a:r>
          </a:p>
        </p:txBody>
      </p:sp>
      <p:sp>
        <p:nvSpPr>
          <p:cNvPr id="40975" name="Rectangle 63">
            <a:extLst>
              <a:ext uri="{FF2B5EF4-FFF2-40B4-BE49-F238E27FC236}">
                <a16:creationId xmlns:a16="http://schemas.microsoft.com/office/drawing/2014/main" id="{4734652A-5DBD-C27F-0620-353C914F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2619375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6" name="TextBox 64">
            <a:extLst>
              <a:ext uri="{FF2B5EF4-FFF2-40B4-BE49-F238E27FC236}">
                <a16:creationId xmlns:a16="http://schemas.microsoft.com/office/drawing/2014/main" id="{8569A952-FE32-9C56-D8F4-5DAE9F778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2400300"/>
            <a:ext cx="333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77" name="TextBox 65">
            <a:extLst>
              <a:ext uri="{FF2B5EF4-FFF2-40B4-BE49-F238E27FC236}">
                <a16:creationId xmlns:a16="http://schemas.microsoft.com/office/drawing/2014/main" id="{7A1D31A4-541F-23C8-67B0-0AFBADB8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238" y="2946400"/>
            <a:ext cx="1022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i=(N/2)+1</a:t>
            </a:r>
          </a:p>
        </p:txBody>
      </p:sp>
      <p:sp>
        <p:nvSpPr>
          <p:cNvPr id="40978" name="TextBox 66">
            <a:extLst>
              <a:ext uri="{FF2B5EF4-FFF2-40B4-BE49-F238E27FC236}">
                <a16:creationId xmlns:a16="http://schemas.microsoft.com/office/drawing/2014/main" id="{0B3579DD-CA65-9CE9-1CBA-1AE64B4ED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5" y="2616200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= 0.5</a:t>
            </a:r>
          </a:p>
        </p:txBody>
      </p:sp>
      <p:sp>
        <p:nvSpPr>
          <p:cNvPr id="68" name="Slide Number Placeholder 6">
            <a:extLst>
              <a:ext uri="{FF2B5EF4-FFF2-40B4-BE49-F238E27FC236}">
                <a16:creationId xmlns:a16="http://schemas.microsoft.com/office/drawing/2014/main" id="{4FB74F0E-2D57-F868-53A6-2AE6F5D9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617287-59FF-0345-B1DF-4E07DF3C636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80" name="TextBox 13">
            <a:extLst>
              <a:ext uri="{FF2B5EF4-FFF2-40B4-BE49-F238E27FC236}">
                <a16:creationId xmlns:a16="http://schemas.microsoft.com/office/drawing/2014/main" id="{C3423E26-41D5-0110-2315-6B0D62DB9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3786188"/>
            <a:ext cx="886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Case: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81" name="Rectangle 59">
            <a:extLst>
              <a:ext uri="{FF2B5EF4-FFF2-40B4-BE49-F238E27FC236}">
                <a16:creationId xmlns:a16="http://schemas.microsoft.com/office/drawing/2014/main" id="{B617E437-1E2D-87AF-1DD8-51A4B584E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628" y="4067200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82" name="TextBox 60">
            <a:extLst>
              <a:ext uri="{FF2B5EF4-FFF2-40B4-BE49-F238E27FC236}">
                <a16:creationId xmlns:a16="http://schemas.microsoft.com/office/drawing/2014/main" id="{C29123CD-E857-EB58-369A-B28E83E07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491" y="4356125"/>
            <a:ext cx="3317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0983" name="TextBox 61">
            <a:extLst>
              <a:ext uri="{FF2B5EF4-FFF2-40B4-BE49-F238E27FC236}">
                <a16:creationId xmlns:a16="http://schemas.microsoft.com/office/drawing/2014/main" id="{882F3932-193E-9BCD-EB36-EA6CAF5CF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053" y="3849712"/>
            <a:ext cx="3222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0984" name="TextBox 62">
            <a:extLst>
              <a:ext uri="{FF2B5EF4-FFF2-40B4-BE49-F238E27FC236}">
                <a16:creationId xmlns:a16="http://schemas.microsoft.com/office/drawing/2014/main" id="{9E56882D-99D5-76C4-97F9-250772D52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628" y="4067200"/>
            <a:ext cx="133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x =  C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85" name="Rectangle 63">
            <a:extLst>
              <a:ext uri="{FF2B5EF4-FFF2-40B4-BE49-F238E27FC236}">
                <a16:creationId xmlns:a16="http://schemas.microsoft.com/office/drawing/2014/main" id="{57EF22EB-5DD2-BD6C-ADC4-2503BB233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453" y="4089425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86" name="TextBox 64">
            <a:extLst>
              <a:ext uri="{FF2B5EF4-FFF2-40B4-BE49-F238E27FC236}">
                <a16:creationId xmlns:a16="http://schemas.microsoft.com/office/drawing/2014/main" id="{7413D90A-EBCF-E78A-67A9-B5A9D8FEF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916" y="3870350"/>
            <a:ext cx="333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87" name="TextBox 65">
            <a:extLst>
              <a:ext uri="{FF2B5EF4-FFF2-40B4-BE49-F238E27FC236}">
                <a16:creationId xmlns:a16="http://schemas.microsoft.com/office/drawing/2014/main" id="{B2C74C70-D3F5-951E-2F0E-1938B0D9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766" y="4379937"/>
            <a:ext cx="4603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i=1</a:t>
            </a:r>
          </a:p>
        </p:txBody>
      </p:sp>
      <p:sp>
        <p:nvSpPr>
          <p:cNvPr id="40988" name="TextBox 66">
            <a:extLst>
              <a:ext uri="{FF2B5EF4-FFF2-40B4-BE49-F238E27FC236}">
                <a16:creationId xmlns:a16="http://schemas.microsoft.com/office/drawing/2014/main" id="{5879D95C-9D60-7541-171B-692C9F8FB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966" y="4086250"/>
            <a:ext cx="74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x’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0989" name="TextBox 1">
            <a:extLst>
              <a:ext uri="{FF2B5EF4-FFF2-40B4-BE49-F238E27FC236}">
                <a16:creationId xmlns:a16="http://schemas.microsoft.com/office/drawing/2014/main" id="{12230E8E-8250-4622-757A-D25C3E00F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053" y="4870475"/>
            <a:ext cx="1704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x’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+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40990" name="TextBox 30">
            <a:extLst>
              <a:ext uri="{FF2B5EF4-FFF2-40B4-BE49-F238E27FC236}">
                <a16:creationId xmlns:a16="http://schemas.microsoft.com/office/drawing/2014/main" id="{8C0CDFD5-E08C-7565-3288-7EBF71ED3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053" y="5419750"/>
            <a:ext cx="3197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= (B-A)/2 and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= (B+A)/2 </a:t>
            </a:r>
          </a:p>
        </p:txBody>
      </p:sp>
      <p:sp>
        <p:nvSpPr>
          <p:cNvPr id="40991" name="TextBox 31">
            <a:extLst>
              <a:ext uri="{FF2B5EF4-FFF2-40B4-BE49-F238E27FC236}">
                <a16:creationId xmlns:a16="http://schemas.microsoft.com/office/drawing/2014/main" id="{160B72CF-50A6-EA73-AB5B-0D684B3EF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444" y="5938863"/>
            <a:ext cx="6570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In the above, </a:t>
            </a:r>
            <a:r>
              <a:rPr lang="en-US" altLang="en-US" sz="1800" dirty="0" err="1">
                <a:latin typeface="Times New Roman" panose="02020603050405020304" pitchFamily="18" charset="0"/>
              </a:rPr>
              <a:t>x’</a:t>
            </a:r>
            <a:r>
              <a:rPr lang="en-US" altLang="en-US" sz="1800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 are the </a:t>
            </a:r>
            <a:r>
              <a:rPr lang="en-US" altLang="en-US" sz="1800" dirty="0">
                <a:solidFill>
                  <a:srgbClr val="2524F4"/>
                </a:solidFill>
                <a:latin typeface="Times New Roman" panose="02020603050405020304" pitchFamily="18" charset="0"/>
              </a:rPr>
              <a:t>modified ordinates </a:t>
            </a:r>
            <a:r>
              <a:rPr lang="en-US" altLang="en-US" sz="1800" dirty="0">
                <a:latin typeface="Times New Roman" panose="02020603050405020304" pitchFamily="18" charset="0"/>
              </a:rPr>
              <a:t>that run between A and 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93400B7-5D4C-A304-9B27-58DB550A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434BCF1-B81E-CE48-8DA4-86669EC7D25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TextBox 7">
            <a:extLst>
              <a:ext uri="{FF2B5EF4-FFF2-40B4-BE49-F238E27FC236}">
                <a16:creationId xmlns:a16="http://schemas.microsoft.com/office/drawing/2014/main" id="{29E23379-5197-744A-F734-186F5E68A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1" y="744537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Spatial Discretization</a:t>
            </a:r>
          </a:p>
        </p:txBody>
      </p:sp>
      <p:sp>
        <p:nvSpPr>
          <p:cNvPr id="18435" name="TextBox 9">
            <a:extLst>
              <a:ext uri="{FF2B5EF4-FFF2-40B4-BE49-F238E27FC236}">
                <a16:creationId xmlns:a16="http://schemas.microsoft.com/office/drawing/2014/main" id="{3EA38DE3-6F37-EAF4-3534-255705E7A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" y="1383505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the canopy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K layers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5229A2B3-56D9-5F8E-67C9-D982F7BAFAB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53399F-6142-DAFE-318B-2AB6A94A9B62}"/>
              </a:ext>
            </a:extLst>
          </p:cNvPr>
          <p:cNvCxnSpPr/>
          <p:nvPr/>
        </p:nvCxnSpPr>
        <p:spPr>
          <a:xfrm>
            <a:off x="2776991" y="2352278"/>
            <a:ext cx="34829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0B9ABF-AA74-C401-FF29-DDCE5E13864F}"/>
              </a:ext>
            </a:extLst>
          </p:cNvPr>
          <p:cNvCxnSpPr/>
          <p:nvPr/>
        </p:nvCxnSpPr>
        <p:spPr>
          <a:xfrm>
            <a:off x="2776991" y="2823765"/>
            <a:ext cx="34829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EF338F-FDB1-519C-E23B-38C5C122CDBA}"/>
              </a:ext>
            </a:extLst>
          </p:cNvPr>
          <p:cNvCxnSpPr/>
          <p:nvPr/>
        </p:nvCxnSpPr>
        <p:spPr>
          <a:xfrm>
            <a:off x="2776991" y="3282553"/>
            <a:ext cx="34829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EB9BA-4BB7-97B8-F5CD-D1529B1A0F94}"/>
              </a:ext>
            </a:extLst>
          </p:cNvPr>
          <p:cNvCxnSpPr/>
          <p:nvPr/>
        </p:nvCxnSpPr>
        <p:spPr>
          <a:xfrm>
            <a:off x="2823028" y="4420790"/>
            <a:ext cx="34845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B0B895-EA99-8E33-BDE6-0E3FAC3C202C}"/>
              </a:ext>
            </a:extLst>
          </p:cNvPr>
          <p:cNvCxnSpPr/>
          <p:nvPr/>
        </p:nvCxnSpPr>
        <p:spPr>
          <a:xfrm>
            <a:off x="2823028" y="4857353"/>
            <a:ext cx="34845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377648-5635-099D-6879-106C64B0844E}"/>
              </a:ext>
            </a:extLst>
          </p:cNvPr>
          <p:cNvCxnSpPr/>
          <p:nvPr/>
        </p:nvCxnSpPr>
        <p:spPr>
          <a:xfrm>
            <a:off x="2823028" y="5279628"/>
            <a:ext cx="34845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3" name="TextBox 31">
            <a:extLst>
              <a:ext uri="{FF2B5EF4-FFF2-40B4-BE49-F238E27FC236}">
                <a16:creationId xmlns:a16="http://schemas.microsoft.com/office/drawing/2014/main" id="{CFED34B2-FEF0-AE29-2815-A0F65129B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591" y="2110978"/>
            <a:ext cx="1460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 or L = 0</a:t>
            </a:r>
          </a:p>
        </p:txBody>
      </p:sp>
      <p:sp>
        <p:nvSpPr>
          <p:cNvPr id="18444" name="TextBox 32">
            <a:extLst>
              <a:ext uri="{FF2B5EF4-FFF2-40B4-BE49-F238E27FC236}">
                <a16:creationId xmlns:a16="http://schemas.microsoft.com/office/drawing/2014/main" id="{F0C597C7-274C-A5B8-7808-7518EFF3B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03" y="5079603"/>
            <a:ext cx="248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or L = 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= LAI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18445" name="TextBox 4">
            <a:extLst>
              <a:ext uri="{FF2B5EF4-FFF2-40B4-BE49-F238E27FC236}">
                <a16:creationId xmlns:a16="http://schemas.microsoft.com/office/drawing/2014/main" id="{D30067D3-773B-601D-8756-B3E6160D6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391" y="2158603"/>
            <a:ext cx="465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k=1</a:t>
            </a:r>
          </a:p>
        </p:txBody>
      </p:sp>
      <p:sp>
        <p:nvSpPr>
          <p:cNvPr id="18446" name="TextBox 17">
            <a:extLst>
              <a:ext uri="{FF2B5EF4-FFF2-40B4-BE49-F238E27FC236}">
                <a16:creationId xmlns:a16="http://schemas.microsoft.com/office/drawing/2014/main" id="{4C739BEC-8C57-973F-4FBF-1638CA174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853" y="2647553"/>
            <a:ext cx="4651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k=2</a:t>
            </a:r>
          </a:p>
        </p:txBody>
      </p:sp>
      <p:sp>
        <p:nvSpPr>
          <p:cNvPr id="18447" name="TextBox 18">
            <a:extLst>
              <a:ext uri="{FF2B5EF4-FFF2-40B4-BE49-F238E27FC236}">
                <a16:creationId xmlns:a16="http://schemas.microsoft.com/office/drawing/2014/main" id="{E3B05E77-1A7B-E759-E97C-E5646288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966" y="3104753"/>
            <a:ext cx="466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k=3</a:t>
            </a:r>
          </a:p>
        </p:txBody>
      </p:sp>
      <p:sp>
        <p:nvSpPr>
          <p:cNvPr id="18448" name="TextBox 19">
            <a:extLst>
              <a:ext uri="{FF2B5EF4-FFF2-40B4-BE49-F238E27FC236}">
                <a16:creationId xmlns:a16="http://schemas.microsoft.com/office/drawing/2014/main" id="{D569D400-1240-0986-3AB2-8241744F9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591" y="5122465"/>
            <a:ext cx="695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k=K+1</a:t>
            </a:r>
          </a:p>
        </p:txBody>
      </p:sp>
      <p:sp>
        <p:nvSpPr>
          <p:cNvPr id="18449" name="TextBox 20">
            <a:extLst>
              <a:ext uri="{FF2B5EF4-FFF2-40B4-BE49-F238E27FC236}">
                <a16:creationId xmlns:a16="http://schemas.microsoft.com/office/drawing/2014/main" id="{42076A9D-7A00-C580-E781-BD6D1ABF4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591" y="4690665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k=K</a:t>
            </a:r>
          </a:p>
        </p:txBody>
      </p:sp>
      <p:sp>
        <p:nvSpPr>
          <p:cNvPr id="18450" name="TextBox 21">
            <a:extLst>
              <a:ext uri="{FF2B5EF4-FFF2-40B4-BE49-F238E27FC236}">
                <a16:creationId xmlns:a16="http://schemas.microsoft.com/office/drawing/2014/main" id="{788AF667-4380-7592-7A0E-7C09F86F8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591" y="4241403"/>
            <a:ext cx="654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k=K-1</a:t>
            </a:r>
          </a:p>
        </p:txBody>
      </p:sp>
      <p:sp>
        <p:nvSpPr>
          <p:cNvPr id="18451" name="TextBox 5">
            <a:extLst>
              <a:ext uri="{FF2B5EF4-FFF2-40B4-BE49-F238E27FC236}">
                <a16:creationId xmlns:a16="http://schemas.microsoft.com/office/drawing/2014/main" id="{41AAD81F-5463-7AC0-01DF-C91A3073B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278" y="2436415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52" name="TextBox 22">
            <a:extLst>
              <a:ext uri="{FF2B5EF4-FFF2-40B4-BE49-F238E27FC236}">
                <a16:creationId xmlns:a16="http://schemas.microsoft.com/office/drawing/2014/main" id="{600E3D4D-4E32-9BA1-49F2-10396F0F3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278" y="2871390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53" name="TextBox 23">
            <a:extLst>
              <a:ext uri="{FF2B5EF4-FFF2-40B4-BE49-F238E27FC236}">
                <a16:creationId xmlns:a16="http://schemas.microsoft.com/office/drawing/2014/main" id="{54DE7288-5B86-CB8C-CC66-BA838DD82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278" y="4935140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8454" name="TextBox 24">
            <a:extLst>
              <a:ext uri="{FF2B5EF4-FFF2-40B4-BE49-F238E27FC236}">
                <a16:creationId xmlns:a16="http://schemas.microsoft.com/office/drawing/2014/main" id="{0D8AC344-B2F2-FE5A-F38B-DF111E1AD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278" y="4490640"/>
            <a:ext cx="4635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K-1</a:t>
            </a:r>
          </a:p>
        </p:txBody>
      </p:sp>
      <p:sp>
        <p:nvSpPr>
          <p:cNvPr id="18455" name="TextBox 6">
            <a:extLst>
              <a:ext uri="{FF2B5EF4-FFF2-40B4-BE49-F238E27FC236}">
                <a16:creationId xmlns:a16="http://schemas.microsoft.com/office/drawing/2014/main" id="{CDB1C6FA-0693-5C1A-6944-756742753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616" y="2433240"/>
            <a:ext cx="6032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Layer</a:t>
            </a:r>
          </a:p>
        </p:txBody>
      </p:sp>
      <p:sp>
        <p:nvSpPr>
          <p:cNvPr id="18456" name="TextBox 26">
            <a:extLst>
              <a:ext uri="{FF2B5EF4-FFF2-40B4-BE49-F238E27FC236}">
                <a16:creationId xmlns:a16="http://schemas.microsoft.com/office/drawing/2014/main" id="{A28551E6-B8DF-19FA-2587-BAFB08990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616" y="2863453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Layer</a:t>
            </a:r>
          </a:p>
        </p:txBody>
      </p:sp>
      <p:sp>
        <p:nvSpPr>
          <p:cNvPr id="18457" name="TextBox 27">
            <a:extLst>
              <a:ext uri="{FF2B5EF4-FFF2-40B4-BE49-F238E27FC236}">
                <a16:creationId xmlns:a16="http://schemas.microsoft.com/office/drawing/2014/main" id="{ACEB8076-905D-A378-6FC4-481581254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8766" y="4482703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Layer</a:t>
            </a:r>
          </a:p>
        </p:txBody>
      </p:sp>
      <p:sp>
        <p:nvSpPr>
          <p:cNvPr id="18458" name="TextBox 28">
            <a:extLst>
              <a:ext uri="{FF2B5EF4-FFF2-40B4-BE49-F238E27FC236}">
                <a16:creationId xmlns:a16="http://schemas.microsoft.com/office/drawing/2014/main" id="{C9640516-B923-52DA-BFFC-BA988BD53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8766" y="4911328"/>
            <a:ext cx="603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Layer</a:t>
            </a:r>
          </a:p>
        </p:txBody>
      </p:sp>
      <p:sp>
        <p:nvSpPr>
          <p:cNvPr id="18459" name="TextBox 7">
            <a:extLst>
              <a:ext uri="{FF2B5EF4-FFF2-40B4-BE49-F238E27FC236}">
                <a16:creationId xmlns:a16="http://schemas.microsoft.com/office/drawing/2014/main" id="{F0405B81-A473-0E22-1A73-039536B4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541" y="2145903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0" name="TextBox 30">
            <a:extLst>
              <a:ext uri="{FF2B5EF4-FFF2-40B4-BE49-F238E27FC236}">
                <a16:creationId xmlns:a16="http://schemas.microsoft.com/office/drawing/2014/main" id="{420E2B29-4F0E-8F6C-D451-41814B693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878" y="2639615"/>
            <a:ext cx="946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1" name="TextBox 31">
            <a:extLst>
              <a:ext uri="{FF2B5EF4-FFF2-40B4-BE49-F238E27FC236}">
                <a16:creationId xmlns:a16="http://schemas.microsoft.com/office/drawing/2014/main" id="{4391598C-A245-209D-6C3B-7B935FB0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741" y="3095228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2" name="TextBox 32">
            <a:extLst>
              <a:ext uri="{FF2B5EF4-FFF2-40B4-BE49-F238E27FC236}">
                <a16:creationId xmlns:a16="http://schemas.microsoft.com/office/drawing/2014/main" id="{AC80D887-FABB-EAFA-0B51-DD9CE53A9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416" y="4239815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3" name="TextBox 33">
            <a:extLst>
              <a:ext uri="{FF2B5EF4-FFF2-40B4-BE49-F238E27FC236}">
                <a16:creationId xmlns:a16="http://schemas.microsoft.com/office/drawing/2014/main" id="{48EF0242-9256-60AE-66C2-27687EF48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416" y="4682728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4" name="TextBox 34">
            <a:extLst>
              <a:ext uri="{FF2B5EF4-FFF2-40B4-BE49-F238E27FC236}">
                <a16:creationId xmlns:a16="http://schemas.microsoft.com/office/drawing/2014/main" id="{8494A4F2-7EBA-70DF-D1AF-36B257CD4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103" y="5119290"/>
            <a:ext cx="947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18465" name="TextBox 25">
            <a:extLst>
              <a:ext uri="{FF2B5EF4-FFF2-40B4-BE49-F238E27FC236}">
                <a16:creationId xmlns:a16="http://schemas.microsoft.com/office/drawing/2014/main" id="{F825ADBE-6F8A-7922-530B-D42D02FC8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10" y="5273277"/>
            <a:ext cx="7889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2F3FFF"/>
                </a:solidFill>
                <a:latin typeface="Times New Roman" panose="02020603050405020304" pitchFamily="18" charset="0"/>
              </a:rPr>
              <a:t>Ground</a:t>
            </a:r>
          </a:p>
        </p:txBody>
      </p:sp>
      <p:sp>
        <p:nvSpPr>
          <p:cNvPr id="18466" name="TextBox 29">
            <a:extLst>
              <a:ext uri="{FF2B5EF4-FFF2-40B4-BE49-F238E27FC236}">
                <a16:creationId xmlns:a16="http://schemas.microsoft.com/office/drawing/2014/main" id="{382B1A22-C2EA-9BCE-1878-5B2EB6372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4141" y="3644503"/>
            <a:ext cx="873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and so on</a:t>
            </a:r>
          </a:p>
        </p:txBody>
      </p:sp>
      <p:sp>
        <p:nvSpPr>
          <p:cNvPr id="18467" name="Rectangle 35">
            <a:extLst>
              <a:ext uri="{FF2B5EF4-FFF2-40B4-BE49-F238E27FC236}">
                <a16:creationId xmlns:a16="http://schemas.microsoft.com/office/drawing/2014/main" id="{270FE215-4BCD-07EA-819A-86E02D77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841" y="2460228"/>
            <a:ext cx="10715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L = LAI/K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C86D67C-BC73-B28E-0B1D-F1661EF1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700C58D-5F9C-904A-8D43-39064977D5A0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2" name="TextBox 7">
            <a:extLst>
              <a:ext uri="{FF2B5EF4-FFF2-40B4-BE49-F238E27FC236}">
                <a16:creationId xmlns:a16="http://schemas.microsoft.com/office/drawing/2014/main" id="{1BCC4D76-2356-7F51-0E3C-8AF97EDA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9" y="71120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Solve for downward Uncollided Intensity</a:t>
            </a:r>
          </a:p>
        </p:txBody>
      </p:sp>
      <p:sp>
        <p:nvSpPr>
          <p:cNvPr id="20483" name="TextBox 9">
            <a:extLst>
              <a:ext uri="{FF2B5EF4-FFF2-40B4-BE49-F238E27FC236}">
                <a16:creationId xmlns:a16="http://schemas.microsoft.com/office/drawing/2014/main" id="{692261D4-0764-9241-2AD5-10143D8AA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76713"/>
            <a:ext cx="8067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(L=0,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the RHS is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from upper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(Slide 4)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81361C7D-2D31-0B06-1599-855EBC24B27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pic>
        <p:nvPicPr>
          <p:cNvPr id="20485" name="Picture 3">
            <a:extLst>
              <a:ext uri="{FF2B5EF4-FFF2-40B4-BE49-F238E27FC236}">
                <a16:creationId xmlns:a16="http://schemas.microsoft.com/office/drawing/2014/main" id="{1979DBF9-F88B-3A4C-4724-D1CABF83F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1898650"/>
            <a:ext cx="4395788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9">
            <a:extLst>
              <a:ext uri="{FF2B5EF4-FFF2-40B4-BE49-F238E27FC236}">
                <a16:creationId xmlns:a16="http://schemas.microsoft.com/office/drawing/2014/main" id="{666DA713-9FBB-1BB6-B399-7C8FBD129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882900"/>
            <a:ext cx="363378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3">
            <a:extLst>
              <a:ext uri="{FF2B5EF4-FFF2-40B4-BE49-F238E27FC236}">
                <a16:creationId xmlns:a16="http://schemas.microsoft.com/office/drawing/2014/main" id="{6EE6CA6C-BA88-2317-ABA2-2E0833D37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5003800"/>
            <a:ext cx="45704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Box 4">
            <a:extLst>
              <a:ext uri="{FF2B5EF4-FFF2-40B4-BE49-F238E27FC236}">
                <a16:creationId xmlns:a16="http://schemas.microsoft.com/office/drawing/2014/main" id="{E4F69964-AE76-87A6-AF82-CBFB9A126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36675"/>
            <a:ext cx="1620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solution is:</a:t>
            </a:r>
          </a:p>
        </p:txBody>
      </p:sp>
      <p:sp>
        <p:nvSpPr>
          <p:cNvPr id="20489" name="TextBox 15">
            <a:extLst>
              <a:ext uri="{FF2B5EF4-FFF2-40B4-BE49-F238E27FC236}">
                <a16:creationId xmlns:a16="http://schemas.microsoft.com/office/drawing/2014/main" id="{6BF74619-EA14-6133-C898-FE40DAFBC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62225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</a:t>
            </a:r>
          </a:p>
        </p:txBody>
      </p:sp>
      <p:sp>
        <p:nvSpPr>
          <p:cNvPr id="20490" name="TextBox 2">
            <a:extLst>
              <a:ext uri="{FF2B5EF4-FFF2-40B4-BE49-F238E27FC236}">
                <a16:creationId xmlns:a16="http://schemas.microsoft.com/office/drawing/2014/main" id="{D0820634-0B6E-F852-5219-FACD5E95C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3116263"/>
            <a:ext cx="1058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, L2 &gt; L1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83715A3-AFF7-5A45-A42B-91AC5112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8E12455-FC41-044C-A558-8B838977BCA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TextBox 7">
            <a:extLst>
              <a:ext uri="{FF2B5EF4-FFF2-40B4-BE49-F238E27FC236}">
                <a16:creationId xmlns:a16="http://schemas.microsoft.com/office/drawing/2014/main" id="{4ED566DD-89F2-6957-5045-978DCDDC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76288"/>
            <a:ext cx="7961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3a: Solve for downward “direct solar” Uncollided Intensity</a:t>
            </a:r>
          </a:p>
        </p:txBody>
      </p:sp>
      <p:sp>
        <p:nvSpPr>
          <p:cNvPr id="22531" name="TextBox 9">
            <a:extLst>
              <a:ext uri="{FF2B5EF4-FFF2-40B4-BE49-F238E27FC236}">
                <a16:creationId xmlns:a16="http://schemas.microsoft.com/office/drawing/2014/main" id="{70C714EB-A244-64A9-C9FF-D5DFEC957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150018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(L=0,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the RHS is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from upper boundary condition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(cf. slide 4)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8B7EBFEB-01DE-E290-2890-4F22D68F2F6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22533" name="TextBox 9">
            <a:extLst>
              <a:ext uri="{FF2B5EF4-FFF2-40B4-BE49-F238E27FC236}">
                <a16:creationId xmlns:a16="http://schemas.microsoft.com/office/drawing/2014/main" id="{09791BE8-5DC0-605D-3696-C821EF32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228123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2534" name="TextBox 9">
            <a:extLst>
              <a:ext uri="{FF2B5EF4-FFF2-40B4-BE49-F238E27FC236}">
                <a16:creationId xmlns:a16="http://schemas.microsoft.com/office/drawing/2014/main" id="{56A3481A-6BC6-6A0C-58AD-9DB972AA4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305435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k=3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2535" name="TextBox 9">
            <a:extLst>
              <a:ext uri="{FF2B5EF4-FFF2-40B4-BE49-F238E27FC236}">
                <a16:creationId xmlns:a16="http://schemas.microsoft.com/office/drawing/2014/main" id="{99644BAB-C7CC-1281-C6A0-3871A7E0E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369570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till,</a:t>
            </a:r>
          </a:p>
        </p:txBody>
      </p:sp>
      <p:sp>
        <p:nvSpPr>
          <p:cNvPr id="22536" name="TextBox 9">
            <a:extLst>
              <a:ext uri="{FF2B5EF4-FFF2-40B4-BE49-F238E27FC236}">
                <a16:creationId xmlns:a16="http://schemas.microsoft.com/office/drawing/2014/main" id="{A9FC1B2F-EA6A-8D0D-E428-5B73EAB9C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441960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2537" name="TextBox 9">
            <a:extLst>
              <a:ext uri="{FF2B5EF4-FFF2-40B4-BE49-F238E27FC236}">
                <a16:creationId xmlns:a16="http://schemas.microsoft.com/office/drawing/2014/main" id="{9697F5B0-D41C-3BEF-1B6C-62C608DB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5226050"/>
            <a:ext cx="8848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US" altLang="en-US" sz="1800" dirty="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down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en-US" sz="1800" dirty="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phase-space grid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(mesh)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you do this only for the solar direction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B517A8F-1627-B016-AF89-F3367416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7CE231E-859D-F74A-90C4-D98DFBFE614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8" name="TextBox 7">
            <a:extLst>
              <a:ext uri="{FF2B5EF4-FFF2-40B4-BE49-F238E27FC236}">
                <a16:creationId xmlns:a16="http://schemas.microsoft.com/office/drawing/2014/main" id="{6E30CE5D-763A-AABD-CD3B-F83642B0D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46126"/>
            <a:ext cx="7961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3b: Solve for downward “diffuse sky” Uncollided Intensity</a:t>
            </a:r>
          </a:p>
        </p:txBody>
      </p:sp>
      <p:sp>
        <p:nvSpPr>
          <p:cNvPr id="24579" name="TextBox 9">
            <a:extLst>
              <a:ext uri="{FF2B5EF4-FFF2-40B4-BE49-F238E27FC236}">
                <a16:creationId xmlns:a16="http://schemas.microsoft.com/office/drawing/2014/main" id="{ABDFAAC2-B6F8-2641-25EC-9381C9993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150018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(L=0,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the RHS is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from upper boundary condition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(cf. slide 4)</a:t>
            </a: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D94A89E0-1957-4D82-2E73-0AA730769EB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24581" name="TextBox 9">
            <a:extLst>
              <a:ext uri="{FF2B5EF4-FFF2-40B4-BE49-F238E27FC236}">
                <a16:creationId xmlns:a16="http://schemas.microsoft.com/office/drawing/2014/main" id="{D2F41E50-CA3D-0726-B9A0-FF9A6115F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228123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4582" name="TextBox 9">
            <a:extLst>
              <a:ext uri="{FF2B5EF4-FFF2-40B4-BE49-F238E27FC236}">
                <a16:creationId xmlns:a16="http://schemas.microsoft.com/office/drawing/2014/main" id="{8B710070-0D8E-E022-BAC1-4F26B17FC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305435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k=3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4583" name="TextBox 9">
            <a:extLst>
              <a:ext uri="{FF2B5EF4-FFF2-40B4-BE49-F238E27FC236}">
                <a16:creationId xmlns:a16="http://schemas.microsoft.com/office/drawing/2014/main" id="{D58A3EE0-630F-E506-6FE9-9A22316B2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369570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till,</a:t>
            </a:r>
          </a:p>
        </p:txBody>
      </p:sp>
      <p:sp>
        <p:nvSpPr>
          <p:cNvPr id="24584" name="TextBox 9">
            <a:extLst>
              <a:ext uri="{FF2B5EF4-FFF2-40B4-BE49-F238E27FC236}">
                <a16:creationId xmlns:a16="http://schemas.microsoft.com/office/drawing/2014/main" id="{389294FF-662C-BF09-6488-D08D31753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4419600"/>
            <a:ext cx="8848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24585" name="TextBox 9">
            <a:extLst>
              <a:ext uri="{FF2B5EF4-FFF2-40B4-BE49-F238E27FC236}">
                <a16:creationId xmlns:a16="http://schemas.microsoft.com/office/drawing/2014/main" id="{194EB082-9FA9-95A6-FEA3-BD53A5CC5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5226050"/>
            <a:ext cx="8848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US" altLang="en-US" sz="180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down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en-US" sz="180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phase-space grid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(mesh)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Do this for all (N/2)xM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directions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CEFB8B0-677A-7F21-A0B5-AEE0C7B5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366FF58-8E42-B443-A2CE-35A90CAA419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TextBox 7">
            <a:extLst>
              <a:ext uri="{FF2B5EF4-FFF2-40B4-BE49-F238E27FC236}">
                <a16:creationId xmlns:a16="http://schemas.microsoft.com/office/drawing/2014/main" id="{D5227483-B25B-CD2B-46BB-F57BB9F45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1" y="801687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Handle the lower boundary condition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AFC594C-2B37-B32B-FC6E-C131DCFD000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26628" name="TextBox 9">
            <a:extLst>
              <a:ext uri="{FF2B5EF4-FFF2-40B4-BE49-F238E27FC236}">
                <a16:creationId xmlns:a16="http://schemas.microsoft.com/office/drawing/2014/main" id="{6DCB5682-11DA-F4E1-B25C-E1ED37AE8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81768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g</a:t>
            </a:r>
            <a:r>
              <a:rPr lang="el-GR" altLang="en-US" sz="1800" baseline="-25000">
                <a:latin typeface="Times New Roman" panose="02020603050405020304" pitchFamily="18" charset="0"/>
              </a:rPr>
              <a:t>λ</a:t>
            </a:r>
            <a:r>
              <a:rPr lang="en-US" altLang="en-US" sz="1800">
                <a:latin typeface="Times New Roman" panose="02020603050405020304" pitchFamily="18" charset="0"/>
              </a:rPr>
              <a:t>/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6629" name="TextBox 9">
            <a:extLst>
              <a:ext uri="{FF2B5EF4-FFF2-40B4-BE49-F238E27FC236}">
                <a16:creationId xmlns:a16="http://schemas.microsoft.com/office/drawing/2014/main" id="{0C432FA4-C4A8-A405-70EF-EBD423A13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2662238"/>
            <a:ext cx="8848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Note that direction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direction and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direction</a:t>
            </a:r>
          </a:p>
        </p:txBody>
      </p:sp>
      <p:sp>
        <p:nvSpPr>
          <p:cNvPr id="26630" name="TextBox 3">
            <a:extLst>
              <a:ext uri="{FF2B5EF4-FFF2-40B4-BE49-F238E27FC236}">
                <a16:creationId xmlns:a16="http://schemas.microsoft.com/office/drawing/2014/main" id="{6D9B2888-34EB-6E3D-5420-1965EF0C9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2051050"/>
            <a:ext cx="4238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26631" name="TextBox 13">
            <a:extLst>
              <a:ext uri="{FF2B5EF4-FFF2-40B4-BE49-F238E27FC236}">
                <a16:creationId xmlns:a16="http://schemas.microsoft.com/office/drawing/2014/main" id="{BFC34154-ABAF-AEA4-5286-8E6B95E0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76400"/>
            <a:ext cx="5794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26632" name="TextBox 14">
            <a:extLst>
              <a:ext uri="{FF2B5EF4-FFF2-40B4-BE49-F238E27FC236}">
                <a16:creationId xmlns:a16="http://schemas.microsoft.com/office/drawing/2014/main" id="{1A7E6F5B-31E9-C03B-F047-E64A4F62B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3" y="2051050"/>
            <a:ext cx="469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26633" name="TextBox 15">
            <a:extLst>
              <a:ext uri="{FF2B5EF4-FFF2-40B4-BE49-F238E27FC236}">
                <a16:creationId xmlns:a16="http://schemas.microsoft.com/office/drawing/2014/main" id="{2D3487A7-F0AC-139A-74D4-3834033C7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5" y="1676400"/>
            <a:ext cx="528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m=M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A62F11-577E-899C-2299-82693A6FE540}"/>
              </a:ext>
            </a:extLst>
          </p:cNvPr>
          <p:cNvCxnSpPr/>
          <p:nvPr/>
        </p:nvCxnSpPr>
        <p:spPr>
          <a:xfrm>
            <a:off x="2692400" y="5532438"/>
            <a:ext cx="34845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5" name="TextBox 19">
            <a:extLst>
              <a:ext uri="{FF2B5EF4-FFF2-40B4-BE49-F238E27FC236}">
                <a16:creationId xmlns:a16="http://schemas.microsoft.com/office/drawing/2014/main" id="{15504DDF-51F3-B572-4117-115670AB6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6963" y="5375275"/>
            <a:ext cx="695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k=K+1</a:t>
            </a:r>
          </a:p>
        </p:txBody>
      </p:sp>
      <p:sp>
        <p:nvSpPr>
          <p:cNvPr id="26636" name="TextBox 34">
            <a:extLst>
              <a:ext uri="{FF2B5EF4-FFF2-40B4-BE49-F238E27FC236}">
                <a16:creationId xmlns:a16="http://schemas.microsoft.com/office/drawing/2014/main" id="{10AB7DFA-F741-A3FB-1DC9-98CBF26DF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5372100"/>
            <a:ext cx="947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(cell edge)</a:t>
            </a:r>
          </a:p>
        </p:txBody>
      </p:sp>
      <p:sp>
        <p:nvSpPr>
          <p:cNvPr id="26637" name="TextBox 25">
            <a:extLst>
              <a:ext uri="{FF2B5EF4-FFF2-40B4-BE49-F238E27FC236}">
                <a16:creationId xmlns:a16="http://schemas.microsoft.com/office/drawing/2014/main" id="{24DEAF7C-D2F5-A445-DE9D-13B9C82E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5472113"/>
            <a:ext cx="7889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2F3FFF"/>
                </a:solidFill>
                <a:latin typeface="Times New Roman" panose="02020603050405020304" pitchFamily="18" charset="0"/>
              </a:rPr>
              <a:t>Ground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6FB043-E45B-24C2-D7D2-DA3BB551ABD2}"/>
              </a:ext>
            </a:extLst>
          </p:cNvPr>
          <p:cNvCxnSpPr>
            <a:endCxn id="26637" idx="0"/>
          </p:cNvCxnSpPr>
          <p:nvPr/>
        </p:nvCxnSpPr>
        <p:spPr>
          <a:xfrm flipH="1">
            <a:off x="4603750" y="3903663"/>
            <a:ext cx="1700213" cy="1568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D3546E-513E-A026-20AC-BC6618FDD9EE}"/>
              </a:ext>
            </a:extLst>
          </p:cNvPr>
          <p:cNvCxnSpPr/>
          <p:nvPr/>
        </p:nvCxnSpPr>
        <p:spPr>
          <a:xfrm flipH="1" flipV="1">
            <a:off x="3341688" y="3903663"/>
            <a:ext cx="1098550" cy="1568450"/>
          </a:xfrm>
          <a:prstGeom prst="straightConnector1">
            <a:avLst/>
          </a:prstGeom>
          <a:ln w="38100">
            <a:solidFill>
              <a:srgbClr val="273B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0" name="Rectangle 6">
            <a:extLst>
              <a:ext uri="{FF2B5EF4-FFF2-40B4-BE49-F238E27FC236}">
                <a16:creationId xmlns:a16="http://schemas.microsoft.com/office/drawing/2014/main" id="{6EF0294F-22EB-97E9-C30C-6010FEA06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963" y="3670300"/>
            <a:ext cx="554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6641" name="Rectangle 7">
            <a:extLst>
              <a:ext uri="{FF2B5EF4-FFF2-40B4-BE49-F238E27FC236}">
                <a16:creationId xmlns:a16="http://schemas.microsoft.com/office/drawing/2014/main" id="{5B886DD7-0C43-47A9-E5F4-E56BFC99F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3697288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6642" name="Rectangle 8">
            <a:extLst>
              <a:ext uri="{FF2B5EF4-FFF2-40B4-BE49-F238E27FC236}">
                <a16:creationId xmlns:a16="http://schemas.microsoft.com/office/drawing/2014/main" id="{09A5A90B-19B2-B9C8-459C-068E931B1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4816475"/>
            <a:ext cx="1555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6643" name="Rectangle 9">
            <a:extLst>
              <a:ext uri="{FF2B5EF4-FFF2-40B4-BE49-F238E27FC236}">
                <a16:creationId xmlns:a16="http://schemas.microsoft.com/office/drawing/2014/main" id="{C3C39101-9C90-00DA-072F-6FF60D3A3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4276725"/>
            <a:ext cx="1444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6644" name="TextBox 32">
            <a:extLst>
              <a:ext uri="{FF2B5EF4-FFF2-40B4-BE49-F238E27FC236}">
                <a16:creationId xmlns:a16="http://schemas.microsoft.com/office/drawing/2014/main" id="{59129677-B49A-8379-B471-9FD4DFE09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5332413"/>
            <a:ext cx="248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or L = 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 = LAI</a:t>
            </a:r>
            <a:endParaRPr lang="en-US" altLang="en-US" sz="2000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785F166-6FD5-3490-A771-01B63B53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2F98274-A2A4-7C42-9FB4-2E28FBC7A10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TextBox 7">
            <a:extLst>
              <a:ext uri="{FF2B5EF4-FFF2-40B4-BE49-F238E27FC236}">
                <a16:creationId xmlns:a16="http://schemas.microsoft.com/office/drawing/2014/main" id="{0388E01C-8CD9-CD9C-9131-957C31FE4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6" y="750888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Solve for upward Uncollided Intensity</a:t>
            </a:r>
          </a:p>
        </p:txBody>
      </p:sp>
      <p:sp>
        <p:nvSpPr>
          <p:cNvPr id="28675" name="TextBox 9">
            <a:extLst>
              <a:ext uri="{FF2B5EF4-FFF2-40B4-BE49-F238E27FC236}">
                <a16:creationId xmlns:a16="http://schemas.microsoft.com/office/drawing/2014/main" id="{A64D08A8-29E8-D66A-A8CB-7DBFD27CE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4413250"/>
            <a:ext cx="7797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(L=L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, the RHS is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from lower 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(see previous slide)</a:t>
            </a: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09F2B14E-2CAA-5CF1-135C-C34CE97AFAA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pic>
        <p:nvPicPr>
          <p:cNvPr id="28677" name="Picture 9">
            <a:extLst>
              <a:ext uri="{FF2B5EF4-FFF2-40B4-BE49-F238E27FC236}">
                <a16:creationId xmlns:a16="http://schemas.microsoft.com/office/drawing/2014/main" id="{395BD794-5ABA-A514-59E6-DE15DA8F0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3121025"/>
            <a:ext cx="363378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4">
            <a:extLst>
              <a:ext uri="{FF2B5EF4-FFF2-40B4-BE49-F238E27FC236}">
                <a16:creationId xmlns:a16="http://schemas.microsoft.com/office/drawing/2014/main" id="{68B19DC5-FEBC-65D4-D523-E4AE9C27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1573213"/>
            <a:ext cx="1620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solution is:</a:t>
            </a:r>
          </a:p>
        </p:txBody>
      </p:sp>
      <p:sp>
        <p:nvSpPr>
          <p:cNvPr id="28679" name="TextBox 15">
            <a:extLst>
              <a:ext uri="{FF2B5EF4-FFF2-40B4-BE49-F238E27FC236}">
                <a16:creationId xmlns:a16="http://schemas.microsoft.com/office/drawing/2014/main" id="{4AC7AE14-AB7D-21FF-4415-3768B2A01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2800350"/>
            <a:ext cx="749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</a:t>
            </a:r>
          </a:p>
        </p:txBody>
      </p:sp>
      <p:pic>
        <p:nvPicPr>
          <p:cNvPr id="28680" name="Picture 5">
            <a:extLst>
              <a:ext uri="{FF2B5EF4-FFF2-40B4-BE49-F238E27FC236}">
                <a16:creationId xmlns:a16="http://schemas.microsoft.com/office/drawing/2014/main" id="{9F073B50-53E1-7C2A-E7A5-F0577205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2168525"/>
            <a:ext cx="474503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TextBox 2">
            <a:extLst>
              <a:ext uri="{FF2B5EF4-FFF2-40B4-BE49-F238E27FC236}">
                <a16:creationId xmlns:a16="http://schemas.microsoft.com/office/drawing/2014/main" id="{40F6D669-1EBE-7DE4-4DB1-0D700E9D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354388"/>
            <a:ext cx="1058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, L2 &gt; L1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CDD147E-8FCF-3B9A-7884-3B511690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47D1FA5-2055-8E47-A777-5C53121E283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TextBox 7">
            <a:extLst>
              <a:ext uri="{FF2B5EF4-FFF2-40B4-BE49-F238E27FC236}">
                <a16:creationId xmlns:a16="http://schemas.microsoft.com/office/drawing/2014/main" id="{53706337-3F6D-69E2-843E-F84E32C77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720612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Solve for upward Uncollided Intensity</a:t>
            </a:r>
          </a:p>
        </p:txBody>
      </p:sp>
      <p:sp>
        <p:nvSpPr>
          <p:cNvPr id="30723" name="TextBox 9">
            <a:extLst>
              <a:ext uri="{FF2B5EF4-FFF2-40B4-BE49-F238E27FC236}">
                <a16:creationId xmlns:a16="http://schemas.microsoft.com/office/drawing/2014/main" id="{981F23D0-1710-B917-B777-F8B73DBFA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64" y="1438956"/>
            <a:ext cx="6796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I0(L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known from lower boundary condition (slide 14)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6E85406A-31D9-D827-E2CA-9F67221B3FC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30725" name="TextBox 9">
            <a:extLst>
              <a:ext uri="{FF2B5EF4-FFF2-40B4-BE49-F238E27FC236}">
                <a16:creationId xmlns:a16="http://schemas.microsoft.com/office/drawing/2014/main" id="{DDCA35BA-D4E2-48C3-CDD9-FC8E27EAB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64" y="2283506"/>
            <a:ext cx="641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k=K+1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30726" name="TextBox 9">
            <a:extLst>
              <a:ext uri="{FF2B5EF4-FFF2-40B4-BE49-F238E27FC236}">
                <a16:creationId xmlns:a16="http://schemas.microsoft.com/office/drawing/2014/main" id="{41A128EA-30A5-1397-B33D-85513C3E4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64" y="3264581"/>
            <a:ext cx="540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k=K-1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30727" name="TextBox 9">
            <a:extLst>
              <a:ext uri="{FF2B5EF4-FFF2-40B4-BE49-F238E27FC236}">
                <a16:creationId xmlns:a16="http://schemas.microsoft.com/office/drawing/2014/main" id="{0294AB5A-0BF5-5C43-6260-EC2CBF27A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64" y="4029756"/>
            <a:ext cx="386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till,</a:t>
            </a:r>
          </a:p>
        </p:txBody>
      </p:sp>
      <p:sp>
        <p:nvSpPr>
          <p:cNvPr id="30728" name="TextBox 9">
            <a:extLst>
              <a:ext uri="{FF2B5EF4-FFF2-40B4-BE49-F238E27FC236}">
                <a16:creationId xmlns:a16="http://schemas.microsoft.com/office/drawing/2014/main" id="{16DA8950-B051-AA7F-F7B2-2FBEE7107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64" y="4794931"/>
            <a:ext cx="5224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exp[-(1/|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|)G(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L]</a:t>
            </a:r>
          </a:p>
        </p:txBody>
      </p:sp>
      <p:sp>
        <p:nvSpPr>
          <p:cNvPr id="30729" name="TextBox 9">
            <a:extLst>
              <a:ext uri="{FF2B5EF4-FFF2-40B4-BE49-F238E27FC236}">
                <a16:creationId xmlns:a16="http://schemas.microsoft.com/office/drawing/2014/main" id="{7B6BDE30-997F-62BC-0756-7FB8F83C6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64" y="5560106"/>
            <a:ext cx="61388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US" altLang="en-US" sz="180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up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en-US" sz="180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phase-space grid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(mesh)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Do this for all (N/2)xM </a:t>
            </a:r>
            <a:r>
              <a:rPr lang="en-US" altLang="en-US" sz="180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directions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11CD-7777-F9D3-D11E-95E55267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45245C7-C09A-CC20-AD32-6DE67647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47D1FA5-2055-8E47-A777-5C53121E283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TextBox 7">
            <a:extLst>
              <a:ext uri="{FF2B5EF4-FFF2-40B4-BE49-F238E27FC236}">
                <a16:creationId xmlns:a16="http://schemas.microsoft.com/office/drawing/2014/main" id="{7189D895-7019-9586-7EB3-F28B78396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720612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we have now?</a:t>
            </a:r>
          </a:p>
        </p:txBody>
      </p:sp>
      <p:sp>
        <p:nvSpPr>
          <p:cNvPr id="30723" name="TextBox 9">
            <a:extLst>
              <a:ext uri="{FF2B5EF4-FFF2-40B4-BE49-F238E27FC236}">
                <a16:creationId xmlns:a16="http://schemas.microsoft.com/office/drawing/2014/main" id="{73D7FEE6-0864-5032-FB8B-E1DE83BD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19" y="2014689"/>
            <a:ext cx="8395761" cy="2363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1800" b="1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evaluated at each cell edge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k = 1, 2, 3 … K+1 for direct solar radiation (downward) direction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downward directions due to diffuse sky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upwards directions due to reflection at ground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EB0027CA-7993-76E4-3CBB-28A14B58BA6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</p:spTree>
    <p:extLst>
      <p:ext uri="{BB962C8B-B14F-4D97-AF65-F5344CB8AC3E}">
        <p14:creationId xmlns:p14="http://schemas.microsoft.com/office/powerpoint/2010/main" val="244636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8F2210D-59BF-2F6D-0A2D-22E6768D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6416F06-0814-9D49-8D45-9FDC2A46D8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0" name="TextBox 7">
            <a:extLst>
              <a:ext uri="{FF2B5EF4-FFF2-40B4-BE49-F238E27FC236}">
                <a16:creationId xmlns:a16="http://schemas.microsoft.com/office/drawing/2014/main" id="{27998BA3-AB57-BB6E-A445-1A0D4E247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02727"/>
            <a:ext cx="8769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6a: Evaluate First Collison Source Q due to Uncollided Downward direct solar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9EEE4A7-D082-E441-AFC7-43E4CAF2B3C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32772" name="TextBox 9">
            <a:extLst>
              <a:ext uri="{FF2B5EF4-FFF2-40B4-BE49-F238E27FC236}">
                <a16:creationId xmlns:a16="http://schemas.microsoft.com/office/drawing/2014/main" id="{4D58A1F5-E960-00E1-FB76-0EBE8BBBC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3121025"/>
            <a:ext cx="8848725" cy="302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we are evaluating the source at </a:t>
            </a:r>
            <a:r>
              <a:rPr lang="en-US" altLang="en-US" sz="1800" dirty="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center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k+(1/2), where k = 1, 2,…,K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cell-center intensity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from cell-edge intensities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(1/2) [I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all directions in a sphere</a:t>
            </a:r>
          </a:p>
        </p:txBody>
      </p:sp>
      <p:sp>
        <p:nvSpPr>
          <p:cNvPr id="32773" name="TextBox 9">
            <a:extLst>
              <a:ext uri="{FF2B5EF4-FFF2-40B4-BE49-F238E27FC236}">
                <a16:creationId xmlns:a16="http://schemas.microsoft.com/office/drawing/2014/main" id="{C5412D35-D709-174E-89CD-1C0EAE641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968" y="2239652"/>
            <a:ext cx="63833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(1/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2774" name="TextBox 2">
            <a:extLst>
              <a:ext uri="{FF2B5EF4-FFF2-40B4-BE49-F238E27FC236}">
                <a16:creationId xmlns:a16="http://schemas.microsoft.com/office/drawing/2014/main" id="{963F5B65-BF64-014F-B5FA-7FCBD0A12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1498600"/>
            <a:ext cx="434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Evaluate FCS for all directions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as follows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9A5C08B-42FB-1264-1A81-2341FE7C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AA6751C-8D72-FE44-8C91-4A2BCE7B3EF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212CD25-3ECC-70DE-999E-C6C45592C90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34820" name="TextBox 9">
            <a:extLst>
              <a:ext uri="{FF2B5EF4-FFF2-40B4-BE49-F238E27FC236}">
                <a16:creationId xmlns:a16="http://schemas.microsoft.com/office/drawing/2014/main" id="{585FB785-0D66-5729-9180-76C86D5B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2699003"/>
            <a:ext cx="8848725" cy="269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we are evaluating the source at </a:t>
            </a:r>
            <a:r>
              <a:rPr lang="en-US" altLang="en-US" sz="1800" dirty="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center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k+(1/2), where k = 1, 2,…, K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done only for downwards directions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cell-center intensity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from cell-edge intensities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mean of the cell-edge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Intensities, as before (cf. previous slide)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all directions in a sphere</a:t>
            </a:r>
          </a:p>
        </p:txBody>
      </p:sp>
      <p:sp>
        <p:nvSpPr>
          <p:cNvPr id="34821" name="TextBox 9">
            <a:extLst>
              <a:ext uri="{FF2B5EF4-FFF2-40B4-BE49-F238E27FC236}">
                <a16:creationId xmlns:a16="http://schemas.microsoft.com/office/drawing/2014/main" id="{0ABA57A9-0B7C-67EA-91CA-F2FFBE2BF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85" y="1643452"/>
            <a:ext cx="7328186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</a:p>
        </p:txBody>
      </p:sp>
      <p:sp>
        <p:nvSpPr>
          <p:cNvPr id="34826" name="TextBox 9">
            <a:extLst>
              <a:ext uri="{FF2B5EF4-FFF2-40B4-BE49-F238E27FC236}">
                <a16:creationId xmlns:a16="http://schemas.microsoft.com/office/drawing/2014/main" id="{8932A27C-3D3C-476D-69D6-F4C257CF0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34" y="1643452"/>
            <a:ext cx="799230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en-US" sz="1800" dirty="0">
                <a:latin typeface="Times New Roman" panose="02020603050405020304" pitchFamily="18" charset="0"/>
              </a:rPr>
              <a:t>    (1/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 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34827" name="TextBox 11">
            <a:extLst>
              <a:ext uri="{FF2B5EF4-FFF2-40B4-BE49-F238E27FC236}">
                <a16:creationId xmlns:a16="http://schemas.microsoft.com/office/drawing/2014/main" id="{1AD4C333-DAFC-87BB-36F7-C8F04F22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792" y="1902214"/>
            <a:ext cx="4251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n=1</a:t>
            </a:r>
          </a:p>
        </p:txBody>
      </p:sp>
      <p:sp>
        <p:nvSpPr>
          <p:cNvPr id="34828" name="TextBox 13">
            <a:extLst>
              <a:ext uri="{FF2B5EF4-FFF2-40B4-BE49-F238E27FC236}">
                <a16:creationId xmlns:a16="http://schemas.microsoft.com/office/drawing/2014/main" id="{ABAF1FA3-D163-2680-1C9D-2C1D5A9C0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672" y="1442652"/>
            <a:ext cx="6033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n=N/2</a:t>
            </a:r>
          </a:p>
        </p:txBody>
      </p:sp>
      <p:sp>
        <p:nvSpPr>
          <p:cNvPr id="34829" name="TextBox 14">
            <a:extLst>
              <a:ext uri="{FF2B5EF4-FFF2-40B4-BE49-F238E27FC236}">
                <a16:creationId xmlns:a16="http://schemas.microsoft.com/office/drawing/2014/main" id="{EC7C86D4-D03A-9BA9-7565-7B8461C06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913" y="1931379"/>
            <a:ext cx="469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34830" name="TextBox 15">
            <a:extLst>
              <a:ext uri="{FF2B5EF4-FFF2-40B4-BE49-F238E27FC236}">
                <a16:creationId xmlns:a16="http://schemas.microsoft.com/office/drawing/2014/main" id="{4BBCFB46-A046-1559-16CB-0269B5470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544" y="1449645"/>
            <a:ext cx="528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B95EF6A5-67EA-96DD-E07B-7773D3677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958" y="751626"/>
            <a:ext cx="87693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6b: Evaluate First Collison Source Q due to Uncollided Downward Diffuse Sky Radiation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30EE-A710-2481-D4B6-2FD9DEBB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81147AA-0FAF-3E9F-4C02-5DE76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AA6751C-8D72-FE44-8C91-4A2BCE7B3EF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C69AF8A-89BC-19C0-5256-64A5FB73589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(Part One)</a:t>
            </a:r>
          </a:p>
        </p:txBody>
      </p:sp>
      <p:sp>
        <p:nvSpPr>
          <p:cNvPr id="34820" name="TextBox 9">
            <a:extLst>
              <a:ext uri="{FF2B5EF4-FFF2-40B4-BE49-F238E27FC236}">
                <a16:creationId xmlns:a16="http://schemas.microsoft.com/office/drawing/2014/main" id="{15D4ABBE-53E2-4AD0-B44E-797ADB5D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2479675"/>
            <a:ext cx="8848725" cy="336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we are evaluating the source at </a:t>
            </a:r>
            <a:r>
              <a:rPr lang="en-US" altLang="en-US" sz="1800" dirty="0">
                <a:solidFill>
                  <a:srgbClr val="2F3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center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k+(1/2), where k = 1, 2,…,K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done for upward directions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cell-center intensity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dirty="0">
                <a:solidFill>
                  <a:srgbClr val="22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from cell-edge intensities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mean of the cell-edge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Intensities, as before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all directions in a sphere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1 ,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FCS Q.</a:t>
            </a:r>
          </a:p>
        </p:txBody>
      </p:sp>
      <p:sp>
        <p:nvSpPr>
          <p:cNvPr id="34821" name="TextBox 9">
            <a:extLst>
              <a:ext uri="{FF2B5EF4-FFF2-40B4-BE49-F238E27FC236}">
                <a16:creationId xmlns:a16="http://schemas.microsoft.com/office/drawing/2014/main" id="{8CA2A51D-8484-79AA-1708-89E88E3F0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1516582"/>
            <a:ext cx="6850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sz="1800" dirty="0">
                <a:latin typeface="Times New Roman" panose="02020603050405020304" pitchFamily="18" charset="0"/>
              </a:rPr>
              <a:t> (1/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w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34822" name="TextBox 11">
            <a:extLst>
              <a:ext uri="{FF2B5EF4-FFF2-40B4-BE49-F238E27FC236}">
                <a16:creationId xmlns:a16="http://schemas.microsoft.com/office/drawing/2014/main" id="{CAFA4C68-8E5B-C7F6-3440-9E1299E94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246" y="1801291"/>
            <a:ext cx="83693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n=N/2 + 1</a:t>
            </a:r>
          </a:p>
        </p:txBody>
      </p:sp>
      <p:sp>
        <p:nvSpPr>
          <p:cNvPr id="34823" name="TextBox 13">
            <a:extLst>
              <a:ext uri="{FF2B5EF4-FFF2-40B4-BE49-F238E27FC236}">
                <a16:creationId xmlns:a16="http://schemas.microsoft.com/office/drawing/2014/main" id="{AB06217A-4F03-02E6-D21E-187B2B24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048" y="1360482"/>
            <a:ext cx="535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n = N</a:t>
            </a:r>
          </a:p>
        </p:txBody>
      </p:sp>
      <p:sp>
        <p:nvSpPr>
          <p:cNvPr id="34824" name="TextBox 14">
            <a:extLst>
              <a:ext uri="{FF2B5EF4-FFF2-40B4-BE49-F238E27FC236}">
                <a16:creationId xmlns:a16="http://schemas.microsoft.com/office/drawing/2014/main" id="{A9D2749F-49F5-B569-1C97-E9F199AD1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176" y="1818182"/>
            <a:ext cx="469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m=1</a:t>
            </a:r>
          </a:p>
        </p:txBody>
      </p:sp>
      <p:sp>
        <p:nvSpPr>
          <p:cNvPr id="34825" name="TextBox 15">
            <a:extLst>
              <a:ext uri="{FF2B5EF4-FFF2-40B4-BE49-F238E27FC236}">
                <a16:creationId xmlns:a16="http://schemas.microsoft.com/office/drawing/2014/main" id="{BA85950F-C9BA-B845-3473-CEEA1B21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1807" y="1361256"/>
            <a:ext cx="5286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 panose="02020603050405020304" pitchFamily="18" charset="0"/>
              </a:rPr>
              <a:t>m=M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414AC33F-3DA3-2DD8-0AE1-9D4F35CCF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49062"/>
            <a:ext cx="87693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6c: Evaluate First Collison Source Q due to Reflection Upwards from Lower Boundary</a:t>
            </a:r>
          </a:p>
        </p:txBody>
      </p:sp>
    </p:spTree>
    <p:extLst>
      <p:ext uri="{BB962C8B-B14F-4D97-AF65-F5344CB8AC3E}">
        <p14:creationId xmlns:p14="http://schemas.microsoft.com/office/powerpoint/2010/main" val="2184859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11CD-7777-F9D3-D11E-95E55267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45245C7-C09A-CC20-AD32-6DE67647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47D1FA5-2055-8E47-A777-5C53121E283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TextBox 7">
            <a:extLst>
              <a:ext uri="{FF2B5EF4-FFF2-40B4-BE49-F238E27FC236}">
                <a16:creationId xmlns:a16="http://schemas.microsoft.com/office/drawing/2014/main" id="{7189D895-7019-9586-7EB3-F28B78396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7" y="734294"/>
            <a:ext cx="319167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we have now?</a:t>
            </a:r>
          </a:p>
        </p:txBody>
      </p:sp>
      <p:sp>
        <p:nvSpPr>
          <p:cNvPr id="30723" name="TextBox 9">
            <a:extLst>
              <a:ext uri="{FF2B5EF4-FFF2-40B4-BE49-F238E27FC236}">
                <a16:creationId xmlns:a16="http://schemas.microsoft.com/office/drawing/2014/main" id="{73D7FEE6-0864-5032-FB8B-E1DE83BD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19" y="1431884"/>
            <a:ext cx="8395761" cy="5022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1800" b="1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(Part One, C4-P3)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evaluated and saved the following quantities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k = 1, 2, 3 … K+1 for direct solar radiation (downward) direction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downward directions due to diffuse sky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K+1 for all upwards directions due to reflection at ground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 for all directions due to direct solar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= 1, 2, 3 … K for all directions due to diffuse sky radiation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k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1,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… K for all upwards directions due to reflection at ground</a:t>
            </a:r>
          </a:p>
          <a:p>
            <a:pPr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(L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k+(1/2)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the sum 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Q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EB0027CA-7993-76E4-3CBB-28A14B58BA6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04 – Part 03: Discrete Ordinates Method (</a:t>
            </a:r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One)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98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65432561-E5A0-B12B-E81E-EBB8D56E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Ordinates Method (Part One)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A81475E-3969-0DD1-7E11-82945F71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526FCA5-92F9-1B45-B8A1-D857781AB8D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B76F45A8-C4C2-C888-DD06-D0BB675E7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72390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7a: The Collided Problem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7588A2D7-5E83-3BB5-8978-E24C81F16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19213"/>
            <a:ext cx="79152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Box 5">
            <a:extLst>
              <a:ext uri="{FF2B5EF4-FFF2-40B4-BE49-F238E27FC236}">
                <a16:creationId xmlns:a16="http://schemas.microsoft.com/office/drawing/2014/main" id="{615BEA2D-CC7D-D601-DBDA-AEF3B8736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221038"/>
            <a:ext cx="3525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Q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first collision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6870" name="Picture 7">
            <a:extLst>
              <a:ext uri="{FF2B5EF4-FFF2-40B4-BE49-F238E27FC236}">
                <a16:creationId xmlns:a16="http://schemas.microsoft.com/office/drawing/2014/main" id="{DF07C2BB-2527-0C51-B309-F176D2979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802063"/>
            <a:ext cx="38735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Box 10">
            <a:extLst>
              <a:ext uri="{FF2B5EF4-FFF2-40B4-BE49-F238E27FC236}">
                <a16:creationId xmlns:a16="http://schemas.microsoft.com/office/drawing/2014/main" id="{0DD7A1BE-4D55-BF90-D1D2-7ABDEC466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632325"/>
            <a:ext cx="4852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and S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distributed (multiple-collision)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36872" name="Picture 9">
            <a:extLst>
              <a:ext uri="{FF2B5EF4-FFF2-40B4-BE49-F238E27FC236}">
                <a16:creationId xmlns:a16="http://schemas.microsoft.com/office/drawing/2014/main" id="{1C69B791-7BC2-D009-42F5-122DC4E6B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5360988"/>
            <a:ext cx="409416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42F6-C464-EBB1-13E8-487100B7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FEBB6CA1-4F33-6EC9-98C9-87056C03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- 03: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Ordinates Method (Part One)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0EAC717-19F3-59D2-F2A6-CBCA9C1C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526FCA5-92F9-1B45-B8A1-D857781AB8D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19F039CF-FB72-D3E8-4C98-4EC42CB22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72390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06068-0AC9-2D9F-F8FD-A2FE614ABA44}"/>
              </a:ext>
            </a:extLst>
          </p:cNvPr>
          <p:cNvSpPr txBox="1"/>
          <p:nvPr/>
        </p:nvSpPr>
        <p:spPr>
          <a:xfrm>
            <a:off x="798300" y="1216324"/>
            <a:ext cx="47555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Download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DOM UNCOLLIDED </a:t>
            </a:r>
            <a:r>
              <a:rPr lang="en-US" dirty="0">
                <a:solidFill>
                  <a:schemeClr val="tx1"/>
                </a:solidFill>
              </a:rPr>
              <a:t>code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Download Documentation from Class Website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Produce Figs. 04 and 05 for your report (WRITE YOUR OWN CODE)</a:t>
            </a:r>
          </a:p>
        </p:txBody>
      </p:sp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9BB91878-626F-0FF9-DBB9-722ACC76D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00" y="2214125"/>
            <a:ext cx="7772400" cy="2411889"/>
          </a:xfrm>
          <a:prstGeom prst="rect">
            <a:avLst/>
          </a:prstGeom>
        </p:spPr>
      </p:pic>
      <p:pic>
        <p:nvPicPr>
          <p:cNvPr id="9" name="Picture 8" descr="A graph with a blue line&#10;&#10;AI-generated content may be incorrect.">
            <a:extLst>
              <a:ext uri="{FF2B5EF4-FFF2-40B4-BE49-F238E27FC236}">
                <a16:creationId xmlns:a16="http://schemas.microsoft.com/office/drawing/2014/main" id="{4C276A47-D64C-F9DF-CA71-A9271514B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00" y="4345118"/>
            <a:ext cx="7772400" cy="241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7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7548</TotalTime>
  <Words>2894</Words>
  <Application>Microsoft Macintosh PowerPoint</Application>
  <PresentationFormat>On-screen Show (4:3)</PresentationFormat>
  <Paragraphs>367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Helvetica</vt:lpstr>
      <vt:lpstr>Times</vt:lpstr>
      <vt:lpstr>Times New Roman</vt:lpstr>
      <vt:lpstr>Office Theme</vt:lpstr>
      <vt:lpstr>PHYSICAL MODELS IN REMOTE SENSING Chapter 04 – Part 03: Discrete Ordinates Method (Part One)</vt:lpstr>
      <vt:lpstr>PHYSICAL MODELS IN REMOTE SENSING Chapter 04 – Part - 03: Discrete Ordinates Method (Part One)</vt:lpstr>
      <vt:lpstr>PHYSICAL MODELS IN REMOTE SENSING Chapter 04 – Part 03: Discrete Ordinates Method (Part One)</vt:lpstr>
      <vt:lpstr>PHYSICAL MODELS IN REMOTE SENSING Chapter 04 – Part - 03: Discrete Ordinates Method (Part One)</vt:lpstr>
      <vt:lpstr>PHYSICAL MODELS IN REMOTE SENSING Chapter 04 – Part - 03: Discrete Ordinates Method (Part One)</vt:lpstr>
      <vt:lpstr>PHYSICAL MODELS IN REMOTE SENSING Chapter 04 – Part - 03: Discrete Ordinates Method (Part One)</vt:lpstr>
      <vt:lpstr>PowerPoint Presentation</vt:lpstr>
      <vt:lpstr>PHYSICAL MODELS IN REMOTE SENSING Chapter 04– Part 03: Discrete Ordinates Method (Part One)</vt:lpstr>
      <vt:lpstr>PHYSICAL MODELS IN REMOTE SENSING Chapter 04– Part 03: Discrete Ordinates Method (Part One)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MODELS IN REMOTE SENSING Chapter 04 – Part - 03: Discrete Ordinates Method (Part One)</vt:lpstr>
      <vt:lpstr>PHYSICAL MODELS IN REMOTE SENSING Chapter 04 – Part - 03: Discrete Ordinates Method (Part One)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901</cp:revision>
  <cp:lastPrinted>2019-09-03T16:52:39Z</cp:lastPrinted>
  <dcterms:created xsi:type="dcterms:W3CDTF">2012-01-16T18:47:06Z</dcterms:created>
  <dcterms:modified xsi:type="dcterms:W3CDTF">2026-03-25T19:52:55Z</dcterms:modified>
</cp:coreProperties>
</file>