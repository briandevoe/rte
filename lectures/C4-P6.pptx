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compatMode="1" strictFirstAndLastChars="0" saveSubsetFonts="1">
  <p:sldMasterIdLst>
    <p:sldMasterId id="2147483660" r:id="rId1"/>
  </p:sldMasterIdLst>
  <p:notesMasterIdLst>
    <p:notesMasterId r:id="rId28"/>
  </p:notesMasterIdLst>
  <p:sldIdLst>
    <p:sldId id="799" r:id="rId2"/>
    <p:sldId id="800" r:id="rId3"/>
    <p:sldId id="801" r:id="rId4"/>
    <p:sldId id="802" r:id="rId5"/>
    <p:sldId id="804" r:id="rId6"/>
    <p:sldId id="805" r:id="rId7"/>
    <p:sldId id="803" r:id="rId8"/>
    <p:sldId id="806" r:id="rId9"/>
    <p:sldId id="807" r:id="rId10"/>
    <p:sldId id="808" r:id="rId11"/>
    <p:sldId id="825" r:id="rId12"/>
    <p:sldId id="810" r:id="rId13"/>
    <p:sldId id="811" r:id="rId14"/>
    <p:sldId id="812" r:id="rId15"/>
    <p:sldId id="813" r:id="rId16"/>
    <p:sldId id="814" r:id="rId17"/>
    <p:sldId id="815" r:id="rId18"/>
    <p:sldId id="816" r:id="rId19"/>
    <p:sldId id="817" r:id="rId20"/>
    <p:sldId id="818" r:id="rId21"/>
    <p:sldId id="819" r:id="rId22"/>
    <p:sldId id="820" r:id="rId23"/>
    <p:sldId id="821" r:id="rId24"/>
    <p:sldId id="822" r:id="rId25"/>
    <p:sldId id="823" r:id="rId26"/>
    <p:sldId id="824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54"/>
    <p:restoredTop sz="94660"/>
  </p:normalViewPr>
  <p:slideViewPr>
    <p:cSldViewPr snapToGrid="0">
      <p:cViewPr varScale="1">
        <p:scale>
          <a:sx n="146" d="100"/>
          <a:sy n="146" d="100"/>
        </p:scale>
        <p:origin x="1264" y="200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5DE23AA9-B566-DFE1-6FA2-76A1021D6A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BAA6B027-63EA-BB44-9713-C624F536179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2D040BA-AF0B-8F1A-3B47-C54A6E1BBA8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52F6A7C7-1825-B630-9A72-DA16B82CD60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C87EBDEC-D990-608B-0480-090CBA1920A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12917514-87D3-B8B4-3EED-3502CF5337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A6DA6F93-C167-1E47-8F34-CCC7A0A55D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C310B6F1-FD5E-D075-D4C6-453DFA6748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425A654-37F0-2644-A9A6-325BDFE011E1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BC586791-2423-D802-9885-32FEA4B8F5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D38399B-5F96-AD78-080B-9421352C8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26A35C9-35A5-0266-F351-A5CF0630C6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8C782EB-9ECE-EB41-94BC-91A79A8F6ABB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E0B9BB00-7E74-616E-02B9-1CA7DC4178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4C27041-6B02-4528-6A8F-627D1843A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55D3EB40-8D21-4135-CBAC-2A4DCB70C0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6EAF962-60A5-BD40-9600-BF6B303B8ECF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7DA63357-1B4A-6E44-7EC0-43868020AA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51A8E28-820A-C528-0EE1-FF1894D98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1B54367B-95DD-8E05-F8E9-C8C1C551DE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616F263-7E2D-714F-92A2-ED4D11B861E9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03FE070D-9CDE-CE25-364B-E5FF56A322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A20C2A8-9481-DB4C-B06E-497C617272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2A5A70D8-1219-EB18-A55E-66EDCE54CB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14A7631-A9A3-E942-AC98-216C60ED6122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52CE562-D765-31B3-29CB-A07347BBB4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95822AB-917F-382A-392C-ADF862903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F297BFC4-6FFC-6CC8-1774-2759C0EB3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F0C54A0-DAE1-B344-B35D-D7472CAD9830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96065FB9-8A9C-674D-AF22-C8CF251906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2D99BF7-EE8A-8B1B-C4B8-3929DEB55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18746DC5-19A8-BD2D-0D58-D0431F50C1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29B8A6B-C3F3-2E47-A911-CE5455217D93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36B1565C-A2C6-BD11-8A1A-817070ED4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E0E0995-3601-57B5-AB8F-77138CED1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D962C4CD-EC18-CDAF-A40C-7530EA982F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CF97B1-F680-BA48-9031-5B14206A7E92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EC998E79-6A37-5A00-7115-2AFAC421F6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598BC6C-3A12-6DB4-27CB-2CBA08C852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9F9F40C0-489B-B51B-33FB-73A39CB76C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82A2A1B-CD43-F240-BB59-CB18DC21BCBC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DE719091-BC0A-D871-AE6B-2F46C7C9AF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81BF14F-7545-C2DA-6DA7-F24F59655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42B134E4-C9C0-E82F-C44F-4711813BE4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7C26F08-D5A5-2548-A1BF-F10CA1B06F43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5B0C5F4D-B87F-ED88-F92A-000750253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F782A42-4AB2-6FA9-DC48-FAB06D025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2DE0C8EE-1F4B-985D-ABFD-AC96B15F26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0393053-13BB-2F49-9715-EBD12FD64437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2B82BC65-9A7A-54E9-5350-F742D7866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E6DB531-DEB2-DBE8-CD7F-F1AECFD195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D6FF78C8-0312-582C-3697-D9A662D8F6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86D6052-54CF-9E46-86D8-5CBA587B7B51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C940AC39-4CB7-1B84-7167-8A307EBE4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79E6134-FEB1-0919-24C2-A1ED1F5D8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3C34EFEF-B6A5-18C4-85FB-0C34FF5517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CC2AF15-79AF-E64C-B9BC-3BD7DA06B3E1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46776206-57F4-4AF9-9581-928F9FBA3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B0A0577-4B34-6CBD-739B-4A08A16C0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961D3795-162F-B4B4-8150-7950168A47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CE24035-0E0A-194A-A450-5BBCEC3EE943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18D7F34C-6B7E-8CFD-9127-5D5ED3C05A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FAD1BD6-7EEB-E6E6-9191-298396439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B5BCC409-33AA-B71C-CE9D-94D11C1BE9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35997A4-7BB7-A144-85BC-0818E6909A14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24A29A45-6F52-9023-C943-78099F8013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EAEC60A9-A2C2-EA1D-FB8A-349D64E87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6BB4444C-EE97-E982-BDEF-9B0B637D89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98F84D-ED1A-DB44-AD7E-498F7BF83E05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E1BADFEE-0451-7284-6221-4D7DE40415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9472DC5-68CD-20F7-7E74-40EE9770F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A28F0692-25C3-7354-982A-98EC32EC77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F262E76-DBB6-134F-BC0A-B01AAC0F0D36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B1A554D0-887D-D604-987D-73DCD98430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24AD489-631B-87C7-1DB6-65E703883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1D5308AD-9B99-EB22-FDD4-DDA45770ED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F5E3E03-561E-6F44-9BBF-05514C74904A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8910F22A-00F7-3762-9EDD-034D66BA5D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7130E84-6AB3-3D1A-4155-DCAA742AD1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4825CE9E-9289-BEC5-13F4-DCC38738E5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005D1E6-C01A-9247-AB8D-221EE9BB711B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817D41DE-36DA-3F27-9F4B-9F67A54CCC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EB98886-3694-6B63-756A-A9877226F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7ED25E08-FE53-2F19-27FE-14BAE616AE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F515DDD-92FD-FC4F-A211-26BC2DCB405A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F06ED49A-ABBB-A21C-16A2-96255EA8F9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9C0140F-CCFB-E4B6-9F7B-A8A04FDEE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FCCC1E51-E4ED-8BEF-93F9-311385FE0C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7269725-604A-E54B-9BC2-2705ED6BEB12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6B7EB727-D5E0-E5CA-2D7C-85139784EB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343AA9C-1313-4385-E9AB-426511A50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C86E481B-C713-A217-0B42-7A9875EAF1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7804D86-BDF9-6C42-B958-3228BA4A5270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E76300AE-EDF6-A232-2C61-09D2F95AA3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24FAB465-AA2F-EB91-7181-C75F5CC61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100EA59D-E102-BFFA-736B-4E5B161786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7E0DF20-179C-1F48-97EE-1EA2A38220BC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5707468-7E8E-859E-26B4-D203588DCF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9125D13-0D49-9DD2-5BA1-6C4BE3EB96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A996F01F-5522-03F3-9C8C-80BC472795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AFD0B4-50CC-6F4A-B28C-7756670B9D4E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E4E84F13-72A6-C30E-5B85-F7DD8668CE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B6D346D-85FD-5BEC-AA41-4D09056819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3EA2B9FD-6F81-8B36-B129-FE86949356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35EB88-EBD7-3444-B91B-E18C0F56CC9F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9FE6FF30-7699-B09F-6C3A-6B2D11EEEC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295A1D5-6C36-61C9-EAAE-DDB05050F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DED9FB6B-65D8-F4CB-91C9-6AA8FA009A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68EFA3D-67DA-BE46-A664-78D499E56F2D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D63EF0DC-E269-3041-90C2-134707950A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C4285D3-CD52-5FB5-A607-42D729DAF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22533-69E4-FAD6-5887-D53001A0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C0EA3-7BA1-A64B-BFB7-CDC2308F81C7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0B28E-C00F-81B0-A6F6-9E29940C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B1395-450D-7881-7A78-AE42A11B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CB102-6E0D-0A4F-9A45-28C01A5431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847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DB319-5EB5-A790-D230-E56DAA2F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02996-0270-9D48-8A21-7869E3ECDF6D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4C3C0-1449-AE74-E593-F9B9A215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8E645-51DE-5E1F-7FAB-6978A87A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E985B-9335-4F46-A9A2-8C50ADD79A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65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B81D6-ABF4-55F6-09CC-6246D10E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B545FD-DE1F-D544-8E4F-E560FA6B8F6F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EC657-3065-E16F-0E80-8B7499D92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73FCF-2EDF-F4AD-6500-F94E8CD8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80124-EB90-6840-A2A5-5AE869BDC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20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4B1BCBD-B03F-D5E3-20B6-57F58F92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AC756-ABF3-F34B-8F7D-3A5B252562DE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4195BB-9521-9ADA-ED19-F02446D8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6513702-C5A1-FE64-6B09-94268312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E30A3-A4BD-964A-9F40-901C8BD907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69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B27B021-C9BF-150E-544B-A8FBE89F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C97D82-1356-794F-B706-C724669A7B1B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5874087-F441-8DA2-A8EA-432ABDBD3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6B3AA87-525B-82D5-6DDC-1B27C878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D51F3-F85B-5D49-B76F-F9E59CEA61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235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D5B91E0-13B6-0564-E900-D775F204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04C65-FFA9-6F4D-849B-75D661D3BAA4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025F68D-CE11-9BA1-12B6-9348A26A5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0FB6B-EA68-D4D7-C94E-8F74FAB5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151DA-9284-6441-8582-C1A0822A6F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974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6E3EC1-A72F-AC5B-DBE1-68DC0D81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5D3AB-8624-E846-B2ED-2F0F239462BE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5A9217-4528-86C2-1571-9D84A07D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78BC318-943A-A9FA-7774-DDA705A61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4677F-E922-094D-87DB-007D9CA3C7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37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52EDEC1-FA4C-D11A-0ADB-60C06327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E4E50-35D1-FB41-B1E4-2CDB94B4329E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E06D65-9C3D-F533-A238-AE96C60C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0860DA-B0C0-9E81-7007-FB71DB9F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157F4-AA0D-5244-B5DD-8961A97E9F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373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7AA81E-66AD-D433-A7FA-8D604CB8A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1B05D-C673-5141-820F-C8DF4575F26E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10EE389-B364-EE22-AD13-279528A3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9AE507-F537-D183-3E96-53FE6BA8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530DD-42DA-7F45-878C-D14AE4D197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923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4147E-0F52-50F8-2333-2BC476E6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3FA26-1C2A-E945-A44F-4375C1246D56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2310B-FA83-8DCB-DE2A-A0855E4F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7F907-C34E-D060-EA76-6DEC517B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1F6B8-9931-B94F-9C23-813040ADD6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2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CEBA5-DCD7-D34A-5899-8C353796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98ED4-8630-F944-AFC2-9382663D4C1A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D6244-11D0-7122-413F-EC861479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D60E2-A3F4-A693-FEC0-5C4DE7A8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BE5BDB-5993-B545-BA70-F0BA905215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3094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6E03E8E-5445-488A-0F1A-A4D9F8B1DF5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B02A527-5BF7-83A9-61FA-77543F5D39D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F529-A9BD-047E-EAFD-6CE4AA1DF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58156516-C0CB-7D4A-9E82-7FC6FCEB2BCD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6D997-C0EC-05BE-B3A1-127534D41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878FC-DA81-1B2D-BCED-4A9649324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B5FAAC97-B4AA-0040-9A69-0F72833410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rs10101661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FA1ADE1D-6056-2B62-246B-CD164AD89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A3D5973-F438-F015-6359-700BB6D1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1A1F316-BE5C-584E-914D-7889B8970C2D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44D64AA0-59BE-550F-91A4-95D1DC7B6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Collided 3D RTE</a:t>
            </a:r>
          </a:p>
        </p:txBody>
      </p:sp>
      <p:sp>
        <p:nvSpPr>
          <p:cNvPr id="14340" name="TextBox 19">
            <a:extLst>
              <a:ext uri="{FF2B5EF4-FFF2-40B4-BE49-F238E27FC236}">
                <a16:creationId xmlns:a16="http://schemas.microsoft.com/office/drawing/2014/main" id="{DEB25231-C673-C12D-8A5E-34478B0E5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303338"/>
            <a:ext cx="8940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collided RTE </a:t>
            </a:r>
            <a:r>
              <a:rPr lang="en-US" altLang="en-US" sz="1800">
                <a:latin typeface="Times New Roman" panose="02020603050405020304" pitchFamily="18" charset="0"/>
              </a:rPr>
              <a:t>is:</a:t>
            </a:r>
          </a:p>
        </p:txBody>
      </p:sp>
      <p:sp>
        <p:nvSpPr>
          <p:cNvPr id="14341" name="Rectangle 6">
            <a:extLst>
              <a:ext uri="{FF2B5EF4-FFF2-40B4-BE49-F238E27FC236}">
                <a16:creationId xmlns:a16="http://schemas.microsoft.com/office/drawing/2014/main" id="{9D7807BF-4E7A-123F-4554-DF2CC559C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8" y="2479675"/>
            <a:ext cx="8939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the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distributed source S and first collision source Q </a:t>
            </a:r>
            <a:r>
              <a:rPr lang="en-US" altLang="en-US" sz="1800">
                <a:latin typeface="Times New Roman" panose="02020603050405020304" pitchFamily="18" charset="0"/>
              </a:rPr>
              <a:t>are</a:t>
            </a:r>
          </a:p>
        </p:txBody>
      </p:sp>
      <p:sp>
        <p:nvSpPr>
          <p:cNvPr id="14342" name="TextBox 11">
            <a:extLst>
              <a:ext uri="{FF2B5EF4-FFF2-40B4-BE49-F238E27FC236}">
                <a16:creationId xmlns:a16="http://schemas.microsoft.com/office/drawing/2014/main" id="{AD597954-526A-7520-AFC6-3DE4468AC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4887913"/>
            <a:ext cx="85296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Q is </a:t>
            </a:r>
            <a:r>
              <a:rPr lang="en-US" altLang="en-US" sz="1800">
                <a:solidFill>
                  <a:srgbClr val="223AF4"/>
                </a:solidFill>
                <a:latin typeface="Times New Roman" panose="02020603050405020304" pitchFamily="18" charset="0"/>
              </a:rPr>
              <a:t>known</a:t>
            </a:r>
            <a:r>
              <a:rPr lang="en-US" altLang="en-US" sz="1800">
                <a:latin typeface="Times New Roman" panose="02020603050405020304" pitchFamily="18" charset="0"/>
              </a:rPr>
              <a:t> because I</a:t>
            </a:r>
            <a:r>
              <a:rPr lang="en-US" altLang="en-US" sz="1800" baseline="30000"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</a:rPr>
              <a:t> is known. The distributed source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S is unknown</a:t>
            </a:r>
            <a:r>
              <a:rPr lang="en-US" altLang="en-US" sz="1800">
                <a:latin typeface="Times New Roman" panose="02020603050405020304" pitchFamily="18" charset="0"/>
              </a:rPr>
              <a:t>. So, we will have to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iterate</a:t>
            </a:r>
            <a:r>
              <a:rPr lang="en-US" altLang="en-US" sz="1800">
                <a:latin typeface="Times New Roman" panose="02020603050405020304" pitchFamily="18" charset="0"/>
              </a:rPr>
              <a:t> on it. Which we shall do using the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discrete ordinates method</a:t>
            </a:r>
            <a:r>
              <a:rPr lang="en-US" altLang="en-US" sz="180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14343" name="Picture 3">
            <a:extLst>
              <a:ext uri="{FF2B5EF4-FFF2-40B4-BE49-F238E27FC236}">
                <a16:creationId xmlns:a16="http://schemas.microsoft.com/office/drawing/2014/main" id="{6C1F7626-6532-642B-3AC2-09F7C4C23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668463"/>
            <a:ext cx="7264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7">
            <a:extLst>
              <a:ext uri="{FF2B5EF4-FFF2-40B4-BE49-F238E27FC236}">
                <a16:creationId xmlns:a16="http://schemas.microsoft.com/office/drawing/2014/main" id="{495854AE-C2C4-829E-CFFE-439448F82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8" y="3217863"/>
            <a:ext cx="37465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163E810-F69E-697C-DB92-3AEF4690E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70E7278-E9AF-972F-F9C0-578249AD7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98C2555A-D5DF-D349-B5DD-1EC1228DC7D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TextBox 7">
            <a:extLst>
              <a:ext uri="{FF2B5EF4-FFF2-40B4-BE49-F238E27FC236}">
                <a16:creationId xmlns:a16="http://schemas.microsoft.com/office/drawing/2014/main" id="{557EDE01-EF1D-E173-4B51-062DDA5D0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Conditions for the Collided 3D RTE</a:t>
            </a:r>
          </a:p>
        </p:txBody>
      </p:sp>
      <p:sp>
        <p:nvSpPr>
          <p:cNvPr id="16388" name="TextBox 19">
            <a:extLst>
              <a:ext uri="{FF2B5EF4-FFF2-40B4-BE49-F238E27FC236}">
                <a16:creationId xmlns:a16="http://schemas.microsoft.com/office/drawing/2014/main" id="{2AB80327-2EA2-8129-DC35-17E51F73E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303338"/>
            <a:ext cx="8940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corresponding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boundary conditions </a:t>
            </a:r>
            <a:r>
              <a:rPr lang="en-US" altLang="en-US" sz="1800">
                <a:latin typeface="Times New Roman" panose="02020603050405020304" pitchFamily="18" charset="0"/>
              </a:rPr>
              <a:t>are:</a:t>
            </a:r>
          </a:p>
        </p:txBody>
      </p:sp>
      <p:pic>
        <p:nvPicPr>
          <p:cNvPr id="16389" name="Picture 4">
            <a:extLst>
              <a:ext uri="{FF2B5EF4-FFF2-40B4-BE49-F238E27FC236}">
                <a16:creationId xmlns:a16="http://schemas.microsoft.com/office/drawing/2014/main" id="{E16F4BD2-31A8-4822-08B5-9CDBAEBBE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963738"/>
            <a:ext cx="71247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Box 19">
            <a:extLst>
              <a:ext uri="{FF2B5EF4-FFF2-40B4-BE49-F238E27FC236}">
                <a16:creationId xmlns:a16="http://schemas.microsoft.com/office/drawing/2014/main" id="{A194D20A-4EC0-8AA3-9658-92BFACA5D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4576763"/>
            <a:ext cx="8940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This obviously follows from the fact that the </a:t>
            </a:r>
            <a:r>
              <a:rPr lang="en-US" altLang="en-US" sz="1800">
                <a:solidFill>
                  <a:srgbClr val="232AF4"/>
                </a:solidFill>
                <a:latin typeface="Times New Roman" panose="02020603050405020304" pitchFamily="18" charset="0"/>
              </a:rPr>
              <a:t>all sides, except the bottom</a:t>
            </a:r>
            <a:r>
              <a:rPr lang="en-US" altLang="en-US" sz="1800">
                <a:latin typeface="Times New Roman" panose="02020603050405020304" pitchFamily="18" charset="0"/>
              </a:rPr>
              <a:t>, are </a:t>
            </a:r>
            <a:r>
              <a:rPr lang="en-US" altLang="en-US" sz="1800">
                <a:solidFill>
                  <a:srgbClr val="232AF4"/>
                </a:solidFill>
                <a:latin typeface="Times New Roman" panose="02020603050405020304" pitchFamily="18" charset="0"/>
              </a:rPr>
              <a:t>non-re-entrant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32AF4"/>
                </a:solidFill>
                <a:latin typeface="Times New Roman" panose="02020603050405020304" pitchFamily="18" charset="0"/>
              </a:rPr>
              <a:t>surfaces</a:t>
            </a:r>
            <a:r>
              <a:rPr lang="en-US" altLang="en-US" sz="1800">
                <a:latin typeface="Times New Roman" panose="02020603050405020304" pitchFamily="18" charset="0"/>
              </a:rPr>
              <a:t>, i.e. collided photons that leave the canopy from the top, left, right, back and front faces </a:t>
            </a:r>
            <a:r>
              <a:rPr lang="en-US" altLang="en-US" sz="1800">
                <a:solidFill>
                  <a:srgbClr val="223AF4"/>
                </a:solidFill>
                <a:latin typeface="Times New Roman" panose="02020603050405020304" pitchFamily="18" charset="0"/>
              </a:rPr>
              <a:t>do not renter </a:t>
            </a:r>
            <a:r>
              <a:rPr lang="en-US" altLang="en-US" sz="1800">
                <a:latin typeface="Times New Roman" panose="02020603050405020304" pitchFamily="18" charset="0"/>
              </a:rPr>
              <a:t>the canopy.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D3EEDF4-5461-A548-FDAC-1838B86C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0144B2F-FEF0-01DF-CD09-9C5C0C1A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83B879C0-5458-5F4F-993B-3AE2D6DA34A8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9F1534E8-F1B2-D8C1-71C0-AF2D3B252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Discretization</a:t>
            </a:r>
          </a:p>
        </p:txBody>
      </p:sp>
      <p:sp>
        <p:nvSpPr>
          <p:cNvPr id="18436" name="TextBox 9">
            <a:extLst>
              <a:ext uri="{FF2B5EF4-FFF2-40B4-BE49-F238E27FC236}">
                <a16:creationId xmlns:a16="http://schemas.microsoft.com/office/drawing/2014/main" id="{36F78652-4A64-3CB5-6946-01C497012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304925"/>
            <a:ext cx="8848725" cy="19764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Discretize the direction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altLang="en-US" sz="1800" dirty="0">
                <a:solidFill>
                  <a:srgbClr val="262D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</a:t>
            </a:r>
            <a:r>
              <a:rPr lang="en-US" altLang="en-US" sz="1800" baseline="-25000" dirty="0">
                <a:solidFill>
                  <a:srgbClr val="262D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rgbClr val="262D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quadrature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(Equal Weight or Carlson’s quadrature) into N directions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lvl="1">
              <a:defRPr/>
            </a:pP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(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example</a:t>
            </a:r>
          </a:p>
          <a:p>
            <a:pPr lvl="1"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have N/8 directions per Octant</a:t>
            </a:r>
            <a:endParaRPr lang="el-G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7" name="TextBox 9">
            <a:extLst>
              <a:ext uri="{FF2B5EF4-FFF2-40B4-BE49-F238E27FC236}">
                <a16:creationId xmlns:a16="http://schemas.microsoft.com/office/drawing/2014/main" id="{963FBAD6-5CF8-D50B-91E2-E3BDBB36C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3729038"/>
            <a:ext cx="884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 integral is simply </a:t>
            </a:r>
            <a:r>
              <a:rPr lang="en-US" altLang="en-US" sz="1800">
                <a:solidFill>
                  <a:srgbClr val="232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with EQ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quadrature as follows</a:t>
            </a: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8438" name="TextBox 12">
            <a:extLst>
              <a:ext uri="{FF2B5EF4-FFF2-40B4-BE49-F238E27FC236}">
                <a16:creationId xmlns:a16="http://schemas.microsoft.com/office/drawing/2014/main" id="{C6385C25-D3D8-4C70-72D7-F08D52920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4637088"/>
            <a:ext cx="5851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</a:t>
            </a:r>
            <a:r>
              <a:rPr lang="en-US" altLang="en-US" sz="1800" baseline="30000"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latin typeface="Times New Roman" panose="02020603050405020304" pitchFamily="18" charset="0"/>
              </a:rPr>
              <a:t>(x,y,z=0) = ∫ d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r>
              <a:rPr lang="el-GR" altLang="en-US" sz="1800">
                <a:latin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</a:rPr>
              <a:t>| I(r,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 =   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 w 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 I(x,y,z=0,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l-GR" altLang="en-US" sz="1800">
              <a:latin typeface="Times New Roman" panose="02020603050405020304" pitchFamily="18" charset="0"/>
            </a:endParaRPr>
          </a:p>
        </p:txBody>
      </p:sp>
      <p:sp>
        <p:nvSpPr>
          <p:cNvPr id="18439" name="Rectangle 13">
            <a:extLst>
              <a:ext uri="{FF2B5EF4-FFF2-40B4-BE49-F238E27FC236}">
                <a16:creationId xmlns:a16="http://schemas.microsoft.com/office/drawing/2014/main" id="{944F2BA6-DDE1-4992-0130-0157550CA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4876800"/>
            <a:ext cx="4524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2π</a:t>
            </a:r>
            <a:r>
              <a:rPr lang="en-US" altLang="en-US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l-GR" altLang="en-US" sz="1800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0" name="TextBox 3">
            <a:extLst>
              <a:ext uri="{FF2B5EF4-FFF2-40B4-BE49-F238E27FC236}">
                <a16:creationId xmlns:a16="http://schemas.microsoft.com/office/drawing/2014/main" id="{1211E212-2B87-DF25-C9C2-A021ED964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225" y="4860925"/>
            <a:ext cx="4651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p=1</a:t>
            </a:r>
          </a:p>
        </p:txBody>
      </p:sp>
      <p:sp>
        <p:nvSpPr>
          <p:cNvPr id="18441" name="TextBox 13">
            <a:extLst>
              <a:ext uri="{FF2B5EF4-FFF2-40B4-BE49-F238E27FC236}">
                <a16:creationId xmlns:a16="http://schemas.microsoft.com/office/drawing/2014/main" id="{AADD2409-7237-6B7D-5D42-130E44F03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0838" y="4424363"/>
            <a:ext cx="4651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p=4</a:t>
            </a:r>
          </a:p>
        </p:txBody>
      </p:sp>
      <p:sp>
        <p:nvSpPr>
          <p:cNvPr id="18442" name="TextBox 9">
            <a:extLst>
              <a:ext uri="{FF2B5EF4-FFF2-40B4-BE49-F238E27FC236}">
                <a16:creationId xmlns:a16="http://schemas.microsoft.com/office/drawing/2014/main" id="{73629111-5906-D11D-1B75-26D85A076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5510213"/>
            <a:ext cx="8848725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where, p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Octants, q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directions in an Octant, N is the number of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directions in the sphere (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of EQ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quadrature), and w is the </a:t>
            </a:r>
            <a:r>
              <a:rPr lang="en-US" altLang="en-US" sz="1800">
                <a:solidFill>
                  <a:srgbClr val="232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of the quadrature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(does not depend on the direction!).</a:t>
            </a:r>
          </a:p>
        </p:txBody>
      </p:sp>
      <p:sp>
        <p:nvSpPr>
          <p:cNvPr id="18443" name="TextBox 3">
            <a:extLst>
              <a:ext uri="{FF2B5EF4-FFF2-40B4-BE49-F238E27FC236}">
                <a16:creationId xmlns:a16="http://schemas.microsoft.com/office/drawing/2014/main" id="{2C0DFEBA-47E3-798D-798B-C43C6CED9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4860925"/>
            <a:ext cx="4651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q=1</a:t>
            </a:r>
          </a:p>
        </p:txBody>
      </p:sp>
      <p:sp>
        <p:nvSpPr>
          <p:cNvPr id="18444" name="TextBox 13">
            <a:extLst>
              <a:ext uri="{FF2B5EF4-FFF2-40B4-BE49-F238E27FC236}">
                <a16:creationId xmlns:a16="http://schemas.microsoft.com/office/drawing/2014/main" id="{88C14C97-9F8E-D77E-B530-D3D8BDB7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3" y="4425950"/>
            <a:ext cx="64452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q=N/8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2D48478-029D-BB4F-2AFA-CA44BC748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E82FB60-F7F4-602E-9E82-4FCA0A23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ADAF25E-B35D-5E42-ABFB-DB929C6AC0CE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TextBox 7">
            <a:extLst>
              <a:ext uri="{FF2B5EF4-FFF2-40B4-BE49-F238E27FC236}">
                <a16:creationId xmlns:a16="http://schemas.microsoft.com/office/drawing/2014/main" id="{DCB71E82-4690-6E35-368D-AF6DFBE49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Discretization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01E9B2-0FC4-2A3E-BF90-1D9D6DD61E17}"/>
              </a:ext>
            </a:extLst>
          </p:cNvPr>
          <p:cNvCxnSpPr/>
          <p:nvPr/>
        </p:nvCxnSpPr>
        <p:spPr>
          <a:xfrm>
            <a:off x="3667125" y="3440113"/>
            <a:ext cx="3700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52B93A-C4E2-4120-D15D-CBF09CE00F57}"/>
              </a:ext>
            </a:extLst>
          </p:cNvPr>
          <p:cNvCxnSpPr/>
          <p:nvPr/>
        </p:nvCxnSpPr>
        <p:spPr>
          <a:xfrm flipV="1">
            <a:off x="3667125" y="995363"/>
            <a:ext cx="2224088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884372-7A44-CB3D-F6CF-CE3085189B3E}"/>
              </a:ext>
            </a:extLst>
          </p:cNvPr>
          <p:cNvCxnSpPr/>
          <p:nvPr/>
        </p:nvCxnSpPr>
        <p:spPr>
          <a:xfrm>
            <a:off x="3667125" y="3440113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4CE349-94BA-1E07-16E3-5844A4E14CE3}"/>
              </a:ext>
            </a:extLst>
          </p:cNvPr>
          <p:cNvCxnSpPr/>
          <p:nvPr/>
        </p:nvCxnSpPr>
        <p:spPr>
          <a:xfrm flipV="1">
            <a:off x="4508500" y="990600"/>
            <a:ext cx="2224088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E648A4-7FFB-A26B-0151-7EA764EDFC74}"/>
              </a:ext>
            </a:extLst>
          </p:cNvPr>
          <p:cNvCxnSpPr/>
          <p:nvPr/>
        </p:nvCxnSpPr>
        <p:spPr>
          <a:xfrm flipV="1">
            <a:off x="5373688" y="995363"/>
            <a:ext cx="2224087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86FF7B-0235-7AC4-B0E3-B59334EEB90A}"/>
              </a:ext>
            </a:extLst>
          </p:cNvPr>
          <p:cNvCxnSpPr/>
          <p:nvPr/>
        </p:nvCxnSpPr>
        <p:spPr>
          <a:xfrm flipV="1">
            <a:off x="6256338" y="973138"/>
            <a:ext cx="2224087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AE0276-54BA-84B3-0DB0-DC4B70458A70}"/>
              </a:ext>
            </a:extLst>
          </p:cNvPr>
          <p:cNvCxnSpPr/>
          <p:nvPr/>
        </p:nvCxnSpPr>
        <p:spPr>
          <a:xfrm>
            <a:off x="3667125" y="4206875"/>
            <a:ext cx="3700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EAF91F-8E74-E572-61D5-32EA3B7A4133}"/>
              </a:ext>
            </a:extLst>
          </p:cNvPr>
          <p:cNvCxnSpPr/>
          <p:nvPr/>
        </p:nvCxnSpPr>
        <p:spPr>
          <a:xfrm>
            <a:off x="3667125" y="4940300"/>
            <a:ext cx="3700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0EA8A36-6EF0-F2CC-E41E-88E59124F100}"/>
              </a:ext>
            </a:extLst>
          </p:cNvPr>
          <p:cNvCxnSpPr/>
          <p:nvPr/>
        </p:nvCxnSpPr>
        <p:spPr>
          <a:xfrm>
            <a:off x="3667125" y="5584825"/>
            <a:ext cx="3700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95EF2E-9637-9838-DFED-135AE219A08D}"/>
              </a:ext>
            </a:extLst>
          </p:cNvPr>
          <p:cNvCxnSpPr/>
          <p:nvPr/>
        </p:nvCxnSpPr>
        <p:spPr>
          <a:xfrm>
            <a:off x="4519613" y="3452813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345608-D35C-87E8-C808-9E6B224984A6}"/>
              </a:ext>
            </a:extLst>
          </p:cNvPr>
          <p:cNvCxnSpPr/>
          <p:nvPr/>
        </p:nvCxnSpPr>
        <p:spPr>
          <a:xfrm>
            <a:off x="5378450" y="3440113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6CB9244-22D6-BA6C-1B5C-025880886AD1}"/>
              </a:ext>
            </a:extLst>
          </p:cNvPr>
          <p:cNvCxnSpPr/>
          <p:nvPr/>
        </p:nvCxnSpPr>
        <p:spPr>
          <a:xfrm>
            <a:off x="6256338" y="3417888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D167D8-727E-6C45-DF20-682887561191}"/>
              </a:ext>
            </a:extLst>
          </p:cNvPr>
          <p:cNvCxnSpPr/>
          <p:nvPr/>
        </p:nvCxnSpPr>
        <p:spPr>
          <a:xfrm>
            <a:off x="4284663" y="2774950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2F87A01-49B6-9947-C4D9-271C26DB0DCE}"/>
              </a:ext>
            </a:extLst>
          </p:cNvPr>
          <p:cNvCxnSpPr/>
          <p:nvPr/>
        </p:nvCxnSpPr>
        <p:spPr>
          <a:xfrm>
            <a:off x="4778375" y="2192338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564233-C5DD-41E5-6998-80A24B04C33E}"/>
              </a:ext>
            </a:extLst>
          </p:cNvPr>
          <p:cNvCxnSpPr/>
          <p:nvPr/>
        </p:nvCxnSpPr>
        <p:spPr>
          <a:xfrm>
            <a:off x="5324475" y="1611313"/>
            <a:ext cx="3700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9" name="TextBox 30">
            <a:extLst>
              <a:ext uri="{FF2B5EF4-FFF2-40B4-BE49-F238E27FC236}">
                <a16:creationId xmlns:a16="http://schemas.microsoft.com/office/drawing/2014/main" id="{CBE202E8-EF13-7668-1365-D7731950C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038" y="291782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00" name="TextBox 32">
            <a:extLst>
              <a:ext uri="{FF2B5EF4-FFF2-40B4-BE49-F238E27FC236}">
                <a16:creationId xmlns:a16="http://schemas.microsoft.com/office/drawing/2014/main" id="{37AEA63E-3159-6B31-333D-E8FFBB68A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7163" y="365601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01" name="TextBox 33">
            <a:extLst>
              <a:ext uri="{FF2B5EF4-FFF2-40B4-BE49-F238E27FC236}">
                <a16:creationId xmlns:a16="http://schemas.microsoft.com/office/drawing/2014/main" id="{32040D99-0C85-7818-3545-86BA3248D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8438" y="173355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502" name="TextBox 34">
            <a:extLst>
              <a:ext uri="{FF2B5EF4-FFF2-40B4-BE49-F238E27FC236}">
                <a16:creationId xmlns:a16="http://schemas.microsoft.com/office/drawing/2014/main" id="{4FC3F826-8724-4144-2D7C-A813DE6D8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282825"/>
            <a:ext cx="300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03" name="TextBox 35">
            <a:extLst>
              <a:ext uri="{FF2B5EF4-FFF2-40B4-BE49-F238E27FC236}">
                <a16:creationId xmlns:a16="http://schemas.microsoft.com/office/drawing/2014/main" id="{69EEAA75-5585-5D4E-C8F9-875DC3837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013" y="36734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04" name="TextBox 36">
            <a:extLst>
              <a:ext uri="{FF2B5EF4-FFF2-40B4-BE49-F238E27FC236}">
                <a16:creationId xmlns:a16="http://schemas.microsoft.com/office/drawing/2014/main" id="{F3716CCC-2492-0AF1-C7A2-3AB5AC91D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463" y="366395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505" name="TextBox 37">
            <a:extLst>
              <a:ext uri="{FF2B5EF4-FFF2-40B4-BE49-F238E27FC236}">
                <a16:creationId xmlns:a16="http://schemas.microsoft.com/office/drawing/2014/main" id="{D88D1237-CFD5-CA6F-8FEB-20D476BF0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4344988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06" name="TextBox 38">
            <a:extLst>
              <a:ext uri="{FF2B5EF4-FFF2-40B4-BE49-F238E27FC236}">
                <a16:creationId xmlns:a16="http://schemas.microsoft.com/office/drawing/2014/main" id="{3B3921B0-42FC-E4AE-0686-A8E7E7A31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5078413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507" name="TextBox 39">
            <a:extLst>
              <a:ext uri="{FF2B5EF4-FFF2-40B4-BE49-F238E27FC236}">
                <a16:creationId xmlns:a16="http://schemas.microsoft.com/office/drawing/2014/main" id="{DE17303C-E1C5-EACD-E890-CA2F892AE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366395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0508" name="TextBox 40">
            <a:extLst>
              <a:ext uri="{FF2B5EF4-FFF2-40B4-BE49-F238E27FC236}">
                <a16:creationId xmlns:a16="http://schemas.microsoft.com/office/drawing/2014/main" id="{11E67BFE-E1D6-A6F4-131C-784C350DA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0725" y="1163638"/>
            <a:ext cx="274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20509" name="TextBox 41">
            <a:extLst>
              <a:ext uri="{FF2B5EF4-FFF2-40B4-BE49-F238E27FC236}">
                <a16:creationId xmlns:a16="http://schemas.microsoft.com/office/drawing/2014/main" id="{76BC34D8-1008-FD84-B91F-CAFA45BC9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5676900"/>
            <a:ext cx="261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0510" name="TextBox 16">
            <a:extLst>
              <a:ext uri="{FF2B5EF4-FFF2-40B4-BE49-F238E27FC236}">
                <a16:creationId xmlns:a16="http://schemas.microsoft.com/office/drawing/2014/main" id="{01217286-3132-7418-F7D6-C7FD591EC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3" y="1260475"/>
            <a:ext cx="4340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232AF4"/>
                </a:solidFill>
                <a:latin typeface="Times New Roman" panose="02020603050405020304" pitchFamily="18" charset="0"/>
              </a:rPr>
              <a:t>Discretize</a:t>
            </a:r>
            <a:r>
              <a:rPr lang="en-US" altLang="en-US" sz="1800">
                <a:latin typeface="Times New Roman" panose="02020603050405020304" pitchFamily="18" charset="0"/>
              </a:rPr>
              <a:t> the canopy in to I x J x K cells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4B28C6A-CE4F-8631-B0CA-30A1CF08B598}"/>
              </a:ext>
            </a:extLst>
          </p:cNvPr>
          <p:cNvCxnSpPr/>
          <p:nvPr/>
        </p:nvCxnSpPr>
        <p:spPr>
          <a:xfrm>
            <a:off x="765175" y="3462338"/>
            <a:ext cx="129222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57A2D92-D96C-C6BE-ABA0-7FD9E250CBAF}"/>
              </a:ext>
            </a:extLst>
          </p:cNvPr>
          <p:cNvCxnSpPr/>
          <p:nvPr/>
        </p:nvCxnSpPr>
        <p:spPr>
          <a:xfrm flipV="1">
            <a:off x="765175" y="2651125"/>
            <a:ext cx="1036638" cy="8112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B6B10FF-B6A8-DE87-965C-A41A38F22E42}"/>
              </a:ext>
            </a:extLst>
          </p:cNvPr>
          <p:cNvCxnSpPr/>
          <p:nvPr/>
        </p:nvCxnSpPr>
        <p:spPr>
          <a:xfrm>
            <a:off x="765175" y="3462338"/>
            <a:ext cx="0" cy="10668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4" name="TextBox 47">
            <a:extLst>
              <a:ext uri="{FF2B5EF4-FFF2-40B4-BE49-F238E27FC236}">
                <a16:creationId xmlns:a16="http://schemas.microsoft.com/office/drawing/2014/main" id="{A85B92C8-4327-AE7C-71D0-CB7440D4A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4491038"/>
            <a:ext cx="3254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0515" name="TextBox 50">
            <a:extLst>
              <a:ext uri="{FF2B5EF4-FFF2-40B4-BE49-F238E27FC236}">
                <a16:creationId xmlns:a16="http://schemas.microsoft.com/office/drawing/2014/main" id="{97241A36-5688-699E-30B1-CC7BC030C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354263"/>
            <a:ext cx="3508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0516" name="TextBox 51">
            <a:extLst>
              <a:ext uri="{FF2B5EF4-FFF2-40B4-BE49-F238E27FC236}">
                <a16:creationId xmlns:a16="http://schemas.microsoft.com/office/drawing/2014/main" id="{FD27B3A4-1E8F-8DD4-3D85-3AB7DB267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3254375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0517" name="Rectangle 35">
            <a:extLst>
              <a:ext uri="{FF2B5EF4-FFF2-40B4-BE49-F238E27FC236}">
                <a16:creationId xmlns:a16="http://schemas.microsoft.com/office/drawing/2014/main" id="{847B5E8A-D332-4666-6166-074EF937C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788" y="3921125"/>
            <a:ext cx="9890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x = X</a:t>
            </a:r>
            <a:r>
              <a:rPr lang="en-US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/K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0518" name="Rectangle 35">
            <a:extLst>
              <a:ext uri="{FF2B5EF4-FFF2-40B4-BE49-F238E27FC236}">
                <a16:creationId xmlns:a16="http://schemas.microsoft.com/office/drawing/2014/main" id="{73475DC6-7F27-225A-BFAB-56F16A46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2906713"/>
            <a:ext cx="890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y = Y</a:t>
            </a:r>
            <a:r>
              <a:rPr lang="en-US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/J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0519" name="Rectangle 35">
            <a:extLst>
              <a:ext uri="{FF2B5EF4-FFF2-40B4-BE49-F238E27FC236}">
                <a16:creationId xmlns:a16="http://schemas.microsoft.com/office/drawing/2014/main" id="{E0E3C5D4-0492-5A85-A178-202D0063F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850" y="3608388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z = Z</a:t>
            </a:r>
            <a:r>
              <a:rPr lang="en-US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/I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691FC43-4AAD-E7C5-A307-AF5FCAFE8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DFE2A17-52D3-848C-B0F0-5E8B88AD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A738448-D84F-0E4B-962F-89DC43EDAC7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TextBox 7">
            <a:extLst>
              <a:ext uri="{FF2B5EF4-FFF2-40B4-BE49-F238E27FC236}">
                <a16:creationId xmlns:a16="http://schemas.microsoft.com/office/drawing/2014/main" id="{AFA9ACA2-DD32-83DB-989E-8FACFD4C7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Discretization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AF3ED0-139B-9330-3345-A179B3B28477}"/>
              </a:ext>
            </a:extLst>
          </p:cNvPr>
          <p:cNvCxnSpPr/>
          <p:nvPr/>
        </p:nvCxnSpPr>
        <p:spPr>
          <a:xfrm>
            <a:off x="2382838" y="3667125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E767E1-775F-1537-5AB8-1BA8E6B600D9}"/>
              </a:ext>
            </a:extLst>
          </p:cNvPr>
          <p:cNvCxnSpPr/>
          <p:nvPr/>
        </p:nvCxnSpPr>
        <p:spPr>
          <a:xfrm flipV="1">
            <a:off x="2382838" y="1222375"/>
            <a:ext cx="2224087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8EAC91-D4A3-8FE6-46B3-FD2945D7C05B}"/>
              </a:ext>
            </a:extLst>
          </p:cNvPr>
          <p:cNvCxnSpPr/>
          <p:nvPr/>
        </p:nvCxnSpPr>
        <p:spPr>
          <a:xfrm>
            <a:off x="2382838" y="3667125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F9143B-C6FC-DB73-460F-62F76FB72158}"/>
              </a:ext>
            </a:extLst>
          </p:cNvPr>
          <p:cNvCxnSpPr/>
          <p:nvPr/>
        </p:nvCxnSpPr>
        <p:spPr>
          <a:xfrm flipV="1">
            <a:off x="3224213" y="1217613"/>
            <a:ext cx="2224087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4EC7DE-9CF2-E43E-A8AA-40297FC63866}"/>
              </a:ext>
            </a:extLst>
          </p:cNvPr>
          <p:cNvCxnSpPr/>
          <p:nvPr/>
        </p:nvCxnSpPr>
        <p:spPr>
          <a:xfrm flipV="1">
            <a:off x="4089400" y="1222375"/>
            <a:ext cx="2224088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395284-725B-C482-6B79-DF592AD357A0}"/>
              </a:ext>
            </a:extLst>
          </p:cNvPr>
          <p:cNvCxnSpPr/>
          <p:nvPr/>
        </p:nvCxnSpPr>
        <p:spPr>
          <a:xfrm flipV="1">
            <a:off x="4972050" y="1200150"/>
            <a:ext cx="2224088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25C7BF-D806-31FC-C214-C21316039E60}"/>
              </a:ext>
            </a:extLst>
          </p:cNvPr>
          <p:cNvCxnSpPr/>
          <p:nvPr/>
        </p:nvCxnSpPr>
        <p:spPr>
          <a:xfrm>
            <a:off x="2382838" y="4435475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F264633-B358-12BA-91F4-837A3F0326C1}"/>
              </a:ext>
            </a:extLst>
          </p:cNvPr>
          <p:cNvCxnSpPr/>
          <p:nvPr/>
        </p:nvCxnSpPr>
        <p:spPr>
          <a:xfrm>
            <a:off x="2382838" y="5167313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60ECEF-F45A-CDC3-0276-B46C85F13A1D}"/>
              </a:ext>
            </a:extLst>
          </p:cNvPr>
          <p:cNvCxnSpPr/>
          <p:nvPr/>
        </p:nvCxnSpPr>
        <p:spPr>
          <a:xfrm>
            <a:off x="2382838" y="5811838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59FD01-9010-ABB9-07E7-442A1D7CD59E}"/>
              </a:ext>
            </a:extLst>
          </p:cNvPr>
          <p:cNvCxnSpPr/>
          <p:nvPr/>
        </p:nvCxnSpPr>
        <p:spPr>
          <a:xfrm>
            <a:off x="3235325" y="3679825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5D15A16-7EAC-70D6-F7A3-A7C226B1895C}"/>
              </a:ext>
            </a:extLst>
          </p:cNvPr>
          <p:cNvCxnSpPr/>
          <p:nvPr/>
        </p:nvCxnSpPr>
        <p:spPr>
          <a:xfrm>
            <a:off x="4095750" y="3667125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A34CB2-6A59-9924-BACD-DCEDF7768DDF}"/>
              </a:ext>
            </a:extLst>
          </p:cNvPr>
          <p:cNvCxnSpPr/>
          <p:nvPr/>
        </p:nvCxnSpPr>
        <p:spPr>
          <a:xfrm>
            <a:off x="4972050" y="3644900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392B81-C850-9553-B1D3-B2C1DF8E1DC1}"/>
              </a:ext>
            </a:extLst>
          </p:cNvPr>
          <p:cNvCxnSpPr/>
          <p:nvPr/>
        </p:nvCxnSpPr>
        <p:spPr>
          <a:xfrm>
            <a:off x="3000375" y="3001963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D8318B5-6459-44BC-543B-ACA0D5D95135}"/>
              </a:ext>
            </a:extLst>
          </p:cNvPr>
          <p:cNvCxnSpPr/>
          <p:nvPr/>
        </p:nvCxnSpPr>
        <p:spPr>
          <a:xfrm>
            <a:off x="3495675" y="2419350"/>
            <a:ext cx="3700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83B6E0-786D-4FF4-D4A5-96BFDD408957}"/>
              </a:ext>
            </a:extLst>
          </p:cNvPr>
          <p:cNvCxnSpPr/>
          <p:nvPr/>
        </p:nvCxnSpPr>
        <p:spPr>
          <a:xfrm>
            <a:off x="4040188" y="1838325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7" name="TextBox 30">
            <a:extLst>
              <a:ext uri="{FF2B5EF4-FFF2-40B4-BE49-F238E27FC236}">
                <a16:creationId xmlns:a16="http://schemas.microsoft.com/office/drawing/2014/main" id="{9431263F-91D8-96AC-3C08-084FF0163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338" y="3146425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48" name="TextBox 32">
            <a:extLst>
              <a:ext uri="{FF2B5EF4-FFF2-40B4-BE49-F238E27FC236}">
                <a16:creationId xmlns:a16="http://schemas.microsoft.com/office/drawing/2014/main" id="{0D6F7C2B-ADA1-E401-1CFE-02622B23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400" y="3773488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2549" name="TextBox 33">
            <a:extLst>
              <a:ext uri="{FF2B5EF4-FFF2-40B4-BE49-F238E27FC236}">
                <a16:creationId xmlns:a16="http://schemas.microsoft.com/office/drawing/2014/main" id="{CF9A9E8E-FF37-7FB4-2EFB-BFACB88B5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196056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50" name="TextBox 34">
            <a:extLst>
              <a:ext uri="{FF2B5EF4-FFF2-40B4-BE49-F238E27FC236}">
                <a16:creationId xmlns:a16="http://schemas.microsoft.com/office/drawing/2014/main" id="{AF9EAE03-9209-752D-1ECA-7C8A841D7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2509838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51" name="TextBox 35">
            <a:extLst>
              <a:ext uri="{FF2B5EF4-FFF2-40B4-BE49-F238E27FC236}">
                <a16:creationId xmlns:a16="http://schemas.microsoft.com/office/drawing/2014/main" id="{0A2C4C17-BAAD-8D16-A09C-B6F36A37C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3787775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52" name="TextBox 36">
            <a:extLst>
              <a:ext uri="{FF2B5EF4-FFF2-40B4-BE49-F238E27FC236}">
                <a16:creationId xmlns:a16="http://schemas.microsoft.com/office/drawing/2014/main" id="{981D2C00-362A-0F08-909F-21213C520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0" y="3794125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53" name="TextBox 37">
            <a:extLst>
              <a:ext uri="{FF2B5EF4-FFF2-40B4-BE49-F238E27FC236}">
                <a16:creationId xmlns:a16="http://schemas.microsoft.com/office/drawing/2014/main" id="{64844881-EC88-EDFD-86CD-2079AF964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45720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54" name="TextBox 38">
            <a:extLst>
              <a:ext uri="{FF2B5EF4-FFF2-40B4-BE49-F238E27FC236}">
                <a16:creationId xmlns:a16="http://schemas.microsoft.com/office/drawing/2014/main" id="{BA7479B4-1C07-1D93-59BB-49AE3C3D4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8" y="530542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55" name="TextBox 39">
            <a:extLst>
              <a:ext uri="{FF2B5EF4-FFF2-40B4-BE49-F238E27FC236}">
                <a16:creationId xmlns:a16="http://schemas.microsoft.com/office/drawing/2014/main" id="{C624E245-11CF-F1B7-A901-2F247C1A1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0988" y="3786188"/>
            <a:ext cx="352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2556" name="TextBox 40">
            <a:extLst>
              <a:ext uri="{FF2B5EF4-FFF2-40B4-BE49-F238E27FC236}">
                <a16:creationId xmlns:a16="http://schemas.microsoft.com/office/drawing/2014/main" id="{2FBD4FF9-EF0E-C4E9-5DEF-65A183E0C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1390650"/>
            <a:ext cx="274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22557" name="TextBox 41">
            <a:extLst>
              <a:ext uri="{FF2B5EF4-FFF2-40B4-BE49-F238E27FC236}">
                <a16:creationId xmlns:a16="http://schemas.microsoft.com/office/drawing/2014/main" id="{A8F72BE4-C62D-1BEF-699E-4C1266072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5903913"/>
            <a:ext cx="260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2558" name="TextBox 16">
            <a:extLst>
              <a:ext uri="{FF2B5EF4-FFF2-40B4-BE49-F238E27FC236}">
                <a16:creationId xmlns:a16="http://schemas.microsoft.com/office/drawing/2014/main" id="{A5119F63-AA74-1A1A-A681-E33B3E0BE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3" y="1260475"/>
            <a:ext cx="3025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232AF4"/>
                </a:solidFill>
                <a:latin typeface="Times New Roman" panose="02020603050405020304" pitchFamily="18" charset="0"/>
              </a:rPr>
              <a:t>Denote </a:t>
            </a:r>
            <a:r>
              <a:rPr lang="en-US" altLang="en-US" sz="1800">
                <a:latin typeface="Times New Roman" panose="02020603050405020304" pitchFamily="18" charset="0"/>
              </a:rPr>
              <a:t>cell edges as shown</a:t>
            </a:r>
          </a:p>
        </p:txBody>
      </p:sp>
      <p:sp>
        <p:nvSpPr>
          <p:cNvPr id="22559" name="TextBox 43">
            <a:extLst>
              <a:ext uri="{FF2B5EF4-FFF2-40B4-BE49-F238E27FC236}">
                <a16:creationId xmlns:a16="http://schemas.microsoft.com/office/drawing/2014/main" id="{26F5009A-3C49-F05B-84F1-F33B3ACA9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475" y="4095750"/>
            <a:ext cx="660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0+1/2</a:t>
            </a:r>
          </a:p>
        </p:txBody>
      </p:sp>
      <p:sp>
        <p:nvSpPr>
          <p:cNvPr id="22560" name="TextBox 42">
            <a:extLst>
              <a:ext uri="{FF2B5EF4-FFF2-40B4-BE49-F238E27FC236}">
                <a16:creationId xmlns:a16="http://schemas.microsoft.com/office/drawing/2014/main" id="{6EA12604-ECDC-0AE4-B48A-454E21C54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538" y="4081463"/>
            <a:ext cx="660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1+1/2</a:t>
            </a:r>
          </a:p>
        </p:txBody>
      </p:sp>
      <p:sp>
        <p:nvSpPr>
          <p:cNvPr id="22561" name="TextBox 44">
            <a:extLst>
              <a:ext uri="{FF2B5EF4-FFF2-40B4-BE49-F238E27FC236}">
                <a16:creationId xmlns:a16="http://schemas.microsoft.com/office/drawing/2014/main" id="{FD3CD23F-D61D-FE7F-C7B2-87DB6C510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675" y="4083050"/>
            <a:ext cx="661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2+1/2</a:t>
            </a:r>
          </a:p>
        </p:txBody>
      </p:sp>
      <p:sp>
        <p:nvSpPr>
          <p:cNvPr id="22562" name="TextBox 46">
            <a:extLst>
              <a:ext uri="{FF2B5EF4-FFF2-40B4-BE49-F238E27FC236}">
                <a16:creationId xmlns:a16="http://schemas.microsoft.com/office/drawing/2014/main" id="{5599DFD7-5265-E562-962D-B0F5ADCBD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150" y="4087813"/>
            <a:ext cx="66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3+1/2</a:t>
            </a:r>
          </a:p>
        </p:txBody>
      </p:sp>
      <p:sp>
        <p:nvSpPr>
          <p:cNvPr id="22563" name="TextBox 47">
            <a:extLst>
              <a:ext uri="{FF2B5EF4-FFF2-40B4-BE49-F238E27FC236}">
                <a16:creationId xmlns:a16="http://schemas.microsoft.com/office/drawing/2014/main" id="{1AC8CDB8-F83F-7D2E-FB2C-846456B48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200" y="4083050"/>
            <a:ext cx="693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K+1/2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ACC5E55A-F7F1-1000-9760-1C33BBE5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3CB8FB5-12CE-965B-DE04-4D3342FA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45F9FB39-C056-FC4B-A3B1-8D1435FEFEE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TextBox 7">
            <a:extLst>
              <a:ext uri="{FF2B5EF4-FFF2-40B4-BE49-F238E27FC236}">
                <a16:creationId xmlns:a16="http://schemas.microsoft.com/office/drawing/2014/main" id="{3924F155-06C9-B1FF-2FA7-8C019C756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Discretization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B5C8C3E-82DD-B8DA-07D5-065D1224DD9C}"/>
              </a:ext>
            </a:extLst>
          </p:cNvPr>
          <p:cNvCxnSpPr/>
          <p:nvPr/>
        </p:nvCxnSpPr>
        <p:spPr>
          <a:xfrm>
            <a:off x="2382838" y="3667125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1B13D9-D1F4-266E-B157-E119A1FF110B}"/>
              </a:ext>
            </a:extLst>
          </p:cNvPr>
          <p:cNvCxnSpPr/>
          <p:nvPr/>
        </p:nvCxnSpPr>
        <p:spPr>
          <a:xfrm flipV="1">
            <a:off x="2382838" y="1222375"/>
            <a:ext cx="2224087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350459-43EE-EE1D-1E45-B53627602D86}"/>
              </a:ext>
            </a:extLst>
          </p:cNvPr>
          <p:cNvCxnSpPr/>
          <p:nvPr/>
        </p:nvCxnSpPr>
        <p:spPr>
          <a:xfrm>
            <a:off x="2382838" y="3667125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232F9C0-E548-ABFD-72DF-6D55B9A9123C}"/>
              </a:ext>
            </a:extLst>
          </p:cNvPr>
          <p:cNvCxnSpPr/>
          <p:nvPr/>
        </p:nvCxnSpPr>
        <p:spPr>
          <a:xfrm flipV="1">
            <a:off x="3224213" y="1217613"/>
            <a:ext cx="2224087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C21EDA-EB3A-218C-137C-57C5C4E26BEE}"/>
              </a:ext>
            </a:extLst>
          </p:cNvPr>
          <p:cNvCxnSpPr/>
          <p:nvPr/>
        </p:nvCxnSpPr>
        <p:spPr>
          <a:xfrm flipV="1">
            <a:off x="4089400" y="1222375"/>
            <a:ext cx="2224088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E2F1A2-29F8-4382-3A45-CCE0ADC5306B}"/>
              </a:ext>
            </a:extLst>
          </p:cNvPr>
          <p:cNvCxnSpPr/>
          <p:nvPr/>
        </p:nvCxnSpPr>
        <p:spPr>
          <a:xfrm flipV="1">
            <a:off x="4972050" y="1200150"/>
            <a:ext cx="2224088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7D139E-04DA-F00D-167D-2FF95125B0F4}"/>
              </a:ext>
            </a:extLst>
          </p:cNvPr>
          <p:cNvCxnSpPr/>
          <p:nvPr/>
        </p:nvCxnSpPr>
        <p:spPr>
          <a:xfrm>
            <a:off x="2382838" y="4435475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CA3813-3E76-63B4-34E6-05C9F89EE712}"/>
              </a:ext>
            </a:extLst>
          </p:cNvPr>
          <p:cNvCxnSpPr/>
          <p:nvPr/>
        </p:nvCxnSpPr>
        <p:spPr>
          <a:xfrm>
            <a:off x="2382838" y="5167313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29742B-B368-AEB3-5885-0E73B94630D3}"/>
              </a:ext>
            </a:extLst>
          </p:cNvPr>
          <p:cNvCxnSpPr/>
          <p:nvPr/>
        </p:nvCxnSpPr>
        <p:spPr>
          <a:xfrm>
            <a:off x="2382838" y="5811838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0AC9A8-F19E-9871-5649-BA26EA9C3EBC}"/>
              </a:ext>
            </a:extLst>
          </p:cNvPr>
          <p:cNvCxnSpPr/>
          <p:nvPr/>
        </p:nvCxnSpPr>
        <p:spPr>
          <a:xfrm>
            <a:off x="3235325" y="3679825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951F73-04CB-8169-6B44-0B07A72BF6F7}"/>
              </a:ext>
            </a:extLst>
          </p:cNvPr>
          <p:cNvCxnSpPr/>
          <p:nvPr/>
        </p:nvCxnSpPr>
        <p:spPr>
          <a:xfrm>
            <a:off x="4095750" y="3667125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7E23B8-0FF5-45D6-97C2-1866E10199E0}"/>
              </a:ext>
            </a:extLst>
          </p:cNvPr>
          <p:cNvCxnSpPr/>
          <p:nvPr/>
        </p:nvCxnSpPr>
        <p:spPr>
          <a:xfrm>
            <a:off x="4972050" y="3644900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C50E656-8C4D-895B-124B-C7D9051431A8}"/>
              </a:ext>
            </a:extLst>
          </p:cNvPr>
          <p:cNvCxnSpPr/>
          <p:nvPr/>
        </p:nvCxnSpPr>
        <p:spPr>
          <a:xfrm>
            <a:off x="3000375" y="3001963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FD20FD0-274F-3322-426F-219338772776}"/>
              </a:ext>
            </a:extLst>
          </p:cNvPr>
          <p:cNvCxnSpPr/>
          <p:nvPr/>
        </p:nvCxnSpPr>
        <p:spPr>
          <a:xfrm>
            <a:off x="3495675" y="2419350"/>
            <a:ext cx="3700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166839-2862-E3FC-4EF3-93BB792368F6}"/>
              </a:ext>
            </a:extLst>
          </p:cNvPr>
          <p:cNvCxnSpPr/>
          <p:nvPr/>
        </p:nvCxnSpPr>
        <p:spPr>
          <a:xfrm>
            <a:off x="4040188" y="1838325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95" name="TextBox 30">
            <a:extLst>
              <a:ext uri="{FF2B5EF4-FFF2-40B4-BE49-F238E27FC236}">
                <a16:creationId xmlns:a16="http://schemas.microsoft.com/office/drawing/2014/main" id="{602B243B-CB10-2D16-F544-D0E0D684D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338" y="3146425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4596" name="TextBox 32">
            <a:extLst>
              <a:ext uri="{FF2B5EF4-FFF2-40B4-BE49-F238E27FC236}">
                <a16:creationId xmlns:a16="http://schemas.microsoft.com/office/drawing/2014/main" id="{C6C43621-C4D7-3CE5-82D0-52371BEBD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1925" y="3851275"/>
            <a:ext cx="300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4597" name="TextBox 33">
            <a:extLst>
              <a:ext uri="{FF2B5EF4-FFF2-40B4-BE49-F238E27FC236}">
                <a16:creationId xmlns:a16="http://schemas.microsoft.com/office/drawing/2014/main" id="{4AD56624-043D-255F-415E-8B62C363A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196056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4598" name="TextBox 34">
            <a:extLst>
              <a:ext uri="{FF2B5EF4-FFF2-40B4-BE49-F238E27FC236}">
                <a16:creationId xmlns:a16="http://schemas.microsoft.com/office/drawing/2014/main" id="{E8946231-A6A5-CCC0-CD53-A0657A426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2509838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4599" name="TextBox 35">
            <a:extLst>
              <a:ext uri="{FF2B5EF4-FFF2-40B4-BE49-F238E27FC236}">
                <a16:creationId xmlns:a16="http://schemas.microsoft.com/office/drawing/2014/main" id="{F76892E0-E823-CB95-4800-AC9B5F246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3865563"/>
            <a:ext cx="300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4600" name="TextBox 36">
            <a:extLst>
              <a:ext uri="{FF2B5EF4-FFF2-40B4-BE49-F238E27FC236}">
                <a16:creationId xmlns:a16="http://schemas.microsoft.com/office/drawing/2014/main" id="{ECD37A14-D87A-8F59-3CA0-5F7A5B2A1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38719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4601" name="TextBox 37">
            <a:extLst>
              <a:ext uri="{FF2B5EF4-FFF2-40B4-BE49-F238E27FC236}">
                <a16:creationId xmlns:a16="http://schemas.microsoft.com/office/drawing/2014/main" id="{9EA7435A-436E-6B3D-E3C3-4BB216E9D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45720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4602" name="TextBox 38">
            <a:extLst>
              <a:ext uri="{FF2B5EF4-FFF2-40B4-BE49-F238E27FC236}">
                <a16:creationId xmlns:a16="http://schemas.microsoft.com/office/drawing/2014/main" id="{92480B84-DD8D-ABA9-93BF-4BABA63D6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8" y="530542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4603" name="TextBox 39">
            <a:extLst>
              <a:ext uri="{FF2B5EF4-FFF2-40B4-BE49-F238E27FC236}">
                <a16:creationId xmlns:a16="http://schemas.microsoft.com/office/drawing/2014/main" id="{93AAECB0-1853-B707-7E93-8149BCDA7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3862388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4604" name="TextBox 40">
            <a:extLst>
              <a:ext uri="{FF2B5EF4-FFF2-40B4-BE49-F238E27FC236}">
                <a16:creationId xmlns:a16="http://schemas.microsoft.com/office/drawing/2014/main" id="{51335D42-52F0-D3CF-6753-FC38F4635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1390650"/>
            <a:ext cx="274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24605" name="TextBox 41">
            <a:extLst>
              <a:ext uri="{FF2B5EF4-FFF2-40B4-BE49-F238E27FC236}">
                <a16:creationId xmlns:a16="http://schemas.microsoft.com/office/drawing/2014/main" id="{F037B462-50D4-AFB2-4BDD-C4AD0C12F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5903913"/>
            <a:ext cx="260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4606" name="TextBox 16">
            <a:extLst>
              <a:ext uri="{FF2B5EF4-FFF2-40B4-BE49-F238E27FC236}">
                <a16:creationId xmlns:a16="http://schemas.microsoft.com/office/drawing/2014/main" id="{B288A418-8942-1785-2961-C76EB69EE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3" y="1260475"/>
            <a:ext cx="3025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232AF4"/>
                </a:solidFill>
                <a:latin typeface="Times New Roman" panose="02020603050405020304" pitchFamily="18" charset="0"/>
              </a:rPr>
              <a:t>Denote </a:t>
            </a:r>
            <a:r>
              <a:rPr lang="en-US" altLang="en-US" sz="1800">
                <a:latin typeface="Times New Roman" panose="02020603050405020304" pitchFamily="18" charset="0"/>
              </a:rPr>
              <a:t>cell edges as shown</a:t>
            </a:r>
          </a:p>
        </p:txBody>
      </p:sp>
      <p:sp>
        <p:nvSpPr>
          <p:cNvPr id="24607" name="TextBox 45">
            <a:extLst>
              <a:ext uri="{FF2B5EF4-FFF2-40B4-BE49-F238E27FC236}">
                <a16:creationId xmlns:a16="http://schemas.microsoft.com/office/drawing/2014/main" id="{8DBB9210-FEE4-9EDF-7EAB-D1C2E8D1D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588" y="3370263"/>
            <a:ext cx="6619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0+1/2</a:t>
            </a:r>
          </a:p>
        </p:txBody>
      </p:sp>
      <p:sp>
        <p:nvSpPr>
          <p:cNvPr id="24608" name="TextBox 48">
            <a:extLst>
              <a:ext uri="{FF2B5EF4-FFF2-40B4-BE49-F238E27FC236}">
                <a16:creationId xmlns:a16="http://schemas.microsoft.com/office/drawing/2014/main" id="{0D059CF5-57C6-4D68-1D7C-75D54BDEE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93988"/>
            <a:ext cx="66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1+1/2</a:t>
            </a:r>
          </a:p>
        </p:txBody>
      </p:sp>
      <p:sp>
        <p:nvSpPr>
          <p:cNvPr id="24609" name="TextBox 49">
            <a:extLst>
              <a:ext uri="{FF2B5EF4-FFF2-40B4-BE49-F238E27FC236}">
                <a16:creationId xmlns:a16="http://schemas.microsoft.com/office/drawing/2014/main" id="{18391951-A6C4-CD12-2832-BCD15D4F3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2116138"/>
            <a:ext cx="66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2+1/2</a:t>
            </a:r>
          </a:p>
        </p:txBody>
      </p:sp>
      <p:sp>
        <p:nvSpPr>
          <p:cNvPr id="24610" name="TextBox 50">
            <a:extLst>
              <a:ext uri="{FF2B5EF4-FFF2-40B4-BE49-F238E27FC236}">
                <a16:creationId xmlns:a16="http://schemas.microsoft.com/office/drawing/2014/main" id="{ABB24090-AA3D-9F67-2449-C9F3F74FC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5350" y="1514475"/>
            <a:ext cx="661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3+1/2</a:t>
            </a:r>
          </a:p>
        </p:txBody>
      </p:sp>
      <p:sp>
        <p:nvSpPr>
          <p:cNvPr id="24611" name="TextBox 51">
            <a:extLst>
              <a:ext uri="{FF2B5EF4-FFF2-40B4-BE49-F238E27FC236}">
                <a16:creationId xmlns:a16="http://schemas.microsoft.com/office/drawing/2014/main" id="{08FB02D3-3BAB-B4AE-46B6-58D3810F3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3825" y="946150"/>
            <a:ext cx="642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J+1/2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69E71A81-766A-86D9-4CAF-C61670E8D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C257278-E7C9-3845-48AD-90C9AC8B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79F8826-DBC5-304D-813F-D842DE3CE7B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TextBox 7">
            <a:extLst>
              <a:ext uri="{FF2B5EF4-FFF2-40B4-BE49-F238E27FC236}">
                <a16:creationId xmlns:a16="http://schemas.microsoft.com/office/drawing/2014/main" id="{09C50B93-5240-EFE5-AC92-B90F08B5D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Discretization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CA748F-5579-D09C-E193-0FAA298CF1F0}"/>
              </a:ext>
            </a:extLst>
          </p:cNvPr>
          <p:cNvCxnSpPr/>
          <p:nvPr/>
        </p:nvCxnSpPr>
        <p:spPr>
          <a:xfrm>
            <a:off x="2382838" y="3667125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735237-534F-7C2E-7595-049C2A036CC4}"/>
              </a:ext>
            </a:extLst>
          </p:cNvPr>
          <p:cNvCxnSpPr/>
          <p:nvPr/>
        </p:nvCxnSpPr>
        <p:spPr>
          <a:xfrm flipV="1">
            <a:off x="2382838" y="1222375"/>
            <a:ext cx="2224087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038DBD-6197-6494-C405-FA9E90216623}"/>
              </a:ext>
            </a:extLst>
          </p:cNvPr>
          <p:cNvCxnSpPr/>
          <p:nvPr/>
        </p:nvCxnSpPr>
        <p:spPr>
          <a:xfrm>
            <a:off x="2382838" y="3667125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C37510-92B4-9563-157D-79FEE1902E64}"/>
              </a:ext>
            </a:extLst>
          </p:cNvPr>
          <p:cNvCxnSpPr/>
          <p:nvPr/>
        </p:nvCxnSpPr>
        <p:spPr>
          <a:xfrm flipV="1">
            <a:off x="3224213" y="1217613"/>
            <a:ext cx="2224087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88FFB7-259B-496A-B486-80D185C71F0A}"/>
              </a:ext>
            </a:extLst>
          </p:cNvPr>
          <p:cNvCxnSpPr/>
          <p:nvPr/>
        </p:nvCxnSpPr>
        <p:spPr>
          <a:xfrm flipV="1">
            <a:off x="4089400" y="1222375"/>
            <a:ext cx="2224088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818BD6C-2864-5DFC-46BD-CB5D7BEC746F}"/>
              </a:ext>
            </a:extLst>
          </p:cNvPr>
          <p:cNvCxnSpPr/>
          <p:nvPr/>
        </p:nvCxnSpPr>
        <p:spPr>
          <a:xfrm flipV="1">
            <a:off x="4972050" y="1200150"/>
            <a:ext cx="2224088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48F6F6-3471-2D66-DED0-E1079416E82D}"/>
              </a:ext>
            </a:extLst>
          </p:cNvPr>
          <p:cNvCxnSpPr/>
          <p:nvPr/>
        </p:nvCxnSpPr>
        <p:spPr>
          <a:xfrm>
            <a:off x="2382838" y="4435475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372EB5-5F93-C036-99F1-8AF36A514ADD}"/>
              </a:ext>
            </a:extLst>
          </p:cNvPr>
          <p:cNvCxnSpPr/>
          <p:nvPr/>
        </p:nvCxnSpPr>
        <p:spPr>
          <a:xfrm>
            <a:off x="2382838" y="5167313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965651-DEAF-B9ED-0642-B079C27CA2F7}"/>
              </a:ext>
            </a:extLst>
          </p:cNvPr>
          <p:cNvCxnSpPr/>
          <p:nvPr/>
        </p:nvCxnSpPr>
        <p:spPr>
          <a:xfrm>
            <a:off x="2382838" y="5811838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DB75B9F-2491-0520-097A-8FD3197AD2B7}"/>
              </a:ext>
            </a:extLst>
          </p:cNvPr>
          <p:cNvCxnSpPr/>
          <p:nvPr/>
        </p:nvCxnSpPr>
        <p:spPr>
          <a:xfrm>
            <a:off x="3235325" y="3679825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1C21AB2-664D-C51F-BAD8-309CF43AA27F}"/>
              </a:ext>
            </a:extLst>
          </p:cNvPr>
          <p:cNvCxnSpPr/>
          <p:nvPr/>
        </p:nvCxnSpPr>
        <p:spPr>
          <a:xfrm>
            <a:off x="4095750" y="3667125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5D31B3E-C354-0C89-AC88-55BF917CD473}"/>
              </a:ext>
            </a:extLst>
          </p:cNvPr>
          <p:cNvCxnSpPr/>
          <p:nvPr/>
        </p:nvCxnSpPr>
        <p:spPr>
          <a:xfrm>
            <a:off x="4972050" y="3644900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B0A8F3-7094-9D2B-7BA3-F44B07E4F8E1}"/>
              </a:ext>
            </a:extLst>
          </p:cNvPr>
          <p:cNvCxnSpPr/>
          <p:nvPr/>
        </p:nvCxnSpPr>
        <p:spPr>
          <a:xfrm>
            <a:off x="3000375" y="3001963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DDB6AD6-E7E2-26D8-F790-A432C0E59442}"/>
              </a:ext>
            </a:extLst>
          </p:cNvPr>
          <p:cNvCxnSpPr/>
          <p:nvPr/>
        </p:nvCxnSpPr>
        <p:spPr>
          <a:xfrm>
            <a:off x="3495675" y="2419350"/>
            <a:ext cx="3700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415EDA-2D4A-CADA-F422-D9A3F5E354F4}"/>
              </a:ext>
            </a:extLst>
          </p:cNvPr>
          <p:cNvCxnSpPr/>
          <p:nvPr/>
        </p:nvCxnSpPr>
        <p:spPr>
          <a:xfrm>
            <a:off x="4040188" y="1838325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43" name="TextBox 30">
            <a:extLst>
              <a:ext uri="{FF2B5EF4-FFF2-40B4-BE49-F238E27FC236}">
                <a16:creationId xmlns:a16="http://schemas.microsoft.com/office/drawing/2014/main" id="{8C03B9CA-C8A2-F671-888E-754AEB4DB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338" y="3146425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44" name="TextBox 32">
            <a:extLst>
              <a:ext uri="{FF2B5EF4-FFF2-40B4-BE49-F238E27FC236}">
                <a16:creationId xmlns:a16="http://schemas.microsoft.com/office/drawing/2014/main" id="{F1E1428A-86A1-E1DD-36F2-7F542CADA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75" y="3883025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45" name="TextBox 33">
            <a:extLst>
              <a:ext uri="{FF2B5EF4-FFF2-40B4-BE49-F238E27FC236}">
                <a16:creationId xmlns:a16="http://schemas.microsoft.com/office/drawing/2014/main" id="{59709466-1A7F-7781-0985-2385549A5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196056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46" name="TextBox 34">
            <a:extLst>
              <a:ext uri="{FF2B5EF4-FFF2-40B4-BE49-F238E27FC236}">
                <a16:creationId xmlns:a16="http://schemas.microsoft.com/office/drawing/2014/main" id="{86EBE245-8294-0E71-CFB7-A8E8A29C1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2509838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47" name="TextBox 35">
            <a:extLst>
              <a:ext uri="{FF2B5EF4-FFF2-40B4-BE49-F238E27FC236}">
                <a16:creationId xmlns:a16="http://schemas.microsoft.com/office/drawing/2014/main" id="{3F919E6F-466A-1366-8007-293967684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3" y="3902075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48" name="TextBox 36">
            <a:extLst>
              <a:ext uri="{FF2B5EF4-FFF2-40B4-BE49-F238E27FC236}">
                <a16:creationId xmlns:a16="http://schemas.microsoft.com/office/drawing/2014/main" id="{4F399831-23ED-5160-FD12-63325D8CF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175" y="3890963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49" name="TextBox 37">
            <a:extLst>
              <a:ext uri="{FF2B5EF4-FFF2-40B4-BE49-F238E27FC236}">
                <a16:creationId xmlns:a16="http://schemas.microsoft.com/office/drawing/2014/main" id="{23FDA8B3-9BE0-C282-AB50-A2E3D8D6D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45720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0" name="TextBox 38">
            <a:extLst>
              <a:ext uri="{FF2B5EF4-FFF2-40B4-BE49-F238E27FC236}">
                <a16:creationId xmlns:a16="http://schemas.microsoft.com/office/drawing/2014/main" id="{30E352A6-F535-6718-3068-27A59166F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8" y="530542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51" name="TextBox 39">
            <a:extLst>
              <a:ext uri="{FF2B5EF4-FFF2-40B4-BE49-F238E27FC236}">
                <a16:creationId xmlns:a16="http://schemas.microsoft.com/office/drawing/2014/main" id="{A25EEA22-1B61-5DC9-A8D5-DC391CD9C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213" y="389096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6652" name="TextBox 40">
            <a:extLst>
              <a:ext uri="{FF2B5EF4-FFF2-40B4-BE49-F238E27FC236}">
                <a16:creationId xmlns:a16="http://schemas.microsoft.com/office/drawing/2014/main" id="{FB7693E7-9F97-26AA-3C19-9DCFCE236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1390650"/>
            <a:ext cx="274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26653" name="TextBox 41">
            <a:extLst>
              <a:ext uri="{FF2B5EF4-FFF2-40B4-BE49-F238E27FC236}">
                <a16:creationId xmlns:a16="http://schemas.microsoft.com/office/drawing/2014/main" id="{66F5BAC7-4467-38D6-C0CE-B451438AF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5903913"/>
            <a:ext cx="260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6654" name="TextBox 16">
            <a:extLst>
              <a:ext uri="{FF2B5EF4-FFF2-40B4-BE49-F238E27FC236}">
                <a16:creationId xmlns:a16="http://schemas.microsoft.com/office/drawing/2014/main" id="{E84D8B40-6069-EFE0-36C3-EB83EDC2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3" y="1260475"/>
            <a:ext cx="3025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232AF4"/>
                </a:solidFill>
                <a:latin typeface="Times New Roman" panose="02020603050405020304" pitchFamily="18" charset="0"/>
              </a:rPr>
              <a:t>Denote </a:t>
            </a:r>
            <a:r>
              <a:rPr lang="en-US" altLang="en-US" sz="1800">
                <a:latin typeface="Times New Roman" panose="02020603050405020304" pitchFamily="18" charset="0"/>
              </a:rPr>
              <a:t>cell edges as shown</a:t>
            </a:r>
          </a:p>
        </p:txBody>
      </p:sp>
      <p:sp>
        <p:nvSpPr>
          <p:cNvPr id="26655" name="TextBox 43">
            <a:extLst>
              <a:ext uri="{FF2B5EF4-FFF2-40B4-BE49-F238E27FC236}">
                <a16:creationId xmlns:a16="http://schemas.microsoft.com/office/drawing/2014/main" id="{20FC49BF-5317-F5BC-C07B-69AD1AF80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3" y="3421063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0+1/2</a:t>
            </a:r>
          </a:p>
        </p:txBody>
      </p:sp>
      <p:sp>
        <p:nvSpPr>
          <p:cNvPr id="26656" name="TextBox 45">
            <a:extLst>
              <a:ext uri="{FF2B5EF4-FFF2-40B4-BE49-F238E27FC236}">
                <a16:creationId xmlns:a16="http://schemas.microsoft.com/office/drawing/2014/main" id="{908CF9FB-198E-05EC-6E11-79C31E136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3" y="4159250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1+1/2</a:t>
            </a:r>
          </a:p>
        </p:txBody>
      </p:sp>
      <p:sp>
        <p:nvSpPr>
          <p:cNvPr id="26657" name="TextBox 48">
            <a:extLst>
              <a:ext uri="{FF2B5EF4-FFF2-40B4-BE49-F238E27FC236}">
                <a16:creationId xmlns:a16="http://schemas.microsoft.com/office/drawing/2014/main" id="{6209241A-0F81-C056-A821-F218ADD14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3238" y="4899025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2+1/2</a:t>
            </a:r>
          </a:p>
        </p:txBody>
      </p:sp>
      <p:sp>
        <p:nvSpPr>
          <p:cNvPr id="26658" name="TextBox 49">
            <a:extLst>
              <a:ext uri="{FF2B5EF4-FFF2-40B4-BE49-F238E27FC236}">
                <a16:creationId xmlns:a16="http://schemas.microsoft.com/office/drawing/2014/main" id="{48976B7A-1D7B-55A2-F20B-1A9E31D49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3238" y="5535613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3+1/2</a:t>
            </a:r>
          </a:p>
        </p:txBody>
      </p:sp>
      <p:sp>
        <p:nvSpPr>
          <p:cNvPr id="26659" name="TextBox 52">
            <a:extLst>
              <a:ext uri="{FF2B5EF4-FFF2-40B4-BE49-F238E27FC236}">
                <a16:creationId xmlns:a16="http://schemas.microsoft.com/office/drawing/2014/main" id="{C411553D-2BA9-714D-0B69-4D575B8FF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6169025"/>
            <a:ext cx="622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I+1/2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99C1104E-9DB1-F536-D27D-21CE30252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AF1D60E-7135-8865-CDB3-ACB81110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50503D4-2412-C645-9634-3AA82BB8E67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TextBox 7">
            <a:extLst>
              <a:ext uri="{FF2B5EF4-FFF2-40B4-BE49-F238E27FC236}">
                <a16:creationId xmlns:a16="http://schemas.microsoft.com/office/drawing/2014/main" id="{C50F43E9-573E-1346-CC75-3370C8717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Discretization</a:t>
            </a:r>
          </a:p>
        </p:txBody>
      </p:sp>
      <p:sp>
        <p:nvSpPr>
          <p:cNvPr id="28676" name="TextBox 16">
            <a:extLst>
              <a:ext uri="{FF2B5EF4-FFF2-40B4-BE49-F238E27FC236}">
                <a16:creationId xmlns:a16="http://schemas.microsoft.com/office/drawing/2014/main" id="{BAF8D929-5F06-7EB1-BFAA-EEAF92033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460500"/>
            <a:ext cx="299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232AF4"/>
                </a:solidFill>
                <a:latin typeface="Times New Roman" panose="02020603050405020304" pitchFamily="18" charset="0"/>
              </a:rPr>
              <a:t>Example </a:t>
            </a:r>
            <a:r>
              <a:rPr lang="en-US" altLang="en-US" sz="1800">
                <a:latin typeface="Times New Roman" panose="02020603050405020304" pitchFamily="18" charset="0"/>
              </a:rPr>
              <a:t>cell edge notation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1885A48-3392-20FA-D9B1-1E2161773C42}"/>
              </a:ext>
            </a:extLst>
          </p:cNvPr>
          <p:cNvCxnSpPr/>
          <p:nvPr/>
        </p:nvCxnSpPr>
        <p:spPr>
          <a:xfrm flipV="1">
            <a:off x="2814638" y="3559175"/>
            <a:ext cx="0" cy="27860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F83DC7F-C555-9D50-18F8-39F447449103}"/>
              </a:ext>
            </a:extLst>
          </p:cNvPr>
          <p:cNvCxnSpPr/>
          <p:nvPr/>
        </p:nvCxnSpPr>
        <p:spPr>
          <a:xfrm flipV="1">
            <a:off x="4286250" y="2028825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B32730B-CC0A-9495-91DC-0841F3C1032C}"/>
              </a:ext>
            </a:extLst>
          </p:cNvPr>
          <p:cNvCxnSpPr/>
          <p:nvPr/>
        </p:nvCxnSpPr>
        <p:spPr>
          <a:xfrm flipV="1">
            <a:off x="6672263" y="2036763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85FDB4E-725A-F6B3-E9F9-EF69ACEC2689}"/>
              </a:ext>
            </a:extLst>
          </p:cNvPr>
          <p:cNvCxnSpPr/>
          <p:nvPr/>
        </p:nvCxnSpPr>
        <p:spPr>
          <a:xfrm flipV="1">
            <a:off x="5202238" y="3567113"/>
            <a:ext cx="0" cy="27860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9F293D7-30CA-DE88-D9E1-1B61FB3C3633}"/>
              </a:ext>
            </a:extLst>
          </p:cNvPr>
          <p:cNvCxnSpPr/>
          <p:nvPr/>
        </p:nvCxnSpPr>
        <p:spPr>
          <a:xfrm flipV="1">
            <a:off x="2813050" y="2028825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7915C67-F557-0766-A4E5-CDBE04280C42}"/>
              </a:ext>
            </a:extLst>
          </p:cNvPr>
          <p:cNvCxnSpPr/>
          <p:nvPr/>
        </p:nvCxnSpPr>
        <p:spPr>
          <a:xfrm flipV="1">
            <a:off x="5210175" y="2055813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B9452FA-E884-FF95-25D1-02DAA34E0EC6}"/>
              </a:ext>
            </a:extLst>
          </p:cNvPr>
          <p:cNvCxnSpPr/>
          <p:nvPr/>
        </p:nvCxnSpPr>
        <p:spPr>
          <a:xfrm flipV="1">
            <a:off x="2811463" y="4810125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2A26B85-6C4E-F6EA-99FC-93C0CF49C915}"/>
              </a:ext>
            </a:extLst>
          </p:cNvPr>
          <p:cNvCxnSpPr/>
          <p:nvPr/>
        </p:nvCxnSpPr>
        <p:spPr>
          <a:xfrm flipV="1">
            <a:off x="5202238" y="4835525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62167B2-3F72-6448-98D6-DD531CA25593}"/>
              </a:ext>
            </a:extLst>
          </p:cNvPr>
          <p:cNvCxnSpPr>
            <a:cxnSpLocks/>
          </p:cNvCxnSpPr>
          <p:nvPr/>
        </p:nvCxnSpPr>
        <p:spPr>
          <a:xfrm>
            <a:off x="4286250" y="2044700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570CFCD-4B1B-F5DA-265B-E7C0AA011A01}"/>
              </a:ext>
            </a:extLst>
          </p:cNvPr>
          <p:cNvCxnSpPr>
            <a:cxnSpLocks/>
          </p:cNvCxnSpPr>
          <p:nvPr/>
        </p:nvCxnSpPr>
        <p:spPr>
          <a:xfrm>
            <a:off x="4286250" y="4835525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828E051-F339-8172-FC9B-4E4B1EEB290C}"/>
              </a:ext>
            </a:extLst>
          </p:cNvPr>
          <p:cNvCxnSpPr>
            <a:cxnSpLocks/>
          </p:cNvCxnSpPr>
          <p:nvPr/>
        </p:nvCxnSpPr>
        <p:spPr>
          <a:xfrm>
            <a:off x="2811463" y="3586163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F3CCBF6-1480-73EB-1F06-517562651D3E}"/>
              </a:ext>
            </a:extLst>
          </p:cNvPr>
          <p:cNvCxnSpPr>
            <a:cxnSpLocks/>
          </p:cNvCxnSpPr>
          <p:nvPr/>
        </p:nvCxnSpPr>
        <p:spPr>
          <a:xfrm>
            <a:off x="2811463" y="6350000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89" name="TextBox 70">
            <a:extLst>
              <a:ext uri="{FF2B5EF4-FFF2-40B4-BE49-F238E27FC236}">
                <a16:creationId xmlns:a16="http://schemas.microsoft.com/office/drawing/2014/main" id="{92481AB6-2104-6304-5CE8-10D638F8D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388" y="5995988"/>
            <a:ext cx="625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k-1/2</a:t>
            </a:r>
          </a:p>
        </p:txBody>
      </p:sp>
      <p:sp>
        <p:nvSpPr>
          <p:cNvPr id="28690" name="TextBox 71">
            <a:extLst>
              <a:ext uri="{FF2B5EF4-FFF2-40B4-BE49-F238E27FC236}">
                <a16:creationId xmlns:a16="http://schemas.microsoft.com/office/drawing/2014/main" id="{0FCDDC46-D22D-D0BB-2359-4779E0B85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6084888"/>
            <a:ext cx="66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k+1/2</a:t>
            </a:r>
          </a:p>
        </p:txBody>
      </p:sp>
      <p:sp>
        <p:nvSpPr>
          <p:cNvPr id="28691" name="TextBox 72">
            <a:extLst>
              <a:ext uri="{FF2B5EF4-FFF2-40B4-BE49-F238E27FC236}">
                <a16:creationId xmlns:a16="http://schemas.microsoft.com/office/drawing/2014/main" id="{7B0E285C-8B69-C575-7E71-DF558A1B2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3498850"/>
            <a:ext cx="577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i-1/2</a:t>
            </a:r>
          </a:p>
        </p:txBody>
      </p:sp>
      <p:sp>
        <p:nvSpPr>
          <p:cNvPr id="28692" name="TextBox 73">
            <a:extLst>
              <a:ext uri="{FF2B5EF4-FFF2-40B4-BE49-F238E27FC236}">
                <a16:creationId xmlns:a16="http://schemas.microsoft.com/office/drawing/2014/main" id="{E25F43AD-7CEB-0A94-9254-9EE4F4315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300" y="6248400"/>
            <a:ext cx="614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i+1/2</a:t>
            </a:r>
          </a:p>
        </p:txBody>
      </p:sp>
      <p:sp>
        <p:nvSpPr>
          <p:cNvPr id="28693" name="TextBox 74">
            <a:extLst>
              <a:ext uri="{FF2B5EF4-FFF2-40B4-BE49-F238E27FC236}">
                <a16:creationId xmlns:a16="http://schemas.microsoft.com/office/drawing/2014/main" id="{FA0BD15B-2BCE-E72B-F12A-98B23C592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3422650"/>
            <a:ext cx="590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j-1/2</a:t>
            </a:r>
          </a:p>
        </p:txBody>
      </p:sp>
      <p:sp>
        <p:nvSpPr>
          <p:cNvPr id="28694" name="TextBox 75">
            <a:extLst>
              <a:ext uri="{FF2B5EF4-FFF2-40B4-BE49-F238E27FC236}">
                <a16:creationId xmlns:a16="http://schemas.microsoft.com/office/drawing/2014/main" id="{40AC0E66-E0B9-7798-A483-8C1566D7F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1709738"/>
            <a:ext cx="627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j+1/2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D4960B-E3C5-8CF3-07FF-16D06D101E19}"/>
              </a:ext>
            </a:extLst>
          </p:cNvPr>
          <p:cNvCxnSpPr/>
          <p:nvPr/>
        </p:nvCxnSpPr>
        <p:spPr>
          <a:xfrm>
            <a:off x="3082925" y="4198938"/>
            <a:ext cx="0" cy="12223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528CA3-0CE4-1115-E002-66CC0CCB60CF}"/>
              </a:ext>
            </a:extLst>
          </p:cNvPr>
          <p:cNvCxnSpPr/>
          <p:nvPr/>
        </p:nvCxnSpPr>
        <p:spPr>
          <a:xfrm flipV="1">
            <a:off x="5805488" y="2584450"/>
            <a:ext cx="700087" cy="8032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C115F1-73F1-A50F-BBDB-7D28046F8580}"/>
              </a:ext>
            </a:extLst>
          </p:cNvPr>
          <p:cNvCxnSpPr/>
          <p:nvPr/>
        </p:nvCxnSpPr>
        <p:spPr>
          <a:xfrm>
            <a:off x="3287713" y="6181725"/>
            <a:ext cx="152241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008CB490-5BAE-92DA-A07D-11FF6288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25A0E10-259E-9E54-71F2-E4890C4C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3964B7A-9A12-3643-A665-F64AE78D2E1D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TextBox 7">
            <a:extLst>
              <a:ext uri="{FF2B5EF4-FFF2-40B4-BE49-F238E27FC236}">
                <a16:creationId xmlns:a16="http://schemas.microsoft.com/office/drawing/2014/main" id="{DE220D97-5BD2-573E-791C-FCA5BFBBC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 Sections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2D135-84A1-9357-C669-58DD11497E3E}"/>
              </a:ext>
            </a:extLst>
          </p:cNvPr>
          <p:cNvSpPr txBox="1"/>
          <p:nvPr/>
        </p:nvSpPr>
        <p:spPr>
          <a:xfrm>
            <a:off x="276225" y="1677988"/>
            <a:ext cx="8867775" cy="31384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tx1"/>
                </a:solidFill>
              </a:rPr>
              <a:t>The cross sections </a:t>
            </a:r>
            <a:r>
              <a:rPr lang="el-GR" sz="1800" dirty="0">
                <a:solidFill>
                  <a:schemeClr val="tx1"/>
                </a:solidFill>
              </a:rPr>
              <a:t>σ </a:t>
            </a:r>
            <a:r>
              <a:rPr lang="en-US" sz="1800" dirty="0">
                <a:solidFill>
                  <a:schemeClr val="tx1"/>
                </a:solidFill>
              </a:rPr>
              <a:t>and </a:t>
            </a:r>
            <a:r>
              <a:rPr lang="el-GR" sz="1800" dirty="0">
                <a:solidFill>
                  <a:schemeClr val="tx1"/>
                </a:solidFill>
              </a:rPr>
              <a:t>σ</a:t>
            </a:r>
            <a:r>
              <a:rPr lang="en-US" sz="1800" baseline="-25000" dirty="0">
                <a:solidFill>
                  <a:schemeClr val="tx1"/>
                </a:solidFill>
              </a:rPr>
              <a:t>S</a:t>
            </a:r>
            <a:r>
              <a:rPr lang="en-US" sz="1800" dirty="0">
                <a:solidFill>
                  <a:schemeClr val="tx1"/>
                </a:solidFill>
              </a:rPr>
              <a:t> are assumed to be </a:t>
            </a:r>
            <a:r>
              <a:rPr lang="en-US" sz="1800" dirty="0">
                <a:solidFill>
                  <a:srgbClr val="232AF4"/>
                </a:solidFill>
              </a:rPr>
              <a:t>piece-wise constant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tx1"/>
                </a:solidFill>
              </a:rPr>
              <a:t>That is, they can </a:t>
            </a:r>
            <a:r>
              <a:rPr lang="en-US" sz="1800" dirty="0">
                <a:solidFill>
                  <a:srgbClr val="232AF4"/>
                </a:solidFill>
              </a:rPr>
              <a:t>take new values </a:t>
            </a:r>
            <a:r>
              <a:rPr lang="en-US" sz="1800" dirty="0">
                <a:solidFill>
                  <a:schemeClr val="tx1"/>
                </a:solidFill>
              </a:rPr>
              <a:t>only at the cell-boundaries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tx1"/>
                </a:solidFill>
              </a:rPr>
              <a:t>Within the </a:t>
            </a:r>
            <a:r>
              <a:rPr lang="en-US" sz="1800" dirty="0">
                <a:solidFill>
                  <a:srgbClr val="232AF4"/>
                </a:solidFill>
              </a:rPr>
              <a:t>cell volume </a:t>
            </a:r>
            <a:r>
              <a:rPr lang="en-US" sz="1800" dirty="0" err="1">
                <a:solidFill>
                  <a:schemeClr val="tx1"/>
                </a:solidFill>
              </a:rPr>
              <a:t>V</a:t>
            </a:r>
            <a:r>
              <a:rPr lang="en-US" sz="1800" baseline="-25000" dirty="0" err="1">
                <a:solidFill>
                  <a:schemeClr val="tx1"/>
                </a:solidFill>
              </a:rPr>
              <a:t>ijk</a:t>
            </a:r>
            <a:r>
              <a:rPr lang="en-US" sz="1800" dirty="0">
                <a:solidFill>
                  <a:schemeClr val="tx1"/>
                </a:solidFill>
              </a:rPr>
              <a:t>, bounded by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1800" dirty="0">
                <a:solidFill>
                  <a:schemeClr val="tx1"/>
                </a:solidFill>
              </a:rPr>
              <a:t>(x</a:t>
            </a:r>
            <a:r>
              <a:rPr lang="en-US" sz="1800" baseline="-25000" dirty="0">
                <a:solidFill>
                  <a:schemeClr val="tx1"/>
                </a:solidFill>
              </a:rPr>
              <a:t>k−1/2 </a:t>
            </a:r>
            <a:r>
              <a:rPr lang="en-US" sz="1800" dirty="0">
                <a:solidFill>
                  <a:schemeClr val="tx1"/>
                </a:solidFill>
              </a:rPr>
              <a:t>&lt; x &lt; x</a:t>
            </a:r>
            <a:r>
              <a:rPr lang="en-US" sz="1800" baseline="-25000" dirty="0">
                <a:solidFill>
                  <a:schemeClr val="tx1"/>
                </a:solidFill>
              </a:rPr>
              <a:t>k+1/2 </a:t>
            </a:r>
            <a:r>
              <a:rPr lang="en-US" sz="1800" dirty="0">
                <a:solidFill>
                  <a:schemeClr val="tx1"/>
                </a:solidFill>
              </a:rPr>
              <a:t>) ,</a:t>
            </a:r>
          </a:p>
          <a:p>
            <a:pPr lvl="1">
              <a:defRPr/>
            </a:pPr>
            <a:r>
              <a:rPr lang="en-US" sz="1800" dirty="0">
                <a:solidFill>
                  <a:schemeClr val="tx1"/>
                </a:solidFill>
              </a:rPr>
              <a:t>(y</a:t>
            </a:r>
            <a:r>
              <a:rPr lang="en-US" sz="1800" baseline="-25000" dirty="0">
                <a:solidFill>
                  <a:schemeClr val="tx1"/>
                </a:solidFill>
              </a:rPr>
              <a:t>j−1/2 </a:t>
            </a:r>
            <a:r>
              <a:rPr lang="en-US" sz="1800" dirty="0">
                <a:solidFill>
                  <a:schemeClr val="tx1"/>
                </a:solidFill>
              </a:rPr>
              <a:t>&lt; y &lt; y</a:t>
            </a:r>
            <a:r>
              <a:rPr lang="en-US" sz="1800" baseline="-25000" dirty="0">
                <a:solidFill>
                  <a:schemeClr val="tx1"/>
                </a:solidFill>
              </a:rPr>
              <a:t>j+1/2 </a:t>
            </a:r>
            <a:r>
              <a:rPr lang="en-US" sz="1800" dirty="0">
                <a:solidFill>
                  <a:schemeClr val="tx1"/>
                </a:solidFill>
              </a:rPr>
              <a:t>) ,</a:t>
            </a:r>
          </a:p>
          <a:p>
            <a:pPr lvl="1">
              <a:defRPr/>
            </a:pPr>
            <a:r>
              <a:rPr lang="en-US" sz="1800" dirty="0">
                <a:solidFill>
                  <a:schemeClr val="tx1"/>
                </a:solidFill>
              </a:rPr>
              <a:t>(z</a:t>
            </a:r>
            <a:r>
              <a:rPr lang="en-US" sz="1800" baseline="-25000" dirty="0">
                <a:solidFill>
                  <a:schemeClr val="tx1"/>
                </a:solidFill>
              </a:rPr>
              <a:t>i−1/2 </a:t>
            </a:r>
            <a:r>
              <a:rPr lang="en-US" sz="1800" dirty="0">
                <a:solidFill>
                  <a:schemeClr val="tx1"/>
                </a:solidFill>
              </a:rPr>
              <a:t>&lt; z &lt; z</a:t>
            </a:r>
            <a:r>
              <a:rPr lang="en-US" sz="1800" baseline="-25000" dirty="0">
                <a:solidFill>
                  <a:schemeClr val="tx1"/>
                </a:solidFill>
              </a:rPr>
              <a:t>i+1/2 </a:t>
            </a:r>
            <a:r>
              <a:rPr lang="en-US" sz="1800" dirty="0">
                <a:solidFill>
                  <a:schemeClr val="tx1"/>
                </a:solidFill>
              </a:rPr>
              <a:t>) 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232AF4"/>
                </a:solidFill>
              </a:rPr>
              <a:t>the cross sections are denoted </a:t>
            </a:r>
            <a:r>
              <a:rPr lang="en-US" sz="1800" dirty="0">
                <a:solidFill>
                  <a:schemeClr val="tx1"/>
                </a:solidFill>
              </a:rPr>
              <a:t>as </a:t>
            </a:r>
            <a:r>
              <a:rPr lang="el-GR" sz="1800" dirty="0">
                <a:solidFill>
                  <a:schemeClr val="tx1"/>
                </a:solidFill>
              </a:rPr>
              <a:t>σ</a:t>
            </a:r>
            <a:r>
              <a:rPr lang="en-US" sz="1800" baseline="-25000" dirty="0" err="1">
                <a:solidFill>
                  <a:schemeClr val="tx1"/>
                </a:solidFill>
              </a:rPr>
              <a:t>ijk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l-GR" sz="1800" dirty="0">
                <a:solidFill>
                  <a:schemeClr val="tx1"/>
                </a:solidFill>
              </a:rPr>
              <a:t>σ</a:t>
            </a:r>
            <a:r>
              <a:rPr lang="en-US" sz="1800" baseline="-25000" dirty="0" err="1">
                <a:solidFill>
                  <a:schemeClr val="tx1"/>
                </a:solidFill>
              </a:rPr>
              <a:t>Sijk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CFF6F13E-299D-6BE2-B32F-DEFB34854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7F9F0EA-2F82-AF8D-B741-4E4017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660E0BC-3C43-9A46-B24C-56A1BAA29F8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TextBox 7">
            <a:extLst>
              <a:ext uri="{FF2B5EF4-FFF2-40B4-BE49-F238E27FC236}">
                <a16:creationId xmlns:a16="http://schemas.microsoft.com/office/drawing/2014/main" id="{D5DA5FA2-56A5-86DC-24A6-1D3843CFE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3D RTE</a:t>
            </a:r>
          </a:p>
        </p:txBody>
      </p:sp>
      <p:sp>
        <p:nvSpPr>
          <p:cNvPr id="32772" name="TextBox 16">
            <a:extLst>
              <a:ext uri="{FF2B5EF4-FFF2-40B4-BE49-F238E27FC236}">
                <a16:creationId xmlns:a16="http://schemas.microsoft.com/office/drawing/2014/main" id="{B91F0B24-97A5-9D5D-507A-C800695BB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558925"/>
            <a:ext cx="88677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Denote</a:t>
            </a:r>
            <a:r>
              <a:rPr lang="en-US" altLang="en-US" sz="1800">
                <a:latin typeface="Times New Roman" panose="02020603050405020304" pitchFamily="18" charset="0"/>
              </a:rPr>
              <a:t> the intensity I</a:t>
            </a:r>
            <a:r>
              <a:rPr lang="en-US" altLang="en-US" sz="1800" baseline="30000"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u="sng">
                <a:latin typeface="Times New Roman" panose="02020603050405020304" pitchFamily="18" charset="0"/>
              </a:rPr>
              <a:t>r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as I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(x,y,z)</a:t>
            </a: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Approximate</a:t>
            </a:r>
            <a:r>
              <a:rPr lang="en-US" altLang="en-US" sz="1800">
                <a:latin typeface="Times New Roman" panose="02020603050405020304" pitchFamily="18" charset="0"/>
              </a:rPr>
              <a:t> the spatial derivatives with finite difference approximation. For example,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96C8F2-D593-8DBA-ED06-7BCA9895CF1F}"/>
              </a:ext>
            </a:extLst>
          </p:cNvPr>
          <p:cNvSpPr/>
          <p:nvPr/>
        </p:nvSpPr>
        <p:spPr>
          <a:xfrm>
            <a:off x="360485" y="2860160"/>
            <a:ext cx="655784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5">
              <a:defRPr/>
            </a:pP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2" charset="2"/>
              </a:rPr>
              <a:t>I/z as (1/</a:t>
            </a:r>
            <a:r>
              <a:rPr lang="el-GR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Δ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z) [I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(x,y,z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i+1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 - I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(x,y,z</a:t>
            </a:r>
            <a:r>
              <a:rPr lang="en-US" altLang="en-US" sz="18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i+1/2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)]</a:t>
            </a:r>
          </a:p>
        </p:txBody>
      </p:sp>
      <p:sp>
        <p:nvSpPr>
          <p:cNvPr id="32774" name="TextBox 16">
            <a:extLst>
              <a:ext uri="{FF2B5EF4-FFF2-40B4-BE49-F238E27FC236}">
                <a16:creationId xmlns:a16="http://schemas.microsoft.com/office/drawing/2014/main" id="{A6DEC3DC-B3EB-4415-4FCE-11D08704D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3670300"/>
            <a:ext cx="8867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Integrate</a:t>
            </a:r>
            <a:r>
              <a:rPr lang="en-US" altLang="en-US" sz="1800">
                <a:latin typeface="Times New Roman" panose="02020603050405020304" pitchFamily="18" charset="0"/>
              </a:rPr>
              <a:t> over the cell volume and divide by the same. For example,</a:t>
            </a:r>
          </a:p>
        </p:txBody>
      </p:sp>
      <p:pic>
        <p:nvPicPr>
          <p:cNvPr id="32775" name="Picture 4">
            <a:extLst>
              <a:ext uri="{FF2B5EF4-FFF2-40B4-BE49-F238E27FC236}">
                <a16:creationId xmlns:a16="http://schemas.microsoft.com/office/drawing/2014/main" id="{21B39B9B-4E6C-DDC8-0BA5-C0FA8DB5A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850" y="4208463"/>
            <a:ext cx="34671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Rectangle 9">
            <a:extLst>
              <a:ext uri="{FF2B5EF4-FFF2-40B4-BE49-F238E27FC236}">
                <a16:creationId xmlns:a16="http://schemas.microsoft.com/office/drawing/2014/main" id="{45AC8F84-33C1-8E80-3CF2-6C0555C4F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5273675"/>
            <a:ext cx="733583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∫ dx </a:t>
            </a:r>
            <a:r>
              <a:rPr lang="en-US" altLang="en-US" sz="1800">
                <a:latin typeface="Times New Roman" panose="02020603050405020304" pitchFamily="18" charset="0"/>
              </a:rPr>
              <a:t>denotes integration from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k−1/2 </a:t>
            </a:r>
            <a:r>
              <a:rPr lang="en-US" altLang="en-US" sz="1800">
                <a:latin typeface="Times New Roman" panose="02020603050405020304" pitchFamily="18" charset="0"/>
              </a:rPr>
              <a:t>to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k+1/2 </a:t>
            </a:r>
            <a:r>
              <a:rPr lang="en-US" altLang="en-US" sz="1800">
                <a:latin typeface="Times New Roman" panose="02020603050405020304" pitchFamily="18" charset="0"/>
              </a:rPr>
              <a:t>, and so 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bg1"/>
              </a:solidFill>
              <a:latin typeface="Times" pitchFamily="-111" charset="0"/>
            </a:endParaRPr>
          </a:p>
        </p:txBody>
      </p:sp>
      <p:sp>
        <p:nvSpPr>
          <p:cNvPr id="32777" name="TextBox 5">
            <a:extLst>
              <a:ext uri="{FF2B5EF4-FFF2-40B4-BE49-F238E27FC236}">
                <a16:creationId xmlns:a16="http://schemas.microsoft.com/office/drawing/2014/main" id="{92819284-9AA4-60F9-498E-7E22ABCE5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550386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32778" name="Rectangle 35">
            <a:extLst>
              <a:ext uri="{FF2B5EF4-FFF2-40B4-BE49-F238E27FC236}">
                <a16:creationId xmlns:a16="http://schemas.microsoft.com/office/drawing/2014/main" id="{D7462E0D-14A3-F7FD-D74E-0E7535A2E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613" y="4360863"/>
            <a:ext cx="1246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[1/(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x)]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2779" name="Rectangle 35">
            <a:extLst>
              <a:ext uri="{FF2B5EF4-FFF2-40B4-BE49-F238E27FC236}">
                <a16:creationId xmlns:a16="http://schemas.microsoft.com/office/drawing/2014/main" id="{7625C6CB-AE5B-E549-477B-767EA132B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360863"/>
            <a:ext cx="159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{[1/(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z)] ∫ dz} </a:t>
            </a:r>
          </a:p>
        </p:txBody>
      </p:sp>
      <p:sp>
        <p:nvSpPr>
          <p:cNvPr id="32780" name="TextBox 13">
            <a:extLst>
              <a:ext uri="{FF2B5EF4-FFF2-40B4-BE49-F238E27FC236}">
                <a16:creationId xmlns:a16="http://schemas.microsoft.com/office/drawing/2014/main" id="{C821A004-59BA-959F-1AF5-EAB3077DF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188" y="4576763"/>
            <a:ext cx="249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D19BFD26-503B-76B9-8763-6A266A28F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5CE0BFB-263A-7D2D-7700-A79A215F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181AB0F-4944-8C40-AE46-7181E796D25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TextBox 7">
            <a:extLst>
              <a:ext uri="{FF2B5EF4-FFF2-40B4-BE49-F238E27FC236}">
                <a16:creationId xmlns:a16="http://schemas.microsoft.com/office/drawing/2014/main" id="{69C145F8-C301-EE5D-65C4-8148C2134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3D RTE</a:t>
            </a:r>
          </a:p>
        </p:txBody>
      </p:sp>
      <p:sp>
        <p:nvSpPr>
          <p:cNvPr id="34820" name="TextBox 16">
            <a:extLst>
              <a:ext uri="{FF2B5EF4-FFF2-40B4-BE49-F238E27FC236}">
                <a16:creationId xmlns:a16="http://schemas.microsoft.com/office/drawing/2014/main" id="{A7E3F584-1740-64C6-7B0A-12B5E7022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309688"/>
            <a:ext cx="8867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The </a:t>
            </a:r>
            <a:r>
              <a:rPr lang="en-US" altLang="en-US" sz="1800">
                <a:solidFill>
                  <a:srgbClr val="1D2AF4"/>
                </a:solidFill>
                <a:latin typeface="Times New Roman" panose="02020603050405020304" pitchFamily="18" charset="0"/>
              </a:rPr>
              <a:t>first term </a:t>
            </a:r>
            <a:r>
              <a:rPr lang="en-US" altLang="en-US" sz="1800">
                <a:latin typeface="Times New Roman" panose="02020603050405020304" pitchFamily="18" charset="0"/>
              </a:rPr>
              <a:t>in the RTE therefore reads as</a:t>
            </a:r>
          </a:p>
        </p:txBody>
      </p:sp>
      <p:sp>
        <p:nvSpPr>
          <p:cNvPr id="34821" name="Rectangle 9">
            <a:extLst>
              <a:ext uri="{FF2B5EF4-FFF2-40B4-BE49-F238E27FC236}">
                <a16:creationId xmlns:a16="http://schemas.microsoft.com/office/drawing/2014/main" id="{E05A9B94-E1CE-CCEC-4B0A-B8B81A5E4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3095625"/>
            <a:ext cx="73358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</a:t>
            </a:r>
            <a:r>
              <a:rPr lang="en-US" altLang="en-US" sz="1800">
                <a:solidFill>
                  <a:srgbClr val="1D2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re-written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</a:p>
        </p:txBody>
      </p:sp>
      <p:pic>
        <p:nvPicPr>
          <p:cNvPr id="34822" name="Picture 4">
            <a:extLst>
              <a:ext uri="{FF2B5EF4-FFF2-40B4-BE49-F238E27FC236}">
                <a16:creationId xmlns:a16="http://schemas.microsoft.com/office/drawing/2014/main" id="{7A25DEA9-8310-09A9-500A-7A04EEDE6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1920875"/>
            <a:ext cx="6550025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9">
            <a:extLst>
              <a:ext uri="{FF2B5EF4-FFF2-40B4-BE49-F238E27FC236}">
                <a16:creationId xmlns:a16="http://schemas.microsoft.com/office/drawing/2014/main" id="{42E8E2E0-D936-B17F-74A8-D8194D72F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050" y="3543300"/>
            <a:ext cx="3116263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Rectangle 10">
            <a:extLst>
              <a:ext uri="{FF2B5EF4-FFF2-40B4-BE49-F238E27FC236}">
                <a16:creationId xmlns:a16="http://schemas.microsoft.com/office/drawing/2014/main" id="{1AF52FDD-19A1-CBD8-1080-F479F6B1A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4792663"/>
            <a:ext cx="6611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where the </a:t>
            </a:r>
            <a:r>
              <a:rPr lang="en-US" altLang="en-US" sz="1800">
                <a:solidFill>
                  <a:srgbClr val="1D2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radiation intensities over the cell surfaces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en-US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4825" name="Picture 12">
            <a:extLst>
              <a:ext uri="{FF2B5EF4-FFF2-40B4-BE49-F238E27FC236}">
                <a16:creationId xmlns:a16="http://schemas.microsoft.com/office/drawing/2014/main" id="{91F0921C-89F0-30C2-7A17-F062895B9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25" y="5472113"/>
            <a:ext cx="4756150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D099A0DC-2308-B6B0-C3D8-68510AD6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E595A74-09A4-471B-AACC-F899FA977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E825FA4-9650-EB48-BBB5-7D9D5869348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09329A40-AF1D-3993-0E11-261D7D64F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Discretized 3D RTE</a:t>
            </a:r>
          </a:p>
        </p:txBody>
      </p:sp>
      <p:sp>
        <p:nvSpPr>
          <p:cNvPr id="36868" name="TextBox 16">
            <a:extLst>
              <a:ext uri="{FF2B5EF4-FFF2-40B4-BE49-F238E27FC236}">
                <a16:creationId xmlns:a16="http://schemas.microsoft.com/office/drawing/2014/main" id="{1146DFEE-1EC8-974D-FF11-87716DFE4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The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 discretized 3D RTE i</a:t>
            </a:r>
            <a:r>
              <a:rPr lang="en-US" altLang="en-US" sz="1800">
                <a:latin typeface="Times New Roman" panose="02020603050405020304" pitchFamily="18" charset="0"/>
              </a:rPr>
              <a:t>s:</a:t>
            </a:r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A47EA571-9E22-B2A2-BC39-FBC3315E3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3452813"/>
            <a:ext cx="8216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where the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radiation intensities over the cell surfaces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</a:p>
        </p:txBody>
      </p:sp>
      <p:pic>
        <p:nvPicPr>
          <p:cNvPr id="36870" name="Picture 3">
            <a:extLst>
              <a:ext uri="{FF2B5EF4-FFF2-40B4-BE49-F238E27FC236}">
                <a16:creationId xmlns:a16="http://schemas.microsoft.com/office/drawing/2014/main" id="{0349519D-AA17-8DEC-CB2E-6635B0DDF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1843088"/>
            <a:ext cx="661670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1" name="Picture 6">
            <a:extLst>
              <a:ext uri="{FF2B5EF4-FFF2-40B4-BE49-F238E27FC236}">
                <a16:creationId xmlns:a16="http://schemas.microsoft.com/office/drawing/2014/main" id="{E417AD35-A2C0-B38D-162E-1D5524D33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88" y="4192588"/>
            <a:ext cx="3937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3110725F-5314-374E-BC68-401C9A287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62DB461-A8A9-6C51-936F-F58A98786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5806AF9-CDFF-EE4F-9C5B-873DB00D8150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5" name="TextBox 7">
            <a:extLst>
              <a:ext uri="{FF2B5EF4-FFF2-40B4-BE49-F238E27FC236}">
                <a16:creationId xmlns:a16="http://schemas.microsoft.com/office/drawing/2014/main" id="{F806FECF-035C-2345-7B05-BB7F25D10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6778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Discretized 3D RTE</a:t>
            </a:r>
          </a:p>
        </p:txBody>
      </p:sp>
      <p:sp>
        <p:nvSpPr>
          <p:cNvPr id="38916" name="TextBox 16">
            <a:extLst>
              <a:ext uri="{FF2B5EF4-FFF2-40B4-BE49-F238E27FC236}">
                <a16:creationId xmlns:a16="http://schemas.microsoft.com/office/drawing/2014/main" id="{73D495AF-F048-F2EC-46D4-3FBEAA34E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189038"/>
            <a:ext cx="88677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And, the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averages over the cell volume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of the specific intensity and the total source J = Q + S are:</a:t>
            </a:r>
          </a:p>
        </p:txBody>
      </p:sp>
      <p:pic>
        <p:nvPicPr>
          <p:cNvPr id="38917" name="Picture 4">
            <a:extLst>
              <a:ext uri="{FF2B5EF4-FFF2-40B4-BE49-F238E27FC236}">
                <a16:creationId xmlns:a16="http://schemas.microsoft.com/office/drawing/2014/main" id="{3AC6EDF5-E5F8-3BE6-7196-383EDB199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50" y="1947863"/>
            <a:ext cx="37719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TextBox 5">
            <a:extLst>
              <a:ext uri="{FF2B5EF4-FFF2-40B4-BE49-F238E27FC236}">
                <a16:creationId xmlns:a16="http://schemas.microsoft.com/office/drawing/2014/main" id="{2A0E463A-F3AA-B908-02D4-3C1B2D3FD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3810000"/>
            <a:ext cx="894715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discretized RTE (previous slide) is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exact but not closed</a:t>
            </a:r>
            <a:r>
              <a:rPr lang="en-US" altLang="en-US" sz="1800">
                <a:latin typeface="Times New Roman" panose="02020603050405020304" pitchFamily="18" charset="0"/>
              </a:rPr>
              <a:t>.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Known</a:t>
            </a:r>
            <a:r>
              <a:rPr lang="en-US" altLang="en-US" sz="1800">
                <a:latin typeface="Times New Roman" panose="02020603050405020304" pitchFamily="18" charset="0"/>
              </a:rPr>
              <a:t>: Flows across the three surfaces through which photons enter a cell are known either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from the boundary conditions or from previous calculations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Unknown</a:t>
            </a:r>
            <a:r>
              <a:rPr lang="en-US" altLang="en-US" sz="1800">
                <a:latin typeface="Times New Roman" panose="02020603050405020304" pitchFamily="18" charset="0"/>
              </a:rPr>
              <a:t>: Cell-center angular intensity I</a:t>
            </a:r>
            <a:r>
              <a:rPr lang="en-US" altLang="en-US" sz="1800" baseline="-25000">
                <a:latin typeface="Times New Roman" panose="02020603050405020304" pitchFamily="18" charset="0"/>
              </a:rPr>
              <a:t>nijk</a:t>
            </a:r>
            <a:r>
              <a:rPr lang="en-US" altLang="en-US" sz="1800">
                <a:latin typeface="Times New Roman" panose="02020603050405020304" pitchFamily="18" charset="0"/>
              </a:rPr>
              <a:t> and flows across the three surfaces through which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photons can leave a cell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Need</a:t>
            </a:r>
            <a:r>
              <a:rPr lang="en-US" altLang="en-US" sz="1800">
                <a:latin typeface="Times New Roman" panose="02020603050405020304" pitchFamily="18" charset="0"/>
              </a:rPr>
              <a:t>: Three additional relations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172E3B73-3FBD-CEFC-4575-E4FC67D92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2641154-3905-74B0-7040-4BB1A5A0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B68687B-85D8-CB48-AB51-0B16291F250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TextBox 7">
            <a:extLst>
              <a:ext uri="{FF2B5EF4-FFF2-40B4-BE49-F238E27FC236}">
                <a16:creationId xmlns:a16="http://schemas.microsoft.com/office/drawing/2014/main" id="{19F66319-6C14-719A-E793-0CD17A269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Diamond Difference Relations</a:t>
            </a:r>
          </a:p>
        </p:txBody>
      </p:sp>
      <p:sp>
        <p:nvSpPr>
          <p:cNvPr id="40964" name="TextBox 16">
            <a:extLst>
              <a:ext uri="{FF2B5EF4-FFF2-40B4-BE49-F238E27FC236}">
                <a16:creationId xmlns:a16="http://schemas.microsoft.com/office/drawing/2014/main" id="{2005B84D-6337-3EE5-2C8E-A20991474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we can use the so-called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diamond difference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relations:</a:t>
            </a:r>
          </a:p>
        </p:txBody>
      </p:sp>
      <p:sp>
        <p:nvSpPr>
          <p:cNvPr id="40965" name="TextBox 5">
            <a:extLst>
              <a:ext uri="{FF2B5EF4-FFF2-40B4-BE49-F238E27FC236}">
                <a16:creationId xmlns:a16="http://schemas.microsoft.com/office/drawing/2014/main" id="{6B9DFC45-BCC7-6662-BFA4-DBD1402AA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3810000"/>
            <a:ext cx="63230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Problem</a:t>
            </a:r>
            <a:r>
              <a:rPr lang="en-US" altLang="en-US" sz="1800">
                <a:latin typeface="Times New Roman" panose="02020603050405020304" pitchFamily="18" charset="0"/>
              </a:rPr>
              <a:t>: These relations can lead to negative intensities!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Solution</a:t>
            </a:r>
            <a:r>
              <a:rPr lang="en-US" altLang="en-US" sz="1800">
                <a:latin typeface="Times New Roman" panose="02020603050405020304" pitchFamily="18" charset="0"/>
              </a:rPr>
              <a:t>: Set the offending flow to zero and proceed with iteration</a:t>
            </a:r>
          </a:p>
        </p:txBody>
      </p:sp>
      <p:pic>
        <p:nvPicPr>
          <p:cNvPr id="40966" name="Picture 3">
            <a:extLst>
              <a:ext uri="{FF2B5EF4-FFF2-40B4-BE49-F238E27FC236}">
                <a16:creationId xmlns:a16="http://schemas.microsoft.com/office/drawing/2014/main" id="{A6C1BAA3-F828-1342-B20D-C6F992A85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8" y="1971675"/>
            <a:ext cx="4073525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FAC6CDF8-77C4-A5B8-A354-55DC2932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0D36D71-1799-EA8C-456A-0F68260F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B7AF798-602F-CF4A-94EF-078CFCE6B668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TextBox 7">
            <a:extLst>
              <a:ext uri="{FF2B5EF4-FFF2-40B4-BE49-F238E27FC236}">
                <a16:creationId xmlns:a16="http://schemas.microsoft.com/office/drawing/2014/main" id="{18230EE7-15CD-5680-F09B-6FC7A25CF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 for Sweeping in the Phase-Space Grid</a:t>
            </a:r>
          </a:p>
        </p:txBody>
      </p:sp>
      <p:sp>
        <p:nvSpPr>
          <p:cNvPr id="43012" name="TextBox 16">
            <a:extLst>
              <a:ext uri="{FF2B5EF4-FFF2-40B4-BE49-F238E27FC236}">
                <a16:creationId xmlns:a16="http://schemas.microsoft.com/office/drawing/2014/main" id="{9AF18029-83B8-8AFF-55A3-7D9ACABD8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With the difference relations, we can </a:t>
            </a:r>
            <a:r>
              <a:rPr lang="en-US" altLang="en-US" sz="180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 the discretized RTE for cell center Intensity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by eliminating the unknown flows out of the cell:</a:t>
            </a:r>
          </a:p>
        </p:txBody>
      </p:sp>
      <p:sp>
        <p:nvSpPr>
          <p:cNvPr id="43013" name="TextBox 5">
            <a:extLst>
              <a:ext uri="{FF2B5EF4-FFF2-40B4-BE49-F238E27FC236}">
                <a16:creationId xmlns:a16="http://schemas.microsoft.com/office/drawing/2014/main" id="{D83CEE3C-BA19-0DFA-A9AB-7B8ADBC7A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3932238"/>
            <a:ext cx="8867775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3 flows in the numerator denote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incoming flows</a:t>
            </a:r>
            <a:r>
              <a:rPr lang="en-US" altLang="en-US" sz="1800">
                <a:latin typeface="Times New Roman" panose="02020603050405020304" pitchFamily="18" charset="0"/>
              </a:rPr>
              <a:t>. They are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specific to an Octant</a:t>
            </a:r>
            <a:r>
              <a:rPr lang="en-US" altLang="en-US" sz="1800">
                <a:latin typeface="Times New Roman" panose="02020603050405020304" pitchFamily="18" charset="0"/>
              </a:rPr>
              <a:t>.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cell center Intensity I</a:t>
            </a:r>
            <a:r>
              <a:rPr lang="en-US" altLang="en-US" sz="1800" baseline="-25000">
                <a:latin typeface="Times New Roman" panose="02020603050405020304" pitchFamily="18" charset="0"/>
              </a:rPr>
              <a:t>nijk</a:t>
            </a:r>
            <a:r>
              <a:rPr lang="en-US" altLang="en-US" sz="1800">
                <a:latin typeface="Times New Roman" panose="02020603050405020304" pitchFamily="18" charset="0"/>
              </a:rPr>
              <a:t> is thus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evaluated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Then,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</a:rPr>
              <a:t>the unknown flows leaving the cell </a:t>
            </a:r>
            <a:r>
              <a:rPr lang="en-US" altLang="en-US" sz="1800">
                <a:latin typeface="Times New Roman" panose="02020603050405020304" pitchFamily="18" charset="0"/>
              </a:rPr>
              <a:t>are evaluated with the diamond difference relations (previous slide)</a:t>
            </a:r>
          </a:p>
        </p:txBody>
      </p:sp>
      <p:pic>
        <p:nvPicPr>
          <p:cNvPr id="43014" name="Picture 4">
            <a:extLst>
              <a:ext uri="{FF2B5EF4-FFF2-40B4-BE49-F238E27FC236}">
                <a16:creationId xmlns:a16="http://schemas.microsoft.com/office/drawing/2014/main" id="{9CD3C711-D3DC-419E-933D-441E4482B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2251075"/>
            <a:ext cx="5829300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4CF4CC62-3645-B723-DBF4-55642407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4A76311-25BD-78FF-9E26-15FCE3177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177425C-516D-A84B-81E2-67C2CC74EF3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3481FD45-57CC-CE46-60E9-1D7899AA1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for Directions in Octant 5</a:t>
            </a:r>
          </a:p>
        </p:txBody>
      </p:sp>
      <p:sp>
        <p:nvSpPr>
          <p:cNvPr id="45060" name="TextBox 16">
            <a:extLst>
              <a:ext uri="{FF2B5EF4-FFF2-40B4-BE49-F238E27FC236}">
                <a16:creationId xmlns:a16="http://schemas.microsoft.com/office/drawing/2014/main" id="{77F294FE-2255-4E36-38C5-67E417B07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5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photons travel from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to bottom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(down)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photons travel from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to right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photons travel from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to front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41A930-0E5F-E154-984F-78E24B86C339}"/>
              </a:ext>
            </a:extLst>
          </p:cNvPr>
          <p:cNvCxnSpPr/>
          <p:nvPr/>
        </p:nvCxnSpPr>
        <p:spPr>
          <a:xfrm flipV="1">
            <a:off x="6373813" y="2884488"/>
            <a:ext cx="0" cy="32607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C5BA44-6B2C-6ACF-7656-C4D20AF95FF7}"/>
              </a:ext>
            </a:extLst>
          </p:cNvPr>
          <p:cNvCxnSpPr/>
          <p:nvPr/>
        </p:nvCxnSpPr>
        <p:spPr>
          <a:xfrm>
            <a:off x="4159250" y="4545013"/>
            <a:ext cx="421957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3" name="Rectangle 10">
            <a:extLst>
              <a:ext uri="{FF2B5EF4-FFF2-40B4-BE49-F238E27FC236}">
                <a16:creationId xmlns:a16="http://schemas.microsoft.com/office/drawing/2014/main" id="{FF9ABF0A-609C-38FC-534D-FA9355D0C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4514850"/>
            <a:ext cx="420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4" name="Rectangle 14">
            <a:extLst>
              <a:ext uri="{FF2B5EF4-FFF2-40B4-BE49-F238E27FC236}">
                <a16:creationId xmlns:a16="http://schemas.microsoft.com/office/drawing/2014/main" id="{BCB5B0E2-C59C-5BF3-1A9E-9467EE917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88" y="4514850"/>
            <a:ext cx="474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5" name="Rectangle 11">
            <a:extLst>
              <a:ext uri="{FF2B5EF4-FFF2-40B4-BE49-F238E27FC236}">
                <a16:creationId xmlns:a16="http://schemas.microsoft.com/office/drawing/2014/main" id="{844A49C7-1A26-57E6-4195-4C0732AEE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3243263"/>
            <a:ext cx="49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6" name="Rectangle 16">
            <a:extLst>
              <a:ext uri="{FF2B5EF4-FFF2-40B4-BE49-F238E27FC236}">
                <a16:creationId xmlns:a16="http://schemas.microsoft.com/office/drawing/2014/main" id="{6A6DC1F0-C2E6-2CF4-0725-BB1F8AF99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5478463"/>
            <a:ext cx="439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7" name="TextBox 12">
            <a:extLst>
              <a:ext uri="{FF2B5EF4-FFF2-40B4-BE49-F238E27FC236}">
                <a16:creationId xmlns:a16="http://schemas.microsoft.com/office/drawing/2014/main" id="{431CF067-A2C4-FD87-7664-22A6DE92C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2638" y="4360863"/>
            <a:ext cx="352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5068" name="TextBox 18">
            <a:extLst>
              <a:ext uri="{FF2B5EF4-FFF2-40B4-BE49-F238E27FC236}">
                <a16:creationId xmlns:a16="http://schemas.microsoft.com/office/drawing/2014/main" id="{879CBA93-1832-FAA0-816A-A811DADD9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243681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5069" name="TextBox 19">
            <a:extLst>
              <a:ext uri="{FF2B5EF4-FFF2-40B4-BE49-F238E27FC236}">
                <a16:creationId xmlns:a16="http://schemas.microsoft.com/office/drawing/2014/main" id="{9E4CF1B3-E5E0-97E0-519C-F248314CD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0" y="3562350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O5</a:t>
            </a:r>
          </a:p>
        </p:txBody>
      </p:sp>
      <p:sp>
        <p:nvSpPr>
          <p:cNvPr id="45070" name="TextBox 20">
            <a:extLst>
              <a:ext uri="{FF2B5EF4-FFF2-40B4-BE49-F238E27FC236}">
                <a16:creationId xmlns:a16="http://schemas.microsoft.com/office/drawing/2014/main" id="{DA46B440-408B-DF59-E0BE-7850DDBF2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863" y="3562350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O6</a:t>
            </a:r>
          </a:p>
        </p:txBody>
      </p:sp>
      <p:sp>
        <p:nvSpPr>
          <p:cNvPr id="45071" name="TextBox 21">
            <a:extLst>
              <a:ext uri="{FF2B5EF4-FFF2-40B4-BE49-F238E27FC236}">
                <a16:creationId xmlns:a16="http://schemas.microsoft.com/office/drawing/2014/main" id="{3B880543-F6E8-8D3A-C2DC-70D8ACEA3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5416550"/>
            <a:ext cx="481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O7</a:t>
            </a:r>
          </a:p>
        </p:txBody>
      </p:sp>
      <p:sp>
        <p:nvSpPr>
          <p:cNvPr id="45072" name="TextBox 22">
            <a:extLst>
              <a:ext uri="{FF2B5EF4-FFF2-40B4-BE49-F238E27FC236}">
                <a16:creationId xmlns:a16="http://schemas.microsoft.com/office/drawing/2014/main" id="{0E971800-FDAE-B5C4-B15B-C0BB642D5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5394325"/>
            <a:ext cx="47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O8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37A834-33F0-EF8E-4482-B05010E4C50D}"/>
              </a:ext>
            </a:extLst>
          </p:cNvPr>
          <p:cNvCxnSpPr/>
          <p:nvPr/>
        </p:nvCxnSpPr>
        <p:spPr>
          <a:xfrm flipV="1">
            <a:off x="6400800" y="4070350"/>
            <a:ext cx="1389063" cy="4445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18F4271-C12D-2793-DEFF-36B3F1F2A916}"/>
              </a:ext>
            </a:extLst>
          </p:cNvPr>
          <p:cNvCxnSpPr/>
          <p:nvPr/>
        </p:nvCxnSpPr>
        <p:spPr>
          <a:xfrm flipH="1" flipV="1">
            <a:off x="5715000" y="3490913"/>
            <a:ext cx="658813" cy="10239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8DA2A06-0092-148E-2512-06EBD480E31C}"/>
              </a:ext>
            </a:extLst>
          </p:cNvPr>
          <p:cNvCxnSpPr/>
          <p:nvPr/>
        </p:nvCxnSpPr>
        <p:spPr>
          <a:xfrm flipH="1">
            <a:off x="5133975" y="4572000"/>
            <a:ext cx="1225550" cy="8223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2200918-6CF7-6540-D66A-9E6FD7F58DC4}"/>
              </a:ext>
            </a:extLst>
          </p:cNvPr>
          <p:cNvCxnSpPr/>
          <p:nvPr/>
        </p:nvCxnSpPr>
        <p:spPr>
          <a:xfrm>
            <a:off x="6407150" y="4575175"/>
            <a:ext cx="1781175" cy="13414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811B281F-5113-3F23-BA30-14111DCB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59F6A30-D97E-3FFB-BE57-72E15BFA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BB0B490-8F90-B04B-B658-3930CE0011D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7" name="TextBox 7">
            <a:extLst>
              <a:ext uri="{FF2B5EF4-FFF2-40B4-BE49-F238E27FC236}">
                <a16:creationId xmlns:a16="http://schemas.microsoft.com/office/drawing/2014/main" id="{06B9897F-675D-6894-5F4C-1417827FE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7151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for Directions in Octant 5: Identify Incoming Flows</a:t>
            </a:r>
          </a:p>
        </p:txBody>
      </p:sp>
      <p:sp>
        <p:nvSpPr>
          <p:cNvPr id="47108" name="TextBox 16">
            <a:extLst>
              <a:ext uri="{FF2B5EF4-FFF2-40B4-BE49-F238E27FC236}">
                <a16:creationId xmlns:a16="http://schemas.microsoft.com/office/drawing/2014/main" id="{5BE3782A-D705-EB2C-5E14-0A7B3C5C0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5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>
                <a:latin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incoming flows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C1BF158-16FB-F603-BB87-07721DCDB772}"/>
              </a:ext>
            </a:extLst>
          </p:cNvPr>
          <p:cNvCxnSpPr/>
          <p:nvPr/>
        </p:nvCxnSpPr>
        <p:spPr>
          <a:xfrm flipV="1">
            <a:off x="4468813" y="3444875"/>
            <a:ext cx="0" cy="27860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77CD386-117F-0D32-EABC-B01837D9D0B0}"/>
              </a:ext>
            </a:extLst>
          </p:cNvPr>
          <p:cNvCxnSpPr/>
          <p:nvPr/>
        </p:nvCxnSpPr>
        <p:spPr>
          <a:xfrm flipV="1">
            <a:off x="5940425" y="1914525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2ABD976-EA60-1482-F27F-B8BA67FDB6A4}"/>
              </a:ext>
            </a:extLst>
          </p:cNvPr>
          <p:cNvCxnSpPr/>
          <p:nvPr/>
        </p:nvCxnSpPr>
        <p:spPr>
          <a:xfrm flipV="1">
            <a:off x="8326438" y="1922463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E075978-53C3-775D-C934-FE59ABE69AF0}"/>
              </a:ext>
            </a:extLst>
          </p:cNvPr>
          <p:cNvCxnSpPr/>
          <p:nvPr/>
        </p:nvCxnSpPr>
        <p:spPr>
          <a:xfrm flipV="1">
            <a:off x="6856413" y="3452813"/>
            <a:ext cx="0" cy="27860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905299-AE25-1A1D-ABDD-2A0C10E4C3FA}"/>
              </a:ext>
            </a:extLst>
          </p:cNvPr>
          <p:cNvCxnSpPr/>
          <p:nvPr/>
        </p:nvCxnSpPr>
        <p:spPr>
          <a:xfrm flipV="1">
            <a:off x="4467225" y="1914525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327F277-E910-D7EF-00E1-02962D6D3CB9}"/>
              </a:ext>
            </a:extLst>
          </p:cNvPr>
          <p:cNvCxnSpPr/>
          <p:nvPr/>
        </p:nvCxnSpPr>
        <p:spPr>
          <a:xfrm flipV="1">
            <a:off x="6864350" y="1941513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E5C6F65-A24D-0A36-FB90-57983934DA1B}"/>
              </a:ext>
            </a:extLst>
          </p:cNvPr>
          <p:cNvCxnSpPr/>
          <p:nvPr/>
        </p:nvCxnSpPr>
        <p:spPr>
          <a:xfrm flipV="1">
            <a:off x="4465638" y="4695825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DB17F03-91F9-9236-81F6-2531D0FD92A5}"/>
              </a:ext>
            </a:extLst>
          </p:cNvPr>
          <p:cNvCxnSpPr/>
          <p:nvPr/>
        </p:nvCxnSpPr>
        <p:spPr>
          <a:xfrm flipV="1">
            <a:off x="6856413" y="4721225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7D1B0D3-CDD0-73EE-31A0-B10C3CED945A}"/>
              </a:ext>
            </a:extLst>
          </p:cNvPr>
          <p:cNvCxnSpPr>
            <a:cxnSpLocks/>
          </p:cNvCxnSpPr>
          <p:nvPr/>
        </p:nvCxnSpPr>
        <p:spPr>
          <a:xfrm>
            <a:off x="5940425" y="1930400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022E7E-5218-C1F6-B48C-FBD9CECD3621}"/>
              </a:ext>
            </a:extLst>
          </p:cNvPr>
          <p:cNvCxnSpPr>
            <a:cxnSpLocks/>
          </p:cNvCxnSpPr>
          <p:nvPr/>
        </p:nvCxnSpPr>
        <p:spPr>
          <a:xfrm>
            <a:off x="5940425" y="4721225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3A9FA0-6DFE-C80A-1E1A-3247E7C90DCD}"/>
              </a:ext>
            </a:extLst>
          </p:cNvPr>
          <p:cNvCxnSpPr>
            <a:cxnSpLocks/>
          </p:cNvCxnSpPr>
          <p:nvPr/>
        </p:nvCxnSpPr>
        <p:spPr>
          <a:xfrm>
            <a:off x="4465638" y="3471863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A5BA82D-2F41-0121-A8F7-B8659CC93CE6}"/>
              </a:ext>
            </a:extLst>
          </p:cNvPr>
          <p:cNvCxnSpPr>
            <a:cxnSpLocks/>
          </p:cNvCxnSpPr>
          <p:nvPr/>
        </p:nvCxnSpPr>
        <p:spPr>
          <a:xfrm>
            <a:off x="4465638" y="6235700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21" name="TextBox 70">
            <a:extLst>
              <a:ext uri="{FF2B5EF4-FFF2-40B4-BE49-F238E27FC236}">
                <a16:creationId xmlns:a16="http://schemas.microsoft.com/office/drawing/2014/main" id="{C05812B5-C4A1-4F29-5AF3-2231A00AF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63" y="5881688"/>
            <a:ext cx="625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k-1/2</a:t>
            </a:r>
          </a:p>
        </p:txBody>
      </p:sp>
      <p:sp>
        <p:nvSpPr>
          <p:cNvPr id="47122" name="TextBox 71">
            <a:extLst>
              <a:ext uri="{FF2B5EF4-FFF2-40B4-BE49-F238E27FC236}">
                <a16:creationId xmlns:a16="http://schemas.microsoft.com/office/drawing/2014/main" id="{2A90A8D4-F7C7-4F52-7955-203849257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425" y="5970588"/>
            <a:ext cx="66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k+1/2</a:t>
            </a:r>
          </a:p>
        </p:txBody>
      </p:sp>
      <p:sp>
        <p:nvSpPr>
          <p:cNvPr id="47123" name="TextBox 72">
            <a:extLst>
              <a:ext uri="{FF2B5EF4-FFF2-40B4-BE49-F238E27FC236}">
                <a16:creationId xmlns:a16="http://schemas.microsoft.com/office/drawing/2014/main" id="{20EFDBAE-C748-320A-38AD-02E4E27EE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175" y="3384550"/>
            <a:ext cx="577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i-1/2</a:t>
            </a:r>
          </a:p>
        </p:txBody>
      </p:sp>
      <p:sp>
        <p:nvSpPr>
          <p:cNvPr id="47124" name="TextBox 73">
            <a:extLst>
              <a:ext uri="{FF2B5EF4-FFF2-40B4-BE49-F238E27FC236}">
                <a16:creationId xmlns:a16="http://schemas.microsoft.com/office/drawing/2014/main" id="{D338D645-38B9-2CC8-9591-4B8037561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6134100"/>
            <a:ext cx="614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i+1/2</a:t>
            </a:r>
          </a:p>
        </p:txBody>
      </p:sp>
      <p:sp>
        <p:nvSpPr>
          <p:cNvPr id="47125" name="TextBox 74">
            <a:extLst>
              <a:ext uri="{FF2B5EF4-FFF2-40B4-BE49-F238E27FC236}">
                <a16:creationId xmlns:a16="http://schemas.microsoft.com/office/drawing/2014/main" id="{86A35471-C345-43D8-CA16-CCF74FD2E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113" y="3308350"/>
            <a:ext cx="590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j-1/2</a:t>
            </a:r>
          </a:p>
        </p:txBody>
      </p:sp>
      <p:sp>
        <p:nvSpPr>
          <p:cNvPr id="47126" name="TextBox 75">
            <a:extLst>
              <a:ext uri="{FF2B5EF4-FFF2-40B4-BE49-F238E27FC236}">
                <a16:creationId xmlns:a16="http://schemas.microsoft.com/office/drawing/2014/main" id="{38D6758A-56F4-CC83-9679-E330FF2BE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7225" y="1595438"/>
            <a:ext cx="627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j+1/2</a:t>
            </a:r>
          </a:p>
        </p:txBody>
      </p:sp>
      <p:sp>
        <p:nvSpPr>
          <p:cNvPr id="47127" name="Rectangle 3">
            <a:extLst>
              <a:ext uri="{FF2B5EF4-FFF2-40B4-BE49-F238E27FC236}">
                <a16:creationId xmlns:a16="http://schemas.microsoft.com/office/drawing/2014/main" id="{19421682-CFB2-2E6C-7761-F89BA71E3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25" y="2032000"/>
            <a:ext cx="1006475" cy="3698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njk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(z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i-1/2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CEDBA0-B47B-E4C7-7992-549ACCE690A6}"/>
              </a:ext>
            </a:extLst>
          </p:cNvPr>
          <p:cNvCxnSpPr/>
          <p:nvPr/>
        </p:nvCxnSpPr>
        <p:spPr>
          <a:xfrm>
            <a:off x="6494463" y="1284288"/>
            <a:ext cx="0" cy="139541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29" name="Rectangle 6">
            <a:extLst>
              <a:ext uri="{FF2B5EF4-FFF2-40B4-BE49-F238E27FC236}">
                <a16:creationId xmlns:a16="http://schemas.microsoft.com/office/drawing/2014/main" id="{AAB220AE-DE7C-FA33-DCF8-A6F3BB737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50" y="4395788"/>
            <a:ext cx="1020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nij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k-1/2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82919F-4E3C-E6EA-A777-3FB761A613D4}"/>
              </a:ext>
            </a:extLst>
          </p:cNvPr>
          <p:cNvCxnSpPr/>
          <p:nvPr/>
        </p:nvCxnSpPr>
        <p:spPr>
          <a:xfrm>
            <a:off x="3113088" y="4395788"/>
            <a:ext cx="18923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31" name="Rectangle 17">
            <a:extLst>
              <a:ext uri="{FF2B5EF4-FFF2-40B4-BE49-F238E27FC236}">
                <a16:creationId xmlns:a16="http://schemas.microsoft.com/office/drawing/2014/main" id="{E77BDE53-E1D9-3554-C542-9AABE53FC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5708650"/>
            <a:ext cx="10207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(y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j-1/2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9C9FD7-32CA-F273-7F16-548CB9436881}"/>
              </a:ext>
            </a:extLst>
          </p:cNvPr>
          <p:cNvCxnSpPr/>
          <p:nvPr/>
        </p:nvCxnSpPr>
        <p:spPr>
          <a:xfrm flipV="1">
            <a:off x="5153025" y="5610225"/>
            <a:ext cx="1073150" cy="100647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33" name="Rectangle 53">
            <a:extLst>
              <a:ext uri="{FF2B5EF4-FFF2-40B4-BE49-F238E27FC236}">
                <a16:creationId xmlns:a16="http://schemas.microsoft.com/office/drawing/2014/main" id="{D329FFB4-E5C6-7F2F-A63E-0F2BE1CAF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8" y="2374900"/>
            <a:ext cx="2493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njk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(z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i-1/2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): on the top face</a:t>
            </a:r>
            <a:endParaRPr lang="en-US" altLang="en-US" sz="1800">
              <a:solidFill>
                <a:srgbClr val="2B3A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34" name="Rectangle 54">
            <a:extLst>
              <a:ext uri="{FF2B5EF4-FFF2-40B4-BE49-F238E27FC236}">
                <a16:creationId xmlns:a16="http://schemas.microsoft.com/office/drawing/2014/main" id="{022F6C0F-EF2A-D163-838E-FECF1FEB9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8" y="2800350"/>
            <a:ext cx="2519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k-1/2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): on the left face</a:t>
            </a:r>
            <a:endParaRPr lang="en-US" altLang="en-US" sz="1800">
              <a:solidFill>
                <a:srgbClr val="2B3A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35" name="Rectangle 55">
            <a:extLst>
              <a:ext uri="{FF2B5EF4-FFF2-40B4-BE49-F238E27FC236}">
                <a16:creationId xmlns:a16="http://schemas.microsoft.com/office/drawing/2014/main" id="{9CF2B260-A526-2A00-5D4A-F02B9832B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3260725"/>
            <a:ext cx="2647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nik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(y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j-1/2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): on the back face</a:t>
            </a:r>
            <a:endParaRPr lang="en-US" altLang="en-US" sz="1800">
              <a:solidFill>
                <a:srgbClr val="2B3A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36" name="TextBox 49">
            <a:extLst>
              <a:ext uri="{FF2B5EF4-FFF2-40B4-BE49-F238E27FC236}">
                <a16:creationId xmlns:a16="http://schemas.microsoft.com/office/drawing/2014/main" id="{A9FA12C1-690A-CABC-E8D2-185DFA4FF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3841750"/>
            <a:ext cx="2984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They are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Char char="-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From boundary conditions </a:t>
            </a:r>
          </a:p>
          <a:p>
            <a:pPr>
              <a:spcBef>
                <a:spcPct val="0"/>
              </a:spcBef>
              <a:buFontTx/>
              <a:buChar char="-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Or, from previous calculation</a:t>
            </a:r>
          </a:p>
        </p:txBody>
      </p:sp>
      <p:sp>
        <p:nvSpPr>
          <p:cNvPr id="47137" name="TextBox 2">
            <a:extLst>
              <a:ext uri="{FF2B5EF4-FFF2-40B4-BE49-F238E27FC236}">
                <a16:creationId xmlns:a16="http://schemas.microsoft.com/office/drawing/2014/main" id="{5E426A50-0CD9-14E3-BD51-2ADCFCAD9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175" y="2689225"/>
            <a:ext cx="4714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TOP</a:t>
            </a:r>
          </a:p>
        </p:txBody>
      </p:sp>
      <p:sp>
        <p:nvSpPr>
          <p:cNvPr id="47138" name="TextBox 38">
            <a:extLst>
              <a:ext uri="{FF2B5EF4-FFF2-40B4-BE49-F238E27FC236}">
                <a16:creationId xmlns:a16="http://schemas.microsoft.com/office/drawing/2014/main" id="{0F7B73BF-0608-6088-FE06-CF3F80F8C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25" y="4264025"/>
            <a:ext cx="5540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LEFT</a:t>
            </a:r>
          </a:p>
        </p:txBody>
      </p:sp>
      <p:sp>
        <p:nvSpPr>
          <p:cNvPr id="47139" name="TextBox 39">
            <a:extLst>
              <a:ext uri="{FF2B5EF4-FFF2-40B4-BE49-F238E27FC236}">
                <a16:creationId xmlns:a16="http://schemas.microsoft.com/office/drawing/2014/main" id="{58D692DA-6D29-9CCA-C36F-33BFEFB39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5432425"/>
            <a:ext cx="6111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BACK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4646E400-9276-31A1-5608-7CD2D5E6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27E830E-B95F-5853-D2CC-657BF0F6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297B116-9629-3543-8794-FE8136459F5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5" name="TextBox 7">
            <a:extLst>
              <a:ext uri="{FF2B5EF4-FFF2-40B4-BE49-F238E27FC236}">
                <a16:creationId xmlns:a16="http://schemas.microsoft.com/office/drawing/2014/main" id="{2911BA93-0838-7024-BF26-C0172E12F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71513"/>
            <a:ext cx="801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for Directions in Octant 5: Evaluate Cell-Center Intensity</a:t>
            </a:r>
          </a:p>
        </p:txBody>
      </p:sp>
      <p:sp>
        <p:nvSpPr>
          <p:cNvPr id="49156" name="TextBox 16">
            <a:extLst>
              <a:ext uri="{FF2B5EF4-FFF2-40B4-BE49-F238E27FC236}">
                <a16:creationId xmlns:a16="http://schemas.microsoft.com/office/drawing/2014/main" id="{D21588B7-A728-B9C3-F2FF-46F19A8CE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</a:p>
        </p:txBody>
      </p:sp>
      <p:pic>
        <p:nvPicPr>
          <p:cNvPr id="49157" name="Picture 44">
            <a:extLst>
              <a:ext uri="{FF2B5EF4-FFF2-40B4-BE49-F238E27FC236}">
                <a16:creationId xmlns:a16="http://schemas.microsoft.com/office/drawing/2014/main" id="{C63DC219-6A7B-CA01-EC3E-6687735E9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913" y="1697038"/>
            <a:ext cx="5829300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extBox 16">
            <a:extLst>
              <a:ext uri="{FF2B5EF4-FFF2-40B4-BE49-F238E27FC236}">
                <a16:creationId xmlns:a16="http://schemas.microsoft.com/office/drawing/2014/main" id="{15F4AEF1-AC7C-CD5E-2913-DB9B56AD0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3959225"/>
            <a:ext cx="886777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iteration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J = Q, else J = Q + 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All terms are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cell-center Intensity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nijk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A7D3F900-7C23-F02D-13B3-EC803D86C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5C3AD61-6EEA-2874-FFA2-F58F6199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898F2634-6D9C-D64E-ACCB-C10ABAD472B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3" name="TextBox 7">
            <a:extLst>
              <a:ext uri="{FF2B5EF4-FFF2-40B4-BE49-F238E27FC236}">
                <a16:creationId xmlns:a16="http://schemas.microsoft.com/office/drawing/2014/main" id="{FF2544E5-B018-2A07-6BAD-3A260D756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71513"/>
            <a:ext cx="801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for Directions in Octant 5: Evaluate Outgoing flows</a:t>
            </a:r>
          </a:p>
        </p:txBody>
      </p:sp>
      <p:sp>
        <p:nvSpPr>
          <p:cNvPr id="51204" name="TextBox 16">
            <a:extLst>
              <a:ext uri="{FF2B5EF4-FFF2-40B4-BE49-F238E27FC236}">
                <a16:creationId xmlns:a16="http://schemas.microsoft.com/office/drawing/2014/main" id="{34821AFB-2B0A-403C-9A48-06DAD10A3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184275"/>
            <a:ext cx="886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outgoing flows using:</a:t>
            </a:r>
          </a:p>
        </p:txBody>
      </p:sp>
      <p:sp>
        <p:nvSpPr>
          <p:cNvPr id="51205" name="TextBox 16">
            <a:extLst>
              <a:ext uri="{FF2B5EF4-FFF2-40B4-BE49-F238E27FC236}">
                <a16:creationId xmlns:a16="http://schemas.microsoft.com/office/drawing/2014/main" id="{3CF1F686-F274-DC88-0F19-511BE9ED0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3414713"/>
            <a:ext cx="8867775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incoming flow and cell-center Intensity are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Set any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fluxes to zero</a:t>
            </a:r>
            <a:endParaRPr lang="en-US" altLang="en-US" sz="1800" baseline="-25000">
              <a:solidFill>
                <a:srgbClr val="2B3A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06" name="Picture 7">
            <a:extLst>
              <a:ext uri="{FF2B5EF4-FFF2-40B4-BE49-F238E27FC236}">
                <a16:creationId xmlns:a16="http://schemas.microsoft.com/office/drawing/2014/main" id="{8B1ABE1E-E109-A310-B1C3-E07DDA1B6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8" y="1716088"/>
            <a:ext cx="4073525" cy="153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C8BAAAF7-A812-AF37-09AD-F037C9240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EA417C4-D825-0512-0605-4690DF33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02463" y="6411913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3537623-AA8F-C046-8244-C91463604AC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1" name="TextBox 7">
            <a:extLst>
              <a:ext uri="{FF2B5EF4-FFF2-40B4-BE49-F238E27FC236}">
                <a16:creationId xmlns:a16="http://schemas.microsoft.com/office/drawing/2014/main" id="{0816E64E-1A3B-B6A3-3327-BD5D350DD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71513"/>
            <a:ext cx="801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for Directions in Octant 5: Evaluate Outgoing flows</a:t>
            </a:r>
          </a:p>
        </p:txBody>
      </p:sp>
      <p:sp>
        <p:nvSpPr>
          <p:cNvPr id="53252" name="TextBox 16">
            <a:extLst>
              <a:ext uri="{FF2B5EF4-FFF2-40B4-BE49-F238E27FC236}">
                <a16:creationId xmlns:a16="http://schemas.microsoft.com/office/drawing/2014/main" id="{C37BDB9F-158B-3097-2A97-411B10B5E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</a:p>
        </p:txBody>
      </p:sp>
      <p:pic>
        <p:nvPicPr>
          <p:cNvPr id="53253" name="Picture 7">
            <a:extLst>
              <a:ext uri="{FF2B5EF4-FFF2-40B4-BE49-F238E27FC236}">
                <a16:creationId xmlns:a16="http://schemas.microsoft.com/office/drawing/2014/main" id="{B4175562-C605-DD08-BE22-AD90C317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8950"/>
            <a:ext cx="3508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5D1B86-E0C3-AB8B-AD3A-71B5EF322969}"/>
              </a:ext>
            </a:extLst>
          </p:cNvPr>
          <p:cNvCxnSpPr>
            <a:cxnSpLocks/>
          </p:cNvCxnSpPr>
          <p:nvPr/>
        </p:nvCxnSpPr>
        <p:spPr>
          <a:xfrm flipV="1">
            <a:off x="3827463" y="3384550"/>
            <a:ext cx="0" cy="27860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9D8617-3A8B-EB1C-FA86-A995733FFB49}"/>
              </a:ext>
            </a:extLst>
          </p:cNvPr>
          <p:cNvCxnSpPr>
            <a:cxnSpLocks/>
          </p:cNvCxnSpPr>
          <p:nvPr/>
        </p:nvCxnSpPr>
        <p:spPr>
          <a:xfrm flipV="1">
            <a:off x="5299075" y="1854200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D8CCAC-C543-51E7-D443-DDC8ECEC54E7}"/>
              </a:ext>
            </a:extLst>
          </p:cNvPr>
          <p:cNvCxnSpPr>
            <a:cxnSpLocks/>
          </p:cNvCxnSpPr>
          <p:nvPr/>
        </p:nvCxnSpPr>
        <p:spPr>
          <a:xfrm flipV="1">
            <a:off x="7685088" y="1862138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0F2CFA-603E-59FE-C0F6-B8C5BCDBA381}"/>
              </a:ext>
            </a:extLst>
          </p:cNvPr>
          <p:cNvCxnSpPr>
            <a:cxnSpLocks/>
          </p:cNvCxnSpPr>
          <p:nvPr/>
        </p:nvCxnSpPr>
        <p:spPr>
          <a:xfrm flipV="1">
            <a:off x="6215063" y="3392488"/>
            <a:ext cx="0" cy="27860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B04285-3AFF-7C77-60F5-1D34AEB7F190}"/>
              </a:ext>
            </a:extLst>
          </p:cNvPr>
          <p:cNvCxnSpPr>
            <a:cxnSpLocks/>
          </p:cNvCxnSpPr>
          <p:nvPr/>
        </p:nvCxnSpPr>
        <p:spPr>
          <a:xfrm flipV="1">
            <a:off x="3825875" y="1854200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099D5B-079F-5B81-4B7B-544CBDCBC921}"/>
              </a:ext>
            </a:extLst>
          </p:cNvPr>
          <p:cNvCxnSpPr>
            <a:cxnSpLocks/>
          </p:cNvCxnSpPr>
          <p:nvPr/>
        </p:nvCxnSpPr>
        <p:spPr>
          <a:xfrm flipV="1">
            <a:off x="6223000" y="1881188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58884-07EB-5404-9B27-F7CA0E7BB3D3}"/>
              </a:ext>
            </a:extLst>
          </p:cNvPr>
          <p:cNvCxnSpPr>
            <a:cxnSpLocks/>
          </p:cNvCxnSpPr>
          <p:nvPr/>
        </p:nvCxnSpPr>
        <p:spPr>
          <a:xfrm flipV="1">
            <a:off x="3824288" y="4635500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605FEC-1E0D-2014-D940-BD7FA9877147}"/>
              </a:ext>
            </a:extLst>
          </p:cNvPr>
          <p:cNvCxnSpPr>
            <a:cxnSpLocks/>
          </p:cNvCxnSpPr>
          <p:nvPr/>
        </p:nvCxnSpPr>
        <p:spPr>
          <a:xfrm flipV="1">
            <a:off x="6215063" y="4660900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480F0F-3D1C-455F-17DC-92167E13BE96}"/>
              </a:ext>
            </a:extLst>
          </p:cNvPr>
          <p:cNvCxnSpPr>
            <a:cxnSpLocks/>
          </p:cNvCxnSpPr>
          <p:nvPr/>
        </p:nvCxnSpPr>
        <p:spPr>
          <a:xfrm>
            <a:off x="5299075" y="1870075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1BC3BA-3332-FAC1-ED98-F6F4F35A6CC6}"/>
              </a:ext>
            </a:extLst>
          </p:cNvPr>
          <p:cNvCxnSpPr>
            <a:cxnSpLocks/>
          </p:cNvCxnSpPr>
          <p:nvPr/>
        </p:nvCxnSpPr>
        <p:spPr>
          <a:xfrm>
            <a:off x="5299075" y="4660900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4D96EB-073F-1382-0DCF-331338ED9DA8}"/>
              </a:ext>
            </a:extLst>
          </p:cNvPr>
          <p:cNvCxnSpPr>
            <a:cxnSpLocks/>
          </p:cNvCxnSpPr>
          <p:nvPr/>
        </p:nvCxnSpPr>
        <p:spPr>
          <a:xfrm>
            <a:off x="3824288" y="3411538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F8B9EF-A744-3CF4-3237-119588771CCD}"/>
              </a:ext>
            </a:extLst>
          </p:cNvPr>
          <p:cNvCxnSpPr>
            <a:cxnSpLocks/>
          </p:cNvCxnSpPr>
          <p:nvPr/>
        </p:nvCxnSpPr>
        <p:spPr>
          <a:xfrm>
            <a:off x="3824288" y="6175375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66" name="TextBox 70">
            <a:extLst>
              <a:ext uri="{FF2B5EF4-FFF2-40B4-BE49-F238E27FC236}">
                <a16:creationId xmlns:a16="http://schemas.microsoft.com/office/drawing/2014/main" id="{F6DE456A-165A-B944-BF4D-35728768B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4213" y="5821363"/>
            <a:ext cx="625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k-1/2</a:t>
            </a:r>
          </a:p>
        </p:txBody>
      </p:sp>
      <p:sp>
        <p:nvSpPr>
          <p:cNvPr id="53267" name="TextBox 71">
            <a:extLst>
              <a:ext uri="{FF2B5EF4-FFF2-40B4-BE49-F238E27FC236}">
                <a16:creationId xmlns:a16="http://schemas.microsoft.com/office/drawing/2014/main" id="{8B867301-27AD-8057-6EEC-6C7427E5B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5075" y="5910263"/>
            <a:ext cx="66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k+1/2</a:t>
            </a:r>
          </a:p>
        </p:txBody>
      </p:sp>
      <p:sp>
        <p:nvSpPr>
          <p:cNvPr id="53268" name="TextBox 72">
            <a:extLst>
              <a:ext uri="{FF2B5EF4-FFF2-40B4-BE49-F238E27FC236}">
                <a16:creationId xmlns:a16="http://schemas.microsoft.com/office/drawing/2014/main" id="{AC1A46F0-2C50-979B-4E5A-39E0A5043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825" y="3324225"/>
            <a:ext cx="577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i-1/2</a:t>
            </a:r>
          </a:p>
        </p:txBody>
      </p:sp>
      <p:sp>
        <p:nvSpPr>
          <p:cNvPr id="53269" name="TextBox 73">
            <a:extLst>
              <a:ext uri="{FF2B5EF4-FFF2-40B4-BE49-F238E27FC236}">
                <a16:creationId xmlns:a16="http://schemas.microsoft.com/office/drawing/2014/main" id="{145396FE-0055-BB07-34D8-2A826D30C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5" y="6073775"/>
            <a:ext cx="614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i+1/2</a:t>
            </a:r>
          </a:p>
        </p:txBody>
      </p:sp>
      <p:sp>
        <p:nvSpPr>
          <p:cNvPr id="53270" name="TextBox 74">
            <a:extLst>
              <a:ext uri="{FF2B5EF4-FFF2-40B4-BE49-F238E27FC236}">
                <a16:creationId xmlns:a16="http://schemas.microsoft.com/office/drawing/2014/main" id="{2141D1DB-9819-820A-3250-7847A7637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3248025"/>
            <a:ext cx="590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j-1/2</a:t>
            </a:r>
          </a:p>
        </p:txBody>
      </p:sp>
      <p:sp>
        <p:nvSpPr>
          <p:cNvPr id="53271" name="TextBox 75">
            <a:extLst>
              <a:ext uri="{FF2B5EF4-FFF2-40B4-BE49-F238E27FC236}">
                <a16:creationId xmlns:a16="http://schemas.microsoft.com/office/drawing/2014/main" id="{CB2EADC1-FC71-3999-EA5C-4C57CBD97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75" y="1535113"/>
            <a:ext cx="627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j+1/2</a:t>
            </a:r>
          </a:p>
        </p:txBody>
      </p:sp>
      <p:sp>
        <p:nvSpPr>
          <p:cNvPr id="53272" name="Rectangle 27">
            <a:extLst>
              <a:ext uri="{FF2B5EF4-FFF2-40B4-BE49-F238E27FC236}">
                <a16:creationId xmlns:a16="http://schemas.microsoft.com/office/drawing/2014/main" id="{DC865EFD-5EFD-2168-1ECD-EBE5EA65E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1416050"/>
            <a:ext cx="1006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njk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(z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i-1/2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9FAC09-A8E4-A5A5-5BD9-564ABA71825D}"/>
              </a:ext>
            </a:extLst>
          </p:cNvPr>
          <p:cNvCxnSpPr>
            <a:cxnSpLocks/>
          </p:cNvCxnSpPr>
          <p:nvPr/>
        </p:nvCxnSpPr>
        <p:spPr>
          <a:xfrm>
            <a:off x="5853113" y="1311275"/>
            <a:ext cx="0" cy="13081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74" name="Rectangle 29">
            <a:extLst>
              <a:ext uri="{FF2B5EF4-FFF2-40B4-BE49-F238E27FC236}">
                <a16:creationId xmlns:a16="http://schemas.microsoft.com/office/drawing/2014/main" id="{C1918752-7C0F-E5D1-8A1C-41118779B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4356100"/>
            <a:ext cx="10207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nij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k-1/2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C0D196E-35C3-23B1-CEBF-A2C96A3D701F}"/>
              </a:ext>
            </a:extLst>
          </p:cNvPr>
          <p:cNvCxnSpPr>
            <a:cxnSpLocks/>
          </p:cNvCxnSpPr>
          <p:nvPr/>
        </p:nvCxnSpPr>
        <p:spPr>
          <a:xfrm>
            <a:off x="2471738" y="4335463"/>
            <a:ext cx="18923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76" name="Rectangle 31">
            <a:extLst>
              <a:ext uri="{FF2B5EF4-FFF2-40B4-BE49-F238E27FC236}">
                <a16:creationId xmlns:a16="http://schemas.microsoft.com/office/drawing/2014/main" id="{280B491D-F4A1-F70B-B762-62A31E436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650" y="5665788"/>
            <a:ext cx="1019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(y</a:t>
            </a:r>
            <a:r>
              <a:rPr lang="en-US" altLang="en-US" sz="180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j-1/2</a:t>
            </a:r>
            <a:r>
              <a:rPr lang="en-US" altLang="en-US" sz="1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958634-6ACF-4AF9-AEF4-304BB765D434}"/>
              </a:ext>
            </a:extLst>
          </p:cNvPr>
          <p:cNvCxnSpPr>
            <a:cxnSpLocks/>
          </p:cNvCxnSpPr>
          <p:nvPr/>
        </p:nvCxnSpPr>
        <p:spPr>
          <a:xfrm flipV="1">
            <a:off x="4511675" y="5549900"/>
            <a:ext cx="1073150" cy="100647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3FB2C30-6E7F-4A64-2D81-13DE6994F4B9}"/>
              </a:ext>
            </a:extLst>
          </p:cNvPr>
          <p:cNvCxnSpPr>
            <a:cxnSpLocks/>
          </p:cNvCxnSpPr>
          <p:nvPr/>
        </p:nvCxnSpPr>
        <p:spPr>
          <a:xfrm flipV="1">
            <a:off x="7156450" y="2611438"/>
            <a:ext cx="1073150" cy="100647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81E2D27-B3CB-CF69-00D8-3DB7E84A9E6D}"/>
              </a:ext>
            </a:extLst>
          </p:cNvPr>
          <p:cNvCxnSpPr>
            <a:cxnSpLocks/>
          </p:cNvCxnSpPr>
          <p:nvPr/>
        </p:nvCxnSpPr>
        <p:spPr>
          <a:xfrm>
            <a:off x="5670550" y="5489575"/>
            <a:ext cx="0" cy="118110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8A4611B-639A-9017-48DD-81BA5A9840EB}"/>
              </a:ext>
            </a:extLst>
          </p:cNvPr>
          <p:cNvCxnSpPr>
            <a:cxnSpLocks/>
          </p:cNvCxnSpPr>
          <p:nvPr/>
        </p:nvCxnSpPr>
        <p:spPr>
          <a:xfrm>
            <a:off x="7002463" y="4132263"/>
            <a:ext cx="140811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81" name="Rectangle 52">
            <a:extLst>
              <a:ext uri="{FF2B5EF4-FFF2-40B4-BE49-F238E27FC236}">
                <a16:creationId xmlns:a16="http://schemas.microsoft.com/office/drawing/2014/main" id="{EAA57828-CCC6-B0D0-0708-570D6B453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230438"/>
            <a:ext cx="1187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</a:t>
            </a:r>
            <a:r>
              <a:rPr lang="en-US" altLang="en-US" sz="18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(y</a:t>
            </a:r>
            <a:r>
              <a:rPr lang="en-US" altLang="en-US" sz="1800" baseline="-250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j+1/2</a:t>
            </a:r>
            <a:r>
              <a:rPr lang="en-US" altLang="en-US" sz="18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3282" name="Rectangle 53">
            <a:extLst>
              <a:ext uri="{FF2B5EF4-FFF2-40B4-BE49-F238E27FC236}">
                <a16:creationId xmlns:a16="http://schemas.microsoft.com/office/drawing/2014/main" id="{44BE8806-D0EC-29A8-E361-B9ADA8847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6305550"/>
            <a:ext cx="1098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njk</a:t>
            </a:r>
            <a:r>
              <a:rPr lang="en-US" altLang="en-US" sz="18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(z</a:t>
            </a:r>
            <a:r>
              <a:rPr lang="en-US" altLang="en-US" sz="1800" baseline="-250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i+1/2</a:t>
            </a:r>
            <a:r>
              <a:rPr lang="en-US" altLang="en-US" sz="18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3283" name="Rectangle 54">
            <a:extLst>
              <a:ext uri="{FF2B5EF4-FFF2-40B4-BE49-F238E27FC236}">
                <a16:creationId xmlns:a16="http://schemas.microsoft.com/office/drawing/2014/main" id="{3ADBF406-8A7F-52BD-0468-6619F3946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925" y="4156075"/>
            <a:ext cx="1257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-250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nij</a:t>
            </a:r>
            <a:r>
              <a:rPr lang="en-US" altLang="en-US" sz="18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n-US" altLang="en-US" sz="1800" baseline="-250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k+1/2</a:t>
            </a:r>
            <a:r>
              <a:rPr lang="en-US" altLang="en-US" sz="18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3284" name="TextBox 36">
            <a:extLst>
              <a:ext uri="{FF2B5EF4-FFF2-40B4-BE49-F238E27FC236}">
                <a16:creationId xmlns:a16="http://schemas.microsoft.com/office/drawing/2014/main" id="{33C54406-5E11-2E19-5F06-165E84B44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863" y="5303838"/>
            <a:ext cx="8302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BOTTOM</a:t>
            </a:r>
          </a:p>
        </p:txBody>
      </p:sp>
      <p:sp>
        <p:nvSpPr>
          <p:cNvPr id="53285" name="TextBox 37">
            <a:extLst>
              <a:ext uri="{FF2B5EF4-FFF2-40B4-BE49-F238E27FC236}">
                <a16:creationId xmlns:a16="http://schemas.microsoft.com/office/drawing/2014/main" id="{23B9683B-5F81-A545-3D3F-46280C7BE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4650" y="3789363"/>
            <a:ext cx="654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RIGHT</a:t>
            </a:r>
          </a:p>
        </p:txBody>
      </p:sp>
      <p:sp>
        <p:nvSpPr>
          <p:cNvPr id="53286" name="TextBox 38">
            <a:extLst>
              <a:ext uri="{FF2B5EF4-FFF2-40B4-BE49-F238E27FC236}">
                <a16:creationId xmlns:a16="http://schemas.microsoft.com/office/drawing/2014/main" id="{FE32BA47-1272-6818-8EF5-0276A6D7D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5613" y="2709863"/>
            <a:ext cx="6873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FRONT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178DC64E-04B3-B18E-4A05-59A11B022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BE49460-AE9D-413F-4557-12E9B89C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0863" y="6375400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FF402E0-2C26-C64F-BF1E-DD7223B0814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299" name="TextBox 7">
            <a:extLst>
              <a:ext uri="{FF2B5EF4-FFF2-40B4-BE49-F238E27FC236}">
                <a16:creationId xmlns:a16="http://schemas.microsoft.com/office/drawing/2014/main" id="{7C313D81-D28B-478B-3A6B-597D37409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71513"/>
            <a:ext cx="801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for Directions in Octant 5: Stepping Through the Grid</a:t>
            </a:r>
          </a:p>
        </p:txBody>
      </p:sp>
      <p:sp>
        <p:nvSpPr>
          <p:cNvPr id="55300" name="TextBox 16">
            <a:extLst>
              <a:ext uri="{FF2B5EF4-FFF2-40B4-BE49-F238E27FC236}">
                <a16:creationId xmlns:a16="http://schemas.microsoft.com/office/drawing/2014/main" id="{0481EFAF-4E33-0A9E-027B-A8B2A9C4E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535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5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>
                <a:latin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Notation: cell is (k, j, i)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cell (1,1,1)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Move to cell (2, 1,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 so on to cell (K, 1, 1)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Now, move to cell (1, 2, 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 so on to cell (K, 2, 1)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 so on to cell (K, J, 1)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Step down to i = 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Repeat all of the above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Your last cell is (K, J, I)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for all directions in O5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DD70A34-9902-5633-DE84-BAB7B7A00FEA}"/>
              </a:ext>
            </a:extLst>
          </p:cNvPr>
          <p:cNvCxnSpPr/>
          <p:nvPr/>
        </p:nvCxnSpPr>
        <p:spPr>
          <a:xfrm>
            <a:off x="3675063" y="3744913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0A1B96-35B8-8BF0-30F4-44CEA9441535}"/>
              </a:ext>
            </a:extLst>
          </p:cNvPr>
          <p:cNvCxnSpPr/>
          <p:nvPr/>
        </p:nvCxnSpPr>
        <p:spPr>
          <a:xfrm flipV="1">
            <a:off x="3675063" y="1300163"/>
            <a:ext cx="2224087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D60A98-53D6-32B6-BDA3-BCE0B90147BB}"/>
              </a:ext>
            </a:extLst>
          </p:cNvPr>
          <p:cNvCxnSpPr/>
          <p:nvPr/>
        </p:nvCxnSpPr>
        <p:spPr>
          <a:xfrm>
            <a:off x="3675063" y="3744913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38D408-F3E8-124B-41E2-AFA84A20CCD0}"/>
              </a:ext>
            </a:extLst>
          </p:cNvPr>
          <p:cNvCxnSpPr/>
          <p:nvPr/>
        </p:nvCxnSpPr>
        <p:spPr>
          <a:xfrm flipV="1">
            <a:off x="4516438" y="1295400"/>
            <a:ext cx="2224087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80355FB-0B56-C8E5-DFFE-833E3E62CD0C}"/>
              </a:ext>
            </a:extLst>
          </p:cNvPr>
          <p:cNvCxnSpPr/>
          <p:nvPr/>
        </p:nvCxnSpPr>
        <p:spPr>
          <a:xfrm flipV="1">
            <a:off x="5381625" y="1300163"/>
            <a:ext cx="2224088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9E3C0C2-1200-077D-2DAC-2094599152DA}"/>
              </a:ext>
            </a:extLst>
          </p:cNvPr>
          <p:cNvCxnSpPr/>
          <p:nvPr/>
        </p:nvCxnSpPr>
        <p:spPr>
          <a:xfrm flipV="1">
            <a:off x="6264275" y="1277938"/>
            <a:ext cx="2224088" cy="24447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B55D352-9C22-171E-1438-627325F6097E}"/>
              </a:ext>
            </a:extLst>
          </p:cNvPr>
          <p:cNvCxnSpPr/>
          <p:nvPr/>
        </p:nvCxnSpPr>
        <p:spPr>
          <a:xfrm>
            <a:off x="3675063" y="4513263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1688A6B-1B8E-7F19-79A9-7AA963434966}"/>
              </a:ext>
            </a:extLst>
          </p:cNvPr>
          <p:cNvCxnSpPr/>
          <p:nvPr/>
        </p:nvCxnSpPr>
        <p:spPr>
          <a:xfrm>
            <a:off x="3675063" y="5245100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90763F6-1270-C48B-2EA6-6F04F1695E12}"/>
              </a:ext>
            </a:extLst>
          </p:cNvPr>
          <p:cNvCxnSpPr/>
          <p:nvPr/>
        </p:nvCxnSpPr>
        <p:spPr>
          <a:xfrm>
            <a:off x="3675063" y="5889625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D7D4856-F059-7C92-BD69-79C015232058}"/>
              </a:ext>
            </a:extLst>
          </p:cNvPr>
          <p:cNvCxnSpPr/>
          <p:nvPr/>
        </p:nvCxnSpPr>
        <p:spPr>
          <a:xfrm>
            <a:off x="4527550" y="3757613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2837B8E-FB7C-3AB9-2CDF-817708ACD9EF}"/>
              </a:ext>
            </a:extLst>
          </p:cNvPr>
          <p:cNvCxnSpPr/>
          <p:nvPr/>
        </p:nvCxnSpPr>
        <p:spPr>
          <a:xfrm>
            <a:off x="5387975" y="3744913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C9C0215-9AF1-CBFD-AE36-B38F9CFAEA48}"/>
              </a:ext>
            </a:extLst>
          </p:cNvPr>
          <p:cNvCxnSpPr/>
          <p:nvPr/>
        </p:nvCxnSpPr>
        <p:spPr>
          <a:xfrm>
            <a:off x="6264275" y="3722688"/>
            <a:ext cx="0" cy="2400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C330465-EF0C-BBA4-637D-6B52F0CC0F67}"/>
              </a:ext>
            </a:extLst>
          </p:cNvPr>
          <p:cNvCxnSpPr/>
          <p:nvPr/>
        </p:nvCxnSpPr>
        <p:spPr>
          <a:xfrm>
            <a:off x="4292600" y="3079750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67516A2-A157-C1DC-9B19-0C3E404D8819}"/>
              </a:ext>
            </a:extLst>
          </p:cNvPr>
          <p:cNvCxnSpPr/>
          <p:nvPr/>
        </p:nvCxnSpPr>
        <p:spPr>
          <a:xfrm>
            <a:off x="4787900" y="2497138"/>
            <a:ext cx="3700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C0CF9E2-C343-3A9C-7FEF-4104BB04CF12}"/>
              </a:ext>
            </a:extLst>
          </p:cNvPr>
          <p:cNvCxnSpPr/>
          <p:nvPr/>
        </p:nvCxnSpPr>
        <p:spPr>
          <a:xfrm>
            <a:off x="5332413" y="1916113"/>
            <a:ext cx="3702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16" name="TextBox 30">
            <a:extLst>
              <a:ext uri="{FF2B5EF4-FFF2-40B4-BE49-F238E27FC236}">
                <a16:creationId xmlns:a16="http://schemas.microsoft.com/office/drawing/2014/main" id="{1E69F498-5F28-DD82-1994-788850937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563" y="3224213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5317" name="TextBox 32">
            <a:extLst>
              <a:ext uri="{FF2B5EF4-FFF2-40B4-BE49-F238E27FC236}">
                <a16:creationId xmlns:a16="http://schemas.microsoft.com/office/drawing/2014/main" id="{E76AC34F-7600-36E2-505E-74BEBEDEA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100" y="3960813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5318" name="TextBox 33">
            <a:extLst>
              <a:ext uri="{FF2B5EF4-FFF2-40B4-BE49-F238E27FC236}">
                <a16:creationId xmlns:a16="http://schemas.microsoft.com/office/drawing/2014/main" id="{0C07C84E-8CE3-3E36-C4D7-8D134BFAE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7963" y="203835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5319" name="TextBox 34">
            <a:extLst>
              <a:ext uri="{FF2B5EF4-FFF2-40B4-BE49-F238E27FC236}">
                <a16:creationId xmlns:a16="http://schemas.microsoft.com/office/drawing/2014/main" id="{3107A8CA-2C86-3129-0B15-512D7EF30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5838" y="258762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5320" name="TextBox 35">
            <a:extLst>
              <a:ext uri="{FF2B5EF4-FFF2-40B4-BE49-F238E27FC236}">
                <a16:creationId xmlns:a16="http://schemas.microsoft.com/office/drawing/2014/main" id="{42562458-702E-F511-61DF-DA7EBA850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8538" y="3979863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5321" name="TextBox 36">
            <a:extLst>
              <a:ext uri="{FF2B5EF4-FFF2-40B4-BE49-F238E27FC236}">
                <a16:creationId xmlns:a16="http://schemas.microsoft.com/office/drawing/2014/main" id="{8AEEB293-2F3D-10EB-4C0B-4722A0C35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0400" y="396875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5322" name="TextBox 37">
            <a:extLst>
              <a:ext uri="{FF2B5EF4-FFF2-40B4-BE49-F238E27FC236}">
                <a16:creationId xmlns:a16="http://schemas.microsoft.com/office/drawing/2014/main" id="{F95747C0-C600-5825-243C-166543E9C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3675" y="4649788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5323" name="TextBox 38">
            <a:extLst>
              <a:ext uri="{FF2B5EF4-FFF2-40B4-BE49-F238E27FC236}">
                <a16:creationId xmlns:a16="http://schemas.microsoft.com/office/drawing/2014/main" id="{1C0F816A-7079-490E-8244-97903CBAD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538321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5324" name="TextBox 39">
            <a:extLst>
              <a:ext uri="{FF2B5EF4-FFF2-40B4-BE49-F238E27FC236}">
                <a16:creationId xmlns:a16="http://schemas.microsoft.com/office/drawing/2014/main" id="{D49433C6-ADAC-EFF9-0AC5-4839471D9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3968750"/>
            <a:ext cx="350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55325" name="TextBox 40">
            <a:extLst>
              <a:ext uri="{FF2B5EF4-FFF2-40B4-BE49-F238E27FC236}">
                <a16:creationId xmlns:a16="http://schemas.microsoft.com/office/drawing/2014/main" id="{72A1D724-F2A5-0125-7FC5-E5A2C86E5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0" y="1468438"/>
            <a:ext cx="274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55326" name="TextBox 41">
            <a:extLst>
              <a:ext uri="{FF2B5EF4-FFF2-40B4-BE49-F238E27FC236}">
                <a16:creationId xmlns:a16="http://schemas.microsoft.com/office/drawing/2014/main" id="{28635D1C-4537-8009-05AC-9A9BAA4D7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850" y="5981700"/>
            <a:ext cx="260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55327" name="TextBox 43">
            <a:extLst>
              <a:ext uri="{FF2B5EF4-FFF2-40B4-BE49-F238E27FC236}">
                <a16:creationId xmlns:a16="http://schemas.microsoft.com/office/drawing/2014/main" id="{8BBBBEFA-F0DB-8F88-55FD-7B518F2BE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3498850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0+1/2</a:t>
            </a:r>
          </a:p>
        </p:txBody>
      </p:sp>
      <p:sp>
        <p:nvSpPr>
          <p:cNvPr id="55328" name="TextBox 45">
            <a:extLst>
              <a:ext uri="{FF2B5EF4-FFF2-40B4-BE49-F238E27FC236}">
                <a16:creationId xmlns:a16="http://schemas.microsoft.com/office/drawing/2014/main" id="{73DCF0BE-760A-7B05-C8DB-7DCE60326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4237038"/>
            <a:ext cx="647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1+1/2</a:t>
            </a:r>
          </a:p>
        </p:txBody>
      </p:sp>
      <p:sp>
        <p:nvSpPr>
          <p:cNvPr id="55329" name="TextBox 48">
            <a:extLst>
              <a:ext uri="{FF2B5EF4-FFF2-40B4-BE49-F238E27FC236}">
                <a16:creationId xmlns:a16="http://schemas.microsoft.com/office/drawing/2014/main" id="{4922E7AD-E013-8E9F-76A1-A0EAA204B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463" y="4976813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2+1/2</a:t>
            </a:r>
          </a:p>
        </p:txBody>
      </p:sp>
      <p:sp>
        <p:nvSpPr>
          <p:cNvPr id="55330" name="TextBox 49">
            <a:extLst>
              <a:ext uri="{FF2B5EF4-FFF2-40B4-BE49-F238E27FC236}">
                <a16:creationId xmlns:a16="http://schemas.microsoft.com/office/drawing/2014/main" id="{84DC2E1E-41DD-77C8-5D08-126789804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463" y="5613400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3+1/2</a:t>
            </a:r>
          </a:p>
        </p:txBody>
      </p:sp>
      <p:sp>
        <p:nvSpPr>
          <p:cNvPr id="55331" name="TextBox 52">
            <a:extLst>
              <a:ext uri="{FF2B5EF4-FFF2-40B4-BE49-F238E27FC236}">
                <a16:creationId xmlns:a16="http://schemas.microsoft.com/office/drawing/2014/main" id="{2C674AB1-412E-91CF-C5E8-0CC62B404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825" y="6246813"/>
            <a:ext cx="6223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I+1/2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CDE7E0B1-9543-F7A3-2EEE-A3F6603C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8ACF0DA-8619-C6E2-3494-63FE01E3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0863" y="6375400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EC74B90-5394-0043-A4B0-471C7EC356E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47" name="TextBox 7">
            <a:extLst>
              <a:ext uri="{FF2B5EF4-FFF2-40B4-BE49-F238E27FC236}">
                <a16:creationId xmlns:a16="http://schemas.microsoft.com/office/drawing/2014/main" id="{3C39B30A-9F87-B6DB-AE25-136E6B0BB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71513"/>
            <a:ext cx="801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for Directions in Octants 6 to 8</a:t>
            </a:r>
          </a:p>
        </p:txBody>
      </p:sp>
      <p:sp>
        <p:nvSpPr>
          <p:cNvPr id="57348" name="TextBox 16">
            <a:extLst>
              <a:ext uri="{FF2B5EF4-FFF2-40B4-BE49-F238E27FC236}">
                <a16:creationId xmlns:a16="http://schemas.microsoft.com/office/drawing/2014/main" id="{8E1084CA-34B4-C15B-1C92-A21EFED2F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6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>
                <a:latin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Sweep down, right to left, back to front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7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>
                <a:latin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Sweep down, right to left, front to back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8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>
                <a:latin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Sweep down, left to right, front to back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591706F-D10F-850B-5D67-991CA6AB0F3A}"/>
              </a:ext>
            </a:extLst>
          </p:cNvPr>
          <p:cNvCxnSpPr/>
          <p:nvPr/>
        </p:nvCxnSpPr>
        <p:spPr>
          <a:xfrm flipV="1">
            <a:off x="6313488" y="3408363"/>
            <a:ext cx="0" cy="326231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DB805E-FD24-864C-97FE-C1591E8D0A8A}"/>
              </a:ext>
            </a:extLst>
          </p:cNvPr>
          <p:cNvCxnSpPr/>
          <p:nvPr/>
        </p:nvCxnSpPr>
        <p:spPr>
          <a:xfrm>
            <a:off x="4097338" y="5070475"/>
            <a:ext cx="421957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51" name="Rectangle 49">
            <a:extLst>
              <a:ext uri="{FF2B5EF4-FFF2-40B4-BE49-F238E27FC236}">
                <a16:creationId xmlns:a16="http://schemas.microsoft.com/office/drawing/2014/main" id="{AED266EA-034D-7CD6-655E-308A472D9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5040313"/>
            <a:ext cx="422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2" name="Rectangle 52">
            <a:extLst>
              <a:ext uri="{FF2B5EF4-FFF2-40B4-BE49-F238E27FC236}">
                <a16:creationId xmlns:a16="http://schemas.microsoft.com/office/drawing/2014/main" id="{789A609F-7DFD-55BC-634F-264EBD7A0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75" y="5040313"/>
            <a:ext cx="4746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3" name="Rectangle 53">
            <a:extLst>
              <a:ext uri="{FF2B5EF4-FFF2-40B4-BE49-F238E27FC236}">
                <a16:creationId xmlns:a16="http://schemas.microsoft.com/office/drawing/2014/main" id="{928A3C3A-C2D6-D2F7-59FE-F05DD7A3E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488" y="3768725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4" name="Rectangle 54">
            <a:extLst>
              <a:ext uri="{FF2B5EF4-FFF2-40B4-BE49-F238E27FC236}">
                <a16:creationId xmlns:a16="http://schemas.microsoft.com/office/drawing/2014/main" id="{5FF6EC47-BF8A-05B4-6C78-AFE7A9393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488" y="6003925"/>
            <a:ext cx="439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5" name="TextBox 73">
            <a:extLst>
              <a:ext uri="{FF2B5EF4-FFF2-40B4-BE49-F238E27FC236}">
                <a16:creationId xmlns:a16="http://schemas.microsoft.com/office/drawing/2014/main" id="{13285B61-B9D8-21AE-58CF-07B7E2662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2313" y="4886325"/>
            <a:ext cx="3508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57356" name="TextBox 74">
            <a:extLst>
              <a:ext uri="{FF2B5EF4-FFF2-40B4-BE49-F238E27FC236}">
                <a16:creationId xmlns:a16="http://schemas.microsoft.com/office/drawing/2014/main" id="{50E7EDA1-1A38-F115-47A8-152F850A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7275" y="2962275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57357" name="TextBox 75">
            <a:extLst>
              <a:ext uri="{FF2B5EF4-FFF2-40B4-BE49-F238E27FC236}">
                <a16:creationId xmlns:a16="http://schemas.microsoft.com/office/drawing/2014/main" id="{F12E3B03-62E6-2E2F-C3AF-42DD24A85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0088" y="4087813"/>
            <a:ext cx="481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O5</a:t>
            </a:r>
          </a:p>
        </p:txBody>
      </p:sp>
      <p:sp>
        <p:nvSpPr>
          <p:cNvPr id="57358" name="TextBox 76">
            <a:extLst>
              <a:ext uri="{FF2B5EF4-FFF2-40B4-BE49-F238E27FC236}">
                <a16:creationId xmlns:a16="http://schemas.microsoft.com/office/drawing/2014/main" id="{CD3747CE-FD9B-4BBC-B489-0D61764C3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4087813"/>
            <a:ext cx="47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O6</a:t>
            </a:r>
          </a:p>
        </p:txBody>
      </p:sp>
      <p:sp>
        <p:nvSpPr>
          <p:cNvPr id="57359" name="TextBox 77">
            <a:extLst>
              <a:ext uri="{FF2B5EF4-FFF2-40B4-BE49-F238E27FC236}">
                <a16:creationId xmlns:a16="http://schemas.microsoft.com/office/drawing/2014/main" id="{29B0455D-C77E-50B7-79D0-127D2D7C0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525" y="5942013"/>
            <a:ext cx="47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O7</a:t>
            </a:r>
          </a:p>
        </p:txBody>
      </p:sp>
      <p:sp>
        <p:nvSpPr>
          <p:cNvPr id="57360" name="TextBox 78">
            <a:extLst>
              <a:ext uri="{FF2B5EF4-FFF2-40B4-BE49-F238E27FC236}">
                <a16:creationId xmlns:a16="http://schemas.microsoft.com/office/drawing/2014/main" id="{4FBFC87B-2400-D445-0F55-EF6BF8EE1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788" y="5918200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O8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E96C0C5-15B9-08A9-C437-940436FC399F}"/>
              </a:ext>
            </a:extLst>
          </p:cNvPr>
          <p:cNvCxnSpPr/>
          <p:nvPr/>
        </p:nvCxnSpPr>
        <p:spPr>
          <a:xfrm flipV="1">
            <a:off x="6338888" y="4595813"/>
            <a:ext cx="1389062" cy="4445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E28429B-EF83-E9F0-EE56-20E3D705BE78}"/>
              </a:ext>
            </a:extLst>
          </p:cNvPr>
          <p:cNvCxnSpPr/>
          <p:nvPr/>
        </p:nvCxnSpPr>
        <p:spPr>
          <a:xfrm flipH="1" flipV="1">
            <a:off x="5653088" y="4014788"/>
            <a:ext cx="660400" cy="10255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06AE514-3C19-D2D0-7CAD-6AC14F1331DC}"/>
              </a:ext>
            </a:extLst>
          </p:cNvPr>
          <p:cNvCxnSpPr/>
          <p:nvPr/>
        </p:nvCxnSpPr>
        <p:spPr>
          <a:xfrm flipH="1">
            <a:off x="5072063" y="5095875"/>
            <a:ext cx="1227137" cy="8223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5615E45-EAF5-E4AF-679E-74D7E4E7A057}"/>
              </a:ext>
            </a:extLst>
          </p:cNvPr>
          <p:cNvCxnSpPr/>
          <p:nvPr/>
        </p:nvCxnSpPr>
        <p:spPr>
          <a:xfrm>
            <a:off x="6345238" y="5099050"/>
            <a:ext cx="1781175" cy="13430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4666209D-0B2C-3BE2-6552-1B24D64D8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BD64EB-B6D1-1CDA-3B99-9DBFF65E0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0863" y="6375400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3CE2D5E-215A-5F4F-9263-1A0619A7BD58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395" name="TextBox 7">
            <a:extLst>
              <a:ext uri="{FF2B5EF4-FFF2-40B4-BE49-F238E27FC236}">
                <a16:creationId xmlns:a16="http://schemas.microsoft.com/office/drawing/2014/main" id="{D20DC83F-6D9C-687B-C24A-05401729C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71513"/>
            <a:ext cx="801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the Lower Boundary Condition</a:t>
            </a:r>
          </a:p>
        </p:txBody>
      </p:sp>
      <p:sp>
        <p:nvSpPr>
          <p:cNvPr id="59396" name="TextBox 16">
            <a:extLst>
              <a:ext uri="{FF2B5EF4-FFF2-40B4-BE49-F238E27FC236}">
                <a16:creationId xmlns:a16="http://schemas.microsoft.com/office/drawing/2014/main" id="{E03FD0A1-E086-4DC6-9DBF-CAEFDEDA9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sweeping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spatial grid for all directions in Octants 5 to 8 (Lower Hemisphere) –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lower boundary condition</a:t>
            </a:r>
          </a:p>
        </p:txBody>
      </p:sp>
      <p:pic>
        <p:nvPicPr>
          <p:cNvPr id="59397" name="Picture 5">
            <a:extLst>
              <a:ext uri="{FF2B5EF4-FFF2-40B4-BE49-F238E27FC236}">
                <a16:creationId xmlns:a16="http://schemas.microsoft.com/office/drawing/2014/main" id="{D70DCE16-8B71-7CA6-936A-9CBC07004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" y="2708275"/>
            <a:ext cx="69215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DDD793F6-314E-F582-0942-94F9425BE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1C16BC3-EA37-3C8F-9B87-8106AACA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0863" y="6375400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566E502-AAFC-AC44-9137-063F1BF65BF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3" name="TextBox 7">
            <a:extLst>
              <a:ext uri="{FF2B5EF4-FFF2-40B4-BE49-F238E27FC236}">
                <a16:creationId xmlns:a16="http://schemas.microsoft.com/office/drawing/2014/main" id="{628B93BD-5304-F941-4956-6DE4AEE92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71513"/>
            <a:ext cx="801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Sweeping for Directions in Octants 1 to 4</a:t>
            </a:r>
          </a:p>
        </p:txBody>
      </p:sp>
      <p:sp>
        <p:nvSpPr>
          <p:cNvPr id="61444" name="TextBox 16">
            <a:extLst>
              <a:ext uri="{FF2B5EF4-FFF2-40B4-BE49-F238E27FC236}">
                <a16:creationId xmlns:a16="http://schemas.microsoft.com/office/drawing/2014/main" id="{3A138A0A-C3D9-206E-3E6C-BF562FAFE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1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Sweep up, left to right, back to front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2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Sweep up, right to left, back to front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3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Sweep up, right to left, front to back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4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Sweep up, left to right, front to back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Thus,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with all directions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the sphere!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F5099DC-7295-1178-62DF-51760E11A0AA}"/>
              </a:ext>
            </a:extLst>
          </p:cNvPr>
          <p:cNvCxnSpPr/>
          <p:nvPr/>
        </p:nvCxnSpPr>
        <p:spPr>
          <a:xfrm flipV="1">
            <a:off x="6313488" y="3408363"/>
            <a:ext cx="0" cy="326231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DC567B1-5A50-1F58-AF13-FDC6BD6178CD}"/>
              </a:ext>
            </a:extLst>
          </p:cNvPr>
          <p:cNvCxnSpPr/>
          <p:nvPr/>
        </p:nvCxnSpPr>
        <p:spPr>
          <a:xfrm>
            <a:off x="4097338" y="5070475"/>
            <a:ext cx="421957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47" name="Rectangle 49">
            <a:extLst>
              <a:ext uri="{FF2B5EF4-FFF2-40B4-BE49-F238E27FC236}">
                <a16:creationId xmlns:a16="http://schemas.microsoft.com/office/drawing/2014/main" id="{DA18757F-3B28-D36F-CBA0-DCFD8CBEB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5040313"/>
            <a:ext cx="422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8" name="Rectangle 52">
            <a:extLst>
              <a:ext uri="{FF2B5EF4-FFF2-40B4-BE49-F238E27FC236}">
                <a16:creationId xmlns:a16="http://schemas.microsoft.com/office/drawing/2014/main" id="{8D829EA5-FEA5-E8FC-1D71-696264565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75" y="5040313"/>
            <a:ext cx="4746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9" name="Rectangle 53">
            <a:extLst>
              <a:ext uri="{FF2B5EF4-FFF2-40B4-BE49-F238E27FC236}">
                <a16:creationId xmlns:a16="http://schemas.microsoft.com/office/drawing/2014/main" id="{4D0BB3FB-8934-541B-4AD9-BD58B6C49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488" y="3768725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0" name="Rectangle 54">
            <a:extLst>
              <a:ext uri="{FF2B5EF4-FFF2-40B4-BE49-F238E27FC236}">
                <a16:creationId xmlns:a16="http://schemas.microsoft.com/office/drawing/2014/main" id="{3781034C-C784-D6F6-27C7-71906CB13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488" y="6003925"/>
            <a:ext cx="439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1" name="TextBox 73">
            <a:extLst>
              <a:ext uri="{FF2B5EF4-FFF2-40B4-BE49-F238E27FC236}">
                <a16:creationId xmlns:a16="http://schemas.microsoft.com/office/drawing/2014/main" id="{28D0DEEF-8857-1B50-D97B-64ACB6F9F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2313" y="4886325"/>
            <a:ext cx="3508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61452" name="TextBox 74">
            <a:extLst>
              <a:ext uri="{FF2B5EF4-FFF2-40B4-BE49-F238E27FC236}">
                <a16:creationId xmlns:a16="http://schemas.microsoft.com/office/drawing/2014/main" id="{E7A6DD0C-CA46-2D04-E928-23ABB3065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7275" y="2962275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61453" name="TextBox 75">
            <a:extLst>
              <a:ext uri="{FF2B5EF4-FFF2-40B4-BE49-F238E27FC236}">
                <a16:creationId xmlns:a16="http://schemas.microsoft.com/office/drawing/2014/main" id="{2DF3591C-8F50-6752-1541-E0CAA9611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0088" y="4087813"/>
            <a:ext cx="481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O1</a:t>
            </a:r>
          </a:p>
        </p:txBody>
      </p:sp>
      <p:sp>
        <p:nvSpPr>
          <p:cNvPr id="61454" name="TextBox 76">
            <a:extLst>
              <a:ext uri="{FF2B5EF4-FFF2-40B4-BE49-F238E27FC236}">
                <a16:creationId xmlns:a16="http://schemas.microsoft.com/office/drawing/2014/main" id="{BD48DFE5-169F-8AE3-860B-A68528148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4087813"/>
            <a:ext cx="47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O2</a:t>
            </a:r>
          </a:p>
        </p:txBody>
      </p:sp>
      <p:sp>
        <p:nvSpPr>
          <p:cNvPr id="61455" name="TextBox 77">
            <a:extLst>
              <a:ext uri="{FF2B5EF4-FFF2-40B4-BE49-F238E27FC236}">
                <a16:creationId xmlns:a16="http://schemas.microsoft.com/office/drawing/2014/main" id="{FF76BA54-1877-D112-E912-EBD9DF9C8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525" y="5942013"/>
            <a:ext cx="47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O3</a:t>
            </a:r>
          </a:p>
        </p:txBody>
      </p:sp>
      <p:sp>
        <p:nvSpPr>
          <p:cNvPr id="61456" name="TextBox 78">
            <a:extLst>
              <a:ext uri="{FF2B5EF4-FFF2-40B4-BE49-F238E27FC236}">
                <a16:creationId xmlns:a16="http://schemas.microsoft.com/office/drawing/2014/main" id="{9664B504-556D-7ED7-42F2-597B11C0E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788" y="5918200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O4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E45316D-5DDA-8A91-CDD3-6497E81FF5E1}"/>
              </a:ext>
            </a:extLst>
          </p:cNvPr>
          <p:cNvCxnSpPr/>
          <p:nvPr/>
        </p:nvCxnSpPr>
        <p:spPr>
          <a:xfrm flipV="1">
            <a:off x="6338888" y="4595813"/>
            <a:ext cx="1389062" cy="4445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600A082-4FF0-CAD8-D2B1-0E560E338337}"/>
              </a:ext>
            </a:extLst>
          </p:cNvPr>
          <p:cNvCxnSpPr/>
          <p:nvPr/>
        </p:nvCxnSpPr>
        <p:spPr>
          <a:xfrm flipH="1" flipV="1">
            <a:off x="5653088" y="4014788"/>
            <a:ext cx="660400" cy="10255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A198821-093C-B233-9B8B-A8155AE6B6D7}"/>
              </a:ext>
            </a:extLst>
          </p:cNvPr>
          <p:cNvCxnSpPr/>
          <p:nvPr/>
        </p:nvCxnSpPr>
        <p:spPr>
          <a:xfrm flipH="1">
            <a:off x="5072063" y="5095875"/>
            <a:ext cx="1227137" cy="8223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2623105-7677-1330-79C8-20FB01AFB84D}"/>
              </a:ext>
            </a:extLst>
          </p:cNvPr>
          <p:cNvCxnSpPr/>
          <p:nvPr/>
        </p:nvCxnSpPr>
        <p:spPr>
          <a:xfrm>
            <a:off x="6345238" y="5099050"/>
            <a:ext cx="1781175" cy="13430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BA55E513-0FCA-FFFD-6924-2040E6CB1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D97375F-57BF-18D8-A9EE-612BADFF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0863" y="6375400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F5EEF02-061C-C749-BDD7-2D2504076DE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1" name="TextBox 7">
            <a:extLst>
              <a:ext uri="{FF2B5EF4-FFF2-40B4-BE49-F238E27FC236}">
                <a16:creationId xmlns:a16="http://schemas.microsoft.com/office/drawing/2014/main" id="{32E3D8A3-F34D-8BE5-91EA-4BD121A00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71513"/>
            <a:ext cx="801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Iterate Until Convergence on the Multiple Scattering Source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206ADA61-22F8-83E4-5EF6-467C48B1F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" y="1352550"/>
            <a:ext cx="8653463" cy="5022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(during the first iteration, S = 0)</a:t>
            </a:r>
          </a:p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source J as Q + S (Q is known as I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known)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directions in Octants 5 to 8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boundary condition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directions in Octants 1 to 4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you have an estimate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cell-edge and cell-center collided intensities for all cells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convergence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</a:t>
            </a:r>
            <a:r>
              <a:rPr lang="en-US" altLang="en-US" sz="1800" dirty="0">
                <a:solidFill>
                  <a:srgbClr val="273B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iteration converged stop, else go back to Step (1)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4328AFE6-1DC8-BAD7-3799-1F604D3F1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06: 3D Discrete Ordinates Method – (Cont.)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EE9513E-46F3-D475-4AD2-AB911C42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0863" y="6375400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95F7495-C1E8-A448-B322-F3688828451D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39" name="TextBox 7">
            <a:extLst>
              <a:ext uri="{FF2B5EF4-FFF2-40B4-BE49-F238E27FC236}">
                <a16:creationId xmlns:a16="http://schemas.microsoft.com/office/drawing/2014/main" id="{CD539DE3-31BA-9738-8106-AA1664C70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71513"/>
            <a:ext cx="801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Issues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F0C68EEA-69BF-561A-0556-1C4B6B281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1089025"/>
            <a:ext cx="8653463" cy="5700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need to implement methods to </a:t>
            </a:r>
            <a:r>
              <a:rPr lang="en-US" altLang="en-US" sz="1800" dirty="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iteration</a:t>
            </a:r>
          </a:p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r>
              <a:rPr lang="en-US" altLang="en-US" sz="1800" dirty="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energy conservation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 If </a:t>
            </a:r>
            <a:r>
              <a:rPr lang="en-US" altLang="en-US" sz="1800" dirty="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are large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method may fail or yield distorted effects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If </a:t>
            </a:r>
            <a:r>
              <a:rPr lang="en-US" altLang="en-US" sz="1800" dirty="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many cells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calculations take too long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en-US" altLang="en-US" sz="1800" dirty="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code first by having it do the 1D problem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en-US" altLang="en-US" sz="1800" dirty="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interpolation scheme to obtain intensities in non quadrature direction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Myneni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R.B., et al., 1990. Radiative transfer in three dimensional leaf canopies. Transport Theory and Statistical Physics, 19:205-250.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Levashova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2018.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a Three-Dimensional Radiative Transfer Model to Retrieve the Species Composition of a Mixed Forest Stand from Canopy Reflected Radiation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2018,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(10), 1661;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https://doi.org/10.3390/rs10101661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10691</TotalTime>
  <Words>2338</Words>
  <Application>Microsoft Macintosh PowerPoint</Application>
  <PresentationFormat>On-screen Show (4:3)</PresentationFormat>
  <Paragraphs>416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</vt:lpstr>
      <vt:lpstr>Times New Roman</vt:lpstr>
      <vt:lpstr>Office Theme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  <vt:lpstr>PHYSICAL MODELS IN REMOTE SENSING Chapter 04 – Part 06: 3D Discrete Ordinates Method – (Cont.)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984</cp:revision>
  <cp:lastPrinted>2019-09-03T16:52:39Z</cp:lastPrinted>
  <dcterms:created xsi:type="dcterms:W3CDTF">2012-01-16T18:47:06Z</dcterms:created>
  <dcterms:modified xsi:type="dcterms:W3CDTF">2026-04-11T20:00:52Z</dcterms:modified>
</cp:coreProperties>
</file>