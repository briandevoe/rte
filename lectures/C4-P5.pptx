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compatMode="1" strictFirstAndLastChars="0" saveSubsetFonts="1">
  <p:sldMasterIdLst>
    <p:sldMasterId id="2147483660" r:id="rId1"/>
  </p:sldMasterIdLst>
  <p:notesMasterIdLst>
    <p:notesMasterId r:id="rId17"/>
  </p:notesMasterIdLst>
  <p:sldIdLst>
    <p:sldId id="762" r:id="rId2"/>
    <p:sldId id="787" r:id="rId3"/>
    <p:sldId id="794" r:id="rId4"/>
    <p:sldId id="789" r:id="rId5"/>
    <p:sldId id="790" r:id="rId6"/>
    <p:sldId id="791" r:id="rId7"/>
    <p:sldId id="814" r:id="rId8"/>
    <p:sldId id="815" r:id="rId9"/>
    <p:sldId id="788" r:id="rId10"/>
    <p:sldId id="795" r:id="rId11"/>
    <p:sldId id="796" r:id="rId12"/>
    <p:sldId id="797" r:id="rId13"/>
    <p:sldId id="798" r:id="rId14"/>
    <p:sldId id="816" r:id="rId15"/>
    <p:sldId id="817" r:id="rId1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542">
          <p15:clr>
            <a:srgbClr val="A4A3A4"/>
          </p15:clr>
        </p15:guide>
        <p15:guide id="2" pos="7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94"/>
    <p:restoredTop sz="94660"/>
  </p:normalViewPr>
  <p:slideViewPr>
    <p:cSldViewPr snapToGrid="0">
      <p:cViewPr varScale="1">
        <p:scale>
          <a:sx n="147" d="100"/>
          <a:sy n="147" d="100"/>
        </p:scale>
        <p:origin x="1208" y="184"/>
      </p:cViewPr>
      <p:guideLst>
        <p:guide orient="horz" pos="1542"/>
        <p:guide pos="70"/>
      </p:guideLst>
    </p:cSldViewPr>
  </p:slideViewPr>
  <p:outlineViewPr>
    <p:cViewPr>
      <p:scale>
        <a:sx n="33" d="100"/>
        <a:sy n="33" d="100"/>
      </p:scale>
      <p:origin x="42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-1744" y="-12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82" name="Rectangle 2">
            <a:extLst>
              <a:ext uri="{FF2B5EF4-FFF2-40B4-BE49-F238E27FC236}">
                <a16:creationId xmlns:a16="http://schemas.microsoft.com/office/drawing/2014/main" id="{1C08C6B8-75FA-BD0E-043B-6B8805D1D99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b="1">
                <a:solidFill>
                  <a:schemeClr val="tx1"/>
                </a:solidFill>
                <a:latin typeface="Times" pitchFamily="8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34883" name="Rectangle 3">
            <a:extLst>
              <a:ext uri="{FF2B5EF4-FFF2-40B4-BE49-F238E27FC236}">
                <a16:creationId xmlns:a16="http://schemas.microsoft.com/office/drawing/2014/main" id="{C20CF0F0-A053-C031-D06C-2A960FAE412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chemeClr val="tx1"/>
                </a:solidFill>
                <a:latin typeface="Times" pitchFamily="8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02B8F0E6-DE27-16CA-6C42-53F4203CA83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885" name="Rectangle 5">
            <a:extLst>
              <a:ext uri="{FF2B5EF4-FFF2-40B4-BE49-F238E27FC236}">
                <a16:creationId xmlns:a16="http://schemas.microsoft.com/office/drawing/2014/main" id="{19C45B0E-626B-67FB-5437-10C9F6983A1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34886" name="Rectangle 6">
            <a:extLst>
              <a:ext uri="{FF2B5EF4-FFF2-40B4-BE49-F238E27FC236}">
                <a16:creationId xmlns:a16="http://schemas.microsoft.com/office/drawing/2014/main" id="{C5C9187B-0C82-4D18-6C0F-BCC403B2724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b="1">
                <a:solidFill>
                  <a:schemeClr val="tx1"/>
                </a:solidFill>
                <a:latin typeface="Times" pitchFamily="8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34887" name="Rectangle 7">
            <a:extLst>
              <a:ext uri="{FF2B5EF4-FFF2-40B4-BE49-F238E27FC236}">
                <a16:creationId xmlns:a16="http://schemas.microsoft.com/office/drawing/2014/main" id="{ECC3EDE7-4064-AF4E-409E-02DBE6FF78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D7286E04-67CA-1146-AF43-E01E5B33ED2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-110" charset="-128"/>
        <a:cs typeface="ＭＳ Ｐゴシック" pitchFamily="-110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>
            <a:extLst>
              <a:ext uri="{FF2B5EF4-FFF2-40B4-BE49-F238E27FC236}">
                <a16:creationId xmlns:a16="http://schemas.microsoft.com/office/drawing/2014/main" id="{8CB65F07-EEB6-F98E-636A-65346DE16A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D58FBB3-69BE-A24C-8A25-E91674710D24}" type="slidenum">
              <a:rPr lang="en-US" altLang="en-US" smtClean="0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11DCBF98-BD5F-A27D-4B67-7D1D3D212F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D30F5FC5-C7C4-F273-64CA-469388AB9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>
            <a:extLst>
              <a:ext uri="{FF2B5EF4-FFF2-40B4-BE49-F238E27FC236}">
                <a16:creationId xmlns:a16="http://schemas.microsoft.com/office/drawing/2014/main" id="{72F87131-3FDD-3238-DF4C-959262D2B3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F9A9BD1-2041-AE47-B56B-F6888261ABFF}" type="slidenum">
              <a:rPr lang="en-US" altLang="en-US" smtClean="0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62705BEB-C6FB-B52F-6D8F-7ED89805C8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2119963C-7268-FDE1-9C6D-EC5FAB85E7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>
            <a:extLst>
              <a:ext uri="{FF2B5EF4-FFF2-40B4-BE49-F238E27FC236}">
                <a16:creationId xmlns:a16="http://schemas.microsoft.com/office/drawing/2014/main" id="{E8703467-458E-7E95-C8A5-2EC0F5272D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A8CB232-C074-C340-938A-9A4FE09F84B5}" type="slidenum">
              <a:rPr lang="en-US" altLang="en-US" smtClean="0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B64A68D7-A674-4E4F-7536-38666B9AE9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6470A1B1-15EB-C68E-B794-C722B3A28D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F865C382-67A8-077C-F0E6-E155A9A0C2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E8AC1A2-6CD9-1747-AC1A-C04690CD6726}" type="slidenum">
              <a:rPr lang="en-US" altLang="en-US" smtClean="0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C3B0C429-DBCA-ACD9-5D45-EF8CABECB1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D91767E8-379E-DE80-B1C1-6FF0CFE66F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>
            <a:extLst>
              <a:ext uri="{FF2B5EF4-FFF2-40B4-BE49-F238E27FC236}">
                <a16:creationId xmlns:a16="http://schemas.microsoft.com/office/drawing/2014/main" id="{8438FA4B-4518-9F63-92AE-01A48171FA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191022D-349F-2A47-85D0-010A11CCF55E}" type="slidenum">
              <a:rPr lang="en-US" altLang="en-US" smtClean="0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0A1E0AFD-3C5C-938B-F4BF-D736DD8A24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47201A03-B095-63EB-7301-C1AC346580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>
            <a:extLst>
              <a:ext uri="{FF2B5EF4-FFF2-40B4-BE49-F238E27FC236}">
                <a16:creationId xmlns:a16="http://schemas.microsoft.com/office/drawing/2014/main" id="{36F3A181-4CD6-A181-1357-B8AF96F687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FECBB38-4638-C44C-BD64-E93ADADC5EC5}" type="slidenum">
              <a:rPr lang="en-US" altLang="en-US" smtClean="0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BCF1DDCD-1671-1FB4-EEFE-4F596A2312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560818D8-A713-4FF6-CD33-0DB883FE09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>
            <a:extLst>
              <a:ext uri="{FF2B5EF4-FFF2-40B4-BE49-F238E27FC236}">
                <a16:creationId xmlns:a16="http://schemas.microsoft.com/office/drawing/2014/main" id="{EE761DF0-C0F0-A633-EB25-69B85DCBA6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9B6BC8E-57F9-6B4B-8213-089E388BD0D4}" type="slidenum">
              <a:rPr lang="en-US" altLang="en-US" smtClean="0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F2B05393-F861-50C5-AB73-E3E83F1C6C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CC7B554F-FD1F-A096-7BF2-4D7743CB65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64EBD959-68AA-6EFA-6DB9-03C910E2AD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75BA225-CB02-A143-ABC9-3255A581A87E}" type="slidenum">
              <a:rPr lang="en-US" altLang="en-US" smtClean="0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FB1A94B7-33A0-32A8-3776-C26D80531C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A3A3EFA1-53AF-BCDE-0468-F051D015CB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5AF460B7-4C26-2E96-EB12-E80A50385D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1CF9BC2-7419-AA40-AB8D-78CEA47F7FF1}" type="slidenum">
              <a:rPr lang="en-US" altLang="en-US" smtClean="0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51147128-E683-A2F8-E1E0-4141112088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B3FC6267-3BEC-7570-E8D1-EAF98496D9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>
            <a:extLst>
              <a:ext uri="{FF2B5EF4-FFF2-40B4-BE49-F238E27FC236}">
                <a16:creationId xmlns:a16="http://schemas.microsoft.com/office/drawing/2014/main" id="{D8AE1570-BD4B-0C85-932B-F6191E104D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FF9F317-D789-A342-AE08-26E3BC828FC5}" type="slidenum">
              <a:rPr lang="en-US" altLang="en-US" smtClean="0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16A881F1-C5CC-CDB6-58F9-199DCB807A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7623E30D-6DF8-5D11-C471-9CF20FA7A4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>
            <a:extLst>
              <a:ext uri="{FF2B5EF4-FFF2-40B4-BE49-F238E27FC236}">
                <a16:creationId xmlns:a16="http://schemas.microsoft.com/office/drawing/2014/main" id="{F2C31B73-514E-58CE-A8F6-85F215CD22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1E6A0AC-B3C1-AD48-838D-A3FE0CBC97C9}" type="slidenum">
              <a:rPr lang="en-US" altLang="en-US" smtClean="0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3E905910-F41E-DBA7-5FC8-BEA49D3A45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99DF80C2-141E-6D17-3DC1-F86646BBFD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>
            <a:extLst>
              <a:ext uri="{FF2B5EF4-FFF2-40B4-BE49-F238E27FC236}">
                <a16:creationId xmlns:a16="http://schemas.microsoft.com/office/drawing/2014/main" id="{CB9C0881-DD99-5FC8-5B73-37E9B49617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EBCA09A-D00C-2A4C-91FE-66CF27516E11}" type="slidenum">
              <a:rPr lang="en-US" altLang="en-US" smtClean="0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C3D778C1-EC0B-7A8D-DBA0-9F1D8A1CCD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2D5A7DBE-13B7-CE5A-4551-20CF7049EA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:a16="http://schemas.microsoft.com/office/drawing/2014/main" id="{3879403A-A078-370B-15F7-D9A8EFF79D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FF537B5-DB39-484A-B484-BD70A85C2667}" type="slidenum">
              <a:rPr lang="en-US" altLang="en-US" smtClean="0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F25D861C-465C-9A91-44CB-69D32975FD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09BBE341-FF3B-DAB4-92B0-BAFE3C1181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>
            <a:extLst>
              <a:ext uri="{FF2B5EF4-FFF2-40B4-BE49-F238E27FC236}">
                <a16:creationId xmlns:a16="http://schemas.microsoft.com/office/drawing/2014/main" id="{B5FF9501-1444-969E-3D9A-C3BE01C5EF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5BEC3FE-68FC-C941-9783-574CD0882219}" type="slidenum">
              <a:rPr lang="en-US" altLang="en-US" smtClean="0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2FF373A8-2726-5237-6748-142E307DE8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6CABB02F-15D6-6CC8-0E82-1293ECBB38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>
            <a:extLst>
              <a:ext uri="{FF2B5EF4-FFF2-40B4-BE49-F238E27FC236}">
                <a16:creationId xmlns:a16="http://schemas.microsoft.com/office/drawing/2014/main" id="{3263F6A5-CA01-52E5-B054-87F75769AC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A01413B-971F-E042-8244-2400F7C1C8D6}" type="slidenum">
              <a:rPr lang="en-US" altLang="en-US" smtClean="0"/>
              <a:pPr>
                <a:spcBef>
                  <a:spcPct val="0"/>
                </a:spcBef>
              </a:pPr>
              <a:t>15</a:t>
            </a:fld>
            <a:endParaRPr lang="en-US" altLang="en-US"/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ABD1C99B-9CB8-4A80-C485-B762AFB47D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4A7189C1-9826-E9D1-52D5-C2CECBE269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C027F-65FF-9CBB-AEC2-53C6B25B0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59BB05-DBD4-5B4D-BBD1-5E4309C2919B}" type="datetime1">
              <a:rPr lang="en-US"/>
              <a:pPr>
                <a:defRPr/>
              </a:pPr>
              <a:t>4/11/26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EF15A3-FB57-A2E4-23AC-0BFCE98B5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24A32F-6E83-7218-C946-1A576D9E8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31A2F-DE7A-BF4B-AA46-2845C475C5A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5760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9F159-F43F-88ED-8F1B-472071E06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632E93-2877-4843-9E9E-2700F12DF3CB}" type="datetime1">
              <a:rPr lang="en-US"/>
              <a:pPr>
                <a:defRPr/>
              </a:pPr>
              <a:t>4/11/26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BA8D8-03A9-8889-F9F3-0CB405DFD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6412D-0451-A787-3FD4-4D2FE509B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A28299-F0A6-8A45-89A5-563B0CDF752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8549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F99AB-6263-AF10-548E-2C3041599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D09217-D649-0748-B322-5C404E4892EB}" type="datetime1">
              <a:rPr lang="en-US"/>
              <a:pPr>
                <a:defRPr/>
              </a:pPr>
              <a:t>4/11/26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892BE-CFBD-06A6-C85C-50BB2E6A5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CFEE4-3A52-5D36-FC9E-6E12AF150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5D1909-4F00-9945-97F7-C43EE41127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6153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09BF7DF-5A54-33E8-BCA7-0C412B04C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C54093-FB3D-574A-A790-6641D170761B}" type="datetime1">
              <a:rPr lang="en-US"/>
              <a:pPr>
                <a:defRPr/>
              </a:pPr>
              <a:t>4/11/26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52F07C8-8163-7918-5079-F00660A66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F4B5EB5-66F9-9935-163B-7A1E28788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C82685-35E1-0842-B52A-B5E9439644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5702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5793095-B541-5DFE-8B1C-2A8F28BBF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6D0AE7-5E01-1C4E-89A2-3295CB0918B8}" type="datetime1">
              <a:rPr lang="en-US"/>
              <a:pPr>
                <a:defRPr/>
              </a:pPr>
              <a:t>4/11/26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06842C0-6910-2911-1CF3-FC87973C3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D77C53A-EEA0-563A-FE25-11FD796C2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203E21-E678-0F4C-8CB5-531CB5B6C16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4336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7B1728D-D666-3D6D-E2E9-2FBF06F8B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70921E-40C7-B046-95E7-A57CD17632C7}" type="datetime1">
              <a:rPr lang="en-US"/>
              <a:pPr>
                <a:defRPr/>
              </a:pPr>
              <a:t>4/11/26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5CCB161-948F-F6DF-F40B-DEFC9C938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1513BA1-8E1A-B843-B237-125E5BA91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2FA376-E87A-D246-9330-00E25680694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4520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FF20AEE-6099-F154-7A5F-F97B50D65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B9C48F-61F2-D94F-B2D2-3A19F3132A7A}" type="datetime1">
              <a:rPr lang="en-US"/>
              <a:pPr>
                <a:defRPr/>
              </a:pPr>
              <a:t>4/11/26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A2A0509-7188-C7E6-EEDE-9A73A8ABD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E1EC524-ECD6-D9F5-E61A-B91D0756C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C68D6-BCE9-5B45-83A5-3827970BBE1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5600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BF951BB-72A2-1917-2EB8-71D35DEB4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333E76-C34B-AC47-9012-56B44581815C}" type="datetime1">
              <a:rPr lang="en-US"/>
              <a:pPr>
                <a:defRPr/>
              </a:pPr>
              <a:t>4/11/26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8B2A191-7335-6697-8958-EC62B6C74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A4DF06D-0065-EE34-0EFA-B01988C7B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46E916-5018-9E48-A2D9-D424C41C525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2659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B6774E8-D5BD-6F5D-F1E1-3D1F05844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F724D8-A462-1147-914D-676126572B81}" type="datetime1">
              <a:rPr lang="en-US"/>
              <a:pPr>
                <a:defRPr/>
              </a:pPr>
              <a:t>4/11/26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714267C-3D08-742F-125A-1CD708396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9261DA9-825B-2563-9E76-7889E2E91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D0F926-42BB-0245-9973-8FC16B259D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0033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2829CD-B1C6-751C-7157-9BDDD78FF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5F3712-D9DE-7148-B3CB-AAF68148CFA1}" type="datetime1">
              <a:rPr lang="en-US"/>
              <a:pPr>
                <a:defRPr/>
              </a:pPr>
              <a:t>4/11/26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24BC6-86CA-6F90-19A6-A1D02F8C7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8F4F4-0772-A0BC-B20A-47C9A5332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932F3F-356F-974D-AEFF-9F153C072D8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6119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C3ACE-944E-C570-65A4-5AC991B90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B66251-52AA-234C-BC37-B1456C8B1010}" type="datetime1">
              <a:rPr lang="en-US"/>
              <a:pPr>
                <a:defRPr/>
              </a:pPr>
              <a:t>4/11/26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99F2E-CE29-F0F9-B124-97BF4E48A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8C4B6-B295-4415-DDEF-31DFBD70E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244533-EAD0-DA40-922E-B4BAC5313E1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1020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DAB527A4-68BB-47CD-B3B7-C579D641A46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1CF19016-0BE8-A41D-69D2-67137FBFF09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4F498-85E1-B9A0-DE1F-5F459BB73D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rgbClr val="898989"/>
                </a:solidFill>
                <a:latin typeface="Times New Roman" pitchFamily="-111" charset="0"/>
                <a:ea typeface="ＭＳ Ｐゴシック" pitchFamily="-111" charset="-128"/>
                <a:cs typeface="Arial" charset="0"/>
              </a:defRPr>
            </a:lvl1pPr>
          </a:lstStyle>
          <a:p>
            <a:pPr>
              <a:defRPr/>
            </a:pPr>
            <a:fld id="{D2318261-D592-4F41-8F7D-0C188085AF09}" type="datetime1">
              <a:rPr lang="en-US"/>
              <a:pPr>
                <a:defRPr/>
              </a:pPr>
              <a:t>4/11/26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2D284-A2FD-B433-ED41-315853EB92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5FCF3-CE34-7921-A17C-D7C343D8DA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>
                <a:solidFill>
                  <a:srgbClr val="898989"/>
                </a:solidFill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CFE125AC-B845-B54B-A0B8-6C10D9582A3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  <a:cs typeface="ＭＳ Ｐゴシック" pitchFamily="-11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  <a:cs typeface="ＭＳ Ｐゴシック" pitchFamily="-11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  <a:cs typeface="ＭＳ Ｐゴシック" pitchFamily="-11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  <a:cs typeface="ＭＳ Ｐゴシック" pitchFamily="-110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57D03BDE-C714-A502-1063-AD2D6B77C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05: 3D Discrete Ordinates Method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9C48A890-2743-F59F-9FA8-9AFD5F05C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FA5472A8-5CC2-6A4C-8F66-567870421661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39" name="TextBox 7">
            <a:extLst>
              <a:ext uri="{FF2B5EF4-FFF2-40B4-BE49-F238E27FC236}">
                <a16:creationId xmlns:a16="http://schemas.microsoft.com/office/drawing/2014/main" id="{BCD75F26-A492-38DB-06A5-E9B327EFE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1014413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a 3D Problem?</a:t>
            </a:r>
          </a:p>
        </p:txBody>
      </p:sp>
      <p:sp>
        <p:nvSpPr>
          <p:cNvPr id="14340" name="TextBox 7">
            <a:extLst>
              <a:ext uri="{FF2B5EF4-FFF2-40B4-BE49-F238E27FC236}">
                <a16:creationId xmlns:a16="http://schemas.microsoft.com/office/drawing/2014/main" id="{4FFD399D-3380-B497-EB7A-BC60521E1F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1774825"/>
            <a:ext cx="8850312" cy="37115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102870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indent="-342900">
              <a:buFont typeface="Arial" panose="020B0604020202020204" pitchFamily="34" charset="0"/>
              <a:buAutoNum type="arabicParenR"/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vegetation canopy is </a:t>
            </a:r>
            <a:r>
              <a:rPr lang="en-US" altLang="en-US" sz="1800" dirty="0">
                <a:solidFill>
                  <a:srgbClr val="262D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horizontally &amp; </a:t>
            </a: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solidFill>
                  <a:srgbClr val="262D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vertically heterogeneous</a:t>
            </a:r>
          </a:p>
          <a:p>
            <a:pPr>
              <a:buFont typeface="Arial" panose="020B0604020202020204" pitchFamily="34" charset="0"/>
              <a:buNone/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defRPr/>
            </a:pPr>
            <a:r>
              <a:rPr lang="en-US" altLang="en-US" sz="1800" dirty="0">
                <a:solidFill>
                  <a:srgbClr val="1D31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 sections vary in 3 dimensions</a:t>
            </a:r>
          </a:p>
          <a:p>
            <a:pPr>
              <a:buFont typeface="Arial" panose="020B0604020202020204" pitchFamily="34" charset="0"/>
              <a:buNone/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The </a:t>
            </a:r>
            <a:r>
              <a:rPr lang="en-US" altLang="en-US" sz="1800" dirty="0">
                <a:solidFill>
                  <a:srgbClr val="1D31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incident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radiation field varies </a:t>
            </a:r>
            <a:r>
              <a:rPr lang="en-US" altLang="en-US" sz="1800" dirty="0">
                <a:solidFill>
                  <a:srgbClr val="1D31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spatially</a:t>
            </a:r>
          </a:p>
          <a:p>
            <a:pPr>
              <a:buFont typeface="Arial" panose="020B0604020202020204" pitchFamily="34" charset="0"/>
              <a:buNone/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Radiation reflected by the </a:t>
            </a:r>
            <a:r>
              <a:rPr lang="en-US" altLang="en-US" sz="1800" dirty="0">
                <a:solidFill>
                  <a:srgbClr val="1D31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surface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below the canopy varies </a:t>
            </a:r>
            <a:r>
              <a:rPr lang="en-US" altLang="en-US" sz="1800" dirty="0">
                <a:solidFill>
                  <a:srgbClr val="1D31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spatially</a:t>
            </a:r>
          </a:p>
          <a:p>
            <a:pPr>
              <a:buFont typeface="Arial" panose="020B0604020202020204" pitchFamily="34" charset="0"/>
              <a:buNone/>
              <a:defRPr/>
            </a:pPr>
            <a:endParaRPr lang="en-US" altLang="en-US" sz="1800" dirty="0">
              <a:solidFill>
                <a:srgbClr val="1D31F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Thus, the radiation field (within and exiting the canopy) </a:t>
            </a:r>
            <a:r>
              <a:rPr lang="en-US" altLang="en-US" sz="1800" dirty="0">
                <a:solidFill>
                  <a:srgbClr val="1D31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varies spatially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resolving this requires </a:t>
            </a:r>
            <a:r>
              <a:rPr lang="en-US" altLang="en-US" sz="1800" dirty="0">
                <a:solidFill>
                  <a:srgbClr val="223A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of the 3D RTE</a:t>
            </a:r>
          </a:p>
        </p:txBody>
      </p:sp>
      <p:pic>
        <p:nvPicPr>
          <p:cNvPr id="14341" name="Picture 6" descr="Image result for tree canopies">
            <a:extLst>
              <a:ext uri="{FF2B5EF4-FFF2-40B4-BE49-F238E27FC236}">
                <a16:creationId xmlns:a16="http://schemas.microsoft.com/office/drawing/2014/main" id="{38940522-2A93-29B5-0FFE-3C982EB400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7725" y="895350"/>
            <a:ext cx="4432300" cy="294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D46482B3-5997-943D-24A1-9A5309D7A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05: 3D Discrete Ordinates Method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876CF7D6-9623-ACBA-3882-12872B647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6D509E45-8D21-2245-854F-F3C602C8BB79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2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387" name="TextBox 7">
            <a:extLst>
              <a:ext uri="{FF2B5EF4-FFF2-40B4-BE49-F238E27FC236}">
                <a16:creationId xmlns:a16="http://schemas.microsoft.com/office/drawing/2014/main" id="{7BEA52F6-C82D-E584-222F-6F5DAF9EE9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38" y="798513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3D Canopy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0ACAD2C-5243-18BC-0B7F-400B3C1CE4F7}"/>
              </a:ext>
            </a:extLst>
          </p:cNvPr>
          <p:cNvCxnSpPr/>
          <p:nvPr/>
        </p:nvCxnSpPr>
        <p:spPr>
          <a:xfrm flipV="1">
            <a:off x="4748213" y="2725738"/>
            <a:ext cx="0" cy="278606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B549B21-CEC6-145B-19B1-F2E816227082}"/>
              </a:ext>
            </a:extLst>
          </p:cNvPr>
          <p:cNvCxnSpPr/>
          <p:nvPr/>
        </p:nvCxnSpPr>
        <p:spPr>
          <a:xfrm flipV="1">
            <a:off x="6219825" y="1195388"/>
            <a:ext cx="0" cy="27876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77F9C62-4EF6-02DC-B76D-50AD58317EF9}"/>
              </a:ext>
            </a:extLst>
          </p:cNvPr>
          <p:cNvCxnSpPr/>
          <p:nvPr/>
        </p:nvCxnSpPr>
        <p:spPr>
          <a:xfrm flipV="1">
            <a:off x="8605838" y="1203325"/>
            <a:ext cx="0" cy="27876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5FD49D3-E2CE-E45D-EA6D-5BFAA37B8539}"/>
              </a:ext>
            </a:extLst>
          </p:cNvPr>
          <p:cNvCxnSpPr/>
          <p:nvPr/>
        </p:nvCxnSpPr>
        <p:spPr>
          <a:xfrm flipV="1">
            <a:off x="7135813" y="2733675"/>
            <a:ext cx="0" cy="27860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B591A5D-A7CF-3F5F-095A-E8791C2C2CE4}"/>
              </a:ext>
            </a:extLst>
          </p:cNvPr>
          <p:cNvCxnSpPr/>
          <p:nvPr/>
        </p:nvCxnSpPr>
        <p:spPr>
          <a:xfrm flipV="1">
            <a:off x="4746625" y="1195388"/>
            <a:ext cx="1470025" cy="15303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BA784C1-77B0-2D8F-421E-9BAC619CF531}"/>
              </a:ext>
            </a:extLst>
          </p:cNvPr>
          <p:cNvCxnSpPr/>
          <p:nvPr/>
        </p:nvCxnSpPr>
        <p:spPr>
          <a:xfrm flipV="1">
            <a:off x="7143750" y="1222375"/>
            <a:ext cx="1470025" cy="15303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121FFF2-D942-C03F-A9AD-0B5BDC5C7A38}"/>
              </a:ext>
            </a:extLst>
          </p:cNvPr>
          <p:cNvCxnSpPr/>
          <p:nvPr/>
        </p:nvCxnSpPr>
        <p:spPr>
          <a:xfrm flipV="1">
            <a:off x="4745038" y="3976688"/>
            <a:ext cx="1470025" cy="15303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B41999E-A506-7003-80D5-35A2C12B358E}"/>
              </a:ext>
            </a:extLst>
          </p:cNvPr>
          <p:cNvCxnSpPr/>
          <p:nvPr/>
        </p:nvCxnSpPr>
        <p:spPr>
          <a:xfrm flipV="1">
            <a:off x="7135813" y="4002088"/>
            <a:ext cx="1470025" cy="15303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96" name="TextBox 19">
            <a:extLst>
              <a:ext uri="{FF2B5EF4-FFF2-40B4-BE49-F238E27FC236}">
                <a16:creationId xmlns:a16="http://schemas.microsoft.com/office/drawing/2014/main" id="{F0D33FEE-E5F5-9C7F-ED2B-33352E3E59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2100" y="1776413"/>
            <a:ext cx="6175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TOP</a:t>
            </a:r>
          </a:p>
        </p:txBody>
      </p:sp>
      <p:sp>
        <p:nvSpPr>
          <p:cNvPr id="16397" name="TextBox 35">
            <a:extLst>
              <a:ext uri="{FF2B5EF4-FFF2-40B4-BE49-F238E27FC236}">
                <a16:creationId xmlns:a16="http://schemas.microsoft.com/office/drawing/2014/main" id="{789069B9-1EA0-7F51-4675-7703045261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0625" y="3148013"/>
            <a:ext cx="889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RIGHT</a:t>
            </a:r>
          </a:p>
        </p:txBody>
      </p:sp>
      <p:sp>
        <p:nvSpPr>
          <p:cNvPr id="16398" name="TextBox 36">
            <a:extLst>
              <a:ext uri="{FF2B5EF4-FFF2-40B4-BE49-F238E27FC236}">
                <a16:creationId xmlns:a16="http://schemas.microsoft.com/office/drawing/2014/main" id="{A2FF8DC7-C820-365F-57FC-4C9CF99A57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3950" y="3357563"/>
            <a:ext cx="7350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LEFT</a:t>
            </a:r>
          </a:p>
        </p:txBody>
      </p:sp>
      <p:sp>
        <p:nvSpPr>
          <p:cNvPr id="16399" name="TextBox 37">
            <a:extLst>
              <a:ext uri="{FF2B5EF4-FFF2-40B4-BE49-F238E27FC236}">
                <a16:creationId xmlns:a16="http://schemas.microsoft.com/office/drawing/2014/main" id="{AC56A2F0-0CEF-D6FA-8D45-857962ADAA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2625" y="4648200"/>
            <a:ext cx="11557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BOTTOM</a:t>
            </a:r>
          </a:p>
        </p:txBody>
      </p:sp>
      <p:sp>
        <p:nvSpPr>
          <p:cNvPr id="16400" name="TextBox 34">
            <a:extLst>
              <a:ext uri="{FF2B5EF4-FFF2-40B4-BE49-F238E27FC236}">
                <a16:creationId xmlns:a16="http://schemas.microsoft.com/office/drawing/2014/main" id="{086F7F49-9E64-EDCA-EE47-7881306F0A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8325" y="2540000"/>
            <a:ext cx="3524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O</a:t>
            </a:r>
          </a:p>
        </p:txBody>
      </p:sp>
      <p:sp>
        <p:nvSpPr>
          <p:cNvPr id="16401" name="TextBox 38">
            <a:extLst>
              <a:ext uri="{FF2B5EF4-FFF2-40B4-BE49-F238E27FC236}">
                <a16:creationId xmlns:a16="http://schemas.microsoft.com/office/drawing/2014/main" id="{46EBC50A-D9D5-323D-F5B1-D802173CA0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3075" y="5565775"/>
            <a:ext cx="4365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X</a:t>
            </a:r>
            <a:r>
              <a:rPr lang="en-US" altLang="en-US" sz="1800" baseline="-250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16402" name="TextBox 40">
            <a:extLst>
              <a:ext uri="{FF2B5EF4-FFF2-40B4-BE49-F238E27FC236}">
                <a16:creationId xmlns:a16="http://schemas.microsoft.com/office/drawing/2014/main" id="{E5729F50-65E9-5069-C1C5-884624D2FA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8375" y="3867150"/>
            <a:ext cx="4365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Y</a:t>
            </a:r>
            <a:r>
              <a:rPr lang="en-US" altLang="en-US" sz="1800" baseline="-250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16403" name="TextBox 41">
            <a:extLst>
              <a:ext uri="{FF2B5EF4-FFF2-40B4-BE49-F238E27FC236}">
                <a16:creationId xmlns:a16="http://schemas.microsoft.com/office/drawing/2014/main" id="{6A4B5A5C-D86E-BB9C-B8F6-2BE460247B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6263" y="5307013"/>
            <a:ext cx="4111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Z</a:t>
            </a:r>
            <a:r>
              <a:rPr lang="en-US" altLang="en-US" sz="1800" baseline="-25000">
                <a:latin typeface="Times New Roman" panose="02020603050405020304" pitchFamily="18" charset="0"/>
              </a:rPr>
              <a:t>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176E506-7DD4-2A61-377A-6854C8F89D2E}"/>
              </a:ext>
            </a:extLst>
          </p:cNvPr>
          <p:cNvCxnSpPr/>
          <p:nvPr/>
        </p:nvCxnSpPr>
        <p:spPr>
          <a:xfrm>
            <a:off x="5232400" y="5749925"/>
            <a:ext cx="1303338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308352A-E7C7-EF26-180A-EF3175975F76}"/>
              </a:ext>
            </a:extLst>
          </p:cNvPr>
          <p:cNvCxnSpPr/>
          <p:nvPr/>
        </p:nvCxnSpPr>
        <p:spPr>
          <a:xfrm flipV="1">
            <a:off x="7689850" y="4419600"/>
            <a:ext cx="863600" cy="887413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5C82F11-D3FA-3AB7-D0B3-3CF652B885BA}"/>
              </a:ext>
            </a:extLst>
          </p:cNvPr>
          <p:cNvCxnSpPr/>
          <p:nvPr/>
        </p:nvCxnSpPr>
        <p:spPr>
          <a:xfrm>
            <a:off x="4549775" y="3302000"/>
            <a:ext cx="0" cy="140017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07" name="TextBox 14">
            <a:extLst>
              <a:ext uri="{FF2B5EF4-FFF2-40B4-BE49-F238E27FC236}">
                <a16:creationId xmlns:a16="http://schemas.microsoft.com/office/drawing/2014/main" id="{4631EB7B-21C5-05B5-910B-BED8284719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" y="1717675"/>
            <a:ext cx="3168650" cy="304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1D31F4"/>
                </a:solidFill>
                <a:latin typeface="Times New Roman" panose="02020603050405020304" pitchFamily="18" charset="0"/>
              </a:rPr>
              <a:t>Spatially heterogeneous canopy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0 &lt; z &lt; Z</a:t>
            </a:r>
            <a:r>
              <a:rPr lang="en-US" altLang="en-US" sz="1800" baseline="-25000">
                <a:latin typeface="Times New Roman" panose="02020603050405020304" pitchFamily="18" charset="0"/>
              </a:rPr>
              <a:t>s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0 &lt; x &lt; X</a:t>
            </a:r>
            <a:r>
              <a:rPr lang="en-US" altLang="en-US" sz="1800" baseline="-25000">
                <a:latin typeface="Times New Roman" panose="02020603050405020304" pitchFamily="18" charset="0"/>
              </a:rPr>
              <a:t>s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0 &lt; y &lt; Y</a:t>
            </a:r>
            <a:r>
              <a:rPr lang="en-US" altLang="en-US" sz="1800" baseline="-25000">
                <a:latin typeface="Times New Roman" panose="02020603050405020304" pitchFamily="18" charset="0"/>
              </a:rPr>
              <a:t>s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baseline="-250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1D31F4"/>
                </a:solidFill>
                <a:latin typeface="Times New Roman" panose="02020603050405020304" pitchFamily="18" charset="0"/>
              </a:rPr>
              <a:t>Bottom</a:t>
            </a:r>
            <a:r>
              <a:rPr lang="en-US" altLang="en-US" sz="1800">
                <a:latin typeface="Times New Roman" panose="02020603050405020304" pitchFamily="18" charset="0"/>
              </a:rPr>
              <a:t>: Reflecting + Absorbing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1D31F4"/>
                </a:solidFill>
                <a:latin typeface="Times New Roman" panose="02020603050405020304" pitchFamily="18" charset="0"/>
              </a:rPr>
              <a:t>Others</a:t>
            </a:r>
            <a:r>
              <a:rPr lang="en-US" altLang="en-US" sz="1800">
                <a:latin typeface="Times New Roman" panose="02020603050405020304" pitchFamily="18" charset="0"/>
              </a:rPr>
              <a:t>: Non-re-entrant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12AB1E5-3CCC-B9A3-72BB-C56FA7EE8F9A}"/>
              </a:ext>
            </a:extLst>
          </p:cNvPr>
          <p:cNvCxnSpPr>
            <a:cxnSpLocks/>
          </p:cNvCxnSpPr>
          <p:nvPr/>
        </p:nvCxnSpPr>
        <p:spPr>
          <a:xfrm>
            <a:off x="6219825" y="1211263"/>
            <a:ext cx="23844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2D3F3D3-8770-BA7E-3404-A8D11B1ABE6B}"/>
              </a:ext>
            </a:extLst>
          </p:cNvPr>
          <p:cNvCxnSpPr>
            <a:cxnSpLocks/>
          </p:cNvCxnSpPr>
          <p:nvPr/>
        </p:nvCxnSpPr>
        <p:spPr>
          <a:xfrm>
            <a:off x="6219825" y="4002088"/>
            <a:ext cx="23844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014A2F8-9D8C-2F5F-DB68-DDA72080635F}"/>
              </a:ext>
            </a:extLst>
          </p:cNvPr>
          <p:cNvCxnSpPr>
            <a:cxnSpLocks/>
          </p:cNvCxnSpPr>
          <p:nvPr/>
        </p:nvCxnSpPr>
        <p:spPr>
          <a:xfrm>
            <a:off x="4745038" y="2752725"/>
            <a:ext cx="23844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D65A6DD-0A23-334A-13C8-CFB41FBDB9CE}"/>
              </a:ext>
            </a:extLst>
          </p:cNvPr>
          <p:cNvCxnSpPr>
            <a:cxnSpLocks/>
          </p:cNvCxnSpPr>
          <p:nvPr/>
        </p:nvCxnSpPr>
        <p:spPr>
          <a:xfrm>
            <a:off x="4745038" y="5516563"/>
            <a:ext cx="23844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8D2F07B7-722F-058F-0730-63CE41E53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05: 3D Discrete Ordinates Method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E02065E2-8C0D-BEA4-4453-E64D89673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7DA5A59C-6C2A-DA4E-A074-3D80610C0320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3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35" name="TextBox 7">
            <a:extLst>
              <a:ext uri="{FF2B5EF4-FFF2-40B4-BE49-F238E27FC236}">
                <a16:creationId xmlns:a16="http://schemas.microsoft.com/office/drawing/2014/main" id="{E05F85DA-2908-A87E-9813-FD138BE30C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38" y="798513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3D Canopy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EABD0A0-D99F-94E4-C010-35552C606824}"/>
              </a:ext>
            </a:extLst>
          </p:cNvPr>
          <p:cNvCxnSpPr/>
          <p:nvPr/>
        </p:nvCxnSpPr>
        <p:spPr>
          <a:xfrm flipV="1">
            <a:off x="3332163" y="3444875"/>
            <a:ext cx="0" cy="27860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AB4498B-FFA3-1BC0-BEC1-2DA05013F7A2}"/>
              </a:ext>
            </a:extLst>
          </p:cNvPr>
          <p:cNvCxnSpPr/>
          <p:nvPr/>
        </p:nvCxnSpPr>
        <p:spPr>
          <a:xfrm flipV="1">
            <a:off x="5473700" y="998538"/>
            <a:ext cx="0" cy="278606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FC09980-82AA-E9D4-96BA-53ACBE342A4D}"/>
              </a:ext>
            </a:extLst>
          </p:cNvPr>
          <p:cNvCxnSpPr/>
          <p:nvPr/>
        </p:nvCxnSpPr>
        <p:spPr>
          <a:xfrm flipV="1">
            <a:off x="7861300" y="1004888"/>
            <a:ext cx="0" cy="27876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FF3D7C4-4E5A-0E9D-1CAF-6289CD9E423E}"/>
              </a:ext>
            </a:extLst>
          </p:cNvPr>
          <p:cNvCxnSpPr/>
          <p:nvPr/>
        </p:nvCxnSpPr>
        <p:spPr>
          <a:xfrm flipV="1">
            <a:off x="5719763" y="3452813"/>
            <a:ext cx="0" cy="278606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814EEFC-66B7-2934-636C-4C290952B2FE}"/>
              </a:ext>
            </a:extLst>
          </p:cNvPr>
          <p:cNvCxnSpPr/>
          <p:nvPr/>
        </p:nvCxnSpPr>
        <p:spPr>
          <a:xfrm flipV="1">
            <a:off x="3736975" y="1377950"/>
            <a:ext cx="1470025" cy="15287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35EDC27-E69A-9B89-09A9-1C046DC29102}"/>
              </a:ext>
            </a:extLst>
          </p:cNvPr>
          <p:cNvCxnSpPr/>
          <p:nvPr/>
        </p:nvCxnSpPr>
        <p:spPr>
          <a:xfrm flipV="1">
            <a:off x="6127750" y="1392238"/>
            <a:ext cx="1470025" cy="15303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57A3346-34BC-14BC-AE88-5348B75E6770}"/>
              </a:ext>
            </a:extLst>
          </p:cNvPr>
          <p:cNvCxnSpPr/>
          <p:nvPr/>
        </p:nvCxnSpPr>
        <p:spPr>
          <a:xfrm flipV="1">
            <a:off x="3735388" y="3957638"/>
            <a:ext cx="1470025" cy="15303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4C3795F-EFA6-58DB-3665-5F0240AB0AFF}"/>
              </a:ext>
            </a:extLst>
          </p:cNvPr>
          <p:cNvCxnSpPr/>
          <p:nvPr/>
        </p:nvCxnSpPr>
        <p:spPr>
          <a:xfrm flipV="1">
            <a:off x="6127750" y="3990975"/>
            <a:ext cx="1470025" cy="15303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44" name="TextBox 34">
            <a:extLst>
              <a:ext uri="{FF2B5EF4-FFF2-40B4-BE49-F238E27FC236}">
                <a16:creationId xmlns:a16="http://schemas.microsoft.com/office/drawing/2014/main" id="{6EC2F8B2-AE0A-1DE9-4618-8714018425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3244850"/>
            <a:ext cx="3508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O</a:t>
            </a:r>
          </a:p>
        </p:txBody>
      </p:sp>
      <p:sp>
        <p:nvSpPr>
          <p:cNvPr id="18445" name="TextBox 38">
            <a:extLst>
              <a:ext uri="{FF2B5EF4-FFF2-40B4-BE49-F238E27FC236}">
                <a16:creationId xmlns:a16="http://schemas.microsoft.com/office/drawing/2014/main" id="{784C9D22-38FE-35D1-FB6B-6A5DED4E5C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1325" y="6215063"/>
            <a:ext cx="4365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X</a:t>
            </a:r>
            <a:r>
              <a:rPr lang="en-US" altLang="en-US" sz="1800" baseline="-250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18446" name="TextBox 40">
            <a:extLst>
              <a:ext uri="{FF2B5EF4-FFF2-40B4-BE49-F238E27FC236}">
                <a16:creationId xmlns:a16="http://schemas.microsoft.com/office/drawing/2014/main" id="{82F6782F-85DB-76B1-626D-FA0615446B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8563" y="3824288"/>
            <a:ext cx="4365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Y</a:t>
            </a:r>
            <a:r>
              <a:rPr lang="en-US" altLang="en-US" sz="1800" baseline="-250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18447" name="TextBox 41">
            <a:extLst>
              <a:ext uri="{FF2B5EF4-FFF2-40B4-BE49-F238E27FC236}">
                <a16:creationId xmlns:a16="http://schemas.microsoft.com/office/drawing/2014/main" id="{DDF03326-530A-6143-3CBA-03893D8F13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8938" y="6067425"/>
            <a:ext cx="4095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Z</a:t>
            </a:r>
            <a:r>
              <a:rPr lang="en-US" altLang="en-US" sz="1800" baseline="-25000">
                <a:latin typeface="Times New Roman" panose="02020603050405020304" pitchFamily="18" charset="0"/>
              </a:rPr>
              <a:t>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F1D6677-FEB2-CE43-5C94-624B0114F8F4}"/>
              </a:ext>
            </a:extLst>
          </p:cNvPr>
          <p:cNvCxnSpPr/>
          <p:nvPr/>
        </p:nvCxnSpPr>
        <p:spPr>
          <a:xfrm>
            <a:off x="3870325" y="6410325"/>
            <a:ext cx="1301750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A887FF4-C880-5310-45F3-B89C44784FC2}"/>
              </a:ext>
            </a:extLst>
          </p:cNvPr>
          <p:cNvCxnSpPr/>
          <p:nvPr/>
        </p:nvCxnSpPr>
        <p:spPr>
          <a:xfrm flipV="1">
            <a:off x="6611938" y="4606925"/>
            <a:ext cx="863600" cy="88900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C8BF3BA-FDE1-72D6-ED1D-473F165D4EB8}"/>
              </a:ext>
            </a:extLst>
          </p:cNvPr>
          <p:cNvCxnSpPr/>
          <p:nvPr/>
        </p:nvCxnSpPr>
        <p:spPr>
          <a:xfrm>
            <a:off x="3159125" y="4056063"/>
            <a:ext cx="0" cy="140017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51" name="TextBox 14">
            <a:extLst>
              <a:ext uri="{FF2B5EF4-FFF2-40B4-BE49-F238E27FC236}">
                <a16:creationId xmlns:a16="http://schemas.microsoft.com/office/drawing/2014/main" id="{67233BD4-C7CF-3634-0FED-6D976D033C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25" y="2209800"/>
            <a:ext cx="3122613" cy="203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1D31F4"/>
                </a:solidFill>
                <a:latin typeface="Times New Roman" panose="02020603050405020304" pitchFamily="18" charset="0"/>
              </a:rPr>
              <a:t>Spatially heterogeneous canopy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0 &lt; z &lt; Z</a:t>
            </a:r>
            <a:r>
              <a:rPr lang="en-US" altLang="en-US" sz="1800" baseline="-25000">
                <a:latin typeface="Times New Roman" panose="02020603050405020304" pitchFamily="18" charset="0"/>
              </a:rPr>
              <a:t>s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0 &lt; x &lt; X</a:t>
            </a:r>
            <a:r>
              <a:rPr lang="en-US" altLang="en-US" sz="1800" baseline="-25000">
                <a:latin typeface="Times New Roman" panose="02020603050405020304" pitchFamily="18" charset="0"/>
              </a:rPr>
              <a:t>s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0 &lt; y &lt; Y</a:t>
            </a:r>
            <a:r>
              <a:rPr lang="en-US" altLang="en-US" sz="1800" baseline="-25000">
                <a:latin typeface="Times New Roman" panose="02020603050405020304" pitchFamily="18" charset="0"/>
              </a:rPr>
              <a:t>s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EF301FB-F1FA-D18A-5B8A-DAD01132528C}"/>
              </a:ext>
            </a:extLst>
          </p:cNvPr>
          <p:cNvCxnSpPr>
            <a:cxnSpLocks/>
          </p:cNvCxnSpPr>
          <p:nvPr/>
        </p:nvCxnSpPr>
        <p:spPr>
          <a:xfrm>
            <a:off x="5473700" y="1012825"/>
            <a:ext cx="23844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60B5582-7F1D-640B-8E53-C4D85EF4C74D}"/>
              </a:ext>
            </a:extLst>
          </p:cNvPr>
          <p:cNvCxnSpPr>
            <a:cxnSpLocks/>
          </p:cNvCxnSpPr>
          <p:nvPr/>
        </p:nvCxnSpPr>
        <p:spPr>
          <a:xfrm>
            <a:off x="5473700" y="3805238"/>
            <a:ext cx="23844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54" name="TextBox 58">
            <a:extLst>
              <a:ext uri="{FF2B5EF4-FFF2-40B4-BE49-F238E27FC236}">
                <a16:creationId xmlns:a16="http://schemas.microsoft.com/office/drawing/2014/main" id="{8BD94BA8-3FF6-3131-DE44-1A731E1C71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6838" y="998538"/>
            <a:ext cx="9413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FRONT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F5CC44E1-0EA0-2E96-766D-E23BD41CB2D6}"/>
              </a:ext>
            </a:extLst>
          </p:cNvPr>
          <p:cNvCxnSpPr>
            <a:cxnSpLocks/>
          </p:cNvCxnSpPr>
          <p:nvPr/>
        </p:nvCxnSpPr>
        <p:spPr>
          <a:xfrm>
            <a:off x="3328988" y="3471863"/>
            <a:ext cx="23844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F7B75E6-2623-529D-0513-A9BC700471B0}"/>
              </a:ext>
            </a:extLst>
          </p:cNvPr>
          <p:cNvCxnSpPr>
            <a:cxnSpLocks/>
          </p:cNvCxnSpPr>
          <p:nvPr/>
        </p:nvCxnSpPr>
        <p:spPr>
          <a:xfrm>
            <a:off x="3328988" y="6235700"/>
            <a:ext cx="23844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57" name="TextBox 39">
            <a:extLst>
              <a:ext uri="{FF2B5EF4-FFF2-40B4-BE49-F238E27FC236}">
                <a16:creationId xmlns:a16="http://schemas.microsoft.com/office/drawing/2014/main" id="{A5ED27A4-9D06-3EE5-029F-47EC9BF954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7650" y="5613400"/>
            <a:ext cx="8255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BACK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F2E3DCE-8727-C10B-1A72-65D769ADE9D9}"/>
              </a:ext>
            </a:extLst>
          </p:cNvPr>
          <p:cNvCxnSpPr/>
          <p:nvPr/>
        </p:nvCxnSpPr>
        <p:spPr>
          <a:xfrm>
            <a:off x="3735388" y="2922588"/>
            <a:ext cx="0" cy="2533650"/>
          </a:xfrm>
          <a:prstGeom prst="line">
            <a:avLst/>
          </a:prstGeom>
          <a:ln w="381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92CC193-9A93-88B0-2654-0B5186B91A95}"/>
              </a:ext>
            </a:extLst>
          </p:cNvPr>
          <p:cNvCxnSpPr/>
          <p:nvPr/>
        </p:nvCxnSpPr>
        <p:spPr>
          <a:xfrm>
            <a:off x="5205413" y="1423988"/>
            <a:ext cx="0" cy="2533650"/>
          </a:xfrm>
          <a:prstGeom prst="line">
            <a:avLst/>
          </a:prstGeom>
          <a:ln w="381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B5E360C-CBA4-E452-0B55-141373AF4666}"/>
              </a:ext>
            </a:extLst>
          </p:cNvPr>
          <p:cNvCxnSpPr/>
          <p:nvPr/>
        </p:nvCxnSpPr>
        <p:spPr>
          <a:xfrm>
            <a:off x="6129338" y="2951163"/>
            <a:ext cx="0" cy="2533650"/>
          </a:xfrm>
          <a:prstGeom prst="line">
            <a:avLst/>
          </a:prstGeom>
          <a:ln w="381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4016FED-911B-DFD1-18C0-6DB5DA84D1E4}"/>
              </a:ext>
            </a:extLst>
          </p:cNvPr>
          <p:cNvCxnSpPr/>
          <p:nvPr/>
        </p:nvCxnSpPr>
        <p:spPr>
          <a:xfrm>
            <a:off x="7597775" y="1423988"/>
            <a:ext cx="0" cy="2533650"/>
          </a:xfrm>
          <a:prstGeom prst="line">
            <a:avLst/>
          </a:prstGeom>
          <a:ln w="381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5001F93-4A7F-DD23-B018-A529A0D2C9DC}"/>
              </a:ext>
            </a:extLst>
          </p:cNvPr>
          <p:cNvCxnSpPr/>
          <p:nvPr/>
        </p:nvCxnSpPr>
        <p:spPr>
          <a:xfrm flipV="1">
            <a:off x="3735388" y="2906713"/>
            <a:ext cx="2392362" cy="15875"/>
          </a:xfrm>
          <a:prstGeom prst="line">
            <a:avLst/>
          </a:prstGeom>
          <a:ln w="381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D529432-142F-FDAB-A5DD-7A9A2CA77718}"/>
              </a:ext>
            </a:extLst>
          </p:cNvPr>
          <p:cNvCxnSpPr/>
          <p:nvPr/>
        </p:nvCxnSpPr>
        <p:spPr>
          <a:xfrm flipV="1">
            <a:off x="3748088" y="5475288"/>
            <a:ext cx="2392362" cy="14287"/>
          </a:xfrm>
          <a:prstGeom prst="line">
            <a:avLst/>
          </a:prstGeom>
          <a:ln w="381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2AC4088-0723-CBE5-47FE-073C5391FB54}"/>
              </a:ext>
            </a:extLst>
          </p:cNvPr>
          <p:cNvCxnSpPr/>
          <p:nvPr/>
        </p:nvCxnSpPr>
        <p:spPr>
          <a:xfrm flipV="1">
            <a:off x="5180013" y="3965575"/>
            <a:ext cx="2392362" cy="15875"/>
          </a:xfrm>
          <a:prstGeom prst="line">
            <a:avLst/>
          </a:prstGeom>
          <a:ln w="381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7786895-464D-AE57-11D3-03836A6DD0A8}"/>
              </a:ext>
            </a:extLst>
          </p:cNvPr>
          <p:cNvCxnSpPr/>
          <p:nvPr/>
        </p:nvCxnSpPr>
        <p:spPr>
          <a:xfrm flipV="1">
            <a:off x="5205413" y="1381125"/>
            <a:ext cx="2392362" cy="14288"/>
          </a:xfrm>
          <a:prstGeom prst="line">
            <a:avLst/>
          </a:prstGeom>
          <a:ln w="381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6EE23AA2-A23D-3A3C-B5D1-4E9BC9445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05: 3D Discrete Ordinates Method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E80C15EB-F385-98F9-1731-F53BF7917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B4B5EBA6-2861-F144-849B-2AC529B72A59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4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483" name="TextBox 7">
            <a:extLst>
              <a:ext uri="{FF2B5EF4-FFF2-40B4-BE49-F238E27FC236}">
                <a16:creationId xmlns:a16="http://schemas.microsoft.com/office/drawing/2014/main" id="{DCB25588-A1E0-7C28-AEEB-C34A50F741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288" y="822325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Directional Cosines</a:t>
            </a:r>
          </a:p>
        </p:txBody>
      </p:sp>
      <p:sp>
        <p:nvSpPr>
          <p:cNvPr id="20484" name="TextBox 14">
            <a:extLst>
              <a:ext uri="{FF2B5EF4-FFF2-40B4-BE49-F238E27FC236}">
                <a16:creationId xmlns:a16="http://schemas.microsoft.com/office/drawing/2014/main" id="{B904188E-ECB6-365B-7D2D-4DDAA796FC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1376363"/>
            <a:ext cx="8529638" cy="50165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marL="285750" indent="-285750">
              <a:spcBef>
                <a:spcPct val="0"/>
              </a:spcBef>
              <a:defRPr/>
            </a:pPr>
            <a:r>
              <a:rPr lang="en-US" altLang="en-US" sz="1800" dirty="0">
                <a:latin typeface="Times New Roman" panose="02020603050405020304" pitchFamily="18" charset="0"/>
              </a:rPr>
              <a:t>Let</a:t>
            </a:r>
            <a:r>
              <a:rPr lang="en-US" altLang="en-US" sz="1800" dirty="0">
                <a:solidFill>
                  <a:srgbClr val="1D31F4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Times New Roman" panose="02020603050405020304" pitchFamily="18" charset="0"/>
              </a:rPr>
              <a:t>+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ξ</a:t>
            </a:r>
            <a:r>
              <a:rPr lang="en-US" altLang="en-US" sz="1800" dirty="0">
                <a:latin typeface="Helvetica" pitchFamily="2" charset="0"/>
              </a:rPr>
              <a:t>,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denote </a:t>
            </a:r>
            <a:r>
              <a:rPr lang="en-US" altLang="en-US" sz="1800" dirty="0">
                <a:solidFill>
                  <a:srgbClr val="1D31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directional cosines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respect to +X, +Y and -Z axes </a:t>
            </a:r>
            <a:endParaRPr lang="en-US" altLang="en-US" sz="1800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  <a:defRPr/>
            </a:pPr>
            <a:endParaRPr lang="en-US" altLang="en-US" sz="1800" dirty="0">
              <a:latin typeface="Times New Roman" panose="02020603050405020304" pitchFamily="18" charset="0"/>
            </a:endParaRPr>
          </a:p>
          <a:p>
            <a:pPr marL="457200" lvl="1" indent="0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en-US" sz="1600" dirty="0">
                <a:latin typeface="Times New Roman" panose="02020603050405020304" pitchFamily="18" charset="0"/>
              </a:rPr>
              <a:t>+</a:t>
            </a:r>
            <a:r>
              <a:rPr lang="el-G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denotes upward directions (“</a:t>
            </a:r>
            <a:r>
              <a:rPr lang="en-US" altLang="en-US" sz="1600" dirty="0">
                <a:solidFill>
                  <a:srgbClr val="1D31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</a:t>
            </a:r>
            <a:endParaRPr lang="en-US" altLang="en-US" sz="1600" baseline="-25000" dirty="0">
              <a:latin typeface="Times New Roman" panose="02020603050405020304" pitchFamily="18" charset="0"/>
            </a:endParaRPr>
          </a:p>
          <a:p>
            <a:pPr marL="457200" lvl="1" indent="0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endParaRPr lang="en-US" altLang="en-US" sz="1600" dirty="0">
              <a:latin typeface="Times New Roman" panose="02020603050405020304" pitchFamily="18" charset="0"/>
            </a:endParaRPr>
          </a:p>
          <a:p>
            <a:pPr marL="457200" lvl="1" indent="0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l-G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denotes downward directions (“</a:t>
            </a:r>
            <a:r>
              <a:rPr lang="en-US" altLang="en-US" sz="1600" dirty="0">
                <a:solidFill>
                  <a:srgbClr val="1D31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</a:t>
            </a:r>
            <a:endParaRPr lang="en-US" altLang="en-US" sz="1600" baseline="-25000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  <a:defRPr/>
            </a:pPr>
            <a:endParaRPr lang="en-US" altLang="en-US" sz="1600" dirty="0">
              <a:latin typeface="Times New Roman" panose="02020603050405020304" pitchFamily="18" charset="0"/>
            </a:endParaRPr>
          </a:p>
          <a:p>
            <a:pPr marL="914400" lvl="2" indent="0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en-US" sz="1600" dirty="0">
                <a:latin typeface="Times New Roman" panose="02020603050405020304" pitchFamily="18" charset="0"/>
              </a:rPr>
              <a:t>+</a:t>
            </a:r>
            <a:r>
              <a:rPr lang="el-G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ξ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denotes travel from left to right (“</a:t>
            </a:r>
            <a:r>
              <a:rPr lang="en-US" altLang="en-US" sz="1600" dirty="0">
                <a:solidFill>
                  <a:srgbClr val="1D31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</a:t>
            </a:r>
          </a:p>
          <a:p>
            <a:pPr marL="914400" lvl="2" indent="0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l-G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ξ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denotes travel from right to left (“</a:t>
            </a:r>
            <a:r>
              <a:rPr lang="en-US" altLang="en-US" sz="1600" dirty="0">
                <a:solidFill>
                  <a:srgbClr val="1D31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left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  <a:defRPr/>
            </a:pPr>
            <a:endParaRPr lang="en-US" altLang="en-US" sz="1600" dirty="0">
              <a:latin typeface="Times New Roman" panose="02020603050405020304" pitchFamily="18" charset="0"/>
            </a:endParaRPr>
          </a:p>
          <a:p>
            <a:pPr marL="1371600" lvl="3" indent="0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en-US" sz="1600" dirty="0">
                <a:latin typeface="Times New Roman" panose="02020603050405020304" pitchFamily="18" charset="0"/>
              </a:rPr>
              <a:t>+</a:t>
            </a:r>
            <a:r>
              <a:rPr lang="el-G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denotes travel from back to front (“</a:t>
            </a:r>
            <a:r>
              <a:rPr lang="en-US" altLang="en-US" sz="1600" dirty="0">
                <a:solidFill>
                  <a:srgbClr val="1D31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</a:t>
            </a:r>
          </a:p>
          <a:p>
            <a:pPr marL="1371600" lvl="3" indent="0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3" indent="0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l-G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denotes travel from front to back (“</a:t>
            </a:r>
            <a:r>
              <a:rPr lang="en-US" altLang="en-US" sz="1600" dirty="0">
                <a:solidFill>
                  <a:srgbClr val="1D31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ct val="0"/>
              </a:spcBef>
              <a:defRPr/>
            </a:pPr>
            <a:r>
              <a:rPr lang="en-US" altLang="en-US" sz="1800" dirty="0">
                <a:solidFill>
                  <a:srgbClr val="223A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 that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cos 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ξ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sin 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cos </a:t>
            </a:r>
            <a:r>
              <a:rPr lang="el-GR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ϕ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η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sin 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 </a:t>
            </a:r>
            <a:r>
              <a:rPr lang="el-GR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ϕ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285750" indent="-285750">
              <a:spcBef>
                <a:spcPct val="0"/>
              </a:spcBef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ct val="0"/>
              </a:spcBef>
              <a:defRPr/>
            </a:pP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</a:t>
            </a:r>
            <a:r>
              <a:rPr lang="en-US" altLang="en-US" sz="1800" dirty="0">
                <a:solidFill>
                  <a:srgbClr val="223A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polar angle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measured off the –Z axis </a:t>
            </a:r>
          </a:p>
          <a:p>
            <a:pPr marL="285750" indent="-285750">
              <a:spcBef>
                <a:spcPct val="0"/>
              </a:spcBef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ct val="0"/>
              </a:spcBef>
              <a:defRPr/>
            </a:pPr>
            <a:r>
              <a:rPr lang="el-GR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ϕ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</a:t>
            </a:r>
            <a:r>
              <a:rPr lang="en-US" altLang="en-US" sz="1800" dirty="0">
                <a:solidFill>
                  <a:srgbClr val="223A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azimuthal angle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measured anti-clockwise from the +X axis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AF3C2C-FFF0-1294-4DAE-8E8FF66AA025}"/>
              </a:ext>
            </a:extLst>
          </p:cNvPr>
          <p:cNvSpPr/>
          <p:nvPr/>
        </p:nvSpPr>
        <p:spPr>
          <a:xfrm>
            <a:off x="8420100" y="1624013"/>
            <a:ext cx="295275" cy="320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8015FD-7CCF-441F-9894-A7F316FBA883}"/>
              </a:ext>
            </a:extLst>
          </p:cNvPr>
          <p:cNvSpPr/>
          <p:nvPr/>
        </p:nvSpPr>
        <p:spPr>
          <a:xfrm>
            <a:off x="3603625" y="3282950"/>
            <a:ext cx="266700" cy="22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CABDDBC-9A3C-09C6-02B4-F4D3792E5F68}"/>
              </a:ext>
            </a:extLst>
          </p:cNvPr>
          <p:cNvCxnSpPr/>
          <p:nvPr/>
        </p:nvCxnSpPr>
        <p:spPr>
          <a:xfrm flipV="1">
            <a:off x="4214813" y="1874838"/>
            <a:ext cx="0" cy="39211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75A11D4-D657-50DB-5B9F-C99EB39F70F9}"/>
              </a:ext>
            </a:extLst>
          </p:cNvPr>
          <p:cNvCxnSpPr/>
          <p:nvPr/>
        </p:nvCxnSpPr>
        <p:spPr>
          <a:xfrm>
            <a:off x="4727575" y="2386013"/>
            <a:ext cx="0" cy="41275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002CA32-BE12-255F-E22B-860508C5311E}"/>
              </a:ext>
            </a:extLst>
          </p:cNvPr>
          <p:cNvCxnSpPr/>
          <p:nvPr/>
        </p:nvCxnSpPr>
        <p:spPr>
          <a:xfrm>
            <a:off x="5267325" y="3108325"/>
            <a:ext cx="60325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67808D-38BA-F8CC-421E-716E94D1B907}"/>
              </a:ext>
            </a:extLst>
          </p:cNvPr>
          <p:cNvCxnSpPr>
            <a:cxnSpLocks/>
          </p:cNvCxnSpPr>
          <p:nvPr/>
        </p:nvCxnSpPr>
        <p:spPr>
          <a:xfrm flipH="1">
            <a:off x="5148263" y="3565525"/>
            <a:ext cx="56673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B065353-EB82-2119-690E-813654534D10}"/>
              </a:ext>
            </a:extLst>
          </p:cNvPr>
          <p:cNvCxnSpPr>
            <a:cxnSpLocks/>
          </p:cNvCxnSpPr>
          <p:nvPr/>
        </p:nvCxnSpPr>
        <p:spPr>
          <a:xfrm flipV="1">
            <a:off x="5870575" y="3876675"/>
            <a:ext cx="338138" cy="38417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7196F28-5C3E-D6EE-F32F-5A73C600F11E}"/>
              </a:ext>
            </a:extLst>
          </p:cNvPr>
          <p:cNvCxnSpPr/>
          <p:nvPr/>
        </p:nvCxnSpPr>
        <p:spPr>
          <a:xfrm flipH="1">
            <a:off x="5888038" y="4425950"/>
            <a:ext cx="412750" cy="4016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24AC0A85-D3F2-460A-9979-8F1228B8F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05: 3D Discrete Ordinates Method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AF167469-39D7-2904-6E96-20F0B802B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BA5560D0-7C0B-4F4A-8291-3B51C6252EFE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5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31" name="TextBox 7">
            <a:extLst>
              <a:ext uri="{FF2B5EF4-FFF2-40B4-BE49-F238E27FC236}">
                <a16:creationId xmlns:a16="http://schemas.microsoft.com/office/drawing/2014/main" id="{608DB747-822E-62F2-E9D9-08483AAB23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75" y="654050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Octants</a:t>
            </a:r>
          </a:p>
        </p:txBody>
      </p:sp>
      <p:sp>
        <p:nvSpPr>
          <p:cNvPr id="22532" name="TextBox 14">
            <a:extLst>
              <a:ext uri="{FF2B5EF4-FFF2-40B4-BE49-F238E27FC236}">
                <a16:creationId xmlns:a16="http://schemas.microsoft.com/office/drawing/2014/main" id="{B7533989-7D1E-6A4B-95FD-73434ACADA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238" y="1263650"/>
            <a:ext cx="6122987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Divide the sphere in to </a:t>
            </a:r>
            <a:r>
              <a:rPr lang="en-US" altLang="en-US" sz="1800">
                <a:solidFill>
                  <a:srgbClr val="1D31F4"/>
                </a:solidFill>
                <a:latin typeface="Times New Roman" panose="02020603050405020304" pitchFamily="18" charset="0"/>
              </a:rPr>
              <a:t>8 Octants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Octants 1, 2, 3 and 4 represent the </a:t>
            </a:r>
            <a:r>
              <a:rPr lang="en-US" altLang="en-US" sz="1800">
                <a:solidFill>
                  <a:srgbClr val="1D31F4"/>
                </a:solidFill>
                <a:latin typeface="Times New Roman" panose="02020603050405020304" pitchFamily="18" charset="0"/>
              </a:rPr>
              <a:t>upward</a:t>
            </a:r>
            <a:r>
              <a:rPr lang="en-US" altLang="en-US" sz="1800">
                <a:latin typeface="Times New Roman" panose="02020603050405020304" pitchFamily="18" charset="0"/>
              </a:rPr>
              <a:t> facing hemisphere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Octants 5, 6, 7 and 8 represent the </a:t>
            </a:r>
            <a:r>
              <a:rPr lang="en-US" altLang="en-US" sz="1800">
                <a:solidFill>
                  <a:srgbClr val="1D31F4"/>
                </a:solidFill>
                <a:latin typeface="Times New Roman" panose="02020603050405020304" pitchFamily="18" charset="0"/>
              </a:rPr>
              <a:t>downward</a:t>
            </a:r>
            <a:r>
              <a:rPr lang="en-US" altLang="en-US" sz="1800">
                <a:latin typeface="Times New Roman" panose="02020603050405020304" pitchFamily="18" charset="0"/>
              </a:rPr>
              <a:t> facing hemisphere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pic>
        <p:nvPicPr>
          <p:cNvPr id="22533" name="Picture 2" descr="Image result for octants in a sphere">
            <a:extLst>
              <a:ext uri="{FF2B5EF4-FFF2-40B4-BE49-F238E27FC236}">
                <a16:creationId xmlns:a16="http://schemas.microsoft.com/office/drawing/2014/main" id="{5A9E52C4-D178-F5D7-E9E7-A3622989A0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9875" y="944563"/>
            <a:ext cx="2243138" cy="224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2A8EA81-956E-0A59-2877-2CDAE31702C2}"/>
              </a:ext>
            </a:extLst>
          </p:cNvPr>
          <p:cNvSpPr/>
          <p:nvPr/>
        </p:nvSpPr>
        <p:spPr>
          <a:xfrm>
            <a:off x="8472488" y="3024188"/>
            <a:ext cx="300037" cy="34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15FB43-203C-F659-F493-A4DEB54660D3}"/>
              </a:ext>
            </a:extLst>
          </p:cNvPr>
          <p:cNvSpPr/>
          <p:nvPr/>
        </p:nvSpPr>
        <p:spPr>
          <a:xfrm>
            <a:off x="8628063" y="2406650"/>
            <a:ext cx="298450" cy="34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CDF413-27E2-3304-145F-225D6A2513F4}"/>
              </a:ext>
            </a:extLst>
          </p:cNvPr>
          <p:cNvSpPr/>
          <p:nvPr/>
        </p:nvSpPr>
        <p:spPr>
          <a:xfrm>
            <a:off x="7170738" y="793750"/>
            <a:ext cx="298450" cy="34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537" name="TextBox 11">
            <a:extLst>
              <a:ext uri="{FF2B5EF4-FFF2-40B4-BE49-F238E27FC236}">
                <a16:creationId xmlns:a16="http://schemas.microsoft.com/office/drawing/2014/main" id="{A2F4CB09-88BF-BFDA-6F42-64A156E76F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9188" y="720725"/>
            <a:ext cx="4032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-Z</a:t>
            </a:r>
          </a:p>
        </p:txBody>
      </p:sp>
      <p:sp>
        <p:nvSpPr>
          <p:cNvPr id="22538" name="TextBox 12">
            <a:extLst>
              <a:ext uri="{FF2B5EF4-FFF2-40B4-BE49-F238E27FC236}">
                <a16:creationId xmlns:a16="http://schemas.microsoft.com/office/drawing/2014/main" id="{EB79E42A-5CF9-867A-786C-351A2709DC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4613" y="2833688"/>
            <a:ext cx="4270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-Y</a:t>
            </a:r>
          </a:p>
        </p:txBody>
      </p:sp>
      <p:pic>
        <p:nvPicPr>
          <p:cNvPr id="22539" name="Picture 4" descr="Related image">
            <a:extLst>
              <a:ext uri="{FF2B5EF4-FFF2-40B4-BE49-F238E27FC236}">
                <a16:creationId xmlns:a16="http://schemas.microsoft.com/office/drawing/2014/main" id="{D3CEA13D-5937-192C-4F80-04FCBF5E26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925" y="2954338"/>
            <a:ext cx="3514725" cy="377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40" name="TextBox 11">
            <a:extLst>
              <a:ext uri="{FF2B5EF4-FFF2-40B4-BE49-F238E27FC236}">
                <a16:creationId xmlns:a16="http://schemas.microsoft.com/office/drawing/2014/main" id="{045F7309-147C-28F7-8CF5-0DEFCF5208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4100" y="2335213"/>
            <a:ext cx="3508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2541" name="TextBox 3">
            <a:extLst>
              <a:ext uri="{FF2B5EF4-FFF2-40B4-BE49-F238E27FC236}">
                <a16:creationId xmlns:a16="http://schemas.microsoft.com/office/drawing/2014/main" id="{FD7C34AB-42E1-8739-7587-D540096322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5525" y="2847975"/>
            <a:ext cx="10937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4</a:t>
            </a:r>
            <a:r>
              <a:rPr lang="en-US" altLang="en-US" sz="1800" baseline="30000">
                <a:latin typeface="Times New Roman" panose="02020603050405020304" pitchFamily="18" charset="0"/>
              </a:rPr>
              <a:t>th</a:t>
            </a:r>
            <a:r>
              <a:rPr lang="en-US" altLang="en-US" sz="1800">
                <a:latin typeface="Times New Roman" panose="02020603050405020304" pitchFamily="18" charset="0"/>
              </a:rPr>
              <a:t> Octant</a:t>
            </a:r>
          </a:p>
        </p:txBody>
      </p:sp>
      <p:pic>
        <p:nvPicPr>
          <p:cNvPr id="22542" name="Picture 4" descr="A green sphere with arrows and lines&#10;&#10;Description automatically generated">
            <a:extLst>
              <a:ext uri="{FF2B5EF4-FFF2-40B4-BE49-F238E27FC236}">
                <a16:creationId xmlns:a16="http://schemas.microsoft.com/office/drawing/2014/main" id="{8F17C049-5C31-1E22-0FA5-265CD0E512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338" y="3268663"/>
            <a:ext cx="3514725" cy="3424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43" name="TextBox 5">
            <a:extLst>
              <a:ext uri="{FF2B5EF4-FFF2-40B4-BE49-F238E27FC236}">
                <a16:creationId xmlns:a16="http://schemas.microsoft.com/office/drawing/2014/main" id="{D670E7B5-15D6-0961-BE62-BED4DC6162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9338" y="5478463"/>
            <a:ext cx="2698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>
                <a:solidFill>
                  <a:schemeClr val="tx1"/>
                </a:solidFill>
              </a:rPr>
              <a:t>-</a:t>
            </a:r>
          </a:p>
        </p:txBody>
      </p:sp>
      <p:sp>
        <p:nvSpPr>
          <p:cNvPr id="22544" name="TextBox 6">
            <a:extLst>
              <a:ext uri="{FF2B5EF4-FFF2-40B4-BE49-F238E27FC236}">
                <a16:creationId xmlns:a16="http://schemas.microsoft.com/office/drawing/2014/main" id="{8A179396-7032-1162-8E2C-F7E64C9FDB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8350" y="3186113"/>
            <a:ext cx="2682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>
                <a:solidFill>
                  <a:schemeClr val="tx1"/>
                </a:solidFill>
              </a:rPr>
              <a:t>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A66A1D30-DE8F-B9C3-37A0-752B8D9CB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05: 3D Discrete Ordinates Method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29B58EED-408F-AD91-3B31-162830847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DDB57991-7160-9544-9BF1-ACFAAEE34267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6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579" name="TextBox 7">
            <a:extLst>
              <a:ext uri="{FF2B5EF4-FFF2-40B4-BE49-F238E27FC236}">
                <a16:creationId xmlns:a16="http://schemas.microsoft.com/office/drawing/2014/main" id="{91C2C353-CFA7-FD2B-8413-10A6809916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25" y="808038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Directional Cosines in Octants</a:t>
            </a:r>
          </a:p>
        </p:txBody>
      </p:sp>
      <p:sp>
        <p:nvSpPr>
          <p:cNvPr id="24580" name="TextBox 14">
            <a:extLst>
              <a:ext uri="{FF2B5EF4-FFF2-40B4-BE49-F238E27FC236}">
                <a16:creationId xmlns:a16="http://schemas.microsoft.com/office/drawing/2014/main" id="{DBCECA17-EE4C-E77A-0BCC-C360999225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425" y="1539875"/>
            <a:ext cx="2119313" cy="4246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Octant 1: +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+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ξ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 +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Octant 2: +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-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ξ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 +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Octant 3: +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-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ξ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 -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Octant 4: +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+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ξ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 -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Octant 5: -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+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ξ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 +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Octant 6: -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-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ξ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 +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Octant 7: -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-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ξ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 -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Octant 8: -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+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ξ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 -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581" name="Picture 4" descr="Related image">
            <a:extLst>
              <a:ext uri="{FF2B5EF4-FFF2-40B4-BE49-F238E27FC236}">
                <a16:creationId xmlns:a16="http://schemas.microsoft.com/office/drawing/2014/main" id="{CA4ACC03-E62B-3C19-778E-94B8068955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6213" y="700088"/>
            <a:ext cx="2625725" cy="282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2" name="TextBox 4">
            <a:extLst>
              <a:ext uri="{FF2B5EF4-FFF2-40B4-BE49-F238E27FC236}">
                <a16:creationId xmlns:a16="http://schemas.microsoft.com/office/drawing/2014/main" id="{D07835D0-28EA-40E2-0142-AA711C6534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2525" y="838200"/>
            <a:ext cx="257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-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61D4F02-E560-D5F7-C384-43378140FF8D}"/>
              </a:ext>
            </a:extLst>
          </p:cNvPr>
          <p:cNvCxnSpPr>
            <a:cxnSpLocks/>
          </p:cNvCxnSpPr>
          <p:nvPr/>
        </p:nvCxnSpPr>
        <p:spPr>
          <a:xfrm flipV="1">
            <a:off x="4840288" y="3138488"/>
            <a:ext cx="0" cy="326072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A4282BD-AAB9-847A-D8B7-99C71E521259}"/>
              </a:ext>
            </a:extLst>
          </p:cNvPr>
          <p:cNvCxnSpPr>
            <a:cxnSpLocks/>
          </p:cNvCxnSpPr>
          <p:nvPr/>
        </p:nvCxnSpPr>
        <p:spPr>
          <a:xfrm>
            <a:off x="2625725" y="4799013"/>
            <a:ext cx="4219575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85" name="Rectangle 10">
            <a:extLst>
              <a:ext uri="{FF2B5EF4-FFF2-40B4-BE49-F238E27FC236}">
                <a16:creationId xmlns:a16="http://schemas.microsoft.com/office/drawing/2014/main" id="{2195C799-BB4E-C042-2DD6-2721BB03D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6138" y="4768850"/>
            <a:ext cx="4206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ξ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86" name="Rectangle 14">
            <a:extLst>
              <a:ext uri="{FF2B5EF4-FFF2-40B4-BE49-F238E27FC236}">
                <a16:creationId xmlns:a16="http://schemas.microsoft.com/office/drawing/2014/main" id="{8BA32ACE-1D07-7A43-F1A1-18FE2108F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2763" y="4768850"/>
            <a:ext cx="4746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ξ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87" name="Rectangle 11">
            <a:extLst>
              <a:ext uri="{FF2B5EF4-FFF2-40B4-BE49-F238E27FC236}">
                <a16:creationId xmlns:a16="http://schemas.microsoft.com/office/drawing/2014/main" id="{D18D4E29-EC6D-993F-7675-3AE6DE9D96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0288" y="3497263"/>
            <a:ext cx="4937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88" name="Rectangle 16">
            <a:extLst>
              <a:ext uri="{FF2B5EF4-FFF2-40B4-BE49-F238E27FC236}">
                <a16:creationId xmlns:a16="http://schemas.microsoft.com/office/drawing/2014/main" id="{DD884B95-7367-50B7-C05F-BDC1CF2E22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0288" y="5732463"/>
            <a:ext cx="4937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89" name="TextBox 12">
            <a:extLst>
              <a:ext uri="{FF2B5EF4-FFF2-40B4-BE49-F238E27FC236}">
                <a16:creationId xmlns:a16="http://schemas.microsoft.com/office/drawing/2014/main" id="{89649A54-9923-117D-9082-BB91F78F28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9113" y="4614863"/>
            <a:ext cx="3524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4590" name="TextBox 18">
            <a:extLst>
              <a:ext uri="{FF2B5EF4-FFF2-40B4-BE49-F238E27FC236}">
                <a16:creationId xmlns:a16="http://schemas.microsoft.com/office/drawing/2014/main" id="{D64C03AC-9A65-F10B-5E8A-9A9F232924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5663" y="2690813"/>
            <a:ext cx="3508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24591" name="TextBox 19">
            <a:extLst>
              <a:ext uri="{FF2B5EF4-FFF2-40B4-BE49-F238E27FC236}">
                <a16:creationId xmlns:a16="http://schemas.microsoft.com/office/drawing/2014/main" id="{2B185A23-9FFA-F11B-8C13-581A2DB2C2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8475" y="3816350"/>
            <a:ext cx="4794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Times New Roman" panose="02020603050405020304" pitchFamily="18" charset="0"/>
              </a:rPr>
              <a:t>O5</a:t>
            </a:r>
          </a:p>
        </p:txBody>
      </p:sp>
      <p:sp>
        <p:nvSpPr>
          <p:cNvPr id="24592" name="TextBox 20">
            <a:extLst>
              <a:ext uri="{FF2B5EF4-FFF2-40B4-BE49-F238E27FC236}">
                <a16:creationId xmlns:a16="http://schemas.microsoft.com/office/drawing/2014/main" id="{41804996-E51B-17E5-5955-FBCE342C12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5338" y="3816350"/>
            <a:ext cx="4794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Times New Roman" panose="02020603050405020304" pitchFamily="18" charset="0"/>
              </a:rPr>
              <a:t>O6</a:t>
            </a:r>
          </a:p>
        </p:txBody>
      </p:sp>
      <p:sp>
        <p:nvSpPr>
          <p:cNvPr id="24593" name="TextBox 21">
            <a:extLst>
              <a:ext uri="{FF2B5EF4-FFF2-40B4-BE49-F238E27FC236}">
                <a16:creationId xmlns:a16="http://schemas.microsoft.com/office/drawing/2014/main" id="{59EC332E-E051-0352-8B40-FFAD1D07B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2325" y="5670550"/>
            <a:ext cx="4810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Times New Roman" panose="02020603050405020304" pitchFamily="18" charset="0"/>
              </a:rPr>
              <a:t>O7</a:t>
            </a:r>
          </a:p>
        </p:txBody>
      </p:sp>
      <p:sp>
        <p:nvSpPr>
          <p:cNvPr id="24594" name="TextBox 22">
            <a:extLst>
              <a:ext uri="{FF2B5EF4-FFF2-40B4-BE49-F238E27FC236}">
                <a16:creationId xmlns:a16="http://schemas.microsoft.com/office/drawing/2014/main" id="{18F21EC0-3CA0-6892-CE91-F98A31EAE1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1175" y="5648325"/>
            <a:ext cx="4794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Times New Roman" panose="02020603050405020304" pitchFamily="18" charset="0"/>
              </a:rPr>
              <a:t>O8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78CD9E7-3299-ED99-4188-24D77DA9E476}"/>
              </a:ext>
            </a:extLst>
          </p:cNvPr>
          <p:cNvCxnSpPr>
            <a:cxnSpLocks/>
          </p:cNvCxnSpPr>
          <p:nvPr/>
        </p:nvCxnSpPr>
        <p:spPr>
          <a:xfrm flipV="1">
            <a:off x="4883150" y="4324350"/>
            <a:ext cx="1389063" cy="44450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7DED4B8-E087-D9B2-6D17-83650270F12D}"/>
              </a:ext>
            </a:extLst>
          </p:cNvPr>
          <p:cNvCxnSpPr>
            <a:cxnSpLocks/>
          </p:cNvCxnSpPr>
          <p:nvPr/>
        </p:nvCxnSpPr>
        <p:spPr>
          <a:xfrm flipH="1" flipV="1">
            <a:off x="4181475" y="3744913"/>
            <a:ext cx="658813" cy="102393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910E4FB-B087-0880-16B8-CAD404140044}"/>
              </a:ext>
            </a:extLst>
          </p:cNvPr>
          <p:cNvCxnSpPr>
            <a:cxnSpLocks/>
          </p:cNvCxnSpPr>
          <p:nvPr/>
        </p:nvCxnSpPr>
        <p:spPr>
          <a:xfrm flipH="1">
            <a:off x="3575050" y="4826000"/>
            <a:ext cx="1225550" cy="82232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6AAE48C-750F-7E14-141B-97BBEDD093E2}"/>
              </a:ext>
            </a:extLst>
          </p:cNvPr>
          <p:cNvCxnSpPr>
            <a:cxnSpLocks/>
          </p:cNvCxnSpPr>
          <p:nvPr/>
        </p:nvCxnSpPr>
        <p:spPr>
          <a:xfrm>
            <a:off x="4865688" y="4835525"/>
            <a:ext cx="1779587" cy="134302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4C2DD3FD-854F-6A00-6383-4ACBEBAB8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05: 3D Discrete Ordinates Method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D465679D-1102-6002-E820-32E161DAD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E8AB16CB-E455-DA49-9799-020077B7DD92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7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27" name="TextBox 7">
            <a:extLst>
              <a:ext uri="{FF2B5EF4-FFF2-40B4-BE49-F238E27FC236}">
                <a16:creationId xmlns:a16="http://schemas.microsoft.com/office/drawing/2014/main" id="{F5F2A403-C9D5-2C64-5B79-F2FA4F2C69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779463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Directions in Octant 5</a:t>
            </a:r>
          </a:p>
        </p:txBody>
      </p:sp>
      <p:sp>
        <p:nvSpPr>
          <p:cNvPr id="26628" name="TextBox 16">
            <a:extLst>
              <a:ext uri="{FF2B5EF4-FFF2-40B4-BE49-F238E27FC236}">
                <a16:creationId xmlns:a16="http://schemas.microsoft.com/office/drawing/2014/main" id="{E7A936A1-AC32-6B7D-8F8F-D66DCB3B7F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1277938"/>
            <a:ext cx="8867775" cy="2309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en-US" sz="1800">
                <a:solidFill>
                  <a:srgbClr val="2B3A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Octant 5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-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: photons travel from </a:t>
            </a:r>
            <a:r>
              <a:rPr lang="en-US" altLang="en-US" sz="1800">
                <a:solidFill>
                  <a:srgbClr val="2B3A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to bottom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(down)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ξ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: photons travel from </a:t>
            </a:r>
            <a:r>
              <a:rPr lang="en-US" altLang="en-US" sz="1800">
                <a:solidFill>
                  <a:srgbClr val="2B3A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left to right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: photons travel from </a:t>
            </a:r>
            <a:r>
              <a:rPr lang="en-US" altLang="en-US" sz="1800">
                <a:solidFill>
                  <a:srgbClr val="2B3A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 to front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332ED0D-79DD-FEF2-43D8-7F0834D199D6}"/>
              </a:ext>
            </a:extLst>
          </p:cNvPr>
          <p:cNvCxnSpPr/>
          <p:nvPr/>
        </p:nvCxnSpPr>
        <p:spPr>
          <a:xfrm flipV="1">
            <a:off x="6373813" y="2884488"/>
            <a:ext cx="0" cy="326072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11E7EA7-A7C6-BC0C-E410-A3149C9EE729}"/>
              </a:ext>
            </a:extLst>
          </p:cNvPr>
          <p:cNvCxnSpPr/>
          <p:nvPr/>
        </p:nvCxnSpPr>
        <p:spPr>
          <a:xfrm>
            <a:off x="4159250" y="4545013"/>
            <a:ext cx="4219575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31" name="Rectangle 10">
            <a:extLst>
              <a:ext uri="{FF2B5EF4-FFF2-40B4-BE49-F238E27FC236}">
                <a16:creationId xmlns:a16="http://schemas.microsoft.com/office/drawing/2014/main" id="{EEC89F8D-6D09-36E5-012C-FDAC702AF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9663" y="4514850"/>
            <a:ext cx="4206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ξ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32" name="Rectangle 14">
            <a:extLst>
              <a:ext uri="{FF2B5EF4-FFF2-40B4-BE49-F238E27FC236}">
                <a16:creationId xmlns:a16="http://schemas.microsoft.com/office/drawing/2014/main" id="{5DF78456-D46E-31FD-181C-4300B24D2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6288" y="4514850"/>
            <a:ext cx="4746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ξ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33" name="Rectangle 11">
            <a:extLst>
              <a:ext uri="{FF2B5EF4-FFF2-40B4-BE49-F238E27FC236}">
                <a16:creationId xmlns:a16="http://schemas.microsoft.com/office/drawing/2014/main" id="{A096E306-8AD1-CFF7-1BD6-316BE21B3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3813" y="3243263"/>
            <a:ext cx="4937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34" name="Rectangle 16">
            <a:extLst>
              <a:ext uri="{FF2B5EF4-FFF2-40B4-BE49-F238E27FC236}">
                <a16:creationId xmlns:a16="http://schemas.microsoft.com/office/drawing/2014/main" id="{38BC7AD9-7E48-92D4-08FE-1414949763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3813" y="5478463"/>
            <a:ext cx="439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35" name="TextBox 12">
            <a:extLst>
              <a:ext uri="{FF2B5EF4-FFF2-40B4-BE49-F238E27FC236}">
                <a16:creationId xmlns:a16="http://schemas.microsoft.com/office/drawing/2014/main" id="{1AAEA3F0-BA71-DD04-ED32-92387A3020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02638" y="4360863"/>
            <a:ext cx="3524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6636" name="TextBox 18">
            <a:extLst>
              <a:ext uri="{FF2B5EF4-FFF2-40B4-BE49-F238E27FC236}">
                <a16:creationId xmlns:a16="http://schemas.microsoft.com/office/drawing/2014/main" id="{F09266F3-7F28-90D7-2EC4-FB04E998C1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9188" y="2436813"/>
            <a:ext cx="3508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26637" name="TextBox 19">
            <a:extLst>
              <a:ext uri="{FF2B5EF4-FFF2-40B4-BE49-F238E27FC236}">
                <a16:creationId xmlns:a16="http://schemas.microsoft.com/office/drawing/2014/main" id="{1B643AAB-2F59-522A-FE5E-8A5762B5A6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2000" y="3562350"/>
            <a:ext cx="4794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Times New Roman" panose="02020603050405020304" pitchFamily="18" charset="0"/>
              </a:rPr>
              <a:t>O5</a:t>
            </a:r>
          </a:p>
        </p:txBody>
      </p:sp>
      <p:sp>
        <p:nvSpPr>
          <p:cNvPr id="26638" name="TextBox 20">
            <a:extLst>
              <a:ext uri="{FF2B5EF4-FFF2-40B4-BE49-F238E27FC236}">
                <a16:creationId xmlns:a16="http://schemas.microsoft.com/office/drawing/2014/main" id="{842DE77C-B110-A015-F8DF-D87D8C1B46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8863" y="3562350"/>
            <a:ext cx="4794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Times New Roman" panose="02020603050405020304" pitchFamily="18" charset="0"/>
              </a:rPr>
              <a:t>O6</a:t>
            </a:r>
          </a:p>
        </p:txBody>
      </p:sp>
      <p:sp>
        <p:nvSpPr>
          <p:cNvPr id="26639" name="TextBox 21">
            <a:extLst>
              <a:ext uri="{FF2B5EF4-FFF2-40B4-BE49-F238E27FC236}">
                <a16:creationId xmlns:a16="http://schemas.microsoft.com/office/drawing/2014/main" id="{2CDB48B1-B717-E4BE-1375-B33786B952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5850" y="5416550"/>
            <a:ext cx="4810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Times New Roman" panose="02020603050405020304" pitchFamily="18" charset="0"/>
              </a:rPr>
              <a:t>O7</a:t>
            </a:r>
          </a:p>
        </p:txBody>
      </p:sp>
      <p:sp>
        <p:nvSpPr>
          <p:cNvPr id="26640" name="TextBox 22">
            <a:extLst>
              <a:ext uri="{FF2B5EF4-FFF2-40B4-BE49-F238E27FC236}">
                <a16:creationId xmlns:a16="http://schemas.microsoft.com/office/drawing/2014/main" id="{381A190A-2881-9D82-78AA-03F7EACE76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4700" y="5394325"/>
            <a:ext cx="4794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Times New Roman" panose="02020603050405020304" pitchFamily="18" charset="0"/>
              </a:rPr>
              <a:t>O8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EF343E8-7724-C236-ECFA-FB88C7673452}"/>
              </a:ext>
            </a:extLst>
          </p:cNvPr>
          <p:cNvCxnSpPr/>
          <p:nvPr/>
        </p:nvCxnSpPr>
        <p:spPr>
          <a:xfrm flipV="1">
            <a:off x="6416675" y="4070350"/>
            <a:ext cx="1389063" cy="44450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169CE6C-A9B1-92AB-DAF0-C55BC65BEA13}"/>
              </a:ext>
            </a:extLst>
          </p:cNvPr>
          <p:cNvCxnSpPr/>
          <p:nvPr/>
        </p:nvCxnSpPr>
        <p:spPr>
          <a:xfrm flipH="1" flipV="1">
            <a:off x="5715000" y="3490913"/>
            <a:ext cx="658813" cy="102393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F409B3B-B840-A6ED-3004-49C98602EB99}"/>
              </a:ext>
            </a:extLst>
          </p:cNvPr>
          <p:cNvCxnSpPr/>
          <p:nvPr/>
        </p:nvCxnSpPr>
        <p:spPr>
          <a:xfrm flipH="1">
            <a:off x="5108575" y="4572000"/>
            <a:ext cx="1225550" cy="82232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A8CE631-5978-7AFD-FC44-2D7ECA8E721F}"/>
              </a:ext>
            </a:extLst>
          </p:cNvPr>
          <p:cNvCxnSpPr/>
          <p:nvPr/>
        </p:nvCxnSpPr>
        <p:spPr>
          <a:xfrm>
            <a:off x="6399213" y="4581525"/>
            <a:ext cx="1779587" cy="134302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1F38DDE9-A6AB-5B1C-62DD-C0B03E734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05: 3D Discrete Ordinates Method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CF5507A2-9CB6-F85E-8872-06DEEEB99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0273DF57-D3A1-554D-9BD6-C25167D102A2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8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675" name="TextBox 7">
            <a:extLst>
              <a:ext uri="{FF2B5EF4-FFF2-40B4-BE49-F238E27FC236}">
                <a16:creationId xmlns:a16="http://schemas.microsoft.com/office/drawing/2014/main" id="{D7A997C5-9A77-DD32-428A-C0F488CB75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25" y="808038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Directional Cosines in Octants</a:t>
            </a:r>
          </a:p>
        </p:txBody>
      </p:sp>
      <p:pic>
        <p:nvPicPr>
          <p:cNvPr id="28676" name="Picture 4" descr="Related image">
            <a:extLst>
              <a:ext uri="{FF2B5EF4-FFF2-40B4-BE49-F238E27FC236}">
                <a16:creationId xmlns:a16="http://schemas.microsoft.com/office/drawing/2014/main" id="{7EABDBAD-E210-A563-2039-087EDDF39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6213" y="700088"/>
            <a:ext cx="2625725" cy="282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7" name="TextBox 4">
            <a:extLst>
              <a:ext uri="{FF2B5EF4-FFF2-40B4-BE49-F238E27FC236}">
                <a16:creationId xmlns:a16="http://schemas.microsoft.com/office/drawing/2014/main" id="{386767EB-F089-9282-3672-179291B22D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2525" y="838200"/>
            <a:ext cx="257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-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0B175FE-D7B1-C0D7-48DC-09E050694378}"/>
              </a:ext>
            </a:extLst>
          </p:cNvPr>
          <p:cNvCxnSpPr>
            <a:cxnSpLocks/>
          </p:cNvCxnSpPr>
          <p:nvPr/>
        </p:nvCxnSpPr>
        <p:spPr>
          <a:xfrm flipV="1">
            <a:off x="6154738" y="3192463"/>
            <a:ext cx="0" cy="326072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D97ED00-5D20-BA40-FD71-DCD90A8A7D83}"/>
              </a:ext>
            </a:extLst>
          </p:cNvPr>
          <p:cNvCxnSpPr>
            <a:cxnSpLocks/>
          </p:cNvCxnSpPr>
          <p:nvPr/>
        </p:nvCxnSpPr>
        <p:spPr>
          <a:xfrm>
            <a:off x="3940175" y="4852988"/>
            <a:ext cx="4219575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80" name="Rectangle 10">
            <a:extLst>
              <a:ext uri="{FF2B5EF4-FFF2-40B4-BE49-F238E27FC236}">
                <a16:creationId xmlns:a16="http://schemas.microsoft.com/office/drawing/2014/main" id="{8D5976A5-5EED-26AA-352A-F7BB660A6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0588" y="4822825"/>
            <a:ext cx="4206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ξ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81" name="Rectangle 14">
            <a:extLst>
              <a:ext uri="{FF2B5EF4-FFF2-40B4-BE49-F238E27FC236}">
                <a16:creationId xmlns:a16="http://schemas.microsoft.com/office/drawing/2014/main" id="{134291E9-C34B-5D95-44BB-1361ED520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7213" y="4822825"/>
            <a:ext cx="4746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ξ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82" name="Rectangle 11">
            <a:extLst>
              <a:ext uri="{FF2B5EF4-FFF2-40B4-BE49-F238E27FC236}">
                <a16:creationId xmlns:a16="http://schemas.microsoft.com/office/drawing/2014/main" id="{88E096C5-290E-6271-11FF-C93D7DC56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4738" y="3551238"/>
            <a:ext cx="4937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83" name="Rectangle 16">
            <a:extLst>
              <a:ext uri="{FF2B5EF4-FFF2-40B4-BE49-F238E27FC236}">
                <a16:creationId xmlns:a16="http://schemas.microsoft.com/office/drawing/2014/main" id="{3EC4058A-E19B-F6F5-D795-6A61567A97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4738" y="5786438"/>
            <a:ext cx="4937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84" name="TextBox 12">
            <a:extLst>
              <a:ext uri="{FF2B5EF4-FFF2-40B4-BE49-F238E27FC236}">
                <a16:creationId xmlns:a16="http://schemas.microsoft.com/office/drawing/2014/main" id="{0E2ECE16-1006-4A97-DEDE-82BD966373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3563" y="4668838"/>
            <a:ext cx="3524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8685" name="TextBox 18">
            <a:extLst>
              <a:ext uri="{FF2B5EF4-FFF2-40B4-BE49-F238E27FC236}">
                <a16:creationId xmlns:a16="http://schemas.microsoft.com/office/drawing/2014/main" id="{0D2E6D33-5322-E2D2-8773-8DFF4F45C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113" y="2744788"/>
            <a:ext cx="3508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28686" name="TextBox 19">
            <a:extLst>
              <a:ext uri="{FF2B5EF4-FFF2-40B4-BE49-F238E27FC236}">
                <a16:creationId xmlns:a16="http://schemas.microsoft.com/office/drawing/2014/main" id="{2E09907B-9C34-D9C9-5755-8E332BB677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2925" y="3870325"/>
            <a:ext cx="4794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Times New Roman" panose="02020603050405020304" pitchFamily="18" charset="0"/>
              </a:rPr>
              <a:t>O1</a:t>
            </a:r>
          </a:p>
        </p:txBody>
      </p:sp>
      <p:sp>
        <p:nvSpPr>
          <p:cNvPr id="28687" name="TextBox 20">
            <a:extLst>
              <a:ext uri="{FF2B5EF4-FFF2-40B4-BE49-F238E27FC236}">
                <a16:creationId xmlns:a16="http://schemas.microsoft.com/office/drawing/2014/main" id="{C308C23D-583C-8D93-FDB8-F33006525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9788" y="3870325"/>
            <a:ext cx="4794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Times New Roman" panose="02020603050405020304" pitchFamily="18" charset="0"/>
              </a:rPr>
              <a:t>O2</a:t>
            </a:r>
          </a:p>
        </p:txBody>
      </p:sp>
      <p:sp>
        <p:nvSpPr>
          <p:cNvPr id="28688" name="TextBox 21">
            <a:extLst>
              <a:ext uri="{FF2B5EF4-FFF2-40B4-BE49-F238E27FC236}">
                <a16:creationId xmlns:a16="http://schemas.microsoft.com/office/drawing/2014/main" id="{31F5F870-8C25-B21A-E76F-851D48DD1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6775" y="5724525"/>
            <a:ext cx="4810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Times New Roman" panose="02020603050405020304" pitchFamily="18" charset="0"/>
              </a:rPr>
              <a:t>O3</a:t>
            </a:r>
          </a:p>
        </p:txBody>
      </p:sp>
      <p:sp>
        <p:nvSpPr>
          <p:cNvPr id="28689" name="TextBox 22">
            <a:extLst>
              <a:ext uri="{FF2B5EF4-FFF2-40B4-BE49-F238E27FC236}">
                <a16:creationId xmlns:a16="http://schemas.microsoft.com/office/drawing/2014/main" id="{D6016764-B619-7537-F31F-E9C40E5EA7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5625" y="5702300"/>
            <a:ext cx="4794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Times New Roman" panose="02020603050405020304" pitchFamily="18" charset="0"/>
              </a:rPr>
              <a:t>O4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6B26B05-75EA-ED4F-F574-F04733619FB2}"/>
              </a:ext>
            </a:extLst>
          </p:cNvPr>
          <p:cNvCxnSpPr>
            <a:cxnSpLocks/>
          </p:cNvCxnSpPr>
          <p:nvPr/>
        </p:nvCxnSpPr>
        <p:spPr>
          <a:xfrm flipV="1">
            <a:off x="6216650" y="4378325"/>
            <a:ext cx="1389063" cy="44450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F1E4445-B3E9-523E-D29B-56C6B38B810C}"/>
              </a:ext>
            </a:extLst>
          </p:cNvPr>
          <p:cNvCxnSpPr>
            <a:cxnSpLocks/>
          </p:cNvCxnSpPr>
          <p:nvPr/>
        </p:nvCxnSpPr>
        <p:spPr>
          <a:xfrm flipH="1" flipV="1">
            <a:off x="5495925" y="3798888"/>
            <a:ext cx="658813" cy="102393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8E20A51-EEA3-0F6A-CA98-BFDF4433CCCC}"/>
              </a:ext>
            </a:extLst>
          </p:cNvPr>
          <p:cNvCxnSpPr>
            <a:cxnSpLocks/>
          </p:cNvCxnSpPr>
          <p:nvPr/>
        </p:nvCxnSpPr>
        <p:spPr>
          <a:xfrm flipH="1">
            <a:off x="4889500" y="4879975"/>
            <a:ext cx="1225550" cy="82232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567D8F0-5E23-AED9-5311-C61C85CF36B3}"/>
              </a:ext>
            </a:extLst>
          </p:cNvPr>
          <p:cNvCxnSpPr>
            <a:cxnSpLocks/>
          </p:cNvCxnSpPr>
          <p:nvPr/>
        </p:nvCxnSpPr>
        <p:spPr>
          <a:xfrm>
            <a:off x="6180138" y="4908550"/>
            <a:ext cx="1779587" cy="134302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94" name="TextBox 14">
            <a:extLst>
              <a:ext uri="{FF2B5EF4-FFF2-40B4-BE49-F238E27FC236}">
                <a16:creationId xmlns:a16="http://schemas.microsoft.com/office/drawing/2014/main" id="{4CF611DC-8223-823F-ED90-19DD6652D2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25" y="1692275"/>
            <a:ext cx="3816350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Octant 1: +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+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ξ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 +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: up, right, front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Octant 2: +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-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ξ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 +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: up, left, front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Octant 3: +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-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ξ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 -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: up, left, back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Octant 4: +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+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ξ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 -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: up, right, back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Octant 5: -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+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ξ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 +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: down, right, front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Octant 6: -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-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ξ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 +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: down, left, front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Octant 7: -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-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ξ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 -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: down, left, back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Octant 8: -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+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ξ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 -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: down, right, back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1C15927B-D043-97FB-33AB-5201A476F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05: 3D Discrete Ordinates Method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18B017D1-3B80-36D8-EA27-861C51A94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4F11517A-252F-E24D-831D-C4973D29450A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9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23" name="TextBox 7">
            <a:extLst>
              <a:ext uri="{FF2B5EF4-FFF2-40B4-BE49-F238E27FC236}">
                <a16:creationId xmlns:a16="http://schemas.microsoft.com/office/drawing/2014/main" id="{415CC19E-BCEB-3D0D-6252-239B6C77CE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779463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 Sunlight</a:t>
            </a:r>
          </a:p>
        </p:txBody>
      </p:sp>
      <p:pic>
        <p:nvPicPr>
          <p:cNvPr id="30724" name="Picture 12">
            <a:extLst>
              <a:ext uri="{FF2B5EF4-FFF2-40B4-BE49-F238E27FC236}">
                <a16:creationId xmlns:a16="http://schemas.microsoft.com/office/drawing/2014/main" id="{894A2C37-8625-07C7-3D1B-E79F5D52D9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450" y="1050925"/>
            <a:ext cx="293688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3FBE559-19D6-C3FE-F67F-8697E7613FC7}"/>
              </a:ext>
            </a:extLst>
          </p:cNvPr>
          <p:cNvCxnSpPr/>
          <p:nvPr/>
        </p:nvCxnSpPr>
        <p:spPr>
          <a:xfrm flipH="1">
            <a:off x="3124200" y="987425"/>
            <a:ext cx="2163763" cy="154305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0FAC6E0-3AE3-A681-B7A6-9435CA3A34F0}"/>
              </a:ext>
            </a:extLst>
          </p:cNvPr>
          <p:cNvCxnSpPr/>
          <p:nvPr/>
        </p:nvCxnSpPr>
        <p:spPr>
          <a:xfrm flipH="1">
            <a:off x="3241675" y="1787525"/>
            <a:ext cx="2162175" cy="154305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27" name="Rectangle 2">
            <a:extLst>
              <a:ext uri="{FF2B5EF4-FFF2-40B4-BE49-F238E27FC236}">
                <a16:creationId xmlns:a16="http://schemas.microsoft.com/office/drawing/2014/main" id="{4671DF39-7795-B758-6B16-FEBA48835E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2913" y="971550"/>
            <a:ext cx="4365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l-GR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</a:p>
        </p:txBody>
      </p:sp>
      <p:sp>
        <p:nvSpPr>
          <p:cNvPr id="30728" name="Rectangle 30">
            <a:extLst>
              <a:ext uri="{FF2B5EF4-FFF2-40B4-BE49-F238E27FC236}">
                <a16:creationId xmlns:a16="http://schemas.microsoft.com/office/drawing/2014/main" id="{0E20D9EF-00F8-8603-7D3B-34D5E7B8CB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6438" y="982663"/>
            <a:ext cx="10842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l-GR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δ(</a:t>
            </a:r>
            <a:r>
              <a:rPr lang="el-GR" altLang="en-US" sz="20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l-GR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lang="el-GR" altLang="en-US" sz="20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0BFD3B8-FC0A-854F-F755-CDC2504BC475}"/>
              </a:ext>
            </a:extLst>
          </p:cNvPr>
          <p:cNvSpPr/>
          <p:nvPr/>
        </p:nvSpPr>
        <p:spPr>
          <a:xfrm flipH="1" flipV="1">
            <a:off x="3073400" y="2492375"/>
            <a:ext cx="85725" cy="96838"/>
          </a:xfrm>
          <a:prstGeom prst="ellipse">
            <a:avLst/>
          </a:prstGeom>
          <a:ln>
            <a:solidFill>
              <a:srgbClr val="1D31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5623FEE7-6A61-E8A9-7122-25F641261E4B}"/>
              </a:ext>
            </a:extLst>
          </p:cNvPr>
          <p:cNvSpPr/>
          <p:nvPr/>
        </p:nvSpPr>
        <p:spPr>
          <a:xfrm flipH="1" flipV="1">
            <a:off x="3173413" y="3289300"/>
            <a:ext cx="85725" cy="95250"/>
          </a:xfrm>
          <a:prstGeom prst="ellipse">
            <a:avLst/>
          </a:prstGeom>
          <a:ln>
            <a:solidFill>
              <a:srgbClr val="1D31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DCF89508-F6A3-4998-208F-426BF6C7A8E6}"/>
              </a:ext>
            </a:extLst>
          </p:cNvPr>
          <p:cNvSpPr/>
          <p:nvPr/>
        </p:nvSpPr>
        <p:spPr>
          <a:xfrm flipH="1" flipV="1">
            <a:off x="4138613" y="3829050"/>
            <a:ext cx="85725" cy="95250"/>
          </a:xfrm>
          <a:prstGeom prst="ellipse">
            <a:avLst/>
          </a:prstGeom>
          <a:ln>
            <a:solidFill>
              <a:srgbClr val="1D31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81A5CB9F-1EC6-8D09-CB40-96FEA7EF70A6}"/>
              </a:ext>
            </a:extLst>
          </p:cNvPr>
          <p:cNvCxnSpPr/>
          <p:nvPr/>
        </p:nvCxnSpPr>
        <p:spPr>
          <a:xfrm flipV="1">
            <a:off x="1190625" y="3762375"/>
            <a:ext cx="0" cy="278765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355E31F3-17EC-7257-BECC-87B0C261A30B}"/>
              </a:ext>
            </a:extLst>
          </p:cNvPr>
          <p:cNvCxnSpPr/>
          <p:nvPr/>
        </p:nvCxnSpPr>
        <p:spPr>
          <a:xfrm flipV="1">
            <a:off x="2660650" y="2233613"/>
            <a:ext cx="0" cy="278606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853143CB-4A68-544A-CD98-4587445BDD47}"/>
              </a:ext>
            </a:extLst>
          </p:cNvPr>
          <p:cNvCxnSpPr/>
          <p:nvPr/>
        </p:nvCxnSpPr>
        <p:spPr>
          <a:xfrm flipV="1">
            <a:off x="5048250" y="2239963"/>
            <a:ext cx="0" cy="27876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1037AED8-F5E7-99E7-9E0F-43B12D501C94}"/>
              </a:ext>
            </a:extLst>
          </p:cNvPr>
          <p:cNvCxnSpPr/>
          <p:nvPr/>
        </p:nvCxnSpPr>
        <p:spPr>
          <a:xfrm flipV="1">
            <a:off x="3578225" y="3770313"/>
            <a:ext cx="0" cy="27876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76BDA545-441D-FF56-1EC6-59E155C7F2FE}"/>
              </a:ext>
            </a:extLst>
          </p:cNvPr>
          <p:cNvCxnSpPr/>
          <p:nvPr/>
        </p:nvCxnSpPr>
        <p:spPr>
          <a:xfrm flipV="1">
            <a:off x="1189038" y="2233613"/>
            <a:ext cx="1470025" cy="152876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8F14D84-B8FE-9BD9-F9BC-15D0E8E4535D}"/>
              </a:ext>
            </a:extLst>
          </p:cNvPr>
          <p:cNvCxnSpPr/>
          <p:nvPr/>
        </p:nvCxnSpPr>
        <p:spPr>
          <a:xfrm flipV="1">
            <a:off x="3586163" y="2260600"/>
            <a:ext cx="1470025" cy="15303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22508D69-B66E-4468-715B-19A56874955C}"/>
              </a:ext>
            </a:extLst>
          </p:cNvPr>
          <p:cNvCxnSpPr/>
          <p:nvPr/>
        </p:nvCxnSpPr>
        <p:spPr>
          <a:xfrm flipV="1">
            <a:off x="1187450" y="5014913"/>
            <a:ext cx="1470025" cy="1528762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80BEBFA8-E217-AC59-CCF2-235A4B1207B6}"/>
              </a:ext>
            </a:extLst>
          </p:cNvPr>
          <p:cNvCxnSpPr/>
          <p:nvPr/>
        </p:nvCxnSpPr>
        <p:spPr>
          <a:xfrm flipV="1">
            <a:off x="3578225" y="5040313"/>
            <a:ext cx="1470025" cy="152876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40" name="TextBox 80">
            <a:extLst>
              <a:ext uri="{FF2B5EF4-FFF2-40B4-BE49-F238E27FC236}">
                <a16:creationId xmlns:a16="http://schemas.microsoft.com/office/drawing/2014/main" id="{9C5AE31E-C70C-BE34-763F-3340E57A1A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0875" y="3298825"/>
            <a:ext cx="6159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TOP</a:t>
            </a:r>
          </a:p>
        </p:txBody>
      </p:sp>
      <p:sp>
        <p:nvSpPr>
          <p:cNvPr id="30741" name="TextBox 81">
            <a:extLst>
              <a:ext uri="{FF2B5EF4-FFF2-40B4-BE49-F238E27FC236}">
                <a16:creationId xmlns:a16="http://schemas.microsoft.com/office/drawing/2014/main" id="{DB3126CB-9975-F93C-0C01-B06DF105BB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8613" y="3868738"/>
            <a:ext cx="8905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RIGHT</a:t>
            </a:r>
          </a:p>
        </p:txBody>
      </p:sp>
      <p:sp>
        <p:nvSpPr>
          <p:cNvPr id="30742" name="TextBox 84">
            <a:extLst>
              <a:ext uri="{FF2B5EF4-FFF2-40B4-BE49-F238E27FC236}">
                <a16:creationId xmlns:a16="http://schemas.microsoft.com/office/drawing/2014/main" id="{3D806562-4F75-0B80-BE9F-E46BABAB8E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738" y="3578225"/>
            <a:ext cx="3524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O</a:t>
            </a:r>
          </a:p>
        </p:txBody>
      </p:sp>
      <p:sp>
        <p:nvSpPr>
          <p:cNvPr id="30743" name="TextBox 85">
            <a:extLst>
              <a:ext uri="{FF2B5EF4-FFF2-40B4-BE49-F238E27FC236}">
                <a16:creationId xmlns:a16="http://schemas.microsoft.com/office/drawing/2014/main" id="{861A68AE-40ED-F0E2-2979-0612000FBB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1850" y="6496050"/>
            <a:ext cx="4349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X</a:t>
            </a:r>
            <a:r>
              <a:rPr lang="en-US" altLang="en-US" sz="1800" baseline="-250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30744" name="TextBox 86">
            <a:extLst>
              <a:ext uri="{FF2B5EF4-FFF2-40B4-BE49-F238E27FC236}">
                <a16:creationId xmlns:a16="http://schemas.microsoft.com/office/drawing/2014/main" id="{B0396066-0E1F-71F3-9C3C-24466AB226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0788" y="4903788"/>
            <a:ext cx="4349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Y</a:t>
            </a:r>
            <a:r>
              <a:rPr lang="en-US" altLang="en-US" sz="1800" baseline="-250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30745" name="TextBox 87">
            <a:extLst>
              <a:ext uri="{FF2B5EF4-FFF2-40B4-BE49-F238E27FC236}">
                <a16:creationId xmlns:a16="http://schemas.microsoft.com/office/drawing/2014/main" id="{27EC69CF-6B6A-68EB-AD94-2B3A07D892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675" y="6345238"/>
            <a:ext cx="4111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Z</a:t>
            </a:r>
            <a:r>
              <a:rPr lang="en-US" altLang="en-US" sz="1800" baseline="-25000">
                <a:latin typeface="Times New Roman" panose="02020603050405020304" pitchFamily="18" charset="0"/>
              </a:rPr>
              <a:t>S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C030FC8B-5DD0-B5D0-7AAE-45A852B00F65}"/>
              </a:ext>
            </a:extLst>
          </p:cNvPr>
          <p:cNvCxnSpPr/>
          <p:nvPr/>
        </p:nvCxnSpPr>
        <p:spPr>
          <a:xfrm>
            <a:off x="1674813" y="6786563"/>
            <a:ext cx="1301750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C1E7CE2D-66FF-61B6-456C-CCC2CB2B283B}"/>
              </a:ext>
            </a:extLst>
          </p:cNvPr>
          <p:cNvCxnSpPr/>
          <p:nvPr/>
        </p:nvCxnSpPr>
        <p:spPr>
          <a:xfrm flipV="1">
            <a:off x="4132263" y="5456238"/>
            <a:ext cx="863600" cy="88900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D7D1FF57-5382-7902-5D11-4B9EB0D507FF}"/>
              </a:ext>
            </a:extLst>
          </p:cNvPr>
          <p:cNvCxnSpPr/>
          <p:nvPr/>
        </p:nvCxnSpPr>
        <p:spPr>
          <a:xfrm>
            <a:off x="990600" y="4340225"/>
            <a:ext cx="0" cy="140017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74C2C5F2-CC4F-EBFF-DB9A-161FE8989F40}"/>
              </a:ext>
            </a:extLst>
          </p:cNvPr>
          <p:cNvCxnSpPr>
            <a:cxnSpLocks/>
          </p:cNvCxnSpPr>
          <p:nvPr/>
        </p:nvCxnSpPr>
        <p:spPr>
          <a:xfrm>
            <a:off x="2660650" y="2247900"/>
            <a:ext cx="238601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6A227A8C-4060-FBF8-24E1-57C5B031271A}"/>
              </a:ext>
            </a:extLst>
          </p:cNvPr>
          <p:cNvCxnSpPr>
            <a:cxnSpLocks/>
          </p:cNvCxnSpPr>
          <p:nvPr/>
        </p:nvCxnSpPr>
        <p:spPr>
          <a:xfrm>
            <a:off x="2660650" y="5040313"/>
            <a:ext cx="238601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AE47824C-91F2-CA9F-D3CF-A7B065F1851D}"/>
              </a:ext>
            </a:extLst>
          </p:cNvPr>
          <p:cNvCxnSpPr>
            <a:cxnSpLocks/>
          </p:cNvCxnSpPr>
          <p:nvPr/>
        </p:nvCxnSpPr>
        <p:spPr>
          <a:xfrm>
            <a:off x="1187450" y="3790950"/>
            <a:ext cx="23844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6F76DC3-2EB1-31DE-D82D-5CF4537BAA93}"/>
              </a:ext>
            </a:extLst>
          </p:cNvPr>
          <p:cNvCxnSpPr>
            <a:cxnSpLocks/>
          </p:cNvCxnSpPr>
          <p:nvPr/>
        </p:nvCxnSpPr>
        <p:spPr>
          <a:xfrm>
            <a:off x="1187450" y="6554788"/>
            <a:ext cx="2384425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53" name="TextBox 5">
            <a:extLst>
              <a:ext uri="{FF2B5EF4-FFF2-40B4-BE49-F238E27FC236}">
                <a16:creationId xmlns:a16="http://schemas.microsoft.com/office/drawing/2014/main" id="{0F2AC51F-3D46-2941-7566-6EC1FBE4D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6438" y="2306638"/>
            <a:ext cx="9413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FRONT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D8B1B7C7-8961-EAE7-B28A-EAFC25CC1671}"/>
              </a:ext>
            </a:extLst>
          </p:cNvPr>
          <p:cNvCxnSpPr/>
          <p:nvPr/>
        </p:nvCxnSpPr>
        <p:spPr>
          <a:xfrm flipH="1">
            <a:off x="4230688" y="2292350"/>
            <a:ext cx="2163762" cy="154305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55" name="TextBox 7">
            <a:extLst>
              <a:ext uri="{FF2B5EF4-FFF2-40B4-BE49-F238E27FC236}">
                <a16:creationId xmlns:a16="http://schemas.microsoft.com/office/drawing/2014/main" id="{DBEEC866-F692-6EC3-0B2E-43E3180532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9138" y="3162300"/>
            <a:ext cx="2928937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In this </a:t>
            </a:r>
            <a:r>
              <a:rPr lang="en-US" altLang="en-US" sz="1800">
                <a:solidFill>
                  <a:srgbClr val="1D31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l-GR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altLang="en-US" sz="1800">
                <a:solidFill>
                  <a:srgbClr val="223A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Octant 7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-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-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ξ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 -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1800">
                <a:solidFill>
                  <a:srgbClr val="223A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down, left, back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FCEDD49B-205A-2107-E3CE-5CB2F2B5F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05: 3D Discrete Ordinates Method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131A10A0-E823-3EB8-5279-F2EADBF59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64C3BA70-B2EF-9140-A49A-4AFE6E3DD089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10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71" name="TextBox 7">
            <a:extLst>
              <a:ext uri="{FF2B5EF4-FFF2-40B4-BE49-F238E27FC236}">
                <a16:creationId xmlns:a16="http://schemas.microsoft.com/office/drawing/2014/main" id="{1E63D6AF-8F8E-AFA4-B891-C6D5CCC9D8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779463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Diffuse Skylight</a:t>
            </a:r>
          </a:p>
        </p:txBody>
      </p:sp>
      <p:pic>
        <p:nvPicPr>
          <p:cNvPr id="32772" name="Picture 3">
            <a:extLst>
              <a:ext uri="{FF2B5EF4-FFF2-40B4-BE49-F238E27FC236}">
                <a16:creationId xmlns:a16="http://schemas.microsoft.com/office/drawing/2014/main" id="{78EFD725-9915-2838-322D-7D215BFBC2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7438" y="1530350"/>
            <a:ext cx="5516562" cy="395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3" name="TextBox 26">
            <a:extLst>
              <a:ext uri="{FF2B5EF4-FFF2-40B4-BE49-F238E27FC236}">
                <a16:creationId xmlns:a16="http://schemas.microsoft.com/office/drawing/2014/main" id="{DA304EA3-D2FF-AD60-2AD8-D17557B098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1303338"/>
            <a:ext cx="4732337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Diffuse sky illumination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l-GR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2000">
                <a:solidFill>
                  <a:srgbClr val="1D31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faces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except the bottom, </a:t>
            </a:r>
            <a:r>
              <a:rPr lang="en-US" altLang="en-US" sz="2000">
                <a:solidFill>
                  <a:srgbClr val="1D31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illuminated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2000">
              <a:solidFill>
                <a:srgbClr val="1D31F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Enters through directions in </a:t>
            </a:r>
            <a:r>
              <a:rPr lang="en-US" altLang="en-US" sz="2000">
                <a:solidFill>
                  <a:srgbClr val="1D31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Octants 5-8</a:t>
            </a:r>
            <a:r>
              <a:rPr lang="en-US" altLang="en-US" sz="2000">
                <a:solidFill>
                  <a:srgbClr val="1D31F4"/>
                </a:solidFill>
                <a:latin typeface="Times New Roman" panose="02020603050405020304" pitchFamily="18" charset="0"/>
              </a:rPr>
              <a:t> </a:t>
            </a:r>
          </a:p>
        </p:txBody>
      </p:sp>
      <p:pic>
        <p:nvPicPr>
          <p:cNvPr id="32774" name="Picture 11">
            <a:extLst>
              <a:ext uri="{FF2B5EF4-FFF2-40B4-BE49-F238E27FC236}">
                <a16:creationId xmlns:a16="http://schemas.microsoft.com/office/drawing/2014/main" id="{7638A8D7-74CF-0591-A467-3889A63579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5825" y="4052888"/>
            <a:ext cx="839788" cy="801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BADD96E6-3464-DD00-4AFD-CD49C1C14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05: 3D Discrete Ordinates Method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79D237F6-A6B1-1DB6-5587-18CD96F50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AA76BC9C-23D0-544A-88D0-2E1622B2D09E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11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819" name="TextBox 7">
            <a:extLst>
              <a:ext uri="{FF2B5EF4-FFF2-40B4-BE49-F238E27FC236}">
                <a16:creationId xmlns:a16="http://schemas.microsoft.com/office/drawing/2014/main" id="{8CB15D93-9BEA-03F4-E436-D83563CE67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779463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3D RTE</a:t>
            </a:r>
          </a:p>
        </p:txBody>
      </p:sp>
      <p:sp>
        <p:nvSpPr>
          <p:cNvPr id="34820" name="TextBox 26">
            <a:extLst>
              <a:ext uri="{FF2B5EF4-FFF2-40B4-BE49-F238E27FC236}">
                <a16:creationId xmlns:a16="http://schemas.microsoft.com/office/drawing/2014/main" id="{1D598A01-ACB9-3C30-872A-C807C3765D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1303338"/>
            <a:ext cx="29051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The governing 3D RTE is: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4821" name="Picture 4">
            <a:extLst>
              <a:ext uri="{FF2B5EF4-FFF2-40B4-BE49-F238E27FC236}">
                <a16:creationId xmlns:a16="http://schemas.microsoft.com/office/drawing/2014/main" id="{88BCBC86-A11B-C18A-AB40-08ED16A757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713" y="1828800"/>
            <a:ext cx="782320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2" name="TextBox 26">
            <a:extLst>
              <a:ext uri="{FF2B5EF4-FFF2-40B4-BE49-F238E27FC236}">
                <a16:creationId xmlns:a16="http://schemas.microsoft.com/office/drawing/2014/main" id="{A176B443-69ED-8687-5FFC-A307A3A909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2982913"/>
            <a:ext cx="910272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Separate the </a:t>
            </a:r>
            <a:r>
              <a:rPr lang="en-US" altLang="en-US" sz="2000">
                <a:solidFill>
                  <a:srgbClr val="223AF4"/>
                </a:solidFill>
                <a:latin typeface="Times New Roman" panose="02020603050405020304" pitchFamily="18" charset="0"/>
              </a:rPr>
              <a:t>total intensity </a:t>
            </a:r>
            <a:r>
              <a:rPr lang="en-US" altLang="en-US" sz="2000">
                <a:latin typeface="Times New Roman" panose="02020603050405020304" pitchFamily="18" charset="0"/>
              </a:rPr>
              <a:t>I into </a:t>
            </a:r>
            <a:r>
              <a:rPr lang="en-US" altLang="en-US" sz="2000">
                <a:solidFill>
                  <a:srgbClr val="223AF4"/>
                </a:solidFill>
                <a:latin typeface="Times New Roman" panose="02020603050405020304" pitchFamily="18" charset="0"/>
              </a:rPr>
              <a:t>uncollide</a:t>
            </a:r>
            <a:r>
              <a:rPr lang="en-US" altLang="en-US" sz="2000">
                <a:latin typeface="Times New Roman" panose="02020603050405020304" pitchFamily="18" charset="0"/>
              </a:rPr>
              <a:t>d (I</a:t>
            </a:r>
            <a:r>
              <a:rPr lang="en-US" altLang="en-US" sz="2000" baseline="30000">
                <a:latin typeface="Times New Roman" panose="02020603050405020304" pitchFamily="18" charset="0"/>
              </a:rPr>
              <a:t>0</a:t>
            </a:r>
            <a:r>
              <a:rPr lang="en-US" altLang="en-US" sz="2000">
                <a:latin typeface="Times New Roman" panose="02020603050405020304" pitchFamily="18" charset="0"/>
              </a:rPr>
              <a:t>) and </a:t>
            </a:r>
            <a:r>
              <a:rPr lang="en-US" altLang="en-US" sz="2000">
                <a:solidFill>
                  <a:srgbClr val="223AF4"/>
                </a:solidFill>
                <a:latin typeface="Times New Roman" panose="02020603050405020304" pitchFamily="18" charset="0"/>
              </a:rPr>
              <a:t>collided</a:t>
            </a:r>
            <a:r>
              <a:rPr lang="en-US" altLang="en-US" sz="2000">
                <a:latin typeface="Times New Roman" panose="02020603050405020304" pitchFamily="18" charset="0"/>
              </a:rPr>
              <a:t> (I</a:t>
            </a:r>
            <a:r>
              <a:rPr lang="en-US" altLang="en-US" sz="2000" baseline="30000">
                <a:latin typeface="Times New Roman" panose="02020603050405020304" pitchFamily="18" charset="0"/>
              </a:rPr>
              <a:t>C</a:t>
            </a:r>
            <a:r>
              <a:rPr lang="en-US" altLang="en-US" sz="2000">
                <a:latin typeface="Times New Roman" panose="02020603050405020304" pitchFamily="18" charset="0"/>
              </a:rPr>
              <a:t>) intensity. </a:t>
            </a:r>
            <a:r>
              <a:rPr lang="en-US" altLang="en-US" sz="2000">
                <a:solidFill>
                  <a:srgbClr val="223AF4"/>
                </a:solidFill>
                <a:latin typeface="Times New Roman" panose="02020603050405020304" pitchFamily="18" charset="0"/>
              </a:rPr>
              <a:t>The RTE for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2000">
              <a:solidFill>
                <a:srgbClr val="223AF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2000">
                <a:solidFill>
                  <a:srgbClr val="223A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uncollided intensity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is:</a:t>
            </a:r>
          </a:p>
        </p:txBody>
      </p:sp>
      <p:pic>
        <p:nvPicPr>
          <p:cNvPr id="34823" name="Picture 6">
            <a:extLst>
              <a:ext uri="{FF2B5EF4-FFF2-40B4-BE49-F238E27FC236}">
                <a16:creationId xmlns:a16="http://schemas.microsoft.com/office/drawing/2014/main" id="{AB286044-A8B0-B2C8-1C6A-9FF20966B5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6550" y="4094163"/>
            <a:ext cx="59309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4" name="TextBox 26">
            <a:extLst>
              <a:ext uri="{FF2B5EF4-FFF2-40B4-BE49-F238E27FC236}">
                <a16:creationId xmlns:a16="http://schemas.microsoft.com/office/drawing/2014/main" id="{9E0B0AB0-9E39-0305-8993-39B8715378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5222875"/>
            <a:ext cx="53022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We suppress wavelength dependence through out!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:a16="http://schemas.microsoft.com/office/drawing/2014/main" id="{E9154B13-D4C1-2EB2-6B4D-0EE4FA402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05: 3D Discrete Ordinates Method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042E6521-A01B-64B3-1D19-67D8DA435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C8843564-04E2-204E-A85C-B0FFEDFDAFC9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12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67" name="TextBox 7">
            <a:extLst>
              <a:ext uri="{FF2B5EF4-FFF2-40B4-BE49-F238E27FC236}">
                <a16:creationId xmlns:a16="http://schemas.microsoft.com/office/drawing/2014/main" id="{4C3D7A11-F566-3524-696B-84DD62728A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779463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Boundary Conditions for Uncollided 3D RTE</a:t>
            </a:r>
          </a:p>
        </p:txBody>
      </p:sp>
      <p:pic>
        <p:nvPicPr>
          <p:cNvPr id="36868" name="Picture 3">
            <a:extLst>
              <a:ext uri="{FF2B5EF4-FFF2-40B4-BE49-F238E27FC236}">
                <a16:creationId xmlns:a16="http://schemas.microsoft.com/office/drawing/2014/main" id="{8FD5B175-5B05-A8B8-7C13-9A14110732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1925" y="2041525"/>
            <a:ext cx="7124700" cy="241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9" name="TextBox 5">
            <a:extLst>
              <a:ext uri="{FF2B5EF4-FFF2-40B4-BE49-F238E27FC236}">
                <a16:creationId xmlns:a16="http://schemas.microsoft.com/office/drawing/2014/main" id="{8118189E-95E2-B6E8-FD78-3263BEC42F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600" y="2082800"/>
            <a:ext cx="539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1D31F4"/>
                </a:solidFill>
                <a:latin typeface="Times New Roman" panose="02020603050405020304" pitchFamily="18" charset="0"/>
              </a:rPr>
              <a:t>Top</a:t>
            </a:r>
          </a:p>
        </p:txBody>
      </p:sp>
      <p:sp>
        <p:nvSpPr>
          <p:cNvPr id="36870" name="TextBox 12">
            <a:extLst>
              <a:ext uri="{FF2B5EF4-FFF2-40B4-BE49-F238E27FC236}">
                <a16:creationId xmlns:a16="http://schemas.microsoft.com/office/drawing/2014/main" id="{4B618468-C6AB-B84A-2A84-093C5ECC66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713" y="2413000"/>
            <a:ext cx="568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1D31F4"/>
                </a:solidFill>
                <a:latin typeface="Times New Roman" panose="02020603050405020304" pitchFamily="18" charset="0"/>
              </a:rPr>
              <a:t>Left</a:t>
            </a:r>
          </a:p>
        </p:txBody>
      </p:sp>
      <p:sp>
        <p:nvSpPr>
          <p:cNvPr id="36871" name="TextBox 13">
            <a:extLst>
              <a:ext uri="{FF2B5EF4-FFF2-40B4-BE49-F238E27FC236}">
                <a16:creationId xmlns:a16="http://schemas.microsoft.com/office/drawing/2014/main" id="{A8CC1333-360E-41D4-68C4-E91CE963B5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600" y="2746375"/>
            <a:ext cx="696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1D31F4"/>
                </a:solidFill>
                <a:latin typeface="Times New Roman" panose="02020603050405020304" pitchFamily="18" charset="0"/>
              </a:rPr>
              <a:t>Right</a:t>
            </a:r>
          </a:p>
        </p:txBody>
      </p:sp>
      <p:sp>
        <p:nvSpPr>
          <p:cNvPr id="36872" name="TextBox 14">
            <a:extLst>
              <a:ext uri="{FF2B5EF4-FFF2-40B4-BE49-F238E27FC236}">
                <a16:creationId xmlns:a16="http://schemas.microsoft.com/office/drawing/2014/main" id="{A092E369-0B23-B01B-CD67-A691B88E5D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713" y="3073400"/>
            <a:ext cx="6588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1D31F4"/>
                </a:solidFill>
                <a:latin typeface="Times New Roman" panose="02020603050405020304" pitchFamily="18" charset="0"/>
              </a:rPr>
              <a:t>Back</a:t>
            </a:r>
          </a:p>
        </p:txBody>
      </p:sp>
      <p:sp>
        <p:nvSpPr>
          <p:cNvPr id="36873" name="TextBox 15">
            <a:extLst>
              <a:ext uri="{FF2B5EF4-FFF2-40B4-BE49-F238E27FC236}">
                <a16:creationId xmlns:a16="http://schemas.microsoft.com/office/drawing/2014/main" id="{C41BBD2D-2A6F-97EA-CB22-9DB7B07C79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475" y="3429000"/>
            <a:ext cx="685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1D31F4"/>
                </a:solidFill>
                <a:latin typeface="Times New Roman" panose="02020603050405020304" pitchFamily="18" charset="0"/>
              </a:rPr>
              <a:t>Front</a:t>
            </a:r>
          </a:p>
        </p:txBody>
      </p:sp>
      <p:sp>
        <p:nvSpPr>
          <p:cNvPr id="36874" name="TextBox 16">
            <a:extLst>
              <a:ext uri="{FF2B5EF4-FFF2-40B4-BE49-F238E27FC236}">
                <a16:creationId xmlns:a16="http://schemas.microsoft.com/office/drawing/2014/main" id="{6E9C46C3-B5AE-4F72-C753-4644A2CEE3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819525"/>
            <a:ext cx="8778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1D31F4"/>
                </a:solidFill>
                <a:latin typeface="Times New Roman" panose="02020603050405020304" pitchFamily="18" charset="0"/>
              </a:rPr>
              <a:t>Bottom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B803C74-371F-101B-4482-E503EFE43096}"/>
              </a:ext>
            </a:extLst>
          </p:cNvPr>
          <p:cNvCxnSpPr/>
          <p:nvPr/>
        </p:nvCxnSpPr>
        <p:spPr>
          <a:xfrm>
            <a:off x="1038225" y="2303463"/>
            <a:ext cx="150336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E769A23-E173-EFAC-1113-E1EABC72466A}"/>
              </a:ext>
            </a:extLst>
          </p:cNvPr>
          <p:cNvCxnSpPr/>
          <p:nvPr/>
        </p:nvCxnSpPr>
        <p:spPr>
          <a:xfrm>
            <a:off x="1033463" y="2614613"/>
            <a:ext cx="1503362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7184F26-B3DC-DAD1-D0D2-7EDE4B7A816F}"/>
              </a:ext>
            </a:extLst>
          </p:cNvPr>
          <p:cNvCxnSpPr/>
          <p:nvPr/>
        </p:nvCxnSpPr>
        <p:spPr>
          <a:xfrm>
            <a:off x="1044575" y="2957513"/>
            <a:ext cx="150336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84112DC-D0AE-E125-8194-E4CCBEA19369}"/>
              </a:ext>
            </a:extLst>
          </p:cNvPr>
          <p:cNvCxnSpPr/>
          <p:nvPr/>
        </p:nvCxnSpPr>
        <p:spPr>
          <a:xfrm>
            <a:off x="1044575" y="3290888"/>
            <a:ext cx="150336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5E1A274-B758-C2FD-88B4-5F179C6BE0F2}"/>
              </a:ext>
            </a:extLst>
          </p:cNvPr>
          <p:cNvCxnSpPr/>
          <p:nvPr/>
        </p:nvCxnSpPr>
        <p:spPr>
          <a:xfrm>
            <a:off x="1033463" y="3627438"/>
            <a:ext cx="1503362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47A3ED4-59FC-63AD-C5DB-C7BE4F9871F2}"/>
              </a:ext>
            </a:extLst>
          </p:cNvPr>
          <p:cNvCxnSpPr>
            <a:cxnSpLocks/>
          </p:cNvCxnSpPr>
          <p:nvPr/>
        </p:nvCxnSpPr>
        <p:spPr>
          <a:xfrm>
            <a:off x="823913" y="4021138"/>
            <a:ext cx="919162" cy="127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881" name="TextBox 19">
            <a:extLst>
              <a:ext uri="{FF2B5EF4-FFF2-40B4-BE49-F238E27FC236}">
                <a16:creationId xmlns:a16="http://schemas.microsoft.com/office/drawing/2014/main" id="{B83490CF-95FD-D410-086D-67E018631D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4900613"/>
            <a:ext cx="89408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l-GR" altLang="en-US" sz="1800">
                <a:latin typeface="Times New Roman" panose="02020603050405020304" pitchFamily="18" charset="0"/>
              </a:rPr>
              <a:t>ρ</a:t>
            </a:r>
            <a:r>
              <a:rPr lang="en-US" altLang="en-US" sz="1800" baseline="-25000">
                <a:latin typeface="Times New Roman" panose="02020603050405020304" pitchFamily="18" charset="0"/>
              </a:rPr>
              <a:t>s</a:t>
            </a:r>
            <a:r>
              <a:rPr lang="el-GR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latin typeface="Times New Roman" panose="02020603050405020304" pitchFamily="18" charset="0"/>
              </a:rPr>
              <a:t>is the </a:t>
            </a:r>
            <a:r>
              <a:rPr lang="en-US" altLang="en-US" sz="1800">
                <a:solidFill>
                  <a:srgbClr val="223AF4"/>
                </a:solidFill>
                <a:latin typeface="Times New Roman" panose="02020603050405020304" pitchFamily="18" charset="0"/>
              </a:rPr>
              <a:t>wavelength-dependent bi-directional reflectance function of the ground </a:t>
            </a:r>
            <a:r>
              <a:rPr lang="en-US" altLang="en-US" sz="1800">
                <a:latin typeface="Times New Roman" panose="02020603050405020304" pitchFamily="18" charset="0"/>
              </a:rPr>
              <a:t>below the canopy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7E0A899E-32BF-C1C5-644E-D70BAE0EE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05: 3D Discrete Ordinates Method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B0AAA42F-68F2-833F-E70B-3AE90BEB0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16EC04CA-67A1-1D43-8FCC-4BF6A08FD37D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13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8915" name="TextBox 7">
            <a:extLst>
              <a:ext uri="{FF2B5EF4-FFF2-40B4-BE49-F238E27FC236}">
                <a16:creationId xmlns:a16="http://schemas.microsoft.com/office/drawing/2014/main" id="{94BC3C37-91FC-11D6-901D-EB2ABF9E53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779463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Analytical Solution for the Uncollided 3D RTE</a:t>
            </a:r>
          </a:p>
        </p:txBody>
      </p:sp>
      <p:sp>
        <p:nvSpPr>
          <p:cNvPr id="38916" name="TextBox 19">
            <a:extLst>
              <a:ext uri="{FF2B5EF4-FFF2-40B4-BE49-F238E27FC236}">
                <a16:creationId xmlns:a16="http://schemas.microsoft.com/office/drawing/2014/main" id="{0EA81B92-91F7-B628-06CB-96C3EB0C01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1303338"/>
            <a:ext cx="8940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The uncollided RTE has an </a:t>
            </a:r>
            <a:r>
              <a:rPr lang="en-US" altLang="en-US" sz="1800">
                <a:solidFill>
                  <a:srgbClr val="223AF4"/>
                </a:solidFill>
                <a:latin typeface="Times New Roman" panose="02020603050405020304" pitchFamily="18" charset="0"/>
              </a:rPr>
              <a:t>analytical solution</a:t>
            </a:r>
            <a:r>
              <a:rPr lang="en-US" altLang="en-US" sz="1800">
                <a:latin typeface="Times New Roman" panose="02020603050405020304" pitchFamily="18" charset="0"/>
              </a:rPr>
              <a:t>:</a:t>
            </a:r>
          </a:p>
        </p:txBody>
      </p:sp>
      <p:pic>
        <p:nvPicPr>
          <p:cNvPr id="38917" name="Picture 4">
            <a:extLst>
              <a:ext uri="{FF2B5EF4-FFF2-40B4-BE49-F238E27FC236}">
                <a16:creationId xmlns:a16="http://schemas.microsoft.com/office/drawing/2014/main" id="{428552AD-13F9-4782-3F41-D2FE001A58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8863" y="1727200"/>
            <a:ext cx="4356100" cy="96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8" name="Rectangle 6">
            <a:extLst>
              <a:ext uri="{FF2B5EF4-FFF2-40B4-BE49-F238E27FC236}">
                <a16:creationId xmlns:a16="http://schemas.microsoft.com/office/drawing/2014/main" id="{48AB3B04-5DC4-D1C1-8A57-0CFD96D09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3" y="2909888"/>
            <a:ext cx="896143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is a point on the top or the lateral faces of the canopy and </a:t>
            </a:r>
            <a:r>
              <a:rPr lang="en-US" altLang="en-US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is a point on the ground below the canopy. The quantity</a:t>
            </a:r>
          </a:p>
        </p:txBody>
      </p:sp>
      <p:pic>
        <p:nvPicPr>
          <p:cNvPr id="38919" name="Picture 10">
            <a:extLst>
              <a:ext uri="{FF2B5EF4-FFF2-40B4-BE49-F238E27FC236}">
                <a16:creationId xmlns:a16="http://schemas.microsoft.com/office/drawing/2014/main" id="{D28089D7-9B9C-8CBB-62D8-F59BF6A925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7613" y="3657600"/>
            <a:ext cx="4038600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20" name="TextBox 11">
            <a:extLst>
              <a:ext uri="{FF2B5EF4-FFF2-40B4-BE49-F238E27FC236}">
                <a16:creationId xmlns:a16="http://schemas.microsoft.com/office/drawing/2014/main" id="{BAE984D7-40C8-EA7D-C00F-FD83AD1D29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4887913"/>
            <a:ext cx="8961437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denotes the </a:t>
            </a:r>
            <a:r>
              <a:rPr lang="en-US" altLang="en-US" sz="1800">
                <a:solidFill>
                  <a:srgbClr val="262DF4"/>
                </a:solidFill>
                <a:latin typeface="Times New Roman" panose="02020603050405020304" pitchFamily="18" charset="0"/>
              </a:rPr>
              <a:t>probability of photons not experiencing collisions </a:t>
            </a:r>
            <a:r>
              <a:rPr lang="en-US" altLang="en-US" sz="1800">
                <a:latin typeface="Times New Roman" panose="02020603050405020304" pitchFamily="18" charset="0"/>
              </a:rPr>
              <a:t>while traveling along </a:t>
            </a:r>
            <a:r>
              <a:rPr lang="el-GR" altLang="en-US" sz="1800" u="sng">
                <a:latin typeface="Times New Roman" panose="02020603050405020304" pitchFamily="18" charset="0"/>
              </a:rPr>
              <a:t>Ω</a:t>
            </a:r>
            <a:r>
              <a:rPr lang="el-GR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latin typeface="Times New Roman" panose="02020603050405020304" pitchFamily="18" charset="0"/>
              </a:rPr>
              <a:t>between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the points </a:t>
            </a:r>
            <a:r>
              <a:rPr lang="en-US" altLang="en-US" sz="1800" u="sng">
                <a:latin typeface="Times New Roman" panose="02020603050405020304" pitchFamily="18" charset="0"/>
              </a:rPr>
              <a:t>r</a:t>
            </a:r>
            <a:r>
              <a:rPr lang="en-US" altLang="en-US" sz="1800" baseline="-25000"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latin typeface="Times New Roman" panose="02020603050405020304" pitchFamily="18" charset="0"/>
              </a:rPr>
              <a:t> and </a:t>
            </a:r>
            <a:r>
              <a:rPr lang="en-US" altLang="en-US" sz="1800" u="sng">
                <a:latin typeface="Times New Roman" panose="02020603050405020304" pitchFamily="18" charset="0"/>
              </a:rPr>
              <a:t>r</a:t>
            </a:r>
            <a:r>
              <a:rPr lang="en-US" altLang="en-US" sz="1800" baseline="-25000">
                <a:latin typeface="Times New Roman" panose="02020603050405020304" pitchFamily="18" charset="0"/>
              </a:rPr>
              <a:t>2</a:t>
            </a:r>
            <a:r>
              <a:rPr lang="en-US" altLang="en-US" sz="1800">
                <a:latin typeface="Times New Roman" panose="02020603050405020304" pitchFamily="18" charset="0"/>
              </a:rPr>
              <a:t>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Thus, </a:t>
            </a:r>
            <a:r>
              <a:rPr lang="en-US" altLang="en-US" sz="1800">
                <a:solidFill>
                  <a:srgbClr val="1D31F4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1800" baseline="30000">
                <a:solidFill>
                  <a:srgbClr val="1D31F4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1800">
                <a:solidFill>
                  <a:srgbClr val="1D31F4"/>
                </a:solidFill>
                <a:latin typeface="Times New Roman" panose="02020603050405020304" pitchFamily="18" charset="0"/>
              </a:rPr>
              <a:t> can be calculated for any location within the canopy and on the boundary faces of the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1D31F4"/>
                </a:solidFill>
                <a:latin typeface="Times New Roman" panose="02020603050405020304" pitchFamily="18" charset="0"/>
              </a:rPr>
              <a:t>canopy for any direction </a:t>
            </a:r>
            <a:r>
              <a:rPr lang="el-GR" altLang="en-US" sz="1800" u="sng">
                <a:solidFill>
                  <a:srgbClr val="1D31F4"/>
                </a:solidFill>
                <a:latin typeface="Times New Roman" panose="02020603050405020304" pitchFamily="18" charset="0"/>
              </a:rPr>
              <a:t>Ω</a:t>
            </a:r>
            <a:r>
              <a:rPr lang="el-GR" altLang="en-US" sz="1800">
                <a:solidFill>
                  <a:srgbClr val="1D31F4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1D31F4"/>
                </a:solidFill>
                <a:latin typeface="Times New Roman" panose="02020603050405020304" pitchFamily="18" charset="0"/>
              </a:rPr>
              <a:t>in the sphere</a:t>
            </a:r>
            <a:r>
              <a:rPr lang="en-US" altLang="en-US" sz="1800">
                <a:latin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>
            <a:extLst>
              <a:ext uri="{FF2B5EF4-FFF2-40B4-BE49-F238E27FC236}">
                <a16:creationId xmlns:a16="http://schemas.microsoft.com/office/drawing/2014/main" id="{FEE3E2B7-F1D8-E7D0-3170-34EE60088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05: 3D Discrete Ordinates Method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94E622FA-F1BF-539E-1C0A-06E895EA4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898D60B5-9CD2-0241-A114-CAD676971B62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14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963" name="TextBox 7">
            <a:extLst>
              <a:ext uri="{FF2B5EF4-FFF2-40B4-BE49-F238E27FC236}">
                <a16:creationId xmlns:a16="http://schemas.microsoft.com/office/drawing/2014/main" id="{D5F6317D-F67B-DD13-D676-A22CE7A750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779463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Analytical Solution for the Uncollided 3D RTE</a:t>
            </a:r>
          </a:p>
        </p:txBody>
      </p:sp>
      <p:sp>
        <p:nvSpPr>
          <p:cNvPr id="40964" name="TextBox 19">
            <a:extLst>
              <a:ext uri="{FF2B5EF4-FFF2-40B4-BE49-F238E27FC236}">
                <a16:creationId xmlns:a16="http://schemas.microsoft.com/office/drawing/2014/main" id="{121F1E1D-D29B-7F7E-EFAA-1B598B6705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1243013"/>
            <a:ext cx="8940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The uncollided intensity in a downward direction (octants 5-8) is:</a:t>
            </a:r>
          </a:p>
        </p:txBody>
      </p:sp>
      <p:pic>
        <p:nvPicPr>
          <p:cNvPr id="40965" name="Picture 10">
            <a:extLst>
              <a:ext uri="{FF2B5EF4-FFF2-40B4-BE49-F238E27FC236}">
                <a16:creationId xmlns:a16="http://schemas.microsoft.com/office/drawing/2014/main" id="{57DF5C6A-D372-3884-843F-63B80F6FEE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8238" y="2084388"/>
            <a:ext cx="4038600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6" name="Picture 3">
            <a:extLst>
              <a:ext uri="{FF2B5EF4-FFF2-40B4-BE49-F238E27FC236}">
                <a16:creationId xmlns:a16="http://schemas.microsoft.com/office/drawing/2014/main" id="{E8C106C4-8CD8-E77C-10AE-9D7FEB6640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5538" y="1628775"/>
            <a:ext cx="4051300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D821EFC-1E1E-8C0B-30E6-D78B24151AD1}"/>
              </a:ext>
            </a:extLst>
          </p:cNvPr>
          <p:cNvCxnSpPr/>
          <p:nvPr/>
        </p:nvCxnSpPr>
        <p:spPr>
          <a:xfrm>
            <a:off x="1703388" y="3817938"/>
            <a:ext cx="54070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FE77778-57C6-36CD-7ADD-49ED1E0189DD}"/>
              </a:ext>
            </a:extLst>
          </p:cNvPr>
          <p:cNvCxnSpPr/>
          <p:nvPr/>
        </p:nvCxnSpPr>
        <p:spPr>
          <a:xfrm>
            <a:off x="1703388" y="6108700"/>
            <a:ext cx="54070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30C3E1D-DE5D-B4C1-A582-C7AE6C4C3C8C}"/>
              </a:ext>
            </a:extLst>
          </p:cNvPr>
          <p:cNvCxnSpPr/>
          <p:nvPr/>
        </p:nvCxnSpPr>
        <p:spPr>
          <a:xfrm>
            <a:off x="2701925" y="3317875"/>
            <a:ext cx="3116263" cy="2379663"/>
          </a:xfrm>
          <a:prstGeom prst="straightConnector1">
            <a:avLst/>
          </a:prstGeom>
          <a:ln w="38100">
            <a:solidFill>
              <a:srgbClr val="1D1DF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592ED8AC-06D3-B144-6A2B-A27EBBA9077E}"/>
              </a:ext>
            </a:extLst>
          </p:cNvPr>
          <p:cNvSpPr/>
          <p:nvPr/>
        </p:nvSpPr>
        <p:spPr>
          <a:xfrm flipV="1">
            <a:off x="4902200" y="4962525"/>
            <a:ext cx="157163" cy="1317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0971" name="TextBox 13">
            <a:extLst>
              <a:ext uri="{FF2B5EF4-FFF2-40B4-BE49-F238E27FC236}">
                <a16:creationId xmlns:a16="http://schemas.microsoft.com/office/drawing/2014/main" id="{0AA85B0C-BF3E-450D-3517-1080658C46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3913" y="3386138"/>
            <a:ext cx="3841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u="sng">
                <a:latin typeface="Times New Roman" panose="02020603050405020304" pitchFamily="18" charset="0"/>
              </a:rPr>
              <a:t>r</a:t>
            </a:r>
            <a:r>
              <a:rPr lang="en-US" altLang="en-US" sz="2000" baseline="-250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0972" name="TextBox 12">
            <a:extLst>
              <a:ext uri="{FF2B5EF4-FFF2-40B4-BE49-F238E27FC236}">
                <a16:creationId xmlns:a16="http://schemas.microsoft.com/office/drawing/2014/main" id="{84FA62FD-A746-2EA1-516F-29D5108947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3963" y="4762500"/>
            <a:ext cx="2698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u="sng">
                <a:solidFill>
                  <a:schemeClr val="tx1"/>
                </a:solidFill>
              </a:rPr>
              <a:t>r</a:t>
            </a:r>
          </a:p>
        </p:txBody>
      </p:sp>
      <p:pic>
        <p:nvPicPr>
          <p:cNvPr id="40973" name="Picture 14" descr="A black text with a white background&#10;&#10;Description automatically generated">
            <a:extLst>
              <a:ext uri="{FF2B5EF4-FFF2-40B4-BE49-F238E27FC236}">
                <a16:creationId xmlns:a16="http://schemas.microsoft.com/office/drawing/2014/main" id="{39A24E94-3FDB-0EB1-20C1-CC13699FCB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25" y="4829175"/>
            <a:ext cx="7667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74" name="Picture 16" descr="A close up of a text&#10;&#10;Description automatically generated">
            <a:extLst>
              <a:ext uri="{FF2B5EF4-FFF2-40B4-BE49-F238E27FC236}">
                <a16:creationId xmlns:a16="http://schemas.microsoft.com/office/drawing/2014/main" id="{2AAE236C-EB42-2A54-9CA3-77AA5E612D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4063" y="3438525"/>
            <a:ext cx="784225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B4690E4E-CEB2-134F-CBA7-D6FE67C7FD9D}"/>
              </a:ext>
            </a:extLst>
          </p:cNvPr>
          <p:cNvSpPr/>
          <p:nvPr/>
        </p:nvSpPr>
        <p:spPr>
          <a:xfrm flipV="1">
            <a:off x="3255963" y="3722688"/>
            <a:ext cx="157162" cy="13176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>
            <a:extLst>
              <a:ext uri="{FF2B5EF4-FFF2-40B4-BE49-F238E27FC236}">
                <a16:creationId xmlns:a16="http://schemas.microsoft.com/office/drawing/2014/main" id="{18EB8AE5-404F-B944-705E-8B0F7A3D0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05: 3D Discrete Ordinates Method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591B028A-BD85-C76F-B98D-682A621FD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3A966097-3751-2844-A655-FE0AF6797F42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15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011" name="TextBox 7">
            <a:extLst>
              <a:ext uri="{FF2B5EF4-FFF2-40B4-BE49-F238E27FC236}">
                <a16:creationId xmlns:a16="http://schemas.microsoft.com/office/drawing/2014/main" id="{E6D8DF82-5510-19A1-B98E-2AE56D6CB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779463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Analytical Solution for the Uncollided 3D RTE</a:t>
            </a:r>
          </a:p>
        </p:txBody>
      </p:sp>
      <p:sp>
        <p:nvSpPr>
          <p:cNvPr id="43012" name="TextBox 19">
            <a:extLst>
              <a:ext uri="{FF2B5EF4-FFF2-40B4-BE49-F238E27FC236}">
                <a16:creationId xmlns:a16="http://schemas.microsoft.com/office/drawing/2014/main" id="{2AAFA4A1-DB97-5D64-B837-8AAFD83473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1243013"/>
            <a:ext cx="8940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The uncollided intensity in a upward direction (octants 1-4) is:</a:t>
            </a:r>
          </a:p>
        </p:txBody>
      </p:sp>
      <p:pic>
        <p:nvPicPr>
          <p:cNvPr id="43013" name="Picture 10">
            <a:extLst>
              <a:ext uri="{FF2B5EF4-FFF2-40B4-BE49-F238E27FC236}">
                <a16:creationId xmlns:a16="http://schemas.microsoft.com/office/drawing/2014/main" id="{B8589596-469E-9343-238C-BCAD7E13A1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8388" y="2133600"/>
            <a:ext cx="4038600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4" name="Picture 4">
            <a:extLst>
              <a:ext uri="{FF2B5EF4-FFF2-40B4-BE49-F238E27FC236}">
                <a16:creationId xmlns:a16="http://schemas.microsoft.com/office/drawing/2014/main" id="{3AF9B823-126D-EE9D-AABD-22453B8E47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8225" y="1778000"/>
            <a:ext cx="423703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5" name="Picture 16" descr="A diagram of a line with a red dot and a blue arrow&#10;&#10;Description automatically generated">
            <a:extLst>
              <a:ext uri="{FF2B5EF4-FFF2-40B4-BE49-F238E27FC236}">
                <a16:creationId xmlns:a16="http://schemas.microsoft.com/office/drawing/2014/main" id="{D5BF7FCE-4F2D-60C9-0380-2869FAE7F7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9263" y="3517900"/>
            <a:ext cx="5451475" cy="288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D6384C4-5E61-BE15-BC18-5D1ED566F765}"/>
              </a:ext>
            </a:extLst>
          </p:cNvPr>
          <p:cNvCxnSpPr>
            <a:cxnSpLocks/>
          </p:cNvCxnSpPr>
          <p:nvPr/>
        </p:nvCxnSpPr>
        <p:spPr>
          <a:xfrm flipV="1">
            <a:off x="3113088" y="3346450"/>
            <a:ext cx="2093912" cy="2724150"/>
          </a:xfrm>
          <a:prstGeom prst="straightConnector1">
            <a:avLst/>
          </a:prstGeom>
          <a:ln w="38100">
            <a:solidFill>
              <a:srgbClr val="231A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07A33987-7438-1B66-6C3A-16D8F90A6F7A}"/>
              </a:ext>
            </a:extLst>
          </p:cNvPr>
          <p:cNvSpPr/>
          <p:nvPr/>
        </p:nvSpPr>
        <p:spPr>
          <a:xfrm>
            <a:off x="3587750" y="5294313"/>
            <a:ext cx="174625" cy="10795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43018" name="Picture 14" descr="A group of black symbols&#10;&#10;Description automatically generated">
            <a:extLst>
              <a:ext uri="{FF2B5EF4-FFF2-40B4-BE49-F238E27FC236}">
                <a16:creationId xmlns:a16="http://schemas.microsoft.com/office/drawing/2014/main" id="{B54AF572-F93B-F9A3-1AAF-A7326423E4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3850" y="5183188"/>
            <a:ext cx="706438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9" name="TextBox 8">
            <a:extLst>
              <a:ext uri="{FF2B5EF4-FFF2-40B4-BE49-F238E27FC236}">
                <a16:creationId xmlns:a16="http://schemas.microsoft.com/office/drawing/2014/main" id="{0D6C8C73-0EB3-9DCB-C811-4AAB1BF373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4963" y="5997575"/>
            <a:ext cx="3937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u="sng">
                <a:solidFill>
                  <a:schemeClr val="tx1"/>
                </a:solidFill>
              </a:rPr>
              <a:t>r</a:t>
            </a:r>
            <a:r>
              <a:rPr lang="en-US" altLang="en-US" sz="2000" baseline="-2500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43020" name="TextBox 11">
            <a:extLst>
              <a:ext uri="{FF2B5EF4-FFF2-40B4-BE49-F238E27FC236}">
                <a16:creationId xmlns:a16="http://schemas.microsoft.com/office/drawing/2014/main" id="{7606E94D-718B-9D71-717A-D3771E15E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5225" y="5148263"/>
            <a:ext cx="2698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u="sng">
                <a:solidFill>
                  <a:schemeClr val="tx1"/>
                </a:solidFill>
              </a:rPr>
              <a:t>r</a:t>
            </a:r>
          </a:p>
        </p:txBody>
      </p:sp>
      <p:pic>
        <p:nvPicPr>
          <p:cNvPr id="43021" name="Picture 10" descr="A close up of a text&#10;&#10;Description automatically generated">
            <a:extLst>
              <a:ext uri="{FF2B5EF4-FFF2-40B4-BE49-F238E27FC236}">
                <a16:creationId xmlns:a16="http://schemas.microsoft.com/office/drawing/2014/main" id="{EC533380-49A6-7B35-5940-D9F9F8377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9375" y="5894388"/>
            <a:ext cx="828675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Oval 22">
            <a:extLst>
              <a:ext uri="{FF2B5EF4-FFF2-40B4-BE49-F238E27FC236}">
                <a16:creationId xmlns:a16="http://schemas.microsoft.com/office/drawing/2014/main" id="{118AFD61-51E5-490C-DEAF-B6C235AAB3C2}"/>
              </a:ext>
            </a:extLst>
          </p:cNvPr>
          <p:cNvSpPr/>
          <p:nvPr/>
        </p:nvSpPr>
        <p:spPr>
          <a:xfrm>
            <a:off x="3025775" y="6022975"/>
            <a:ext cx="173038" cy="10795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9119</TotalTime>
  <Words>1149</Words>
  <Application>Microsoft Macintosh PowerPoint</Application>
  <PresentationFormat>On-screen Show (4:3)</PresentationFormat>
  <Paragraphs>245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Helvetica</vt:lpstr>
      <vt:lpstr>Times</vt:lpstr>
      <vt:lpstr>Times New Roman</vt:lpstr>
      <vt:lpstr>Office Theme</vt:lpstr>
      <vt:lpstr>PHYSICAL MODELS IN REMOTE SENSING Chapter 04 – Part 05: 3D Discrete Ordinates Method</vt:lpstr>
      <vt:lpstr>PHYSICAL MODELS IN REMOTE SENSING Chapter 04 – Part 05: 3D Discrete Ordinates Method</vt:lpstr>
      <vt:lpstr>PHYSICAL MODELS IN REMOTE SENSING Chapter 04 – Part 05: 3D Discrete Ordinates Method</vt:lpstr>
      <vt:lpstr>PHYSICAL MODELS IN REMOTE SENSING Chapter 04 – Part 05: 3D Discrete Ordinates Method</vt:lpstr>
      <vt:lpstr>PHYSICAL MODELS IN REMOTE SENSING Chapter 04 – Part 05: 3D Discrete Ordinates Method</vt:lpstr>
      <vt:lpstr>PHYSICAL MODELS IN REMOTE SENSING Chapter 04 – Part 05: 3D Discrete Ordinates Method</vt:lpstr>
      <vt:lpstr>PHYSICAL MODELS IN REMOTE SENSING Chapter 04 – Part 05: 3D Discrete Ordinates Method</vt:lpstr>
      <vt:lpstr>PHYSICAL MODELS IN REMOTE SENSING Chapter 04 – Part 05: 3D Discrete Ordinates Method</vt:lpstr>
      <vt:lpstr>PHYSICAL MODELS IN REMOTE SENSING Chapter 04 – Part 05: 3D Discrete Ordinates Method</vt:lpstr>
      <vt:lpstr>PHYSICAL MODELS IN REMOTE SENSING Chapter 04 – Part 05: 3D Discrete Ordinates Method</vt:lpstr>
      <vt:lpstr>PHYSICAL MODELS IN REMOTE SENSING Chapter 04 – Part 05: 3D Discrete Ordinates Method</vt:lpstr>
      <vt:lpstr>PHYSICAL MODELS IN REMOTE SENSING Chapter 04 – Part 05: 3D Discrete Ordinates Method</vt:lpstr>
      <vt:lpstr>PHYSICAL MODELS IN REMOTE SENSING Chapter 04 – Part 05: 3D Discrete Ordinates Method</vt:lpstr>
      <vt:lpstr>PHYSICAL MODELS IN REMOTE SENSING Chapter 04 – Part 05: 3D Discrete Ordinates Method</vt:lpstr>
      <vt:lpstr>PHYSICAL MODELS IN REMOTE SENSING Chapter 04 – Part 05: 3D Discrete Ordinates Method</vt:lpstr>
    </vt:vector>
  </TitlesOfParts>
  <Company>OAO/JPL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OAO JPL</dc:creator>
  <cp:lastModifiedBy>Myneni, Ranga</cp:lastModifiedBy>
  <cp:revision>927</cp:revision>
  <cp:lastPrinted>2019-09-03T16:52:39Z</cp:lastPrinted>
  <dcterms:created xsi:type="dcterms:W3CDTF">2012-01-16T18:47:06Z</dcterms:created>
  <dcterms:modified xsi:type="dcterms:W3CDTF">2026-04-11T19:51:12Z</dcterms:modified>
</cp:coreProperties>
</file>