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25"/>
  </p:notesMasterIdLst>
  <p:sldIdLst>
    <p:sldId id="762" r:id="rId2"/>
    <p:sldId id="798" r:id="rId3"/>
    <p:sldId id="764" r:id="rId4"/>
    <p:sldId id="771" r:id="rId5"/>
    <p:sldId id="772" r:id="rId6"/>
    <p:sldId id="773" r:id="rId7"/>
    <p:sldId id="776" r:id="rId8"/>
    <p:sldId id="777" r:id="rId9"/>
    <p:sldId id="799" r:id="rId10"/>
    <p:sldId id="802" r:id="rId11"/>
    <p:sldId id="804" r:id="rId12"/>
    <p:sldId id="778" r:id="rId13"/>
    <p:sldId id="779" r:id="rId14"/>
    <p:sldId id="780" r:id="rId15"/>
    <p:sldId id="800" r:id="rId16"/>
    <p:sldId id="801" r:id="rId17"/>
    <p:sldId id="803" r:id="rId18"/>
    <p:sldId id="782" r:id="rId19"/>
    <p:sldId id="783" r:id="rId20"/>
    <p:sldId id="784" r:id="rId21"/>
    <p:sldId id="790" r:id="rId22"/>
    <p:sldId id="785" r:id="rId23"/>
    <p:sldId id="786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F2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92"/>
    <p:restoredTop sz="94660"/>
  </p:normalViewPr>
  <p:slideViewPr>
    <p:cSldViewPr snapToGrid="0">
      <p:cViewPr varScale="1">
        <p:scale>
          <a:sx n="146" d="100"/>
          <a:sy n="146" d="100"/>
        </p:scale>
        <p:origin x="784" y="184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67E6101E-259F-3714-BCB1-D316684370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89928C29-1A27-BFD7-E56C-85B7C4EF368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636C801B-0D7A-5EB3-F5A0-87F13CDED80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614AAF7F-C590-CAE6-EA65-088F2D3C0DF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9A448705-7C1D-1A2C-5628-DC6D7EE6B5F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6010A7ED-3BC0-1981-5A21-8F8FAE60C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D244CD94-4F3F-3643-A497-3346C0BF52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5EAE1120-8C31-7A50-327E-E67303BC9E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172C6D-1122-404E-877B-23EB2EE95B0D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7BF91F5A-D79A-9D81-B7A9-582509346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1999AE8-C064-F23D-186D-36A4B5716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512E-D170-BD42-5E63-F6AB9424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B3AF04D6-41B9-5A38-65D7-423CF1AD15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48E96EA-C82E-7049-9822-410CCE0CE4FE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5E6E5D2F-6CD5-DE4D-03C9-CF4F074CD1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E9F838D-0F39-6C6E-B0BF-D8BE48943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2753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553A15CC-2E32-08DF-A67C-570E3272F8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F9C7C39-950F-3047-A4B7-BEE15E284593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D1EF8BD2-4D4E-4DFC-EC0D-D6E7C4FB3B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BF447F0-7C08-0B6C-DE1E-C68E9CC048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5F957C9-4DDC-C7D3-6023-1462F112CF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8FE2B6A-0DE5-F947-BC1B-CC94C42582A6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2E59D2C2-A5FA-72BD-0A3A-8FAEFC88FD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AC665057-CF37-FEF4-5B61-F7F243DD2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1D9795BC-C3E3-C5E7-D390-E5540436A2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50D22C-B028-FF47-BCE0-2F0A78046BD6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884F2577-5392-3E97-897F-13A4878D05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65B307D-0C8E-373E-F38F-56E3D3725F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B9EBDBAD-CA63-49A7-ACA7-491FF2F89F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0D5CFC-62EF-4B4B-B406-DDAF5D7BC736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3A06B19C-4D58-D000-FA60-F59D84807F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3B4B539-5D08-B7E4-C9A7-35129CEA4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23958031-BD12-BAAD-F6EC-AD91FAAD69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9C90EED-E7DB-3E4B-8A43-38D9789E8074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9ADD8771-69A0-1958-C46E-C25DA170F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CFBB194-6AFA-0E6C-2943-49B7ECC7B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0F53953B-E81E-225C-277D-D83BB73056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E2001-E425-464F-8FB3-E0A6B617D693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5713E69E-8227-62A6-9D1C-D911B57B7C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741D579-EA8D-3DE1-D03D-DA030C584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0E771-BB96-E50A-86B0-033F8AC2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CEF9FF96-977D-8A0A-CADA-48B5574F1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E2001-E425-464F-8FB3-E0A6B617D693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9E7FAE43-2FB8-C752-23A2-1BE8E2346B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F2AEAB1-E8CF-9BB5-46D8-9254B4121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7746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C2E4-E567-8053-8F3D-ED53F182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1B4BBA8A-20AE-7C49-F38F-1435814B2A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E2001-E425-464F-8FB3-E0A6B617D693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FB388A5C-AC88-420A-5868-36DD72B440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6AAC79A2-1E06-6A9C-919B-5056F8A6B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5432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9C978-A7A2-091B-D3BE-A0EFF01D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0F5CB045-60D7-B5B4-1CC8-97A4A95ABB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E2001-E425-464F-8FB3-E0A6B617D693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5F197ED2-72E7-795C-8A72-95886B6BF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B2E61B8-0919-0CA5-5513-D642809F2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0550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59C0A636-9C00-E3E2-38A4-2546934D22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6ED406-DFE0-2A4F-B36C-62FB051B2F57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BEBE85A1-0927-8449-827C-30B25300D8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A36D208-A92A-0002-59C4-157FCBA67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2996B407-C871-CC6D-B80C-293609BEA7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0DB7999-A2C1-5841-A436-C587BFDF62E6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E7BAF634-5BEB-F305-8CF5-01579F067E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16633D1E-6431-AA3B-E34E-81416EB712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84A69AA4-CA2F-F0E6-E461-BE1DC66B2A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DEBE3E-424D-624B-8F42-1A7880C52CC2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B38DA836-6866-D8D5-38B3-706F3F29F8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59C3914-5916-398E-99F5-F8693D2A0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DD0A3-1AEB-D78C-AD0C-CE7CE7A7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B1BCCD21-64E5-E87D-A259-7B6277CE23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DEBE3E-424D-624B-8F42-1A7880C52CC2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1B5C3D34-E77C-D3C0-54B5-686F9C2576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0928A87D-8C50-1521-7EAB-D3F3FC3E1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4546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3F4E8-83A3-7FDF-03F0-53C30BC2C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D78B82FC-FB86-AF39-A450-C0E4F61AB3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DEBE3E-424D-624B-8F42-1A7880C52CC2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AF4F0841-F7EF-0872-1607-87DECCE72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575E3E11-96A8-27D2-BB3A-35A0E359EB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3553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30B8-774B-2BA6-E611-814796EA0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2D447FE5-0593-DF25-98F2-D04CA20674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DEBE3E-424D-624B-8F42-1A7880C52CC2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3F752A46-125B-5EC7-5C20-AD660DABD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5FEFFFD-E83B-4FB0-FC7A-271291F8DA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752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939E3512-FD5F-B624-2E6E-C1DD298E87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224842B-ED4D-464D-AF41-FBBE59A3ABE2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8C86961F-7BD2-657F-6E6F-1ADE4FEE22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F50C8759-76CF-C6BB-D9B0-AC2F12BFA8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E3D33EA1-AA2A-2680-EA13-EC2F29650E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9BAE764-9F6D-0043-8932-8F4ECEECD7D6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AF202419-307F-B751-C418-162A07D832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914BED24-FE03-A590-B342-FCFB5CF44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1CDA1CCE-387C-B8FE-4601-EB138ED53A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22F9EB5-87D3-5648-AAB0-62CFAC615035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AA101DE9-4E9A-AFF4-2BC4-3AAEA55271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0341F76-FBF8-1548-DDE6-81DF52A09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7608C166-B1C2-CD97-982B-BC622EB456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3761A6-2F24-B74C-8EE2-302D0C790D1B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4366D370-B873-7E44-0E41-71878D39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2340682E-6D0A-99EA-7071-A04EB6C3A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F00EE939-3D7E-D947-4DA4-488013B5CD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AF31EA0-0D3D-F045-853E-AC778C38EA76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1690D9D5-17F7-AD72-B64A-870B7548FF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D6C7CC8-D18C-6CFE-A511-49DB0D8BC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34BA7254-8D4A-1EB6-F234-9E7F09C0B5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8F1379C-58E2-D64A-874B-26AAC959B0AF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63D55F5A-C3A2-FC3B-D2F2-E923525051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9B5FEC11-A097-1E9E-EB9D-E498131E0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26815-5457-1853-C04A-89D7E2C0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2D9B1-5BCD-6F4F-BA81-D268C32A6E39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F3D40-977B-3027-5087-D2DA0B52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CCF3D-A344-1E56-1874-EEAF460E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3814F-AC31-BB4D-97A2-3957BB5140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09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2F7CE-5362-0C36-BA3B-E16758F3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C7248-24C2-ED41-B7AE-7DA15D318B4C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93834-137A-163E-D902-0B82278C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AF552-6CA1-BBB7-0C42-F405F1F1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55C69-A0B6-724F-ADDD-CCE4E78C3B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6518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82223-E569-240E-17D0-6958371C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A5A0E-25C7-7747-978E-A12643A05C1E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2B1C8-FAEC-2791-EE2D-9D6F828D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37A4D-D731-72DE-E057-2B496DCE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39F7A-A8A6-0745-9EE2-79A2C12179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3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AF7549C-71A6-7C06-CBFD-C8EE6CF2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952E7-79AC-0946-B287-86803D92738B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6A1776E-1B8A-47D9-2993-E2E57A1B4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A4E35B-B30A-E7F8-C4D6-4B1B5362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A424C-F6C7-814A-B351-7CB57825BF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81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64E3068-9BC7-46DF-7231-954E11F9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8C25F-002C-6D41-8292-5530EC6A1DE0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3F7FBEE-AF42-2247-B41F-B5EC9B2CF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EF8823-AD02-3049-A51B-DDB6DBFA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6FC78-8509-6A4E-B38F-9F70DEA959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8086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E5913C6-87CA-ADC5-4C81-97911F78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CBD89-1842-9A49-AC32-C05CFEDC3139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259A70D-820E-6950-A80B-50188C99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4AE443-A1BF-0DD1-FA56-1748E583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1529A-AD09-AC44-A9DF-80B3CCBB19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350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DEF7F7A-2C74-B815-C70E-645B24238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68E8A-F794-C04F-9A00-AB16C837AFD8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EFAF47F-3572-C412-CB5F-81025B5C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02B89D5-4E0C-6DA4-0863-474FC8CF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90E96-ECAB-1D4D-9789-62F5A92197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62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6DB9B6-5B80-A721-58AC-C50886DA1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D6892-A10A-5344-98A5-0792775CB028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240EBA4-6662-3E85-1C6F-ED101DA2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2B2F4B-DDE8-DCE5-A47F-F4FF6C2E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28EB4-19B7-0747-A3C3-03EBA4D3D9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778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BA6E1CB-1839-D0EC-4F7A-0CB7ED43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FEEBD-28D8-2C46-A2A9-892CE2F3B669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1C4569-130F-C191-43B6-C892D57AE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69FF66-DA1E-CF6F-30DD-95DFAFF6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741B5-3CAE-3A45-8F78-427BCC33E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67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E3BC7-0913-888F-84B1-22532E8A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1A063-41BD-4541-BD98-F74A0BAB0E71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4936F-D173-CF1C-D67D-357984E9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17538-CAB8-0220-F7D5-63D03E49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E5D24-28B8-2245-A1A8-631C29F0FF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479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99854-509B-C682-E8DD-99A679C7D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0157B-8D54-9C43-893B-A706E9856088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7E2A-6D75-B0DD-4658-CCA7904D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01DC-EECE-F9A4-BD83-935522ED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261FE-B3F3-CA44-B51C-45E0AD7353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71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67A1266-C456-D8FF-E9C4-CB3D5B4ACE2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6EB56EA-8812-5AE9-25C1-2E1EA4D26E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25DCF-8724-87E8-EAA9-C93586506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C93E46D3-6E91-514B-9AA5-985B47C0D48F}" type="datetime1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7A7F4-93A3-E094-AD4D-4DA2B835A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E70F5-1C0F-27DB-B30B-9222161B5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F53E07F1-F4C6-3244-9EA8-03B0F48549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27063843-B062-BF2B-C089-3ECD36FF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1543B33-5FC8-447B-AADB-518C2CFF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8950" y="6492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16F9198-9E77-2142-ACE0-993C763014D5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0" name="TextBox 7">
            <a:extLst>
              <a:ext uri="{FF2B5EF4-FFF2-40B4-BE49-F238E27FC236}">
                <a16:creationId xmlns:a16="http://schemas.microsoft.com/office/drawing/2014/main" id="{426D822A-F4D8-8E39-8350-DB48ACA61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827" y="1456904"/>
            <a:ext cx="6216685" cy="2702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Quantities Evaluated After 6 Steps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Collided Problem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Discretize the Collided RTE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Sweep Equations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Iterate on the Source till Convergence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Energy Balance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Plots to Show Sensitivity to Inputs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Field Data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11CD-7777-F9D3-D11E-95E55267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45245C7-C09A-CC20-AD32-6DE67647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47D1FA5-2055-8E47-A777-5C53121E283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2" name="TextBox 7">
            <a:extLst>
              <a:ext uri="{FF2B5EF4-FFF2-40B4-BE49-F238E27FC236}">
                <a16:creationId xmlns:a16="http://schemas.microsoft.com/office/drawing/2014/main" id="{7189D895-7019-9586-7EB3-F28B78396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7" y="734294"/>
            <a:ext cx="319167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 we have now?</a:t>
            </a:r>
          </a:p>
        </p:txBody>
      </p:sp>
      <p:sp>
        <p:nvSpPr>
          <p:cNvPr id="30723" name="TextBox 9">
            <a:extLst>
              <a:ext uri="{FF2B5EF4-FFF2-40B4-BE49-F238E27FC236}">
                <a16:creationId xmlns:a16="http://schemas.microsoft.com/office/drawing/2014/main" id="{73D7FEE6-0864-5032-FB8B-E1DE83BDA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19" y="1431884"/>
            <a:ext cx="8395761" cy="5022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altLang="en-US" sz="1800" b="1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 (Part One, C4-P3)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evaluated and saved the following quantities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u="sng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k = 1, 2, 3 … K+1 for direct solar radiation (downward) direction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= 1, 2, 3 … K+1 for all downward directions due to diffuse sky radiation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= 1, 2, 3 … K+1 for all upwards directions due to reflection at ground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= 1, 2, 3 … K for all directions due to direct solar radiation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= 1, 2, 3 … K for all directions due to diffuse sky radiation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1,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3 … K for all upwards directions due to reflection at ground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the sum  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EB0027CA-7993-76E4-3CBB-28A14B58BA6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</p:spTree>
    <p:extLst>
      <p:ext uri="{BB962C8B-B14F-4D97-AF65-F5344CB8AC3E}">
        <p14:creationId xmlns:p14="http://schemas.microsoft.com/office/powerpoint/2010/main" val="385659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65432561-E5A0-B12B-E81E-EBB8D56E3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A81475E-3969-0DD1-7E11-82945F71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526FCA5-92F9-1B45-B8A1-D857781AB8D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B76F45A8-C4C2-C888-DD06-D0BB675E7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7a: The Collided Problem</a:t>
            </a: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7588A2D7-5E83-3BB5-8978-E24C81F16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319213"/>
            <a:ext cx="79152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TextBox 5">
            <a:extLst>
              <a:ext uri="{FF2B5EF4-FFF2-40B4-BE49-F238E27FC236}">
                <a16:creationId xmlns:a16="http://schemas.microsoft.com/office/drawing/2014/main" id="{615BEA2D-CC7D-D601-DBDA-AEF3B8736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221038"/>
            <a:ext cx="3525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 Q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first collision source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</a:p>
        </p:txBody>
      </p:sp>
      <p:pic>
        <p:nvPicPr>
          <p:cNvPr id="36870" name="Picture 7">
            <a:extLst>
              <a:ext uri="{FF2B5EF4-FFF2-40B4-BE49-F238E27FC236}">
                <a16:creationId xmlns:a16="http://schemas.microsoft.com/office/drawing/2014/main" id="{DF07C2BB-2527-0C51-B309-F176D2979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3802063"/>
            <a:ext cx="38735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TextBox 10">
            <a:extLst>
              <a:ext uri="{FF2B5EF4-FFF2-40B4-BE49-F238E27FC236}">
                <a16:creationId xmlns:a16="http://schemas.microsoft.com/office/drawing/2014/main" id="{0DD7A1BE-4D55-BF90-D1D2-7ABDEC466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632325"/>
            <a:ext cx="48529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and S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distributed (multiple-collision) source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</a:p>
        </p:txBody>
      </p:sp>
      <p:pic>
        <p:nvPicPr>
          <p:cNvPr id="36872" name="Picture 9">
            <a:extLst>
              <a:ext uri="{FF2B5EF4-FFF2-40B4-BE49-F238E27FC236}">
                <a16:creationId xmlns:a16="http://schemas.microsoft.com/office/drawing/2014/main" id="{1C69B791-7BC2-D009-42F5-122DC4E6B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8" y="5360988"/>
            <a:ext cx="4094162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5BC563C-EA47-4F13-25C5-8E45D793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1413" y="6424613"/>
            <a:ext cx="3683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D63C887-3009-6748-9C0E-07E2048AC7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4" name="TextBox 7">
            <a:extLst>
              <a:ext uri="{FF2B5EF4-FFF2-40B4-BE49-F238E27FC236}">
                <a16:creationId xmlns:a16="http://schemas.microsoft.com/office/drawing/2014/main" id="{1C3EE87E-299F-F83F-648B-C0D45F8F9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6762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7b: Approximate</a:t>
            </a: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BEA3AB3C-65E7-A48C-3D43-97185FD6B30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sp>
        <p:nvSpPr>
          <p:cNvPr id="38916" name="TextBox 9">
            <a:extLst>
              <a:ext uri="{FF2B5EF4-FFF2-40B4-BE49-F238E27FC236}">
                <a16:creationId xmlns:a16="http://schemas.microsoft.com/office/drawing/2014/main" id="{E628FFDF-6F0A-91DE-227E-F72E6A909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1493838"/>
            <a:ext cx="8239125" cy="236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The </a:t>
            </a: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spatial derivative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I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/L as (1/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L) [I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-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Cell-center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collided intensity as: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(1/2) [I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+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know cell-center </a:t>
            </a: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collision source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Q(L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from previous slide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evaluate the cell-center </a:t>
            </a: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scattering source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a similar manner, i.e.</a:t>
            </a:r>
          </a:p>
        </p:txBody>
      </p:sp>
      <p:sp>
        <p:nvSpPr>
          <p:cNvPr id="38917" name="TextBox 9">
            <a:extLst>
              <a:ext uri="{FF2B5EF4-FFF2-40B4-BE49-F238E27FC236}">
                <a16:creationId xmlns:a16="http://schemas.microsoft.com/office/drawing/2014/main" id="{3E41A6B7-0395-B062-EA9A-CE1D56046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4275138"/>
            <a:ext cx="884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1800" dirty="0">
                <a:latin typeface="Times New Roman" panose="02020603050405020304" pitchFamily="18" charset="0"/>
              </a:rPr>
              <a:t> (1/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8918" name="TextBox 17">
            <a:extLst>
              <a:ext uri="{FF2B5EF4-FFF2-40B4-BE49-F238E27FC236}">
                <a16:creationId xmlns:a16="http://schemas.microsoft.com/office/drawing/2014/main" id="{3023EA97-63C4-AF1B-6956-F8A6BB9ED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4529138"/>
            <a:ext cx="425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n=1</a:t>
            </a:r>
          </a:p>
        </p:txBody>
      </p:sp>
      <p:sp>
        <p:nvSpPr>
          <p:cNvPr id="38919" name="TextBox 18">
            <a:extLst>
              <a:ext uri="{FF2B5EF4-FFF2-40B4-BE49-F238E27FC236}">
                <a16:creationId xmlns:a16="http://schemas.microsoft.com/office/drawing/2014/main" id="{5A372B24-E5DB-503B-7131-2D24DCAAE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8" y="4113213"/>
            <a:ext cx="2952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38920" name="TextBox 19">
            <a:extLst>
              <a:ext uri="{FF2B5EF4-FFF2-40B4-BE49-F238E27FC236}">
                <a16:creationId xmlns:a16="http://schemas.microsoft.com/office/drawing/2014/main" id="{9079C89E-13C9-7F97-0F54-6382FEAED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552950"/>
            <a:ext cx="4683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m=1</a:t>
            </a:r>
          </a:p>
        </p:txBody>
      </p:sp>
      <p:sp>
        <p:nvSpPr>
          <p:cNvPr id="38921" name="TextBox 20">
            <a:extLst>
              <a:ext uri="{FF2B5EF4-FFF2-40B4-BE49-F238E27FC236}">
                <a16:creationId xmlns:a16="http://schemas.microsoft.com/office/drawing/2014/main" id="{D223BC9A-8ECA-F735-0D72-D429976ED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113213"/>
            <a:ext cx="527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m=M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ED5370A-00C0-F3FE-2BE3-5942CF9E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4C9E0B52-F1C4-5F40-BDC5-7B7C6A38ACD7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2" name="TextBox 7">
            <a:extLst>
              <a:ext uri="{FF2B5EF4-FFF2-40B4-BE49-F238E27FC236}">
                <a16:creationId xmlns:a16="http://schemas.microsoft.com/office/drawing/2014/main" id="{3FEF86D8-E98F-C49C-4309-8D96AB126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83502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8: Discretized RTE for Scattered Intensity</a:t>
            </a: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3F49EE3-81B7-30AA-62C9-69BCC78DE3C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sp>
        <p:nvSpPr>
          <p:cNvPr id="40964" name="TextBox 9">
            <a:extLst>
              <a:ext uri="{FF2B5EF4-FFF2-40B4-BE49-F238E27FC236}">
                <a16:creationId xmlns:a16="http://schemas.microsoft.com/office/drawing/2014/main" id="{ED62AAB3-E518-D3E6-E21E-86AACD6E1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3351213"/>
            <a:ext cx="8848725" cy="236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LHS contains only </a:t>
            </a: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cell-edge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collided intensities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Q is already </a:t>
            </a: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 is </a:t>
            </a: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but is evaluated from </a:t>
            </a:r>
            <a:r>
              <a:rPr lang="en-US" altLang="en-US" sz="180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collided cell-center intensity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cell-center collided intensity itself can be evaluated from </a:t>
            </a: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cell-edge collided intensities</a:t>
            </a:r>
          </a:p>
        </p:txBody>
      </p:sp>
      <p:sp>
        <p:nvSpPr>
          <p:cNvPr id="40965" name="TextBox 9">
            <a:extLst>
              <a:ext uri="{FF2B5EF4-FFF2-40B4-BE49-F238E27FC236}">
                <a16:creationId xmlns:a16="http://schemas.microsoft.com/office/drawing/2014/main" id="{0351B4BD-FF67-C07C-326B-03103225B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1736725"/>
            <a:ext cx="8848725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(1/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L) [I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-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)] + G(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(1/2) [I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+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)] =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Q(L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+ S(L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B5F8F3F-83E9-BE25-525D-0CBE3A86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8741BED3-F9EA-8140-820D-58EF3A54829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0" name="TextBox 7">
            <a:extLst>
              <a:ext uri="{FF2B5EF4-FFF2-40B4-BE49-F238E27FC236}">
                <a16:creationId xmlns:a16="http://schemas.microsoft.com/office/drawing/2014/main" id="{6CAF2FD4-B875-11F8-E9BD-21F7DAF8A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83502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9: Derive Equations for Sweeping</a:t>
            </a: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8EAFAEA-0CEC-44BF-2D87-01951AC042A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2" name="TextBox 9">
                <a:extLst>
                  <a:ext uri="{FF2B5EF4-FFF2-40B4-BE49-F238E27FC236}">
                    <a16:creationId xmlns:a16="http://schemas.microsoft.com/office/drawing/2014/main" id="{9878A302-89B1-CFEA-3B92-E7605B16CE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183" y="1534297"/>
                <a:ext cx="7308850" cy="50229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manipulate the </a:t>
                </a:r>
                <a:r>
                  <a:rPr lang="en-US" altLang="en-US" sz="1800" dirty="0">
                    <a:solidFill>
                      <a:srgbClr val="273B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discretized RTE 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(previous slide) to obtain:</a:t>
                </a:r>
              </a:p>
              <a:p>
                <a:pPr>
                  <a:buFont typeface="Arial" panose="020B0604020202020204" pitchFamily="34" charset="0"/>
                  <a:buNone/>
                </a:pPr>
                <a:endPara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altLang="en-US" sz="1800" dirty="0">
                    <a:solidFill>
                      <a:srgbClr val="2F3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downward directions 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</a:p>
              <a:p>
                <a:pPr>
                  <a:buFont typeface="Arial" panose="020B0604020202020204" pitchFamily="34" charset="0"/>
                  <a:buNone/>
                </a:pPr>
                <a:endPara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1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</a:t>
                </a:r>
                <a:r>
                  <a:rPr lang="en-US" altLang="en-US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en-US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en-US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</a:t>
                </a:r>
                <a:r>
                  <a:rPr lang="en-US" altLang="en-US" sz="1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</a:t>
                </a:r>
                <a:r>
                  <a:rPr lang="en-US" altLang="en-US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en-US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- </a:t>
                </a:r>
                <a:r>
                  <a:rPr lang="en-US" altLang="en-US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J(L</a:t>
                </a:r>
                <a:r>
                  <a:rPr lang="en-US" altLang="en-US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k+(1/2)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en-US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buFont typeface="Arial" panose="020B0604020202020204" pitchFamily="34" charset="0"/>
                  <a:buNone/>
                </a:pPr>
                <a:endPara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altLang="en-US" sz="1800" dirty="0">
                    <a:solidFill>
                      <a:srgbClr val="2F3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upward directions 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</a:p>
              <a:p>
                <a:pPr>
                  <a:buFont typeface="Arial" panose="020B0604020202020204" pitchFamily="34" charset="0"/>
                  <a:buNone/>
                </a:pPr>
                <a:endPara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1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</a:t>
                </a:r>
                <a:r>
                  <a:rPr lang="en-US" altLang="en-US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en-US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en-US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</a:t>
                </a:r>
                <a:r>
                  <a:rPr lang="en-US" altLang="en-US" sz="1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</a:t>
                </a:r>
                <a:r>
                  <a:rPr lang="en-US" altLang="en-US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en-US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</a:t>
                </a:r>
                <a:r>
                  <a:rPr lang="en-US" altLang="en-US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J(L</a:t>
                </a:r>
                <a:r>
                  <a:rPr lang="en-US" altLang="en-US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k+(1/2)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en-US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buFont typeface="Arial" panose="020B0604020202020204" pitchFamily="34" charset="0"/>
                  <a:buNone/>
                </a:pPr>
                <a:endPara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J is the </a:t>
                </a:r>
                <a:r>
                  <a:rPr lang="en-US" altLang="en-US" sz="1800" dirty="0">
                    <a:solidFill>
                      <a:srgbClr val="273B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source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>
                  <a:buFont typeface="Arial" panose="020B0604020202020204" pitchFamily="34" charset="0"/>
                  <a:buNone/>
                </a:pPr>
                <a:endPara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J(L</a:t>
                </a:r>
                <a:r>
                  <a:rPr lang="en-US" altLang="en-US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k+(1/2)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en-US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Q(L</a:t>
                </a:r>
                <a:r>
                  <a:rPr lang="en-US" altLang="en-US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k+(1/2)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en-US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S(L</a:t>
                </a:r>
                <a:r>
                  <a:rPr lang="en-US" altLang="en-US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k+(1/2)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en-US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en-US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>
                  <a:buFont typeface="Arial" panose="020B0604020202020204" pitchFamily="34" charset="0"/>
                  <a:buNone/>
                </a:pPr>
                <a:endPara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en-US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en-US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en-US" altLang="en-US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0.5 in the coefficients.</a:t>
                </a:r>
              </a:p>
            </p:txBody>
          </p:sp>
        </mc:Choice>
        <mc:Fallback xmlns="">
          <p:sp>
            <p:nvSpPr>
              <p:cNvPr id="43012" name="TextBox 9">
                <a:extLst>
                  <a:ext uri="{FF2B5EF4-FFF2-40B4-BE49-F238E27FC236}">
                    <a16:creationId xmlns:a16="http://schemas.microsoft.com/office/drawing/2014/main" id="{9878A302-89B1-CFEA-3B92-E7605B16C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183" y="1534297"/>
                <a:ext cx="7308850" cy="5022914"/>
              </a:xfrm>
              <a:prstGeom prst="rect">
                <a:avLst/>
              </a:prstGeom>
              <a:blipFill>
                <a:blip r:embed="rId3"/>
                <a:stretch>
                  <a:fillRect l="-693" t="-504" b="-7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842CFB4-42AD-46E2-B4E8-6B15D4481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875" y="2201272"/>
            <a:ext cx="3136900" cy="3517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CA14486-68C8-B0D0-6CFA-B2D57BEB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9AEDC6F-B64C-8C4A-9747-86B8BEF70B98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8" name="TextBox 7">
            <a:extLst>
              <a:ext uri="{FF2B5EF4-FFF2-40B4-BE49-F238E27FC236}">
                <a16:creationId xmlns:a16="http://schemas.microsoft.com/office/drawing/2014/main" id="{88CF7923-8CC8-C775-418A-47541D2A1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660400"/>
            <a:ext cx="857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10: Iterate Until Convergence on the Multiple Scattering Source</a:t>
            </a: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73FF6F0-F53B-7C30-CEB9-C9667B98C191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sp>
        <p:nvSpPr>
          <p:cNvPr id="32772" name="TextBox 9">
            <a:extLst>
              <a:ext uri="{FF2B5EF4-FFF2-40B4-BE49-F238E27FC236}">
                <a16:creationId xmlns:a16="http://schemas.microsoft.com/office/drawing/2014/main" id="{8EBE1CAD-1B93-69D3-9C12-965A881D3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1169988"/>
            <a:ext cx="8653462" cy="53553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arenR"/>
              <a:defRPr/>
            </a:pP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as in one of the previous slides. During the first iteration, S = 0</a:t>
            </a:r>
          </a:p>
          <a:p>
            <a:pPr marL="342900" indent="-342900">
              <a:buFont typeface="Arial" panose="020B0604020202020204" pitchFamily="34" charset="0"/>
              <a:buAutoNum type="arabicParenR"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arenR"/>
              <a:defRPr/>
            </a:pP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source J as Q + S</a:t>
            </a:r>
          </a:p>
          <a:p>
            <a:pPr marL="342900" indent="-342900">
              <a:buFont typeface="Arial" panose="020B0604020202020204" pitchFamily="34" charset="0"/>
              <a:buAutoNum type="arabicParenR"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arenR" startAt="3"/>
              <a:defRPr/>
            </a:pP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 downwards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k = 1,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(upper boundary condition)</a:t>
            </a:r>
          </a:p>
          <a:p>
            <a:pPr marL="342900" indent="-342900">
              <a:buFont typeface="Arial" panose="020B0604020202020204" pitchFamily="34" charset="0"/>
              <a:buAutoNum type="arabicParenR" startAt="3"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lower boundary condition 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 upwards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you have an estimate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cell-edge collided intensities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for convergence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iteration converged stop, else go back to Step (1)</a:t>
            </a:r>
          </a:p>
        </p:txBody>
      </p:sp>
      <p:sp>
        <p:nvSpPr>
          <p:cNvPr id="45061" name="TextBox 8">
            <a:extLst>
              <a:ext uri="{FF2B5EF4-FFF2-40B4-BE49-F238E27FC236}">
                <a16:creationId xmlns:a16="http://schemas.microsoft.com/office/drawing/2014/main" id="{4AE7B8D3-F812-1AA4-2154-5A3D62114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350" y="3186113"/>
            <a:ext cx="1841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2" name="TextBox 14">
            <a:extLst>
              <a:ext uri="{FF2B5EF4-FFF2-40B4-BE49-F238E27FC236}">
                <a16:creationId xmlns:a16="http://schemas.microsoft.com/office/drawing/2014/main" id="{4E73C6FC-1029-CE8E-361B-19C0391AF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350" y="4394200"/>
            <a:ext cx="1841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3" name="TextBox 9">
            <a:extLst>
              <a:ext uri="{FF2B5EF4-FFF2-40B4-BE49-F238E27FC236}">
                <a16:creationId xmlns:a16="http://schemas.microsoft.com/office/drawing/2014/main" id="{7110421C-B1E9-F9E8-ED26-A15626FAC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3883025"/>
            <a:ext cx="685573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1800" dirty="0">
                <a:latin typeface="Times New Roman" panose="02020603050405020304" pitchFamily="18" charset="0"/>
              </a:rPr>
              <a:t>  (</a:t>
            </a:r>
            <a:r>
              <a:rPr lang="el-GR" altLang="en-US" sz="1800" dirty="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 dirty="0">
                <a:latin typeface="Times New Roman" panose="02020603050405020304" pitchFamily="18" charset="0"/>
              </a:rPr>
              <a:t>g</a:t>
            </a:r>
            <a:r>
              <a:rPr lang="el-GR" altLang="en-US" sz="1800" baseline="-25000" dirty="0">
                <a:latin typeface="Times New Roman" panose="02020603050405020304" pitchFamily="18" charset="0"/>
              </a:rPr>
              <a:t>λ</a:t>
            </a:r>
            <a:r>
              <a:rPr lang="en-US" altLang="en-US" sz="1800" dirty="0">
                <a:latin typeface="Times New Roman" panose="02020603050405020304" pitchFamily="18" charset="0"/>
              </a:rPr>
              <a:t>/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 |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5064" name="TextBox 3">
            <a:extLst>
              <a:ext uri="{FF2B5EF4-FFF2-40B4-BE49-F238E27FC236}">
                <a16:creationId xmlns:a16="http://schemas.microsoft.com/office/drawing/2014/main" id="{63383E22-115D-E0B5-8AA0-2EB9159FC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4127501"/>
            <a:ext cx="4238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n=1</a:t>
            </a:r>
          </a:p>
        </p:txBody>
      </p:sp>
      <p:sp>
        <p:nvSpPr>
          <p:cNvPr id="45065" name="TextBox 13">
            <a:extLst>
              <a:ext uri="{FF2B5EF4-FFF2-40B4-BE49-F238E27FC236}">
                <a16:creationId xmlns:a16="http://schemas.microsoft.com/office/drawing/2014/main" id="{912E04F5-4050-76EC-09B1-29A8F2A22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9863" y="3698876"/>
            <a:ext cx="5794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n=N/2</a:t>
            </a:r>
          </a:p>
        </p:txBody>
      </p:sp>
      <p:sp>
        <p:nvSpPr>
          <p:cNvPr id="45066" name="TextBox 14">
            <a:extLst>
              <a:ext uri="{FF2B5EF4-FFF2-40B4-BE49-F238E27FC236}">
                <a16:creationId xmlns:a16="http://schemas.microsoft.com/office/drawing/2014/main" id="{E1E28434-BB80-F338-8672-45CCEACCE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13" y="4127501"/>
            <a:ext cx="4699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m=1</a:t>
            </a:r>
          </a:p>
        </p:txBody>
      </p:sp>
      <p:sp>
        <p:nvSpPr>
          <p:cNvPr id="45067" name="TextBox 15">
            <a:extLst>
              <a:ext uri="{FF2B5EF4-FFF2-40B4-BE49-F238E27FC236}">
                <a16:creationId xmlns:a16="http://schemas.microsoft.com/office/drawing/2014/main" id="{F7128E88-200F-1229-8FB4-873D5C06A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3444" y="3727677"/>
            <a:ext cx="5286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m=M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3220334-ADA7-9152-E869-20050ED4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707FF1D-0732-4441-9309-8A59FE09E9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TextBox 7">
            <a:extLst>
              <a:ext uri="{FF2B5EF4-FFF2-40B4-BE49-F238E27FC236}">
                <a16:creationId xmlns:a16="http://schemas.microsoft.com/office/drawing/2014/main" id="{FCF60011-06AE-003C-D5CF-39CB036D6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356"/>
            <a:ext cx="857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11: Final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251785-BAEE-AA94-C7BF-A16D245F159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sp>
        <p:nvSpPr>
          <p:cNvPr id="47108" name="TextBox 9">
            <a:extLst>
              <a:ext uri="{FF2B5EF4-FFF2-40B4-BE49-F238E27FC236}">
                <a16:creationId xmlns:a16="http://schemas.microsoft.com/office/drawing/2014/main" id="{BE5C826A-E3E5-8DCE-03ED-C24C82196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9" y="1276712"/>
            <a:ext cx="8653462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AutoNum type="arabicParenR"/>
            </a:pP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energy balance </a:t>
            </a:r>
          </a:p>
          <a:p>
            <a:pPr>
              <a:buFont typeface="Arial" panose="020B0604020202020204" pitchFamily="34" charset="0"/>
              <a:buAutoNum type="arabicParenR"/>
            </a:pP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Plots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1151-81F0-703F-7CA1-B21C2CBC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108E0BA4-8E46-D7EC-EBF8-59EE33E6C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06" y="916033"/>
            <a:ext cx="8388608" cy="2958261"/>
          </a:xfrm>
          <a:prstGeom prst="rect">
            <a:avLst/>
          </a:prstGeom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77EFBD5-1705-336C-BB18-82BA1C53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707FF1D-0732-4441-9309-8A59FE09E9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TextBox 7">
            <a:extLst>
              <a:ext uri="{FF2B5EF4-FFF2-40B4-BE49-F238E27FC236}">
                <a16:creationId xmlns:a16="http://schemas.microsoft.com/office/drawing/2014/main" id="{D90EF1A5-90E9-5D03-5D43-8B463922F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356"/>
            <a:ext cx="857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Balance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910D0141-18A1-F54F-A4B5-CB181A7D7D7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pic>
        <p:nvPicPr>
          <p:cNvPr id="5" name="Picture 4" descr="A screenshot of a data table&#10;&#10;AI-generated content may be incorrect.">
            <a:extLst>
              <a:ext uri="{FF2B5EF4-FFF2-40B4-BE49-F238E27FC236}">
                <a16:creationId xmlns:a16="http://schemas.microsoft.com/office/drawing/2014/main" id="{5B43459B-9F4E-BF42-C2DD-3C42648A3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05" y="3624920"/>
            <a:ext cx="8388607" cy="295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7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04F4F-FC14-D468-0B20-1CEE98F6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6900CA8-E0D0-C814-D0AE-B957A7977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707FF1D-0732-4441-9309-8A59FE09E9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TextBox 7">
            <a:extLst>
              <a:ext uri="{FF2B5EF4-FFF2-40B4-BE49-F238E27FC236}">
                <a16:creationId xmlns:a16="http://schemas.microsoft.com/office/drawing/2014/main" id="{182FAC29-A68E-BF83-342E-B945D2C17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356"/>
            <a:ext cx="857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BRF Angular Shape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C932733E-122B-7883-A86C-D41F2ABA1AC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pic>
        <p:nvPicPr>
          <p:cNvPr id="4" name="Picture 3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C72C1883-0CBF-42B4-4809-A61F73514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408" y="815716"/>
            <a:ext cx="6024680" cy="591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28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5B89-A8D5-6BAE-9E55-CBB7878A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9C67D22-E60B-D183-71A3-AC24BE24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707FF1D-0732-4441-9309-8A59FE09E9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TextBox 7">
            <a:extLst>
              <a:ext uri="{FF2B5EF4-FFF2-40B4-BE49-F238E27FC236}">
                <a16:creationId xmlns:a16="http://schemas.microsoft.com/office/drawing/2014/main" id="{A9E1A92F-ABC1-1498-2922-3838FB9A1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356"/>
            <a:ext cx="857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BRF Angular Shape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D66DFFE6-3312-DB7C-84EB-AE1C8E571F9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pic>
        <p:nvPicPr>
          <p:cNvPr id="6" name="Picture 5" descr="A graph of a plane&#10;&#10;AI-generated content may be incorrect.">
            <a:extLst>
              <a:ext uri="{FF2B5EF4-FFF2-40B4-BE49-F238E27FC236}">
                <a16:creationId xmlns:a16="http://schemas.microsoft.com/office/drawing/2014/main" id="{C38E17FA-0FA3-EDA8-8D07-17C59F34C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76" y="1444080"/>
            <a:ext cx="8202011" cy="426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27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F0A326F-196C-9CBC-F6B9-3AE82C04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05C6278-3B81-3047-9213-032902DCC38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4" name="TextBox 7">
            <a:extLst>
              <a:ext uri="{FF2B5EF4-FFF2-40B4-BE49-F238E27FC236}">
                <a16:creationId xmlns:a16="http://schemas.microsoft.com/office/drawing/2014/main" id="{59DC06F0-9F4D-7E1D-5BEC-63816C8DF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050"/>
            <a:ext cx="857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Convergence</a:t>
            </a: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B396C906-E80B-A7FB-8D1C-0EFA968251B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AAC9ABC1-F9B3-2501-00F5-911E5575A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51" y="1060224"/>
            <a:ext cx="6778897" cy="54882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C1DF0A0-E5C1-9DDB-F2B0-34E6F30E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6B59139-7F5F-B745-BC8F-66999E8212F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2" name="TextBox 7">
            <a:extLst>
              <a:ext uri="{FF2B5EF4-FFF2-40B4-BE49-F238E27FC236}">
                <a16:creationId xmlns:a16="http://schemas.microsoft.com/office/drawing/2014/main" id="{327C444B-6602-C13C-FCD9-5D9D027AA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54" y="730522"/>
            <a:ext cx="857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Reflectance as a function of LAI and Soil brightness</a:t>
            </a: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36796ED-325A-404F-429C-5023E7F34BF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pic>
        <p:nvPicPr>
          <p:cNvPr id="4" name="Picture 3" descr="A graph of different types of reflectors&#10;&#10;AI-generated content may be incorrect.">
            <a:extLst>
              <a:ext uri="{FF2B5EF4-FFF2-40B4-BE49-F238E27FC236}">
                <a16:creationId xmlns:a16="http://schemas.microsoft.com/office/drawing/2014/main" id="{5DF99BBA-0D90-6A5E-29F9-6A67D4F31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4" y="1275472"/>
            <a:ext cx="8839200" cy="4945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217EE2-0E2C-4723-2A5F-D0EFAB09C7B2}"/>
              </a:ext>
            </a:extLst>
          </p:cNvPr>
          <p:cNvSpPr txBox="1"/>
          <p:nvPr/>
        </p:nvSpPr>
        <p:spPr>
          <a:xfrm>
            <a:off x="1900692" y="2473840"/>
            <a:ext cx="1981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Dark Soil Reflectance = 0.01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4C589-90FE-A6CE-18B8-B0EEA8696654}"/>
              </a:ext>
            </a:extLst>
          </p:cNvPr>
          <p:cNvSpPr txBox="1"/>
          <p:nvPr/>
        </p:nvSpPr>
        <p:spPr>
          <a:xfrm>
            <a:off x="1900692" y="2237173"/>
            <a:ext cx="1991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Bright Soil Reflectance = 0.3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4FD27D-782F-155D-4C8E-0C0CE210E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455" y="5259881"/>
            <a:ext cx="1696357" cy="4953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477E56C-1B05-F64C-3F75-CCDD7C0A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F47372-1864-444E-828E-E9C4FDCE708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0" name="TextBox 7">
            <a:extLst>
              <a:ext uri="{FF2B5EF4-FFF2-40B4-BE49-F238E27FC236}">
                <a16:creationId xmlns:a16="http://schemas.microsoft.com/office/drawing/2014/main" id="{84BA4960-9691-5DA0-349E-E7838EBB5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0" y="765356"/>
            <a:ext cx="857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 Effect on </a:t>
            </a:r>
            <a:r>
              <a:rPr lang="en-US" altLang="en-US" sz="20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Reflactance</a:t>
            </a: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Transmittance</a:t>
            </a: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EFAFCE1B-3222-F19E-2B8E-13E6366AEF1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pic>
        <p:nvPicPr>
          <p:cNvPr id="4" name="Picture 3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4CBBDD50-55DF-0A0A-7C42-BD8FAC8DC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88" y="1390284"/>
            <a:ext cx="8470593" cy="47720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0D8D-E42B-A344-E9E7-32A0338A7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0A11E42-EB6F-246D-46BD-80ED096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F47372-1864-444E-828E-E9C4FDCE708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0" name="TextBox 7">
            <a:extLst>
              <a:ext uri="{FF2B5EF4-FFF2-40B4-BE49-F238E27FC236}">
                <a16:creationId xmlns:a16="http://schemas.microsoft.com/office/drawing/2014/main" id="{17D3C81A-2FDE-42F6-D65D-6300ED02F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2209"/>
            <a:ext cx="857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Polar Angle Effect on </a:t>
            </a:r>
            <a:r>
              <a:rPr lang="en-US" altLang="en-US" sz="20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Reflactance</a:t>
            </a: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Transmittance</a:t>
            </a: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2C232CB6-DDC6-0F8C-88CE-42A1A8D9F321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pic>
        <p:nvPicPr>
          <p:cNvPr id="7" name="Picture 6" descr="A graph of a solar polar angle&#10;&#10;AI-generated content may be incorrect.">
            <a:extLst>
              <a:ext uri="{FF2B5EF4-FFF2-40B4-BE49-F238E27FC236}">
                <a16:creationId xmlns:a16="http://schemas.microsoft.com/office/drawing/2014/main" id="{0656E40A-FC92-5BD6-DD63-90AE242AC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75" y="1493973"/>
            <a:ext cx="8292220" cy="413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76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2B578-6856-3E50-AD18-4A168029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6B2E625-758D-58D3-A23B-249B6367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F47372-1864-444E-828E-E9C4FDCE708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0" name="TextBox 7">
            <a:extLst>
              <a:ext uri="{FF2B5EF4-FFF2-40B4-BE49-F238E27FC236}">
                <a16:creationId xmlns:a16="http://schemas.microsoft.com/office/drawing/2014/main" id="{CF521FBB-4A39-80E8-95AC-BA5100847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2209"/>
            <a:ext cx="857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fdir</a:t>
            </a: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Effect on Canopy Absorption</a:t>
            </a: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BB068EA-FC84-E9C5-366B-BB1642D9528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20EC444B-8A68-7615-1A96-20479A2F9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734" y="1276259"/>
            <a:ext cx="6497683" cy="51529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2A7273-1BE8-D6DE-1B00-CA4489E466FC}"/>
              </a:ext>
            </a:extLst>
          </p:cNvPr>
          <p:cNvSpPr txBox="1"/>
          <p:nvPr/>
        </p:nvSpPr>
        <p:spPr>
          <a:xfrm>
            <a:off x="1759131" y="4737463"/>
            <a:ext cx="1010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Overcast Sky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D2E17-8011-0BE3-0273-3D92BB7F5FA5}"/>
              </a:ext>
            </a:extLst>
          </p:cNvPr>
          <p:cNvSpPr txBox="1"/>
          <p:nvPr/>
        </p:nvSpPr>
        <p:spPr>
          <a:xfrm>
            <a:off x="5834743" y="5207725"/>
            <a:ext cx="12875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Bright Sunny Sky</a:t>
            </a:r>
          </a:p>
        </p:txBody>
      </p:sp>
    </p:spTree>
    <p:extLst>
      <p:ext uri="{BB962C8B-B14F-4D97-AF65-F5344CB8AC3E}">
        <p14:creationId xmlns:p14="http://schemas.microsoft.com/office/powerpoint/2010/main" val="547869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A8151-75E4-0738-C5FC-DC706311D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9FE1A1C-761B-457B-CFEB-BC6F10A6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F47372-1864-444E-828E-E9C4FDCE708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0" name="TextBox 7">
            <a:extLst>
              <a:ext uri="{FF2B5EF4-FFF2-40B4-BE49-F238E27FC236}">
                <a16:creationId xmlns:a16="http://schemas.microsoft.com/office/drawing/2014/main" id="{E56DBAF4-BD87-438D-40B4-7DD61BAA3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2209"/>
            <a:ext cx="857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Field Data</a:t>
            </a: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72EDAAB-6937-B895-4DC3-5EA0AAA819D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pic>
        <p:nvPicPr>
          <p:cNvPr id="7" name="Picture 6" descr="A graph of a plane model&#10;&#10;AI-generated content may be incorrect.">
            <a:extLst>
              <a:ext uri="{FF2B5EF4-FFF2-40B4-BE49-F238E27FC236}">
                <a16:creationId xmlns:a16="http://schemas.microsoft.com/office/drawing/2014/main" id="{16D1029F-96CE-DF26-382D-24A75BAB5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71" y="1093696"/>
            <a:ext cx="8374458" cy="545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12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977B7247-4730-A47A-9489-ABD0325C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04: Interpolation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C38BCE6-0544-54FE-8EA8-5B76719E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9AF4E11B-CB93-3F4F-9DFC-9684512A19B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5" name="TextBox 7">
            <a:extLst>
              <a:ext uri="{FF2B5EF4-FFF2-40B4-BE49-F238E27FC236}">
                <a16:creationId xmlns:a16="http://schemas.microsoft.com/office/drawing/2014/main" id="{28207A5F-3483-A2F6-0B06-BCFEA0454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1035050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 Problem:</a:t>
            </a:r>
          </a:p>
        </p:txBody>
      </p:sp>
      <p:sp>
        <p:nvSpPr>
          <p:cNvPr id="59396" name="TextBox 7">
            <a:extLst>
              <a:ext uri="{FF2B5EF4-FFF2-40B4-BE49-F238E27FC236}">
                <a16:creationId xmlns:a16="http://schemas.microsoft.com/office/drawing/2014/main" id="{78EE32A4-E1E4-62BB-C65C-120C39D54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" y="1635125"/>
            <a:ext cx="8850313" cy="374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you have </a:t>
            </a:r>
            <a:r>
              <a:rPr lang="en-US" altLang="en-US" sz="1800" dirty="0">
                <a:solidFill>
                  <a:srgbClr val="2D2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Bidirectional Reflectance Factor (BRF) or HDRF in a 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 </a:t>
            </a:r>
            <a:r>
              <a:rPr lang="el-GR" altLang="en-US" sz="1800" u="sng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 directions </a:t>
            </a:r>
            <a:r>
              <a:rPr lang="el-GR" altLang="en-US" sz="1800" u="sng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 = 1, 2, …, N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wish to 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modelled BRF with measured BRF. That means you need to 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total Intensity (uncollided + collided) emerging from the canopy in the direction of measurement,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you need to 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interpolate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Intensity from Gauss directions to measured direction.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way to do that is illustrated here, using the 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ordinates Method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solidFill>
                <a:srgbClr val="2A51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given the measured direction 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(upward direction)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09DF71D-F027-68D1-B13E-0B901AD3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F93529F8-82B6-364D-A599-725316F35D67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2" name="TextBox 7">
            <a:extLst>
              <a:ext uri="{FF2B5EF4-FFF2-40B4-BE49-F238E27FC236}">
                <a16:creationId xmlns:a16="http://schemas.microsoft.com/office/drawing/2014/main" id="{466AE52C-34C2-A04F-436D-13B13BA59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9429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Evaluate Cross Sections</a:t>
            </a: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928ADEEB-9A99-1A9B-F3C6-97AE110D776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sp>
        <p:nvSpPr>
          <p:cNvPr id="61444" name="TextBox 9">
            <a:extLst>
              <a:ext uri="{FF2B5EF4-FFF2-40B4-BE49-F238E27FC236}">
                <a16:creationId xmlns:a16="http://schemas.microsoft.com/office/drawing/2014/main" id="{8CE67427-A0E8-A728-7DDF-BAA50064C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1454150"/>
            <a:ext cx="8848725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G(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1445" name="TextBox 7">
            <a:extLst>
              <a:ext uri="{FF2B5EF4-FFF2-40B4-BE49-F238E27FC236}">
                <a16:creationId xmlns:a16="http://schemas.microsoft.com/office/drawing/2014/main" id="{90F9D2A4-67FF-45AF-0699-437FE406B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2687638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Evaluate Uncollided Intensity at the Ground in </a:t>
            </a:r>
            <a:r>
              <a:rPr lang="el-GR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1446" name="TextBox 7">
            <a:extLst>
              <a:ext uri="{FF2B5EF4-FFF2-40B4-BE49-F238E27FC236}">
                <a16:creationId xmlns:a16="http://schemas.microsoft.com/office/drawing/2014/main" id="{EAB996F7-AEF7-C705-0BF8-2A9E6C2E6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5087938"/>
            <a:ext cx="833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Evaluate Uncollided Intensity Emerging from the Canopy in </a:t>
            </a:r>
            <a:r>
              <a:rPr lang="el-GR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1447" name="Rectangle 2">
            <a:extLst>
              <a:ext uri="{FF2B5EF4-FFF2-40B4-BE49-F238E27FC236}">
                <a16:creationId xmlns:a16="http://schemas.microsoft.com/office/drawing/2014/main" id="{676696E9-501C-EFC3-14A5-082ACD5FC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5888038"/>
            <a:ext cx="5282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exp [- (1/|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G(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LAI]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448" name="TextBox 3">
            <a:extLst>
              <a:ext uri="{FF2B5EF4-FFF2-40B4-BE49-F238E27FC236}">
                <a16:creationId xmlns:a16="http://schemas.microsoft.com/office/drawing/2014/main" id="{4E8307FF-38FE-4869-70C6-F3984D2B5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4170363"/>
            <a:ext cx="87868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The 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</a:rPr>
              <a:t>uncollided intensity at the ground in all downward Gauss directions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above is known from</a:t>
            </a:r>
            <a:r>
              <a:rPr lang="en-US" altLang="en-US" sz="1800" dirty="0">
                <a:latin typeface="Times New Roman" panose="02020603050405020304" pitchFamily="18" charset="0"/>
              </a:rPr>
              <a:t> the discrete-ordinates Method</a:t>
            </a:r>
          </a:p>
        </p:txBody>
      </p:sp>
      <p:sp>
        <p:nvSpPr>
          <p:cNvPr id="61449" name="TextBox 9">
            <a:extLst>
              <a:ext uri="{FF2B5EF4-FFF2-40B4-BE49-F238E27FC236}">
                <a16:creationId xmlns:a16="http://schemas.microsoft.com/office/drawing/2014/main" id="{B63664AB-56F4-B350-5C66-1D9759ADE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3416300"/>
            <a:ext cx="884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l-GR" altLang="en-US" sz="180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</a:rPr>
              <a:t>g</a:t>
            </a:r>
            <a:r>
              <a:rPr lang="el-GR" altLang="en-US" sz="1800" baseline="-25000">
                <a:latin typeface="Times New Roman" panose="02020603050405020304" pitchFamily="18" charset="0"/>
              </a:rPr>
              <a:t>λ</a:t>
            </a:r>
            <a:r>
              <a:rPr lang="en-US" altLang="en-US" sz="1800">
                <a:latin typeface="Times New Roman" panose="02020603050405020304" pitchFamily="18" charset="0"/>
              </a:rPr>
              <a:t>/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w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w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l-GR" altLang="en-US" sz="180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</a:rPr>
              <a:t>g</a:t>
            </a:r>
            <a:r>
              <a:rPr lang="el-GR" altLang="en-US" sz="1800" baseline="-25000">
                <a:latin typeface="Times New Roman" panose="02020603050405020304" pitchFamily="18" charset="0"/>
              </a:rPr>
              <a:t>λ</a:t>
            </a:r>
            <a:r>
              <a:rPr lang="en-US" altLang="en-US" sz="1800">
                <a:latin typeface="Times New Roman" panose="02020603050405020304" pitchFamily="18" charset="0"/>
              </a:rPr>
              <a:t>/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61450" name="TextBox 3">
            <a:extLst>
              <a:ext uri="{FF2B5EF4-FFF2-40B4-BE49-F238E27FC236}">
                <a16:creationId xmlns:a16="http://schemas.microsoft.com/office/drawing/2014/main" id="{528BF9B3-5B90-902A-18AC-F4F9B72A9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388" y="3649663"/>
            <a:ext cx="4238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n=1</a:t>
            </a:r>
          </a:p>
        </p:txBody>
      </p:sp>
      <p:sp>
        <p:nvSpPr>
          <p:cNvPr id="61451" name="TextBox 13">
            <a:extLst>
              <a:ext uri="{FF2B5EF4-FFF2-40B4-BE49-F238E27FC236}">
                <a16:creationId xmlns:a16="http://schemas.microsoft.com/office/drawing/2014/main" id="{8F700971-CF47-67A5-B31E-EF298331F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275013"/>
            <a:ext cx="5794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n=N/2</a:t>
            </a:r>
          </a:p>
        </p:txBody>
      </p:sp>
      <p:sp>
        <p:nvSpPr>
          <p:cNvPr id="61452" name="TextBox 14">
            <a:extLst>
              <a:ext uri="{FF2B5EF4-FFF2-40B4-BE49-F238E27FC236}">
                <a16:creationId xmlns:a16="http://schemas.microsoft.com/office/drawing/2014/main" id="{1C56AC02-F2EA-464B-8352-A745887E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963" y="3649663"/>
            <a:ext cx="4699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m=1</a:t>
            </a:r>
          </a:p>
        </p:txBody>
      </p:sp>
      <p:sp>
        <p:nvSpPr>
          <p:cNvPr id="61453" name="TextBox 15">
            <a:extLst>
              <a:ext uri="{FF2B5EF4-FFF2-40B4-BE49-F238E27FC236}">
                <a16:creationId xmlns:a16="http://schemas.microsoft.com/office/drawing/2014/main" id="{AF0BA213-FEAA-ACE7-DDCD-5499E0F0B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225" y="3275013"/>
            <a:ext cx="5286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m=M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83415DC-11C9-C359-3A46-763E3DB4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9031B7B5-0A11-2E47-BAA0-48B9E384E980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0" name="TextBox 7">
            <a:extLst>
              <a:ext uri="{FF2B5EF4-FFF2-40B4-BE49-F238E27FC236}">
                <a16:creationId xmlns:a16="http://schemas.microsoft.com/office/drawing/2014/main" id="{1FDC7A3A-C188-804D-441D-C895A6DEB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9429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Evaluate First Collison Source term for All Layers</a:t>
            </a: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8168E7F0-AB5C-0A73-DE94-32F3BB428FB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sp>
        <p:nvSpPr>
          <p:cNvPr id="63503" name="TextBox 13">
            <a:extLst>
              <a:ext uri="{FF2B5EF4-FFF2-40B4-BE49-F238E27FC236}">
                <a16:creationId xmlns:a16="http://schemas.microsoft.com/office/drawing/2014/main" id="{466B5E77-4ED3-0A9E-4A95-6489DDEB1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31" y="1742990"/>
            <a:ext cx="33297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Evaluate FCS Q as Q</a:t>
            </a:r>
            <a:r>
              <a:rPr lang="en-US" altLang="en-US" sz="1800" baseline="30000" dirty="0">
                <a:latin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</a:rPr>
              <a:t> + Q</a:t>
            </a:r>
            <a:r>
              <a:rPr lang="en-US" altLang="en-US" sz="1800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</a:rPr>
              <a:t> + Q</a:t>
            </a:r>
            <a:r>
              <a:rPr lang="en-US" altLang="en-US" sz="1800" baseline="300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D2304E83-CD09-14BA-AAAF-E1BDA7FBE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13" y="2618901"/>
            <a:ext cx="63833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1800" dirty="0">
                <a:latin typeface="Times New Roman" panose="02020603050405020304" pitchFamily="18" charset="0"/>
              </a:rPr>
              <a:t> (1/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08F23-13BA-DE6A-475B-0B89460A0A89}"/>
              </a:ext>
            </a:extLst>
          </p:cNvPr>
          <p:cNvSpPr txBox="1"/>
          <p:nvPr/>
        </p:nvSpPr>
        <p:spPr>
          <a:xfrm>
            <a:off x="994761" y="3487879"/>
            <a:ext cx="7851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solidFill>
                  <a:schemeClr val="tx1"/>
                </a:solidFill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 = </a:t>
            </a:r>
            <a:r>
              <a:rPr lang="en-US" altLang="en-US" sz="1800" dirty="0">
                <a:solidFill>
                  <a:schemeClr val="tx1"/>
                </a:solidFill>
              </a:rPr>
              <a:t>(1/</a:t>
            </a:r>
            <a:r>
              <a:rPr lang="el-GR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π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   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   </a:t>
            </a:r>
            <a:r>
              <a:rPr lang="en-US" altLang="en-US" sz="1800" dirty="0" err="1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      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 </a:t>
            </a:r>
            <a:r>
              <a:rPr lang="en-US" altLang="en-US" sz="1800" dirty="0" err="1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el-GR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Γ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l-GR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m 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-&gt; </a:t>
            </a:r>
            <a:r>
              <a:rPr lang="el-GR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l-GR" altLang="en-US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 I</a:t>
            </a:r>
            <a:r>
              <a:rPr lang="en-US" altLang="en-US" sz="18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dif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l-GR" altLang="en-US" sz="1800" u="sng" dirty="0">
                <a:solidFill>
                  <a:schemeClr val="tx1"/>
                </a:solidFill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  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723BE999-C4D6-0ABF-385A-4A4C619BE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769" y="3737306"/>
            <a:ext cx="5453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n=1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24CB763A-C26D-D96C-2068-9548B176E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510" y="3229496"/>
            <a:ext cx="12430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n=N/2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ABC759B-84F6-DDB1-B8C7-55063C1C6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866" y="3237706"/>
            <a:ext cx="6992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m=M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57555C17-F1B7-2867-1432-3C95689A1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3681" y="3690588"/>
            <a:ext cx="609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m=1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FC5E8-8071-E5F0-5C98-F07E3F5E1C46}"/>
              </a:ext>
            </a:extLst>
          </p:cNvPr>
          <p:cNvSpPr txBox="1"/>
          <p:nvPr/>
        </p:nvSpPr>
        <p:spPr>
          <a:xfrm>
            <a:off x="994761" y="4459885"/>
            <a:ext cx="7154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 (1/</a:t>
            </a:r>
            <a:r>
              <a:rPr lang="el-G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 </a:t>
            </a:r>
            <a:r>
              <a:rPr lang="el-G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l-G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V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</a:t>
            </a:r>
            <a:r>
              <a:rPr lang="en-US" altLang="en-US" sz="18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F03BD387-84D6-F39C-FE84-140D16BCC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866" y="4720666"/>
            <a:ext cx="609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m=1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38A8E160-52DC-C449-4C48-2BD501BEE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9500" y="4260942"/>
            <a:ext cx="6992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m=M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1014AFC2-D76C-12A1-5EB3-F63D011EE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0641" y="4720666"/>
            <a:ext cx="14359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n=N/2+1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07D3F88C-F866-98DC-D63D-837A1CD40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2996" y="4197030"/>
            <a:ext cx="7120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n = 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8C75482-1AD0-5CE2-782C-CC85D31EF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54B6C9B7-77D4-E743-A45D-17B2891EDEF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4E88C2DF-B4CD-A41B-4D0E-D68CF11DA4C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sp>
        <p:nvSpPr>
          <p:cNvPr id="65539" name="TextBox 7">
            <a:extLst>
              <a:ext uri="{FF2B5EF4-FFF2-40B4-BE49-F238E27FC236}">
                <a16:creationId xmlns:a16="http://schemas.microsoft.com/office/drawing/2014/main" id="{5797CB03-5572-8CE5-0CE3-CFE788B69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989013"/>
            <a:ext cx="76215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Evaluate Multiple Scattering Source term for All Layers</a:t>
            </a:r>
          </a:p>
        </p:txBody>
      </p:sp>
      <p:sp>
        <p:nvSpPr>
          <p:cNvPr id="65540" name="TextBox 9">
            <a:extLst>
              <a:ext uri="{FF2B5EF4-FFF2-40B4-BE49-F238E27FC236}">
                <a16:creationId xmlns:a16="http://schemas.microsoft.com/office/drawing/2014/main" id="{9094AD7E-23CC-95CF-2C9B-03F661864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1849438"/>
            <a:ext cx="884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1800">
                <a:latin typeface="Times New Roman" panose="02020603050405020304" pitchFamily="18" charset="0"/>
              </a:rPr>
              <a:t> (1/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w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w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ϕ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65541" name="TextBox 17">
            <a:extLst>
              <a:ext uri="{FF2B5EF4-FFF2-40B4-BE49-F238E27FC236}">
                <a16:creationId xmlns:a16="http://schemas.microsoft.com/office/drawing/2014/main" id="{179874F0-268C-E49F-F2F4-65FDDB7F1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5" y="2103438"/>
            <a:ext cx="425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n=1</a:t>
            </a:r>
          </a:p>
        </p:txBody>
      </p:sp>
      <p:sp>
        <p:nvSpPr>
          <p:cNvPr id="65542" name="TextBox 18">
            <a:extLst>
              <a:ext uri="{FF2B5EF4-FFF2-40B4-BE49-F238E27FC236}">
                <a16:creationId xmlns:a16="http://schemas.microsoft.com/office/drawing/2014/main" id="{07951E2D-0FFB-DFC0-A45F-3457A8529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613" y="1687513"/>
            <a:ext cx="2952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65543" name="TextBox 19">
            <a:extLst>
              <a:ext uri="{FF2B5EF4-FFF2-40B4-BE49-F238E27FC236}">
                <a16:creationId xmlns:a16="http://schemas.microsoft.com/office/drawing/2014/main" id="{BF42D96F-5468-A050-DD0B-285EC5469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813" y="2127250"/>
            <a:ext cx="4683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m=1</a:t>
            </a:r>
          </a:p>
        </p:txBody>
      </p:sp>
      <p:sp>
        <p:nvSpPr>
          <p:cNvPr id="65544" name="TextBox 20">
            <a:extLst>
              <a:ext uri="{FF2B5EF4-FFF2-40B4-BE49-F238E27FC236}">
                <a16:creationId xmlns:a16="http://schemas.microsoft.com/office/drawing/2014/main" id="{7D6931CA-3E2B-1F6C-B2B0-3FA92C2DB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813" y="1687513"/>
            <a:ext cx="5270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m=M</a:t>
            </a:r>
          </a:p>
        </p:txBody>
      </p:sp>
      <p:sp>
        <p:nvSpPr>
          <p:cNvPr id="65545" name="TextBox 24">
            <a:extLst>
              <a:ext uri="{FF2B5EF4-FFF2-40B4-BE49-F238E27FC236}">
                <a16:creationId xmlns:a16="http://schemas.microsoft.com/office/drawing/2014/main" id="{16723775-F70F-5C5F-8D4A-849347404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334" y="2907605"/>
            <a:ext cx="886550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The 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</a:rPr>
              <a:t>collided intensity at all cell centers in all Gauss directions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is known from</a:t>
            </a:r>
            <a:r>
              <a:rPr lang="en-US" altLang="en-US" sz="1800" dirty="0">
                <a:latin typeface="Times New Roman" panose="02020603050405020304" pitchFamily="18" charset="0"/>
              </a:rPr>
              <a:t> the discrete-ordinates Method (Part Two). It is evaluated as the mean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the cell edge intensities!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062AC27-7104-76A6-7722-6F1E21A9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6871364-5F4E-B445-8A9E-BFC885C9A28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86" name="TextBox 7">
            <a:extLst>
              <a:ext uri="{FF2B5EF4-FFF2-40B4-BE49-F238E27FC236}">
                <a16:creationId xmlns:a16="http://schemas.microsoft.com/office/drawing/2014/main" id="{F72E0860-2892-BE8C-49A8-8808766C8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9429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Evaluate Total Source term for All Layers</a:t>
            </a: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34B777B2-54F9-110A-D984-A29D79E0090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sp>
        <p:nvSpPr>
          <p:cNvPr id="67588" name="TextBox 7">
            <a:extLst>
              <a:ext uri="{FF2B5EF4-FFF2-40B4-BE49-F238E27FC236}">
                <a16:creationId xmlns:a16="http://schemas.microsoft.com/office/drawing/2014/main" id="{FBCDAE04-28C4-54B2-8322-65C29C8CB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2454275"/>
            <a:ext cx="76215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7: Evaluate Collided Intensity at the Ground in </a:t>
            </a:r>
            <a:r>
              <a:rPr lang="el-GR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7589" name="TextBox 9">
            <a:extLst>
              <a:ext uri="{FF2B5EF4-FFF2-40B4-BE49-F238E27FC236}">
                <a16:creationId xmlns:a16="http://schemas.microsoft.com/office/drawing/2014/main" id="{1C82C042-8868-E42A-4ABB-03F846715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488" y="1636713"/>
            <a:ext cx="5507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J(L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Q(L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+ S(L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67590" name="TextBox 9">
            <a:extLst>
              <a:ext uri="{FF2B5EF4-FFF2-40B4-BE49-F238E27FC236}">
                <a16:creationId xmlns:a16="http://schemas.microsoft.com/office/drawing/2014/main" id="{FE52A174-074D-3319-CA66-E17D970A7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488" y="3117850"/>
            <a:ext cx="7242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l-GR" altLang="en-US" sz="180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</a:rPr>
              <a:t>g</a:t>
            </a:r>
            <a:r>
              <a:rPr lang="el-GR" altLang="en-US" sz="1800" baseline="-25000">
                <a:latin typeface="Times New Roman" panose="02020603050405020304" pitchFamily="18" charset="0"/>
              </a:rPr>
              <a:t>λ</a:t>
            </a:r>
            <a:r>
              <a:rPr lang="en-US" altLang="en-US" sz="1800">
                <a:latin typeface="Times New Roman" panose="02020603050405020304" pitchFamily="18" charset="0"/>
              </a:rPr>
              <a:t>/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w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w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67591" name="TextBox 3">
            <a:extLst>
              <a:ext uri="{FF2B5EF4-FFF2-40B4-BE49-F238E27FC236}">
                <a16:creationId xmlns:a16="http://schemas.microsoft.com/office/drawing/2014/main" id="{F6871CE3-B3AE-8C5D-6987-3629E4ADB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675" y="3351213"/>
            <a:ext cx="4778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n=1</a:t>
            </a:r>
          </a:p>
        </p:txBody>
      </p:sp>
      <p:sp>
        <p:nvSpPr>
          <p:cNvPr id="67592" name="TextBox 13">
            <a:extLst>
              <a:ext uri="{FF2B5EF4-FFF2-40B4-BE49-F238E27FC236}">
                <a16:creationId xmlns:a16="http://schemas.microsoft.com/office/drawing/2014/main" id="{01692342-47B2-57FF-84A7-F27DEF03E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1825" y="2976563"/>
            <a:ext cx="6143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n=N/2</a:t>
            </a:r>
          </a:p>
        </p:txBody>
      </p:sp>
      <p:sp>
        <p:nvSpPr>
          <p:cNvPr id="67593" name="TextBox 14">
            <a:extLst>
              <a:ext uri="{FF2B5EF4-FFF2-40B4-BE49-F238E27FC236}">
                <a16:creationId xmlns:a16="http://schemas.microsoft.com/office/drawing/2014/main" id="{BB5F733F-99E1-77EC-7491-B209DFA54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725" y="3351213"/>
            <a:ext cx="6111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m=1</a:t>
            </a:r>
          </a:p>
        </p:txBody>
      </p:sp>
      <p:sp>
        <p:nvSpPr>
          <p:cNvPr id="67594" name="TextBox 15">
            <a:extLst>
              <a:ext uri="{FF2B5EF4-FFF2-40B4-BE49-F238E27FC236}">
                <a16:creationId xmlns:a16="http://schemas.microsoft.com/office/drawing/2014/main" id="{BF820045-C03B-A76F-868F-8DA550BB5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8" y="2967038"/>
            <a:ext cx="5540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m=M</a:t>
            </a:r>
          </a:p>
        </p:txBody>
      </p:sp>
      <p:sp>
        <p:nvSpPr>
          <p:cNvPr id="67595" name="TextBox 30">
            <a:extLst>
              <a:ext uri="{FF2B5EF4-FFF2-40B4-BE49-F238E27FC236}">
                <a16:creationId xmlns:a16="http://schemas.microsoft.com/office/drawing/2014/main" id="{009A36C3-9D07-9EDC-09DA-C57C5FE41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3767138"/>
            <a:ext cx="88582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The </a:t>
            </a:r>
            <a:r>
              <a:rPr lang="en-US" altLang="en-US" sz="1800" dirty="0">
                <a:solidFill>
                  <a:srgbClr val="2A51F3"/>
                </a:solidFill>
                <a:latin typeface="Times New Roman" panose="02020603050405020304" pitchFamily="18" charset="0"/>
              </a:rPr>
              <a:t>collided intensity at the ground in all downward Gauss directions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is known from</a:t>
            </a:r>
            <a:r>
              <a:rPr lang="en-US" altLang="en-US" sz="1800" dirty="0">
                <a:latin typeface="Times New Roman" panose="02020603050405020304" pitchFamily="18" charset="0"/>
              </a:rPr>
              <a:t> the discrete-ordinates Method</a:t>
            </a:r>
          </a:p>
        </p:txBody>
      </p:sp>
      <p:sp>
        <p:nvSpPr>
          <p:cNvPr id="67596" name="TextBox 7">
            <a:extLst>
              <a:ext uri="{FF2B5EF4-FFF2-40B4-BE49-F238E27FC236}">
                <a16:creationId xmlns:a16="http://schemas.microsoft.com/office/drawing/2014/main" id="{29B00CAD-FA84-D270-2F1B-FCACB791C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4694238"/>
            <a:ext cx="76215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8: Sweep Upwards along Direction </a:t>
            </a:r>
            <a:r>
              <a:rPr lang="el-GR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7597" name="TextBox 32">
            <a:extLst>
              <a:ext uri="{FF2B5EF4-FFF2-40B4-BE49-F238E27FC236}">
                <a16:creationId xmlns:a16="http://schemas.microsoft.com/office/drawing/2014/main" id="{956EA167-4BA5-7052-C551-E7C103E31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5322888"/>
            <a:ext cx="87455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A51F3"/>
                </a:solidFill>
                <a:latin typeface="Times New Roman" panose="02020603050405020304" pitchFamily="18" charset="0"/>
              </a:rPr>
              <a:t>Sweep upwards once </a:t>
            </a:r>
            <a:r>
              <a:rPr lang="en-US" altLang="en-US" sz="1800">
                <a:latin typeface="Times New Roman" panose="02020603050405020304" pitchFamily="18" charset="0"/>
              </a:rPr>
              <a:t>to evaluate collided Intensities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), where k = K, K-1, K-2, …, 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collided intensity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is the emerging intensity you need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398D4A7-AB92-F608-9EB5-45A1F40F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51C5D54A-1CEF-8547-A4EB-F30B30DF3B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34" name="TextBox 7">
            <a:extLst>
              <a:ext uri="{FF2B5EF4-FFF2-40B4-BE49-F238E27FC236}">
                <a16:creationId xmlns:a16="http://schemas.microsoft.com/office/drawing/2014/main" id="{9C2F0B23-097A-1EB7-3793-209A4A33B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9429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9: Add uncollided and collided intensities</a:t>
            </a: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A96E53CB-293E-EE1F-BEB8-1146B1E66A1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04: Discrete Ordinates Method (Part Two)</a:t>
            </a:r>
          </a:p>
        </p:txBody>
      </p:sp>
      <p:sp>
        <p:nvSpPr>
          <p:cNvPr id="69636" name="TextBox 9">
            <a:extLst>
              <a:ext uri="{FF2B5EF4-FFF2-40B4-BE49-F238E27FC236}">
                <a16:creationId xmlns:a16="http://schemas.microsoft.com/office/drawing/2014/main" id="{AE221E14-F49E-A0CE-446F-5B28E407F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688" y="1641475"/>
            <a:ext cx="550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+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69637" name="TextBox 32">
            <a:extLst>
              <a:ext uri="{FF2B5EF4-FFF2-40B4-BE49-F238E27FC236}">
                <a16:creationId xmlns:a16="http://schemas.microsoft.com/office/drawing/2014/main" id="{ECB7D882-A5A8-B531-B75D-D6360D8AB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2311400"/>
            <a:ext cx="8555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total intensity I(L</a:t>
            </a:r>
            <a:r>
              <a:rPr lang="en-US" altLang="en-US" sz="1800" baseline="-2500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altLang="en-US" sz="180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used to evaluate the BRF or HDRF and compared with the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A51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measurement</a:t>
            </a:r>
            <a:endParaRPr lang="en-US" altLang="en-US" sz="1800">
              <a:solidFill>
                <a:srgbClr val="2A51F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7623</TotalTime>
  <Words>2209</Words>
  <Application>Microsoft Macintosh PowerPoint</Application>
  <PresentationFormat>On-screen Show (4:3)</PresentationFormat>
  <Paragraphs>238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 Math</vt:lpstr>
      <vt:lpstr>Times</vt:lpstr>
      <vt:lpstr>Times New Roman</vt:lpstr>
      <vt:lpstr>Office Theme</vt:lpstr>
      <vt:lpstr>PHYSICAL MODELS IN REMOTE SENSING Chapter 04 – Part 04: Discrete Ordinates Method (Part Two)</vt:lpstr>
      <vt:lpstr>PowerPoint Presentation</vt:lpstr>
      <vt:lpstr>PHYSICAL MODELS IN REMOTE SENSING Chapter 04 – Part 04: Discrete Ordinates Method (Part Two)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PHYSICAL MODELS IN REMOTE SENSING Chapter 04 – Part 04: Interpolation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</cp:lastModifiedBy>
  <cp:revision>900</cp:revision>
  <cp:lastPrinted>2019-09-03T16:52:39Z</cp:lastPrinted>
  <dcterms:created xsi:type="dcterms:W3CDTF">2012-01-16T18:47:06Z</dcterms:created>
  <dcterms:modified xsi:type="dcterms:W3CDTF">2026-03-26T15:09:45Z</dcterms:modified>
</cp:coreProperties>
</file>