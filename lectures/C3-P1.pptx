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5"/>
  </p:notesMasterIdLst>
  <p:sldIdLst>
    <p:sldId id="784" r:id="rId2"/>
    <p:sldId id="756" r:id="rId3"/>
    <p:sldId id="783" r:id="rId4"/>
    <p:sldId id="712" r:id="rId5"/>
    <p:sldId id="755" r:id="rId6"/>
    <p:sldId id="754" r:id="rId7"/>
    <p:sldId id="738" r:id="rId8"/>
    <p:sldId id="736" r:id="rId9"/>
    <p:sldId id="737" r:id="rId10"/>
    <p:sldId id="742" r:id="rId11"/>
    <p:sldId id="753" r:id="rId12"/>
    <p:sldId id="739" r:id="rId13"/>
    <p:sldId id="740" r:id="rId14"/>
    <p:sldId id="741" r:id="rId15"/>
    <p:sldId id="743" r:id="rId16"/>
    <p:sldId id="744" r:id="rId17"/>
    <p:sldId id="746" r:id="rId18"/>
    <p:sldId id="747" r:id="rId19"/>
    <p:sldId id="748" r:id="rId20"/>
    <p:sldId id="749" r:id="rId21"/>
    <p:sldId id="750" r:id="rId22"/>
    <p:sldId id="751" r:id="rId23"/>
    <p:sldId id="752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27"/>
    <p:restoredTop sz="94660"/>
  </p:normalViewPr>
  <p:slideViewPr>
    <p:cSldViewPr snapToGrid="0">
      <p:cViewPr varScale="1">
        <p:scale>
          <a:sx n="146" d="100"/>
          <a:sy n="146" d="100"/>
        </p:scale>
        <p:origin x="984" y="168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44DD4E18-C075-5A2A-B7EE-1CE8FC0B0C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ACEF27F0-7311-014E-5FEC-246864DBBBD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D46D0E51-9A58-74EB-AF23-E304B4DD823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0B6E598A-28A3-30E1-33FE-70C98935556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F4A31739-7060-3698-24AF-EB9710E724C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ACFE4100-FAC2-CA59-577C-26017CC9E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9A4B763D-00B8-7E4B-A92F-9F99429B41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1F3CFC0B-A8E5-AA53-F7E3-2D652906F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67934B-D060-654E-8B00-4F2D5BC70572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B8B9BDF-8B34-79BC-DA75-C893E1313D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63A498D-4CDB-8E04-1279-8F6E0C1A8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23D41053-C4F6-C843-BCC4-62B6EF238F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30448C1-3584-48B2-3051-85BB56B1D7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4E448CF-751F-06E2-7121-B960C99DB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FB69-FBA3-DC7D-5719-2F644C1A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87395FE7-EA5B-4949-B6A3-7FC7A24F6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4036E8C-2138-A74B-0546-3A206236AC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6F05B95-8017-1497-80B5-B4F5CFD71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9197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C6B483FF-46CA-9441-77FF-3DEAC266E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94321D8-4489-1F48-8781-F76C59F5A2D0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49158FE-8B00-FB53-2C53-2D7C5FF08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A88FD3E-D5C8-C78A-722A-20E3A0CED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A3ECB733-9182-9188-2096-59D1D9DD6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0801A3C-1307-DA45-9C3E-024DF120E0B0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0095154-6B9B-EBFA-0A8E-1B6BE4BC02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FEB2B6D-BE5D-04F8-C395-D920188096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73B1EF0D-3B6F-D9DC-5873-0F55AAA7D2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084EF88-0613-5846-A1FB-6B6BE1560A4B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622850BD-DAAD-825E-5EB9-D837F83400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46FF3E2-05B2-0BFD-3D5D-BA75C23F4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344E2618-F6D7-4BE2-9282-CD9352234F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353D3F0-7C16-964A-9A26-741815252EF5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D72B917D-8D15-B338-3F29-ACE89D723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0B3899B-0C8A-C150-405F-9229070DB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6647D68E-00B2-276A-BC6C-724ADC7103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71CEA4-CDAD-9C46-939C-B70B2B4FF473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363E371E-0964-F223-4A94-9315D538B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E7B5C36-66DC-05BF-3F0C-EF30A996A6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6DACFDAF-ED07-BE59-3FFA-2A570C6F6B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44A2ADC-1464-124E-A154-BEE4EB564E01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36376DC6-242E-7763-ED35-1016225D8E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64E6787-C2B0-EA9E-153F-BBC8B57B4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C87C7C1F-30C3-E117-C80D-9C692D9AB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E5B0CD-2581-2A48-9F18-E1407C1EBC64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099A2E9-FE06-FA7D-3E73-01606D4C31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6D3149C-5CC1-9484-C0BE-C0D8FC599D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9F5D9372-D437-0F0C-91F2-D7DBD9724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C866223-7394-7940-A3F6-19FCFE618BE5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1B18BE4D-E312-0494-ACE2-8D800FFFFC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1D73FAD-EF93-F160-4534-722D9E84B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A132C47C-850B-0257-8E37-E69EF4C83F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BAD2C1E-2726-6A4E-B767-960C5BAAB7D4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B8A99F7B-31A1-6049-66D3-7BAE69A03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D3EB28E-3E8F-8DAC-BEC9-470076919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BEECACE7-282B-116C-75B5-804FE0F21A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E85B6C-D16D-3C4F-9C28-0542C90B4147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CA1A8FFE-8DA5-52D1-73D0-703FC960CF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A3F9F96-C97D-97D5-744E-FBCB8E5E96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86BCDE8B-8AFD-9B72-E509-E14FF9C6FC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F64B65-F7C2-CB49-8A77-E23A2EE9BFE8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8E3F188D-916A-14C7-FB22-8222BCF2E7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070B73B-B209-3357-EC14-9E2548904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C6EF3855-6B03-BB7D-80AE-28DFF9D77D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2B32AFB-B7D4-994A-B11F-F5AC18AD15A2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40BB7A8A-AEC9-AF3B-6681-8ED7B39A6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1BB2F68-309D-498D-FA05-F3C61702B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583CC4DB-B222-0BBB-B4E3-402E7CE82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113D2A-6742-D54B-870E-ED1FC0FCE247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5583830B-62B5-7E0D-9BBD-E5BC4A8984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48868A9-68CA-93F3-7D4E-72771B5E8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53D8C717-22F3-AC7B-8E08-08079F26C4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CF7A8BB-7C75-D44E-BDD2-D112BF14923A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79F8CEAF-BF34-0D85-81C6-FC465ADE7F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5DF17F4-45D7-B946-CF21-1581AC7CB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7B70E810-A249-296D-04FA-0D6CA91964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94A475B-3621-6B47-9E88-05552578789F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BDA633FD-DADC-5DB9-78F3-AEF85FB791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2549C2D-CE1A-892D-9765-80CD52213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0599EFB7-E179-064B-6E9E-2688DB42E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D30B9F4-3018-CD45-9A66-9F5AAF322363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4D115D40-B183-C490-4EB5-CC8145B145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776CE9A-DEF3-914B-F1D0-63948BF60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2DCD345C-1522-D495-5C6F-93B3D792B7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C15BDE3-9A22-B744-8A3D-236C77F7E9D3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18A9B1AC-1D2D-B522-B58A-1CB487250F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69DB2D5-99C8-78FD-F031-7F010F008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85B8221C-FB88-0EE7-FA6B-DE7FE31B61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FAC27DC-F08F-E14D-98F7-603D1B0A649B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8FFFD60D-E422-CFBC-48C3-F892DD3129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A264DFC-3437-D2BF-01B1-352E3DE68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34CCBAAE-DCAC-B853-3EF7-BFA5AAE64D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8FC2C50-99AC-D247-8939-4210D05547E7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30CC5025-5F20-6EF8-FE98-91860C7CC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F9D8651-A0CB-C207-3CB6-FB95279AC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0222B4E4-4635-CE5E-C22F-87DC028DCD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E66AC9F-8AA2-2C43-81A2-06C3ABDF51BD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50C96F80-5E8E-DC21-C380-9A102E28AF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F3D4B31-8E6C-CDE4-ADCC-E06A12035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09FFA-B65C-B644-4DEE-5E508AD3C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7E1DE-D365-B140-ABC7-E307746D5F5B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1EE35-D8C2-558B-AF3E-9C2227426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3E8C9-E006-305C-3BB9-564D77F94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9C54-8C41-304F-9A5F-F93F25C84C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83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A54D4-A693-4E75-E9EA-3EBC8B9C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10BE4-634C-704C-BAB3-BC356E3B67A2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33DEB-A571-C106-760B-536EEF73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014B3-93F7-BF2E-69FE-470DE716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869B3-834F-854E-85E4-A80A6DBFB6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65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D070F-34CA-537D-30CC-183C5AD8A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229AA-2D2C-3D40-8699-00731124CF92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70CA7-CEEA-1995-77C4-AB54BB8E4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E9A0-CA8A-B696-EBF3-07E3B490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3D453-1D34-6C42-8F7A-9FC97EA80A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9C3DF3A-B414-5C36-7AA3-4C70BDBF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8A03E-640E-1247-A9A0-BD5306BDB062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DA2EF0E-48F6-041E-9441-DF7E4914A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4D3E75-99C6-E4A1-124B-0B0C8A96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DD2A7-9F35-E441-9AAB-792C5068ED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11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06D9BCD-4D4A-D220-C40C-BFE63EC6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EF790-50FB-894C-BE17-2281CD57AB4F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AEF5E4B-34E4-ACA7-617E-277B7367E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3648A76-8654-7498-BD38-13876525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E2144-7C25-1B48-B7F7-45AD9A1258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458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66C8063-D43D-11AF-BB46-5E75C16D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55894-7EB6-2644-A884-00B6990ED635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BB1BE3-F994-80A0-5B1D-D53F0A32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962E8C-9B8D-1A5F-5806-3D0838D0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4A989-7E02-1140-9571-242849D36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364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CC3EDC0-601B-B5E4-47EC-C0A437AC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B1A83-8EAB-9F4B-87E5-3BD41CB3FAA5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69B75FB-2822-BB39-E135-8B128214C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CF6FCF-A6E7-82FB-E639-175AC3A5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D7DB4-9B0C-5949-8FB5-FFD8DF1506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34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55BD00B-EFB5-B65D-A82F-EB8EC454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8CF7C-39FC-4C45-88E8-0AF5A03A42C6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B5C6740-50BF-6386-D765-51CA012C5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7C2BD9C-DAB6-E21A-F232-157EEA54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667EA-343A-D147-8313-377CFE63F8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821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BE03A6C-C510-82AE-7CBC-A0A292C6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7201A-0986-8243-9404-092B4E4E361F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4D356EA-5868-F5A0-0109-C2697530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BD1BB9-42F5-5E1C-363C-3CA2174C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89C8C-35F4-5446-A5E1-EE7DC30D3F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013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C6DF3-115C-119E-BCC0-E5738D054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64AE5-E582-D344-A3EB-CD2A1A8EBF1A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DD17A-83DE-9853-0843-36C409BC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BA702-3492-F8C4-F142-5AC184CD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29F79-D8B3-864C-A57A-B6A8F5E1B0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14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67563-2ED5-C2AA-6937-06A4B3D7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BA577-A48B-E047-816C-B4B025EB71B8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8E6F9-2B63-9E1D-2E07-1FE2DA290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3BA2-F8C6-716F-06D3-E55EF2BC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C7D35-2903-B946-9EDB-4563C8703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94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1194027-60A5-0EC8-5300-4CD5659C7CB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25F60BE-F58C-FEB3-EA4D-8571207E35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E761-5A52-FDCD-68A0-6D21D9CB7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BFF9220F-08B5-4D46-A19E-F0803B210D08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F99F0-B064-9184-BBF6-3E1D315771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A17B0-AA19-7A7C-5F91-F770D2FC1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81E81EF0-E635-864D-8D7B-CD45CE0E8D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hyperlink" Target="https://github.com/RangaBU/EE445-645-Spr2026/blob/main/C2-P1-01-Sim-Lidar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CF654924-D11E-3864-72AD-DD6D5EC39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9EE1ABB-4867-AD83-8587-06A5D0A0B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BF5A92E-7FF7-714D-81AD-584102B5DC3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B99B64BC-1235-DC82-B1DA-9BA2C30D9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074" y="1684429"/>
            <a:ext cx="5490917" cy="299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Turbid Medium Approximation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Temperate Forest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Horizontally Homogeneous Medium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and Sky Illumination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Incident Radiation Field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 RT Problem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Radiative Quantities of Interest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G-Function in Coniferous Canopies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95C0B428-757C-6BC0-B574-9A41F31A1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CDDB30F-991C-D43D-6600-97C7CF3D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2C923553-647B-EAC9-956A-46982AA4F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09" y="649288"/>
            <a:ext cx="257193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Turbid medium</a:t>
            </a: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055B2788-853D-9BFC-978B-5712E685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9" y="3816128"/>
            <a:ext cx="8767762" cy="250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Canopies of natural vegetation exhibit significant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structure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Trying to capture this complexity and dynamic is a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not impossible, task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vegetation canopy is idealized as a medium filled densely with small planar elements of negligible thickness and area, i.e., a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turbid medium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green gas.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abstraction ignores all organs other than green leaves. It captures the most significant aspect of the canopy that plays a central role in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energy, mass and momentum with the overlying boundary layer.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key variables,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area density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normal orientation distribution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capture characteristics of the vegetation canopy in this context.</a:t>
            </a:r>
          </a:p>
        </p:txBody>
      </p:sp>
      <p:pic>
        <p:nvPicPr>
          <p:cNvPr id="1026" name="Picture 2" descr="86,300+ Forest Canopies Stock Photos, Pictures &amp; Royalty-Free Images -  iStock">
            <a:extLst>
              <a:ext uri="{FF2B5EF4-FFF2-40B4-BE49-F238E27FC236}">
                <a16:creationId xmlns:a16="http://schemas.microsoft.com/office/drawing/2014/main" id="{C41FEF65-06AB-7626-4C49-453809BB4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113586"/>
            <a:ext cx="3742577" cy="249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olorful cloud in a glass box&#10;&#10;AI-generated content may be incorrect.">
            <a:extLst>
              <a:ext uri="{FF2B5EF4-FFF2-40B4-BE49-F238E27FC236}">
                <a16:creationId xmlns:a16="http://schemas.microsoft.com/office/drawing/2014/main" id="{89C78F83-E8FD-1C16-A6F1-F2A5A90EB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13586"/>
            <a:ext cx="4485061" cy="24950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6563-CC75-7AAE-636B-6C0CAB02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660FCB9-342A-56CC-C3E3-1E3D152B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D0B821A-A684-D3D0-006A-3AF02CA0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99E27B1F-098F-D394-0242-605B50820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649288"/>
            <a:ext cx="76054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Simulated Lidar Cloud of Foliage: Temperature Forest</a:t>
            </a: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5F3A0933-3BEB-D3B5-AAA7-F6EFDD578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18" y="4819902"/>
            <a:ext cx="8767762" cy="147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 dimensions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120 x 60 m</a:t>
            </a:r>
          </a:p>
          <a:p>
            <a:pPr algn="just"/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density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500 Individual trees, ~700 trees/ha, random tree location, 10 broadleaf deciduous species</a:t>
            </a:r>
          </a:p>
          <a:p>
            <a:pPr algn="just"/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area index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3.84 (each leaf of about 0.0411 m</a:t>
            </a:r>
            <a:r>
              <a:rPr lang="en-US" alt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750,000 to 850,000 points (700,000 leaf points, rest for other foliage elements)</a:t>
            </a:r>
          </a:p>
        </p:txBody>
      </p:sp>
      <p:pic>
        <p:nvPicPr>
          <p:cNvPr id="8" name="Picture 7" descr="A green smoke in a rectangular box&#10;&#10;AI-generated content may be incorrect.">
            <a:extLst>
              <a:ext uri="{FF2B5EF4-FFF2-40B4-BE49-F238E27FC236}">
                <a16:creationId xmlns:a16="http://schemas.microsoft.com/office/drawing/2014/main" id="{E8CD57A1-710A-0732-E016-880ED0774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19" y="1049398"/>
            <a:ext cx="4265465" cy="27394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43F9C1-6020-E064-C4E7-5BB2A98DA8CA}"/>
              </a:ext>
            </a:extLst>
          </p:cNvPr>
          <p:cNvSpPr txBox="1"/>
          <p:nvPr/>
        </p:nvSpPr>
        <p:spPr>
          <a:xfrm>
            <a:off x="557579" y="4135075"/>
            <a:ext cx="352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4"/>
              </a:rPr>
              <a:t>Simulated Temperate Forest Lidar Scans</a:t>
            </a:r>
            <a:endParaRPr lang="en-US" sz="16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eaves flying over a brown surface  AI-generated content may be incorrect.">
            <a:extLst>
              <a:ext uri="{FF2B5EF4-FFF2-40B4-BE49-F238E27FC236}">
                <a16:creationId xmlns:a16="http://schemas.microsoft.com/office/drawing/2014/main" id="{CAF55725-E8A5-5FD8-9943-AE6BFE3113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777" y="1018802"/>
            <a:ext cx="3313203" cy="296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064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B1117A99-5619-2427-590C-52EACBDEC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856A5C0-F4DB-E36D-A946-666E277D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33A767E-81F9-E04B-9E6C-9B0A9B38B3C8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9E2CCDDF-1DDD-D20D-09C5-C3AC5A1E2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15" y="809625"/>
            <a:ext cx="1794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2B1C75B7-32A5-A2CE-AD26-D428654CB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54" y="1721213"/>
            <a:ext cx="7611564" cy="358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Char char="-"/>
            </a:pP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Horizontally homogeneous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vegetation canopy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consist of 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planar leaves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illuminated from above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lvl="1"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radiation</a:t>
            </a:r>
          </a:p>
          <a:p>
            <a:pPr lvl="1"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isotropic 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 sky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(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time-independent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problem</a:t>
            </a:r>
          </a:p>
          <a:p>
            <a:pPr>
              <a:buFontTx/>
              <a:buChar char="-"/>
            </a:pP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frequency shifting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Scattering 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wavelength</a:t>
            </a:r>
          </a:p>
          <a:p>
            <a:pPr>
              <a:buFontTx/>
              <a:buChar char="-"/>
            </a:pP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emission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radiation within the medium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and bottom 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boundaries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medium are 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non-reflecting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is 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non-re-entrant</a:t>
            </a:r>
          </a:p>
          <a:p>
            <a:pPr>
              <a:buFontTx/>
              <a:buChar char="-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Problem in </a:t>
            </a:r>
            <a:r>
              <a:rPr lang="en-US" altLang="en-US" sz="1600" dirty="0">
                <a:solidFill>
                  <a:srgbClr val="1418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Remote Sensing of Vegetation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4CD6FFB-A019-F1C4-AB64-26A6CDA4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7057A38-EF63-E19B-064F-9B729497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96318FE-CF1C-C345-994F-9AB2FA717C78}" type="slidenum">
              <a:rPr lang="en-US" altLang="zh-CN" sz="1400" b="1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8BDCABB4-DD77-67F3-B68B-C8C296CCD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8979"/>
            <a:ext cx="5479506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Schematic: Horizontally Homogeneous Medium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6D7DE3-9935-DDF6-3390-7E6872C6F38B}"/>
              </a:ext>
            </a:extLst>
          </p:cNvPr>
          <p:cNvCxnSpPr/>
          <p:nvPr/>
        </p:nvCxnSpPr>
        <p:spPr>
          <a:xfrm>
            <a:off x="4268788" y="4970463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6807F0-42E9-355D-B842-2E6B0973DC15}"/>
              </a:ext>
            </a:extLst>
          </p:cNvPr>
          <p:cNvCxnSpPr/>
          <p:nvPr/>
        </p:nvCxnSpPr>
        <p:spPr>
          <a:xfrm>
            <a:off x="4233863" y="6440488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9" name="Picture 9">
            <a:extLst>
              <a:ext uri="{FF2B5EF4-FFF2-40B4-BE49-F238E27FC236}">
                <a16:creationId xmlns:a16="http://schemas.microsoft.com/office/drawing/2014/main" id="{D8C1FA8D-F5B5-3E85-BA37-8FE6B04C7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970463"/>
            <a:ext cx="2828925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15">
            <a:extLst>
              <a:ext uri="{FF2B5EF4-FFF2-40B4-BE49-F238E27FC236}">
                <a16:creationId xmlns:a16="http://schemas.microsoft.com/office/drawing/2014/main" id="{38F2E21B-27C8-C224-E741-DD2270C23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589588"/>
            <a:ext cx="2828925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1" name="TextBox 19">
            <a:extLst>
              <a:ext uri="{FF2B5EF4-FFF2-40B4-BE49-F238E27FC236}">
                <a16:creationId xmlns:a16="http://schemas.microsoft.com/office/drawing/2014/main" id="{F3488915-F724-0ECB-0C33-8CA1AA8D5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38" y="4746625"/>
            <a:ext cx="51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18442" name="TextBox 23">
            <a:extLst>
              <a:ext uri="{FF2B5EF4-FFF2-40B4-BE49-F238E27FC236}">
                <a16:creationId xmlns:a16="http://schemas.microsoft.com/office/drawing/2014/main" id="{EF2BCE1B-8864-29C8-54F0-575501932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213" y="6240463"/>
            <a:ext cx="909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bottom</a:t>
            </a:r>
          </a:p>
        </p:txBody>
      </p:sp>
      <p:sp>
        <p:nvSpPr>
          <p:cNvPr id="18443" name="TextBox 24">
            <a:extLst>
              <a:ext uri="{FF2B5EF4-FFF2-40B4-BE49-F238E27FC236}">
                <a16:creationId xmlns:a16="http://schemas.microsoft.com/office/drawing/2014/main" id="{96FDEEDC-2D82-11D2-E6F6-79D75A287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38" y="5473700"/>
            <a:ext cx="137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leaf canopy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881989-FF01-7609-408B-AA0F18DA5371}"/>
              </a:ext>
            </a:extLst>
          </p:cNvPr>
          <p:cNvCxnSpPr/>
          <p:nvPr/>
        </p:nvCxnSpPr>
        <p:spPr>
          <a:xfrm>
            <a:off x="3949700" y="4954588"/>
            <a:ext cx="0" cy="15462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5" name="TextBox 30">
            <a:extLst>
              <a:ext uri="{FF2B5EF4-FFF2-40B4-BE49-F238E27FC236}">
                <a16:creationId xmlns:a16="http://schemas.microsoft.com/office/drawing/2014/main" id="{6B427E0C-FD05-0D76-C795-3E6B21F55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388" y="5389563"/>
            <a:ext cx="795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z-axis</a:t>
            </a:r>
          </a:p>
        </p:txBody>
      </p:sp>
      <p:sp>
        <p:nvSpPr>
          <p:cNvPr id="18446" name="TextBox 31">
            <a:extLst>
              <a:ext uri="{FF2B5EF4-FFF2-40B4-BE49-F238E27FC236}">
                <a16:creationId xmlns:a16="http://schemas.microsoft.com/office/drawing/2014/main" id="{8C2C2F47-2D0F-3B53-0B0C-71ADEECF9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4708525"/>
            <a:ext cx="569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z=0</a:t>
            </a:r>
          </a:p>
        </p:txBody>
      </p:sp>
      <p:sp>
        <p:nvSpPr>
          <p:cNvPr id="18447" name="TextBox 32">
            <a:extLst>
              <a:ext uri="{FF2B5EF4-FFF2-40B4-BE49-F238E27FC236}">
                <a16:creationId xmlns:a16="http://schemas.microsoft.com/office/drawing/2014/main" id="{3C3AFAB5-C2F8-97B1-13EE-EEB6A9EFB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6240463"/>
            <a:ext cx="679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z=z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0458A0A-05C1-9A2A-441A-1B5CAEB3F5F5}"/>
              </a:ext>
            </a:extLst>
          </p:cNvPr>
          <p:cNvCxnSpPr/>
          <p:nvPr/>
        </p:nvCxnSpPr>
        <p:spPr>
          <a:xfrm>
            <a:off x="4233863" y="3181351"/>
            <a:ext cx="2068513" cy="1673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een leaves flying over a brown surface  AI-generated content may be incorrect.">
            <a:extLst>
              <a:ext uri="{FF2B5EF4-FFF2-40B4-BE49-F238E27FC236}">
                <a16:creationId xmlns:a16="http://schemas.microsoft.com/office/drawing/2014/main" id="{30D164BF-C0CF-DE89-DBFF-FB6C11F6F7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63" y="1130051"/>
            <a:ext cx="3774530" cy="337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BC6FEC7-14A0-14A7-9382-D6B2A5844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AF772C7-4BF5-95E6-1F52-332B9DFF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585FBD8-5F1D-D546-8BBB-FFEB3E56EFA2}" type="slidenum">
              <a:rPr lang="en-US" altLang="zh-CN" sz="1400" b="1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TextBox 7">
            <a:extLst>
              <a:ext uri="{FF2B5EF4-FFF2-40B4-BE49-F238E27FC236}">
                <a16:creationId xmlns:a16="http://schemas.microsoft.com/office/drawing/2014/main" id="{0226E9A8-7B3C-D45A-CD5C-2F701F2A0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1" y="740569"/>
            <a:ext cx="464348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Schematic: Solar and Sky Illumination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3CA2F1-B95D-BCCE-513B-8034F83E24DB}"/>
              </a:ext>
            </a:extLst>
          </p:cNvPr>
          <p:cNvCxnSpPr/>
          <p:nvPr/>
        </p:nvCxnSpPr>
        <p:spPr>
          <a:xfrm>
            <a:off x="2767013" y="4164013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D50D0B-BAA5-4CC0-68B7-80F4F9ACE483}"/>
              </a:ext>
            </a:extLst>
          </p:cNvPr>
          <p:cNvCxnSpPr/>
          <p:nvPr/>
        </p:nvCxnSpPr>
        <p:spPr>
          <a:xfrm>
            <a:off x="2732088" y="5634038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6" name="Picture 9">
            <a:extLst>
              <a:ext uri="{FF2B5EF4-FFF2-40B4-BE49-F238E27FC236}">
                <a16:creationId xmlns:a16="http://schemas.microsoft.com/office/drawing/2014/main" id="{D0568C4F-6EA0-FEDF-3D91-B9A5C6B96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638" y="4164013"/>
            <a:ext cx="2828925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15">
            <a:extLst>
              <a:ext uri="{FF2B5EF4-FFF2-40B4-BE49-F238E27FC236}">
                <a16:creationId xmlns:a16="http://schemas.microsoft.com/office/drawing/2014/main" id="{952E040A-AC1B-CFE6-03F7-693E91C0A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638" y="4783138"/>
            <a:ext cx="2828925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8" name="TextBox 19">
            <a:extLst>
              <a:ext uri="{FF2B5EF4-FFF2-40B4-BE49-F238E27FC236}">
                <a16:creationId xmlns:a16="http://schemas.microsoft.com/office/drawing/2014/main" id="{408150B6-7FA8-466B-1CA8-27ED2428A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2363" y="3940175"/>
            <a:ext cx="51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20489" name="TextBox 23">
            <a:extLst>
              <a:ext uri="{FF2B5EF4-FFF2-40B4-BE49-F238E27FC236}">
                <a16:creationId xmlns:a16="http://schemas.microsoft.com/office/drawing/2014/main" id="{A924A68E-87D6-DACD-A1F7-8B907BB6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5434013"/>
            <a:ext cx="908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bottom</a:t>
            </a:r>
          </a:p>
        </p:txBody>
      </p:sp>
      <p:sp>
        <p:nvSpPr>
          <p:cNvPr id="20490" name="TextBox 24">
            <a:extLst>
              <a:ext uri="{FF2B5EF4-FFF2-40B4-BE49-F238E27FC236}">
                <a16:creationId xmlns:a16="http://schemas.microsoft.com/office/drawing/2014/main" id="{8AB5E33E-E4E4-6AA1-6111-99A8AF302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2363" y="4667250"/>
            <a:ext cx="137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leaf canopy</a:t>
            </a:r>
          </a:p>
        </p:txBody>
      </p:sp>
      <p:sp>
        <p:nvSpPr>
          <p:cNvPr id="20491" name="TextBox 26">
            <a:extLst>
              <a:ext uri="{FF2B5EF4-FFF2-40B4-BE49-F238E27FC236}">
                <a16:creationId xmlns:a16="http://schemas.microsoft.com/office/drawing/2014/main" id="{583BE1DA-E4F0-4ACF-898C-A165B650D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490663"/>
            <a:ext cx="26797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Diffuse sky illumination</a:t>
            </a:r>
          </a:p>
        </p:txBody>
      </p:sp>
      <p:sp>
        <p:nvSpPr>
          <p:cNvPr id="20492" name="TextBox 27">
            <a:extLst>
              <a:ext uri="{FF2B5EF4-FFF2-40B4-BE49-F238E27FC236}">
                <a16:creationId xmlns:a16="http://schemas.microsoft.com/office/drawing/2014/main" id="{E191E850-1DD2-A2F1-737A-4B053AFC4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050" y="1182688"/>
            <a:ext cx="1712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Direct sunlight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25AF14-F1DA-F467-AC9E-6199F7AC7CDA}"/>
              </a:ext>
            </a:extLst>
          </p:cNvPr>
          <p:cNvCxnSpPr/>
          <p:nvPr/>
        </p:nvCxnSpPr>
        <p:spPr>
          <a:xfrm>
            <a:off x="2446338" y="4148138"/>
            <a:ext cx="0" cy="15462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4" name="TextBox 30">
            <a:extLst>
              <a:ext uri="{FF2B5EF4-FFF2-40B4-BE49-F238E27FC236}">
                <a16:creationId xmlns:a16="http://schemas.microsoft.com/office/drawing/2014/main" id="{4C226732-4911-B7D4-A6FC-155C67DE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8613" y="4583113"/>
            <a:ext cx="793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z-axis</a:t>
            </a:r>
          </a:p>
        </p:txBody>
      </p:sp>
      <p:sp>
        <p:nvSpPr>
          <p:cNvPr id="20495" name="TextBox 31">
            <a:extLst>
              <a:ext uri="{FF2B5EF4-FFF2-40B4-BE49-F238E27FC236}">
                <a16:creationId xmlns:a16="http://schemas.microsoft.com/office/drawing/2014/main" id="{C03E9F71-614A-3123-6A1F-F259A7C27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63" y="3902075"/>
            <a:ext cx="571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z=0</a:t>
            </a:r>
          </a:p>
        </p:txBody>
      </p:sp>
      <p:sp>
        <p:nvSpPr>
          <p:cNvPr id="20496" name="TextBox 32">
            <a:extLst>
              <a:ext uri="{FF2B5EF4-FFF2-40B4-BE49-F238E27FC236}">
                <a16:creationId xmlns:a16="http://schemas.microsoft.com/office/drawing/2014/main" id="{07FB408F-7FB2-E093-98DF-7EF03BBC6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63" y="5434013"/>
            <a:ext cx="679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z=z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20497" name="Rectangle 2">
            <a:extLst>
              <a:ext uri="{FF2B5EF4-FFF2-40B4-BE49-F238E27FC236}">
                <a16:creationId xmlns:a16="http://schemas.microsoft.com/office/drawing/2014/main" id="{05BF2080-80DC-81D9-772B-4976359C5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513" y="1506538"/>
            <a:ext cx="43656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20498" name="Rectangle 29">
            <a:extLst>
              <a:ext uri="{FF2B5EF4-FFF2-40B4-BE49-F238E27FC236}">
                <a16:creationId xmlns:a16="http://schemas.microsoft.com/office/drawing/2014/main" id="{1A37F9AA-1282-613F-E7ED-C421EB2C5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1906588"/>
            <a:ext cx="4381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20499" name="Rectangle 30">
            <a:extLst>
              <a:ext uri="{FF2B5EF4-FFF2-40B4-BE49-F238E27FC236}">
                <a16:creationId xmlns:a16="http://schemas.microsoft.com/office/drawing/2014/main" id="{CF8ADE40-8FF4-A38C-9EB1-CE1E61A36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788" y="1525588"/>
            <a:ext cx="1085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δ(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0500" name="Picture 3">
            <a:extLst>
              <a:ext uri="{FF2B5EF4-FFF2-40B4-BE49-F238E27FC236}">
                <a16:creationId xmlns:a16="http://schemas.microsoft.com/office/drawing/2014/main" id="{5ABECA3F-6BA2-1C04-FA20-FBD5A8617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513" y="1666875"/>
            <a:ext cx="3048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64D4785-5D8D-E248-4BB3-2E8AE70F2603}"/>
              </a:ext>
            </a:extLst>
          </p:cNvPr>
          <p:cNvSpPr/>
          <p:nvPr/>
        </p:nvSpPr>
        <p:spPr>
          <a:xfrm>
            <a:off x="5005388" y="1628775"/>
            <a:ext cx="4603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2000" u="sng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0</a:t>
            </a:r>
            <a:endParaRPr lang="en-US" sz="2000" baseline="-25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DDE6F9-17D7-3106-6B03-6E2670CD2B1D}"/>
              </a:ext>
            </a:extLst>
          </p:cNvPr>
          <p:cNvCxnSpPr/>
          <p:nvPr/>
        </p:nvCxnSpPr>
        <p:spPr>
          <a:xfrm>
            <a:off x="3263900" y="2468563"/>
            <a:ext cx="1090613" cy="631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AA3441-9B03-72D9-6BBE-88619EBBCD23}"/>
              </a:ext>
            </a:extLst>
          </p:cNvPr>
          <p:cNvCxnSpPr/>
          <p:nvPr/>
        </p:nvCxnSpPr>
        <p:spPr>
          <a:xfrm>
            <a:off x="3949700" y="2028825"/>
            <a:ext cx="404813" cy="107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604A343-F9B4-97A5-6604-400B703ED63B}"/>
              </a:ext>
            </a:extLst>
          </p:cNvPr>
          <p:cNvSpPr/>
          <p:nvPr/>
        </p:nvSpPr>
        <p:spPr>
          <a:xfrm>
            <a:off x="3263900" y="2135188"/>
            <a:ext cx="4603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2000" u="sng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d</a:t>
            </a:r>
            <a:endParaRPr lang="en-US" sz="2000" baseline="-2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E1AE4BE-F055-39EE-7109-517D17A36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6889184-7204-A477-F8AD-D94965D9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87032E6-C4B6-A24F-9B8D-7F2E456FDCB8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TextBox 7">
            <a:extLst>
              <a:ext uri="{FF2B5EF4-FFF2-40B4-BE49-F238E27FC236}">
                <a16:creationId xmlns:a16="http://schemas.microsoft.com/office/drawing/2014/main" id="{4A106D97-20A6-8363-2E0F-9DD452160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71" y="777875"/>
            <a:ext cx="337203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Incident Radiant Field</a:t>
            </a:r>
          </a:p>
        </p:txBody>
      </p:sp>
      <p:sp>
        <p:nvSpPr>
          <p:cNvPr id="22532" name="TextBox 29">
            <a:extLst>
              <a:ext uri="{FF2B5EF4-FFF2-40B4-BE49-F238E27FC236}">
                <a16:creationId xmlns:a16="http://schemas.microsoft.com/office/drawing/2014/main" id="{E69ADCFC-C2D9-B070-8A7D-37F514ACD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927" y="4330076"/>
            <a:ext cx="2919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152EF4"/>
                </a:solidFill>
                <a:latin typeface="Times New Roman" panose="02020603050405020304" pitchFamily="18" charset="0"/>
              </a:rPr>
              <a:t>Diffuse Sky Radiation</a:t>
            </a:r>
          </a:p>
        </p:txBody>
      </p:sp>
      <p:sp>
        <p:nvSpPr>
          <p:cNvPr id="22533" name="TextBox 3">
            <a:extLst>
              <a:ext uri="{FF2B5EF4-FFF2-40B4-BE49-F238E27FC236}">
                <a16:creationId xmlns:a16="http://schemas.microsoft.com/office/drawing/2014/main" id="{1B4CC89B-F635-F8BB-B7E5-945F3DF88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8666" y="2393949"/>
            <a:ext cx="146685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Intensity: I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 dirty="0">
                <a:latin typeface="Times New Roman" panose="02020603050405020304" pitchFamily="18" charset="0"/>
              </a:rPr>
              <a:t>λ</a:t>
            </a:r>
            <a:endParaRPr lang="en-US" altLang="en-US" sz="2000" baseline="-25000" dirty="0">
              <a:latin typeface="Times New Roman" panose="02020603050405020304" pitchFamily="18" charset="0"/>
            </a:endParaRPr>
          </a:p>
        </p:txBody>
      </p:sp>
      <p:sp>
        <p:nvSpPr>
          <p:cNvPr id="22534" name="TextBox 4">
            <a:extLst>
              <a:ext uri="{FF2B5EF4-FFF2-40B4-BE49-F238E27FC236}">
                <a16:creationId xmlns:a16="http://schemas.microsoft.com/office/drawing/2014/main" id="{CAF2FBF5-BE6D-B551-5491-65CF8377E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8666" y="2818294"/>
            <a:ext cx="2919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Flux Density: F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 dirty="0">
                <a:latin typeface="Times New Roman" panose="02020603050405020304" pitchFamily="18" charset="0"/>
              </a:rPr>
              <a:t>λ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= |</a:t>
            </a:r>
            <a:r>
              <a:rPr lang="el-GR" altLang="en-US" sz="2000" dirty="0">
                <a:latin typeface="Times New Roman" panose="02020603050405020304" pitchFamily="18" charset="0"/>
              </a:rPr>
              <a:t>μ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0</a:t>
            </a:r>
            <a:r>
              <a:rPr lang="en-US" altLang="en-US" sz="2000" dirty="0">
                <a:latin typeface="Times New Roman" panose="02020603050405020304" pitchFamily="18" charset="0"/>
              </a:rPr>
              <a:t>| I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 dirty="0">
                <a:latin typeface="Times New Roman" panose="02020603050405020304" pitchFamily="18" charset="0"/>
              </a:rPr>
              <a:t>λ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endParaRPr lang="el-GR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2536" name="TextBox 67">
            <a:extLst>
              <a:ext uri="{FF2B5EF4-FFF2-40B4-BE49-F238E27FC236}">
                <a16:creationId xmlns:a16="http://schemas.microsoft.com/office/drawing/2014/main" id="{E8EB2ED9-E3DF-FEA6-81EC-A6F7DA3DA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364" y="4688197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Intensity: I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 dirty="0">
                <a:latin typeface="Times New Roman" panose="02020603050405020304" pitchFamily="18" charset="0"/>
              </a:rPr>
              <a:t>λ</a:t>
            </a:r>
            <a:endParaRPr lang="en-US" altLang="en-US" sz="2000" baseline="-25000" dirty="0">
              <a:latin typeface="Times New Roman" panose="02020603050405020304" pitchFamily="18" charset="0"/>
            </a:endParaRPr>
          </a:p>
        </p:txBody>
      </p:sp>
      <p:sp>
        <p:nvSpPr>
          <p:cNvPr id="22537" name="TextBox 68">
            <a:extLst>
              <a:ext uri="{FF2B5EF4-FFF2-40B4-BE49-F238E27FC236}">
                <a16:creationId xmlns:a16="http://schemas.microsoft.com/office/drawing/2014/main" id="{8B42C523-75EE-E0C9-4542-C14769307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364" y="5046317"/>
            <a:ext cx="2593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Flux Density: </a:t>
            </a:r>
            <a:r>
              <a:rPr lang="en-US" altLang="en-US" sz="2000" dirty="0" err="1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 dirty="0" err="1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 dirty="0">
                <a:latin typeface="Times New Roman" panose="02020603050405020304" pitchFamily="18" charset="0"/>
              </a:rPr>
              <a:t>λ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=  I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 dirty="0">
                <a:latin typeface="Times New Roman" panose="02020603050405020304" pitchFamily="18" charset="0"/>
              </a:rPr>
              <a:t>λ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endParaRPr lang="el-GR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2538" name="Rectangle 5">
            <a:extLst>
              <a:ext uri="{FF2B5EF4-FFF2-40B4-BE49-F238E27FC236}">
                <a16:creationId xmlns:a16="http://schemas.microsoft.com/office/drawing/2014/main" id="{14AAD13E-D621-D8CD-23C7-048EB48A0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116" y="5023313"/>
            <a:ext cx="325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</a:p>
        </p:txBody>
      </p:sp>
      <p:sp>
        <p:nvSpPr>
          <p:cNvPr id="22539" name="Rectangle 6">
            <a:extLst>
              <a:ext uri="{FF2B5EF4-FFF2-40B4-BE49-F238E27FC236}">
                <a16:creationId xmlns:a16="http://schemas.microsoft.com/office/drawing/2014/main" id="{347B4A97-F866-7994-AE6D-D04B38C09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291" y="2401887"/>
            <a:ext cx="1084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δ(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217963C-DD50-0328-7C60-F1F9A2A4D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264" y="3276397"/>
            <a:ext cx="35750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Cosine of solar polar angle: |</a:t>
            </a:r>
            <a:r>
              <a:rPr lang="el-GR" altLang="en-US" sz="2000" dirty="0">
                <a:latin typeface="Times New Roman" panose="02020603050405020304" pitchFamily="18" charset="0"/>
              </a:rPr>
              <a:t>μ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0</a:t>
            </a:r>
            <a:r>
              <a:rPr lang="en-US" altLang="en-US" sz="2000" dirty="0">
                <a:latin typeface="Times New Roman" panose="02020603050405020304" pitchFamily="18" charset="0"/>
              </a:rPr>
              <a:t>|  </a:t>
            </a:r>
            <a:endParaRPr lang="el-GR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38A99F6A-C0E1-16A8-679C-35369471E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2073275"/>
            <a:ext cx="2919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152EF4"/>
                </a:solidFill>
                <a:latin typeface="Times New Roman" panose="02020603050405020304" pitchFamily="18" charset="0"/>
              </a:rPr>
              <a:t>Direct Solar Radiation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6FF8EF60-DEFE-F0F8-35B3-1396440B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B92579B-85DF-C319-AC3C-53E51CCB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468F2A70-9F61-AD48-B61C-0BF99E5721D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TextBox 7">
            <a:extLst>
              <a:ext uri="{FF2B5EF4-FFF2-40B4-BE49-F238E27FC236}">
                <a16:creationId xmlns:a16="http://schemas.microsoft.com/office/drawing/2014/main" id="{FED204DA-EFC9-819C-2456-93CC851D7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927" y="750888"/>
            <a:ext cx="473927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RT Problem (1D monochromatic RT)</a:t>
            </a:r>
          </a:p>
        </p:txBody>
      </p:sp>
      <p:pic>
        <p:nvPicPr>
          <p:cNvPr id="24580" name="Picture 3">
            <a:extLst>
              <a:ext uri="{FF2B5EF4-FFF2-40B4-BE49-F238E27FC236}">
                <a16:creationId xmlns:a16="http://schemas.microsoft.com/office/drawing/2014/main" id="{31AFC2BE-B503-817C-E1BE-43E999E2A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50" y="1308100"/>
            <a:ext cx="5791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5">
            <a:extLst>
              <a:ext uri="{FF2B5EF4-FFF2-40B4-BE49-F238E27FC236}">
                <a16:creationId xmlns:a16="http://schemas.microsoft.com/office/drawing/2014/main" id="{3C8379DA-4DE0-A919-6B6B-7FF6378F5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975" y="1987550"/>
            <a:ext cx="40386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8">
            <a:extLst>
              <a:ext uri="{FF2B5EF4-FFF2-40B4-BE49-F238E27FC236}">
                <a16:creationId xmlns:a16="http://schemas.microsoft.com/office/drawing/2014/main" id="{597AACFF-C22F-C267-3CA8-C33D26207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0" y="2484438"/>
            <a:ext cx="14478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TextBox 9">
            <a:extLst>
              <a:ext uri="{FF2B5EF4-FFF2-40B4-BE49-F238E27FC236}">
                <a16:creationId xmlns:a16="http://schemas.microsoft.com/office/drawing/2014/main" id="{FAA5B7CA-7F31-F2A7-96A1-413219A3C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263" y="2466975"/>
            <a:ext cx="377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0,</a:t>
            </a:r>
          </a:p>
        </p:txBody>
      </p:sp>
      <p:pic>
        <p:nvPicPr>
          <p:cNvPr id="24584" name="Picture 12">
            <a:extLst>
              <a:ext uri="{FF2B5EF4-FFF2-40B4-BE49-F238E27FC236}">
                <a16:creationId xmlns:a16="http://schemas.microsoft.com/office/drawing/2014/main" id="{1DB835C4-2663-EE7B-2BDF-F823ECDED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850" y="2547938"/>
            <a:ext cx="635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20FBAD-540D-D50A-54DB-6BEDC99A374D}"/>
              </a:ext>
            </a:extLst>
          </p:cNvPr>
          <p:cNvCxnSpPr/>
          <p:nvPr/>
        </p:nvCxnSpPr>
        <p:spPr>
          <a:xfrm>
            <a:off x="2665413" y="5127625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799B6E0-A54C-EC25-0B9E-EB76ACE98C13}"/>
              </a:ext>
            </a:extLst>
          </p:cNvPr>
          <p:cNvCxnSpPr/>
          <p:nvPr/>
        </p:nvCxnSpPr>
        <p:spPr>
          <a:xfrm>
            <a:off x="2630488" y="6597650"/>
            <a:ext cx="3435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87" name="Picture 9">
            <a:extLst>
              <a:ext uri="{FF2B5EF4-FFF2-40B4-BE49-F238E27FC236}">
                <a16:creationId xmlns:a16="http://schemas.microsoft.com/office/drawing/2014/main" id="{748F3219-FCC6-13DB-93E2-618A40C5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5127625"/>
            <a:ext cx="2828925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8" name="Picture 15">
            <a:extLst>
              <a:ext uri="{FF2B5EF4-FFF2-40B4-BE49-F238E27FC236}">
                <a16:creationId xmlns:a16="http://schemas.microsoft.com/office/drawing/2014/main" id="{CBD1EB86-4B85-B9FD-6759-CB005B7C9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5746750"/>
            <a:ext cx="2828925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9" name="TextBox 19">
            <a:extLst>
              <a:ext uri="{FF2B5EF4-FFF2-40B4-BE49-F238E27FC236}">
                <a16:creationId xmlns:a16="http://schemas.microsoft.com/office/drawing/2014/main" id="{6F84C17D-8561-8964-0421-BADC56562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763" y="4903788"/>
            <a:ext cx="51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24590" name="TextBox 23">
            <a:extLst>
              <a:ext uri="{FF2B5EF4-FFF2-40B4-BE49-F238E27FC236}">
                <a16:creationId xmlns:a16="http://schemas.microsoft.com/office/drawing/2014/main" id="{AA903824-438B-0F10-3E6F-A904A26F0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838" y="6397625"/>
            <a:ext cx="909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bottom</a:t>
            </a:r>
          </a:p>
        </p:txBody>
      </p:sp>
      <p:sp>
        <p:nvSpPr>
          <p:cNvPr id="24591" name="TextBox 24">
            <a:extLst>
              <a:ext uri="{FF2B5EF4-FFF2-40B4-BE49-F238E27FC236}">
                <a16:creationId xmlns:a16="http://schemas.microsoft.com/office/drawing/2014/main" id="{66288846-0115-A65E-D627-04CB5A2C2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763" y="5630863"/>
            <a:ext cx="137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leaf canopy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D5433EA-1B40-C43E-E5B5-B520829CD3BA}"/>
              </a:ext>
            </a:extLst>
          </p:cNvPr>
          <p:cNvCxnSpPr/>
          <p:nvPr/>
        </p:nvCxnSpPr>
        <p:spPr>
          <a:xfrm>
            <a:off x="2346325" y="5111750"/>
            <a:ext cx="0" cy="15462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93" name="TextBox 30">
            <a:extLst>
              <a:ext uri="{FF2B5EF4-FFF2-40B4-BE49-F238E27FC236}">
                <a16:creationId xmlns:a16="http://schemas.microsoft.com/office/drawing/2014/main" id="{5B7ED6DC-D06F-C5AC-87AB-8C665B0D9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5546725"/>
            <a:ext cx="795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z-axis</a:t>
            </a:r>
          </a:p>
        </p:txBody>
      </p:sp>
      <p:sp>
        <p:nvSpPr>
          <p:cNvPr id="24594" name="TextBox 31">
            <a:extLst>
              <a:ext uri="{FF2B5EF4-FFF2-40B4-BE49-F238E27FC236}">
                <a16:creationId xmlns:a16="http://schemas.microsoft.com/office/drawing/2014/main" id="{1F88F1C2-318D-15F5-79A8-1C57A8653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250" y="4865688"/>
            <a:ext cx="569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z=0</a:t>
            </a:r>
          </a:p>
        </p:txBody>
      </p:sp>
      <p:sp>
        <p:nvSpPr>
          <p:cNvPr id="24595" name="TextBox 32">
            <a:extLst>
              <a:ext uri="{FF2B5EF4-FFF2-40B4-BE49-F238E27FC236}">
                <a16:creationId xmlns:a16="http://schemas.microsoft.com/office/drawing/2014/main" id="{F612DF68-7429-5F4C-91C4-06BF4EAD3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250" y="6397625"/>
            <a:ext cx="679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z=z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24596" name="TextBox 26">
            <a:extLst>
              <a:ext uri="{FF2B5EF4-FFF2-40B4-BE49-F238E27FC236}">
                <a16:creationId xmlns:a16="http://schemas.microsoft.com/office/drawing/2014/main" id="{F32B7ADE-7161-CD19-E665-7029D268C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3190875"/>
            <a:ext cx="26797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Diffuse sky illumination</a:t>
            </a:r>
          </a:p>
        </p:txBody>
      </p:sp>
      <p:sp>
        <p:nvSpPr>
          <p:cNvPr id="24597" name="TextBox 27">
            <a:extLst>
              <a:ext uri="{FF2B5EF4-FFF2-40B4-BE49-F238E27FC236}">
                <a16:creationId xmlns:a16="http://schemas.microsoft.com/office/drawing/2014/main" id="{D615B465-ACFE-2F57-8E14-20E159D92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8" y="3206750"/>
            <a:ext cx="171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Direct sunlight</a:t>
            </a:r>
          </a:p>
        </p:txBody>
      </p:sp>
      <p:sp>
        <p:nvSpPr>
          <p:cNvPr id="24598" name="Rectangle 2">
            <a:extLst>
              <a:ext uri="{FF2B5EF4-FFF2-40B4-BE49-F238E27FC236}">
                <a16:creationId xmlns:a16="http://schemas.microsoft.com/office/drawing/2014/main" id="{7A36ECC5-BC68-263D-DD24-E66788F03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3487738"/>
            <a:ext cx="43656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24599" name="Rectangle 29">
            <a:extLst>
              <a:ext uri="{FF2B5EF4-FFF2-40B4-BE49-F238E27FC236}">
                <a16:creationId xmlns:a16="http://schemas.microsoft.com/office/drawing/2014/main" id="{74BE188E-FED7-640C-397D-2E500BBE5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3470275"/>
            <a:ext cx="43815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24600" name="Rectangle 30">
            <a:extLst>
              <a:ext uri="{FF2B5EF4-FFF2-40B4-BE49-F238E27FC236}">
                <a16:creationId xmlns:a16="http://schemas.microsoft.com/office/drawing/2014/main" id="{451E4781-79B6-7F71-DD0C-AD944CAA5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450" y="3535363"/>
            <a:ext cx="1085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δ(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4601" name="Picture 37">
            <a:extLst>
              <a:ext uri="{FF2B5EF4-FFF2-40B4-BE49-F238E27FC236}">
                <a16:creationId xmlns:a16="http://schemas.microsoft.com/office/drawing/2014/main" id="{270A44FF-8F8F-ABF6-6110-2F6D5837E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88" y="3228975"/>
            <a:ext cx="3048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E3591C4-0FA9-8719-BC63-3CCACF83D0F7}"/>
              </a:ext>
            </a:extLst>
          </p:cNvPr>
          <p:cNvSpPr/>
          <p:nvPr/>
        </p:nvSpPr>
        <p:spPr>
          <a:xfrm>
            <a:off x="5033963" y="3190875"/>
            <a:ext cx="4603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2000" u="sng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0</a:t>
            </a:r>
            <a:endParaRPr lang="en-US" sz="2000" baseline="-250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B85B52E-66CC-6039-72E1-7B585A683A03}"/>
              </a:ext>
            </a:extLst>
          </p:cNvPr>
          <p:cNvCxnSpPr/>
          <p:nvPr/>
        </p:nvCxnSpPr>
        <p:spPr>
          <a:xfrm>
            <a:off x="3292475" y="4030663"/>
            <a:ext cx="1090613" cy="631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76B3BF-52B3-2CA3-BC6B-29476E084224}"/>
              </a:ext>
            </a:extLst>
          </p:cNvPr>
          <p:cNvCxnSpPr/>
          <p:nvPr/>
        </p:nvCxnSpPr>
        <p:spPr>
          <a:xfrm>
            <a:off x="3978275" y="3590925"/>
            <a:ext cx="404813" cy="107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D15C4E2-5F73-5F34-A0ED-496FEE56630D}"/>
              </a:ext>
            </a:extLst>
          </p:cNvPr>
          <p:cNvSpPr/>
          <p:nvPr/>
        </p:nvSpPr>
        <p:spPr>
          <a:xfrm>
            <a:off x="3292475" y="3697288"/>
            <a:ext cx="4603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2000" u="sng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d</a:t>
            </a:r>
            <a:endParaRPr lang="en-US" sz="2000" baseline="-25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CEFC9D0B-7335-DFB4-E3CA-50575237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1DB4AF5-D46B-8B6C-850A-1FF973FB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8CAA0FF3-AACD-0941-BB5C-B2DE57079EB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TextBox 7">
            <a:extLst>
              <a:ext uri="{FF2B5EF4-FFF2-40B4-BE49-F238E27FC236}">
                <a16:creationId xmlns:a16="http://schemas.microsoft.com/office/drawing/2014/main" id="{8237592E-7D63-847A-5AE7-C9931120C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1" y="796926"/>
            <a:ext cx="124714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26628" name="TextBox 29">
            <a:extLst>
              <a:ext uri="{FF2B5EF4-FFF2-40B4-BE49-F238E27FC236}">
                <a16:creationId xmlns:a16="http://schemas.microsoft.com/office/drawing/2014/main" id="{0A772B43-F30C-A4D6-17D5-E0388BB73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3" y="1385830"/>
            <a:ext cx="768277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Assume that the RT problem is solved. It means </a:t>
            </a:r>
            <a:r>
              <a:rPr lang="en-US" altLang="en-US" sz="2000" dirty="0">
                <a:solidFill>
                  <a:srgbClr val="152EF4"/>
                </a:solidFill>
                <a:latin typeface="Times New Roman" panose="02020603050405020304" pitchFamily="18" charset="0"/>
              </a:rPr>
              <a:t>we know the following</a:t>
            </a:r>
            <a:r>
              <a:rPr lang="en-US" altLang="en-US" sz="2000" dirty="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26629" name="Rectangle 65">
            <a:extLst>
              <a:ext uri="{FF2B5EF4-FFF2-40B4-BE49-F238E27FC236}">
                <a16:creationId xmlns:a16="http://schemas.microsoft.com/office/drawing/2014/main" id="{C47E1BDD-A9D6-BD53-AD8A-FE2925EA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38" y="5391150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D58AC-52AC-493E-AEB6-42E3DFCD585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5900" y="2229433"/>
            <a:ext cx="8880475" cy="400110"/>
          </a:xfrm>
          <a:prstGeom prst="rect">
            <a:avLst/>
          </a:prstGeom>
          <a:blipFill>
            <a:blip r:embed="rId3"/>
            <a:stretch>
              <a:fillRect l="-571" t="-9375" b="-3437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194A2-1A2F-AF01-3060-A71107D4CD6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5900" y="3108908"/>
            <a:ext cx="8384026" cy="707886"/>
          </a:xfrm>
          <a:prstGeom prst="rect">
            <a:avLst/>
          </a:prstGeom>
          <a:blipFill>
            <a:blip r:embed="rId4"/>
            <a:stretch>
              <a:fillRect l="-604" t="-5263" b="-19298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8ECDC-6622-DBBB-0815-F5A2C515E87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5900" y="4297304"/>
            <a:ext cx="8289257" cy="400110"/>
          </a:xfrm>
          <a:prstGeom prst="rect">
            <a:avLst/>
          </a:prstGeom>
          <a:blipFill>
            <a:blip r:embed="rId5"/>
            <a:stretch>
              <a:fillRect l="-612" t="-9091" b="-3030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1C929-885D-E3DB-7E66-8C8A6126C136}"/>
              </a:ext>
            </a:extLst>
          </p:cNvPr>
          <p:cNvSpPr txBox="1"/>
          <p:nvPr/>
        </p:nvSpPr>
        <p:spPr>
          <a:xfrm>
            <a:off x="200025" y="5129213"/>
            <a:ext cx="72596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4) Collided Intensity </a:t>
            </a:r>
            <a:r>
              <a:rPr lang="en-US" sz="2000" dirty="0">
                <a:solidFill>
                  <a:srgbClr val="1418F4"/>
                </a:solidFill>
              </a:rPr>
              <a:t>in the medium </a:t>
            </a:r>
            <a:r>
              <a:rPr lang="en-US" sz="2000" dirty="0">
                <a:solidFill>
                  <a:schemeClr val="tx1"/>
                </a:solidFill>
              </a:rPr>
              <a:t>in all directions: I</a:t>
            </a:r>
            <a:r>
              <a:rPr lang="en-US" sz="2000" baseline="30000" dirty="0">
                <a:solidFill>
                  <a:schemeClr val="tx1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z,</a:t>
            </a: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for all </a:t>
            </a: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6634" name="Rectangle 65">
            <a:extLst>
              <a:ext uri="{FF2B5EF4-FFF2-40B4-BE49-F238E27FC236}">
                <a16:creationId xmlns:a16="http://schemas.microsoft.com/office/drawing/2014/main" id="{9385D63A-2B55-B151-6526-2FE4B1D7D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463" y="2460625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</a:p>
        </p:txBody>
      </p:sp>
      <p:sp>
        <p:nvSpPr>
          <p:cNvPr id="26635" name="Rectangle 65">
            <a:extLst>
              <a:ext uri="{FF2B5EF4-FFF2-40B4-BE49-F238E27FC236}">
                <a16:creationId xmlns:a16="http://schemas.microsoft.com/office/drawing/2014/main" id="{2DE3AAC2-E1A4-8FE4-48D2-2A0B68ECA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3624263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</a:p>
        </p:txBody>
      </p:sp>
      <p:sp>
        <p:nvSpPr>
          <p:cNvPr id="26636" name="Rectangle 65">
            <a:extLst>
              <a:ext uri="{FF2B5EF4-FFF2-40B4-BE49-F238E27FC236}">
                <a16:creationId xmlns:a16="http://schemas.microsoft.com/office/drawing/2014/main" id="{C7F6A7D3-C9DC-B454-91D4-34D3C88AD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3630613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</a:p>
        </p:txBody>
      </p:sp>
      <p:sp>
        <p:nvSpPr>
          <p:cNvPr id="26637" name="Rectangle 65">
            <a:extLst>
              <a:ext uri="{FF2B5EF4-FFF2-40B4-BE49-F238E27FC236}">
                <a16:creationId xmlns:a16="http://schemas.microsoft.com/office/drawing/2014/main" id="{BB896FF0-361A-24C3-25B2-1206EDCD6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3" y="4532313"/>
            <a:ext cx="2698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9727C1A7-B1D0-1A80-0521-08AB6D13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EE2AFBD-9801-25E7-2BEF-9DA641FD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6ED60E5-3CA9-2E43-A058-69CF86E5C4ED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TextBox 7">
            <a:extLst>
              <a:ext uri="{FF2B5EF4-FFF2-40B4-BE49-F238E27FC236}">
                <a16:creationId xmlns:a16="http://schemas.microsoft.com/office/drawing/2014/main" id="{7D12AC50-ED09-5E25-5285-9FEA0CBC5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49313"/>
            <a:ext cx="372908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Radiative Quantities of Interest</a:t>
            </a:r>
          </a:p>
        </p:txBody>
      </p:sp>
      <p:sp>
        <p:nvSpPr>
          <p:cNvPr id="28676" name="TextBox 29">
            <a:extLst>
              <a:ext uri="{FF2B5EF4-FFF2-40B4-BE49-F238E27FC236}">
                <a16:creationId xmlns:a16="http://schemas.microsoft.com/office/drawing/2014/main" id="{B4F4EC49-2FCD-B5A9-A070-8DF419B98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" y="1839913"/>
            <a:ext cx="23479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Reflectivity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Transmissivity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Absorptivity</a:t>
            </a:r>
          </a:p>
        </p:txBody>
      </p:sp>
      <p:sp>
        <p:nvSpPr>
          <p:cNvPr id="28677" name="TextBox 29">
            <a:extLst>
              <a:ext uri="{FF2B5EF4-FFF2-40B4-BE49-F238E27FC236}">
                <a16:creationId xmlns:a16="http://schemas.microsoft.com/office/drawing/2014/main" id="{9B45DE23-DF69-B47D-A4CD-20C5AB379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3395663"/>
            <a:ext cx="78819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Bi-Hemispherical Reflectance (BHR)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Directional-Hemispherical Reflectance (DHR)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Albedo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Fraction of Vegetation Absorbed Photosynthetically Active Radiation (FPAR)</a:t>
            </a:r>
          </a:p>
        </p:txBody>
      </p:sp>
      <p:sp>
        <p:nvSpPr>
          <p:cNvPr id="28678" name="TextBox 29">
            <a:extLst>
              <a:ext uri="{FF2B5EF4-FFF2-40B4-BE49-F238E27FC236}">
                <a16:creationId xmlns:a16="http://schemas.microsoft.com/office/drawing/2014/main" id="{8C4C6B38-D9C3-7D8A-6103-CD45C0437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5248275"/>
            <a:ext cx="63341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Hemispherical-Directional Reflectance Factor (HDRF)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Bi-Directional Reflectance Factor (BRF)</a:t>
            </a: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1800">
                <a:solidFill>
                  <a:srgbClr val="152EF4"/>
                </a:solidFill>
                <a:latin typeface="Times New Roman" panose="02020603050405020304" pitchFamily="18" charset="0"/>
              </a:rPr>
              <a:t>Bi-Directional Reflectance Distribution Funtion (BRDF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8679" name="TextBox 7">
            <a:extLst>
              <a:ext uri="{FF2B5EF4-FFF2-40B4-BE49-F238E27FC236}">
                <a16:creationId xmlns:a16="http://schemas.microsoft.com/office/drawing/2014/main" id="{CB6FBB8E-E95B-50FE-3DFC-4F09DE55E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439863"/>
            <a:ext cx="4154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Radiative Fluxes of Interest:</a:t>
            </a:r>
          </a:p>
        </p:txBody>
      </p:sp>
      <p:sp>
        <p:nvSpPr>
          <p:cNvPr id="28680" name="TextBox 8">
            <a:extLst>
              <a:ext uri="{FF2B5EF4-FFF2-40B4-BE49-F238E27FC236}">
                <a16:creationId xmlns:a16="http://schemas.microsoft.com/office/drawing/2014/main" id="{575C79FD-6DB0-4FB7-C3D9-5C434D6A7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959100"/>
            <a:ext cx="589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Radiative Fluxes of Interest in Remote Sensing:</a:t>
            </a:r>
          </a:p>
        </p:txBody>
      </p:sp>
      <p:sp>
        <p:nvSpPr>
          <p:cNvPr id="28681" name="TextBox 9">
            <a:extLst>
              <a:ext uri="{FF2B5EF4-FFF2-40B4-BE49-F238E27FC236}">
                <a16:creationId xmlns:a16="http://schemas.microsoft.com/office/drawing/2014/main" id="{0B9A1A9D-8241-2726-0BFA-28A8CBFC0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4699000"/>
            <a:ext cx="7510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Directional Radiative Quantities of Interest in Remote Sensing: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033AAF31-96FC-5B91-A174-E550B7FD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4849151-CE93-BA39-99A3-FFCDDAD9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FC3B7DD-635B-9146-94A2-3279DD69C2C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TextBox 7">
            <a:extLst>
              <a:ext uri="{FF2B5EF4-FFF2-40B4-BE49-F238E27FC236}">
                <a16:creationId xmlns:a16="http://schemas.microsoft.com/office/drawing/2014/main" id="{A5094305-913D-151D-8DB4-08F0EAA4F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71" y="1043350"/>
            <a:ext cx="376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A: Radiative Fluxes of Interest: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E8A1A5-03FB-08F6-24BC-612D5BDDD66E}"/>
              </a:ext>
            </a:extLst>
          </p:cNvPr>
          <p:cNvSpPr txBox="1"/>
          <p:nvPr/>
        </p:nvSpPr>
        <p:spPr>
          <a:xfrm>
            <a:off x="764812" y="1997868"/>
            <a:ext cx="7264763" cy="2862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rgbClr val="152EF4"/>
                </a:solidFill>
              </a:rPr>
              <a:t>Reflectivity</a:t>
            </a:r>
          </a:p>
          <a:p>
            <a:pPr marL="457200" indent="-457200">
              <a:buFontTx/>
              <a:buAutoNum type="arabicParenR"/>
              <a:defRPr/>
            </a:pPr>
            <a:endParaRPr lang="en-US" sz="2000" dirty="0">
              <a:solidFill>
                <a:srgbClr val="152EF4"/>
              </a:solidFill>
            </a:endParaRP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rgbClr val="152EF4"/>
                </a:solidFill>
              </a:rPr>
              <a:t>Transmissivity</a:t>
            </a:r>
          </a:p>
          <a:p>
            <a:pPr marL="457200" indent="-457200">
              <a:buFontTx/>
              <a:buAutoNum type="arabicParenR"/>
              <a:defRPr/>
            </a:pPr>
            <a:endParaRPr lang="en-US" sz="2000" dirty="0">
              <a:solidFill>
                <a:srgbClr val="152EF4"/>
              </a:solidFill>
            </a:endParaRP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rgbClr val="152EF4"/>
                </a:solidFill>
              </a:rPr>
              <a:t>Absorptivity</a:t>
            </a:r>
          </a:p>
          <a:p>
            <a:pPr marL="457200" indent="-457200">
              <a:buFontTx/>
              <a:buAutoNum type="arabicParenR"/>
              <a:defRPr/>
            </a:pPr>
            <a:endParaRPr lang="en-US" sz="2000" dirty="0">
              <a:solidFill>
                <a:srgbClr val="152EF4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From energy conservation: </a:t>
            </a:r>
            <a:r>
              <a:rPr lang="en-US" sz="2000" dirty="0">
                <a:solidFill>
                  <a:srgbClr val="152EF4"/>
                </a:solidFill>
              </a:rPr>
              <a:t>These should sum to unity.</a:t>
            </a:r>
          </a:p>
          <a:p>
            <a:pPr>
              <a:defRPr/>
            </a:pPr>
            <a:endParaRPr lang="en-US" sz="2000" dirty="0">
              <a:solidFill>
                <a:srgbClr val="152EF4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152EF4"/>
                </a:solidFill>
              </a:rPr>
              <a:t>Note: </a:t>
            </a:r>
            <a:r>
              <a:rPr lang="en-US" sz="2000" dirty="0">
                <a:solidFill>
                  <a:schemeClr val="tx1"/>
                </a:solidFill>
              </a:rPr>
              <a:t>All these quantities implicitly depend on solar direction, </a:t>
            </a:r>
            <a:r>
              <a:rPr lang="el-GR" sz="2000" u="sng" dirty="0">
                <a:solidFill>
                  <a:schemeClr val="tx1"/>
                </a:solidFill>
                <a:cs typeface="Times New Roman" panose="02020603050405020304" pitchFamily="18" charset="0"/>
              </a:rPr>
              <a:t>Ω</a:t>
            </a:r>
            <a:r>
              <a:rPr lang="en-US" sz="20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0</a:t>
            </a:r>
            <a:endParaRPr lang="en-US" sz="2000" dirty="0">
              <a:solidFill>
                <a:srgbClr val="152EF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F69D1C0F-A1CE-7307-A67E-90C407C97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2BFA8CE-49F3-D6A7-E89F-6611E75D6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AF4F0E0-1868-F84F-AC42-DA485037BA3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TextBox 7">
            <a:extLst>
              <a:ext uri="{FF2B5EF4-FFF2-40B4-BE49-F238E27FC236}">
                <a16:creationId xmlns:a16="http://schemas.microsoft.com/office/drawing/2014/main" id="{D798BC49-7F47-4D96-B6FC-B9289B600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10" y="887413"/>
            <a:ext cx="252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Canopy Reflectivity</a:t>
            </a:r>
          </a:p>
        </p:txBody>
      </p:sp>
      <p:sp>
        <p:nvSpPr>
          <p:cNvPr id="32772" name="TextBox 29">
            <a:extLst>
              <a:ext uri="{FF2B5EF4-FFF2-40B4-BE49-F238E27FC236}">
                <a16:creationId xmlns:a16="http://schemas.microsoft.com/office/drawing/2014/main" id="{2D3DDCB4-4041-E286-8D80-2FD6DD832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1" y="1981200"/>
            <a:ext cx="451285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R </a:t>
            </a:r>
            <a:r>
              <a:rPr lang="en-US" altLang="en-US" sz="2000" dirty="0">
                <a:latin typeface="Times New Roman" panose="02020603050405020304" pitchFamily="18" charset="0"/>
              </a:rPr>
              <a:t> (z=0) = </a:t>
            </a:r>
            <a:r>
              <a:rPr lang="en-US" altLang="en-US" sz="2000" dirty="0">
                <a:solidFill>
                  <a:srgbClr val="152EF4"/>
                </a:solidFill>
                <a:latin typeface="Times New Roman" panose="02020603050405020304" pitchFamily="18" charset="0"/>
              </a:rPr>
              <a:t>Reflected Flux / Incident Flux</a:t>
            </a:r>
          </a:p>
        </p:txBody>
      </p:sp>
      <p:sp>
        <p:nvSpPr>
          <p:cNvPr id="32773" name="TextBox 7">
            <a:extLst>
              <a:ext uri="{FF2B5EF4-FFF2-40B4-BE49-F238E27FC236}">
                <a16:creationId xmlns:a16="http://schemas.microsoft.com/office/drawing/2014/main" id="{DB86B7F6-ED3A-C185-63D6-8C2C3345B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2619375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32774" name="Rectangle 8">
            <a:extLst>
              <a:ext uri="{FF2B5EF4-FFF2-40B4-BE49-F238E27FC236}">
                <a16:creationId xmlns:a16="http://schemas.microsoft.com/office/drawing/2014/main" id="{F18259F7-71AA-C53C-1B37-5C3C12D99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650" y="2909888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2π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l-GR" altLang="en-US" sz="2000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5" name="TextBox 9">
            <a:extLst>
              <a:ext uri="{FF2B5EF4-FFF2-40B4-BE49-F238E27FC236}">
                <a16:creationId xmlns:a16="http://schemas.microsoft.com/office/drawing/2014/main" id="{A13B8161-A425-C11D-FD61-B8F67F463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463" y="2651125"/>
            <a:ext cx="1835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 |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| I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endParaRPr lang="el-GR" altLang="en-US" sz="2000" u="sng">
              <a:latin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6A5AEC-3586-33B4-E114-862C0CEF1338}"/>
              </a:ext>
            </a:extLst>
          </p:cNvPr>
          <p:cNvCxnSpPr/>
          <p:nvPr/>
        </p:nvCxnSpPr>
        <p:spPr>
          <a:xfrm>
            <a:off x="1517650" y="3309938"/>
            <a:ext cx="21224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7" name="Rectangle 12">
            <a:extLst>
              <a:ext uri="{FF2B5EF4-FFF2-40B4-BE49-F238E27FC236}">
                <a16:creationId xmlns:a16="http://schemas.microsoft.com/office/drawing/2014/main" id="{D7DF0BFF-203D-0A5D-7F25-AB4914502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963" y="3398838"/>
            <a:ext cx="1185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 baseline="-25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 + F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2778" name="Rectangle 13">
            <a:extLst>
              <a:ext uri="{FF2B5EF4-FFF2-40B4-BE49-F238E27FC236}">
                <a16:creationId xmlns:a16="http://schemas.microsoft.com/office/drawing/2014/main" id="{CEDE1585-53D9-6455-BC59-C86778C88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3098800"/>
            <a:ext cx="330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32779" name="Rectangle 41">
            <a:extLst>
              <a:ext uri="{FF2B5EF4-FFF2-40B4-BE49-F238E27FC236}">
                <a16:creationId xmlns:a16="http://schemas.microsoft.com/office/drawing/2014/main" id="{4C0AC13C-A210-48BE-7043-42DBFAF72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113" y="283368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</a:p>
        </p:txBody>
      </p:sp>
      <p:sp>
        <p:nvSpPr>
          <p:cNvPr id="32780" name="Rectangle 63">
            <a:extLst>
              <a:ext uri="{FF2B5EF4-FFF2-40B4-BE49-F238E27FC236}">
                <a16:creationId xmlns:a16="http://schemas.microsoft.com/office/drawing/2014/main" id="{53803E43-BF79-E603-5626-9916852CA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2139950"/>
            <a:ext cx="3127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  <a:r>
              <a:rPr lang="en-US" altLang="en-US" sz="1200">
                <a:latin typeface="Helvetica" pitchFamily="2" charset="0"/>
              </a:rPr>
              <a:t> </a:t>
            </a:r>
            <a:endParaRPr lang="el-GR" altLang="en-US" sz="1200">
              <a:latin typeface="Helvetica" pitchFamily="2" charset="0"/>
            </a:endParaRPr>
          </a:p>
        </p:txBody>
      </p:sp>
      <p:sp>
        <p:nvSpPr>
          <p:cNvPr id="32781" name="TextBox 14">
            <a:extLst>
              <a:ext uri="{FF2B5EF4-FFF2-40B4-BE49-F238E27FC236}">
                <a16:creationId xmlns:a16="http://schemas.microsoft.com/office/drawing/2014/main" id="{C9B0F580-D1DD-A794-9DA4-83C7879B5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87838"/>
            <a:ext cx="2379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Units: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Dimensionles</a:t>
            </a:r>
            <a:r>
              <a:rPr lang="en-US" altLang="en-US" sz="2000">
                <a:latin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50555FE7-D0CD-9405-F75D-A6A7EFBF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B43AAFA-6060-5F3A-72DA-D41ABF83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6E68294-F657-7D42-A78B-F93B852C906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TextBox 7">
            <a:extLst>
              <a:ext uri="{FF2B5EF4-FFF2-40B4-BE49-F238E27FC236}">
                <a16:creationId xmlns:a16="http://schemas.microsoft.com/office/drawing/2014/main" id="{4E1086A4-6E84-CF49-6B9A-57CC40D4C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36" y="835025"/>
            <a:ext cx="301674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Canopy Transmissivity</a:t>
            </a:r>
          </a:p>
        </p:txBody>
      </p:sp>
      <p:sp>
        <p:nvSpPr>
          <p:cNvPr id="34820" name="TextBox 29">
            <a:extLst>
              <a:ext uri="{FF2B5EF4-FFF2-40B4-BE49-F238E27FC236}">
                <a16:creationId xmlns:a16="http://schemas.microsoft.com/office/drawing/2014/main" id="{BD00E3A9-104A-E542-B0A0-42A825B83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554163"/>
            <a:ext cx="855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T </a:t>
            </a:r>
            <a:r>
              <a:rPr lang="en-US" altLang="en-US" sz="2000">
                <a:latin typeface="Times New Roman" panose="02020603050405020304" pitchFamily="18" charset="0"/>
              </a:rPr>
              <a:t> (z=z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</a:rPr>
              <a:t>) =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Transmitted Flux / Incident Flux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691081-1CFE-DD4E-0968-0B5675572CAD}"/>
              </a:ext>
            </a:extLst>
          </p:cNvPr>
          <p:cNvCxnSpPr/>
          <p:nvPr/>
        </p:nvCxnSpPr>
        <p:spPr>
          <a:xfrm>
            <a:off x="1606550" y="2454275"/>
            <a:ext cx="21224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Rectangle 12">
            <a:extLst>
              <a:ext uri="{FF2B5EF4-FFF2-40B4-BE49-F238E27FC236}">
                <a16:creationId xmlns:a16="http://schemas.microsoft.com/office/drawing/2014/main" id="{00C97F6C-6CE9-4F42-54E8-E0162ECE8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863" y="2492375"/>
            <a:ext cx="1185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 baseline="-25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 + F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4823" name="Rectangle 13">
            <a:extLst>
              <a:ext uri="{FF2B5EF4-FFF2-40B4-BE49-F238E27FC236}">
                <a16:creationId xmlns:a16="http://schemas.microsoft.com/office/drawing/2014/main" id="{2A5F1302-B32B-E9EB-2391-F6212DF99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" y="2243138"/>
            <a:ext cx="328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34824" name="Rectangle 63">
            <a:extLst>
              <a:ext uri="{FF2B5EF4-FFF2-40B4-BE49-F238E27FC236}">
                <a16:creationId xmlns:a16="http://schemas.microsoft.com/office/drawing/2014/main" id="{93A359EC-C639-FC87-F934-900C050BA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1712913"/>
            <a:ext cx="3127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  <a:r>
              <a:rPr lang="en-US" altLang="en-US" sz="1200">
                <a:latin typeface="Helvetica" pitchFamily="2" charset="0"/>
              </a:rPr>
              <a:t> </a:t>
            </a:r>
            <a:endParaRPr lang="el-GR" altLang="en-US" sz="1200">
              <a:latin typeface="Helvetica" pitchFamily="2" charset="0"/>
            </a:endParaRPr>
          </a:p>
        </p:txBody>
      </p:sp>
      <p:sp>
        <p:nvSpPr>
          <p:cNvPr id="34825" name="TextBox 14">
            <a:extLst>
              <a:ext uri="{FF2B5EF4-FFF2-40B4-BE49-F238E27FC236}">
                <a16:creationId xmlns:a16="http://schemas.microsoft.com/office/drawing/2014/main" id="{DFDBFD99-826D-1CE5-40EF-9DC360305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5622925"/>
            <a:ext cx="2381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Units: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Dimensionless</a:t>
            </a:r>
          </a:p>
        </p:txBody>
      </p:sp>
      <p:sp>
        <p:nvSpPr>
          <p:cNvPr id="34826" name="TextBox 2">
            <a:extLst>
              <a:ext uri="{FF2B5EF4-FFF2-40B4-BE49-F238E27FC236}">
                <a16:creationId xmlns:a16="http://schemas.microsoft.com/office/drawing/2014/main" id="{B513C1C4-BA0D-5BE4-E949-AF2CAD2F5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2003425"/>
            <a:ext cx="124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 + B + C</a:t>
            </a:r>
          </a:p>
        </p:txBody>
      </p:sp>
      <p:sp>
        <p:nvSpPr>
          <p:cNvPr id="34827" name="TextBox 3">
            <a:extLst>
              <a:ext uri="{FF2B5EF4-FFF2-40B4-BE49-F238E27FC236}">
                <a16:creationId xmlns:a16="http://schemas.microsoft.com/office/drawing/2014/main" id="{D045BF23-4A47-3CB6-9CF3-6C7355E5F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144838"/>
            <a:ext cx="772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 = </a:t>
            </a:r>
            <a:r>
              <a:rPr lang="en-US" altLang="en-US" sz="2000">
                <a:solidFill>
                  <a:srgbClr val="1B33F4"/>
                </a:solidFill>
                <a:latin typeface="Times New Roman" panose="02020603050405020304" pitchFamily="18" charset="0"/>
              </a:rPr>
              <a:t>uncollided direct </a:t>
            </a:r>
            <a:r>
              <a:rPr lang="en-US" altLang="en-US" sz="2000">
                <a:latin typeface="Times New Roman" panose="02020603050405020304" pitchFamily="18" charset="0"/>
              </a:rPr>
              <a:t>solar radiation exiting at the bottom = |</a:t>
            </a:r>
            <a:r>
              <a:rPr lang="el-GR" altLang="en-US" sz="2000">
                <a:latin typeface="Times New Roman" panose="02020603050405020304" pitchFamily="18" charset="0"/>
              </a:rPr>
              <a:t>μ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</a:rPr>
              <a:t>| I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(z=z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4828" name="TextBox 4">
            <a:extLst>
              <a:ext uri="{FF2B5EF4-FFF2-40B4-BE49-F238E27FC236}">
                <a16:creationId xmlns:a16="http://schemas.microsoft.com/office/drawing/2014/main" id="{DEC3AF3F-1AD5-1BB7-E044-679EE927D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989388"/>
            <a:ext cx="633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 = </a:t>
            </a:r>
            <a:r>
              <a:rPr lang="en-US" altLang="en-US" sz="2000">
                <a:solidFill>
                  <a:srgbClr val="1B33F4"/>
                </a:solidFill>
                <a:latin typeface="Times New Roman" panose="02020603050405020304" pitchFamily="18" charset="0"/>
              </a:rPr>
              <a:t>uncollided diffuse </a:t>
            </a:r>
            <a:r>
              <a:rPr lang="en-US" altLang="en-US" sz="2000">
                <a:latin typeface="Times New Roman" panose="02020603050405020304" pitchFamily="18" charset="0"/>
              </a:rPr>
              <a:t>sky radiation exiting at the bottom = </a:t>
            </a:r>
          </a:p>
        </p:txBody>
      </p:sp>
      <p:sp>
        <p:nvSpPr>
          <p:cNvPr id="34829" name="TextBox 17">
            <a:extLst>
              <a:ext uri="{FF2B5EF4-FFF2-40B4-BE49-F238E27FC236}">
                <a16:creationId xmlns:a16="http://schemas.microsoft.com/office/drawing/2014/main" id="{5817C7DB-1425-87A4-AC7D-5A79C1885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0" y="3948113"/>
            <a:ext cx="26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34830" name="TextBox 18">
            <a:extLst>
              <a:ext uri="{FF2B5EF4-FFF2-40B4-BE49-F238E27FC236}">
                <a16:creationId xmlns:a16="http://schemas.microsoft.com/office/drawing/2014/main" id="{BC4A0FA0-F9CB-F391-CC77-35FD0891E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438" y="3978275"/>
            <a:ext cx="2300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 |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US" sz="2000">
                <a:latin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(z=z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endParaRPr lang="el-GR" altLang="en-US" sz="2000" u="sng">
              <a:latin typeface="Times New Roman" panose="02020603050405020304" pitchFamily="18" charset="0"/>
            </a:endParaRPr>
          </a:p>
        </p:txBody>
      </p:sp>
      <p:sp>
        <p:nvSpPr>
          <p:cNvPr id="34831" name="Rectangle 20">
            <a:extLst>
              <a:ext uri="{FF2B5EF4-FFF2-40B4-BE49-F238E27FC236}">
                <a16:creationId xmlns:a16="http://schemas.microsoft.com/office/drawing/2014/main" id="{440CEFE8-6A50-8920-117A-F107F81FE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563" y="4240213"/>
            <a:ext cx="500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2π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l-GR" altLang="en-US" sz="2000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32" name="TextBox 21">
            <a:extLst>
              <a:ext uri="{FF2B5EF4-FFF2-40B4-BE49-F238E27FC236}">
                <a16:creationId xmlns:a16="http://schemas.microsoft.com/office/drawing/2014/main" id="{E0927509-3D00-5633-163C-2FA1C4218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4959350"/>
            <a:ext cx="4886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 = </a:t>
            </a:r>
            <a:r>
              <a:rPr lang="en-US" altLang="en-US" sz="2000">
                <a:solidFill>
                  <a:srgbClr val="1B33F4"/>
                </a:solidFill>
                <a:latin typeface="Times New Roman" panose="02020603050405020304" pitchFamily="18" charset="0"/>
              </a:rPr>
              <a:t>collided</a:t>
            </a:r>
            <a:r>
              <a:rPr lang="en-US" altLang="en-US" sz="2000">
                <a:latin typeface="Times New Roman" panose="02020603050405020304" pitchFamily="18" charset="0"/>
              </a:rPr>
              <a:t> radiation exiting at the bottom = </a:t>
            </a:r>
          </a:p>
        </p:txBody>
      </p:sp>
      <p:sp>
        <p:nvSpPr>
          <p:cNvPr id="34833" name="TextBox 22">
            <a:extLst>
              <a:ext uri="{FF2B5EF4-FFF2-40B4-BE49-F238E27FC236}">
                <a16:creationId xmlns:a16="http://schemas.microsoft.com/office/drawing/2014/main" id="{AD7B6BFE-DE43-9061-091F-24ACDF582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0300" y="4929188"/>
            <a:ext cx="26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34834" name="TextBox 23">
            <a:extLst>
              <a:ext uri="{FF2B5EF4-FFF2-40B4-BE49-F238E27FC236}">
                <a16:creationId xmlns:a16="http://schemas.microsoft.com/office/drawing/2014/main" id="{5AE60AD5-FD49-4DB0-2764-62BE0405A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4960938"/>
            <a:ext cx="2092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 |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US" sz="2000">
                <a:latin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Times New Roman" panose="02020603050405020304" pitchFamily="18" charset="0"/>
              </a:rPr>
              <a:t>s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(z=z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endParaRPr lang="el-GR" altLang="en-US" sz="2000" u="sng">
              <a:latin typeface="Times New Roman" panose="02020603050405020304" pitchFamily="18" charset="0"/>
            </a:endParaRPr>
          </a:p>
        </p:txBody>
      </p:sp>
      <p:sp>
        <p:nvSpPr>
          <p:cNvPr id="34835" name="Rectangle 24">
            <a:extLst>
              <a:ext uri="{FF2B5EF4-FFF2-40B4-BE49-F238E27FC236}">
                <a16:creationId xmlns:a16="http://schemas.microsoft.com/office/drawing/2014/main" id="{3C0287DE-D0DE-0132-97E5-9767185CE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363" y="5222875"/>
            <a:ext cx="500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2π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l-GR" altLang="en-US" sz="2000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3D88768E-35E4-06D2-8F1D-335D40DAE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937B443-891B-21EC-29B3-A567D685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D40866D-F8EA-1645-9962-713E5DBA07A8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421894B1-5658-5A85-B70E-2D781A7CE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3" y="820738"/>
            <a:ext cx="253777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Canopy </a:t>
            </a:r>
            <a:r>
              <a:rPr lang="en-US" altLang="en-US" sz="20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Absoptivity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8" name="TextBox 29">
            <a:extLst>
              <a:ext uri="{FF2B5EF4-FFF2-40B4-BE49-F238E27FC236}">
                <a16:creationId xmlns:a16="http://schemas.microsoft.com/office/drawing/2014/main" id="{CE82E119-AAE2-DC25-899C-7DFFE4300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554163"/>
            <a:ext cx="855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A </a:t>
            </a:r>
            <a:r>
              <a:rPr lang="en-US" altLang="en-US" sz="2000">
                <a:latin typeface="Times New Roman" panose="02020603050405020304" pitchFamily="18" charset="0"/>
              </a:rPr>
              <a:t>  =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Absorbed Flux / Incident Flux</a:t>
            </a:r>
          </a:p>
        </p:txBody>
      </p:sp>
      <p:sp>
        <p:nvSpPr>
          <p:cNvPr id="36869" name="Rectangle 12">
            <a:extLst>
              <a:ext uri="{FF2B5EF4-FFF2-40B4-BE49-F238E27FC236}">
                <a16:creationId xmlns:a16="http://schemas.microsoft.com/office/drawing/2014/main" id="{61E386EB-61A1-23A8-096D-4B4670785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350" y="2824163"/>
            <a:ext cx="118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 baseline="-25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 + F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6870" name="Rectangle 13">
            <a:extLst>
              <a:ext uri="{FF2B5EF4-FFF2-40B4-BE49-F238E27FC236}">
                <a16:creationId xmlns:a16="http://schemas.microsoft.com/office/drawing/2014/main" id="{867FB3FF-68CF-47E3-CB47-4044B7E41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2525713"/>
            <a:ext cx="328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36871" name="Rectangle 63">
            <a:extLst>
              <a:ext uri="{FF2B5EF4-FFF2-40B4-BE49-F238E27FC236}">
                <a16:creationId xmlns:a16="http://schemas.microsoft.com/office/drawing/2014/main" id="{ED9FE19A-FFA0-9B08-5D57-869D15A64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1712913"/>
            <a:ext cx="3127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  <a:r>
              <a:rPr lang="en-US" altLang="en-US" sz="1200">
                <a:latin typeface="Helvetica" pitchFamily="2" charset="0"/>
              </a:rPr>
              <a:t> </a:t>
            </a:r>
            <a:endParaRPr lang="el-GR" altLang="en-US" sz="1200">
              <a:latin typeface="Helvetica" pitchFamily="2" charset="0"/>
            </a:endParaRPr>
          </a:p>
        </p:txBody>
      </p:sp>
      <p:sp>
        <p:nvSpPr>
          <p:cNvPr id="36872" name="TextBox 14">
            <a:extLst>
              <a:ext uri="{FF2B5EF4-FFF2-40B4-BE49-F238E27FC236}">
                <a16:creationId xmlns:a16="http://schemas.microsoft.com/office/drawing/2014/main" id="{EF6C1544-41F6-10C4-A8A5-761E5B9A0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6223000"/>
            <a:ext cx="2381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Units: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Dimensionless</a:t>
            </a:r>
          </a:p>
        </p:txBody>
      </p:sp>
      <p:sp>
        <p:nvSpPr>
          <p:cNvPr id="36873" name="TextBox 2">
            <a:extLst>
              <a:ext uri="{FF2B5EF4-FFF2-40B4-BE49-F238E27FC236}">
                <a16:creationId xmlns:a16="http://schemas.microsoft.com/office/drawing/2014/main" id="{06B84A70-42DB-05A8-ED16-68838A766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2152650"/>
            <a:ext cx="3270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dz 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0A</a:t>
            </a:r>
            <a:r>
              <a:rPr lang="el-GR" altLang="en-US" sz="2000" baseline="-25000">
                <a:latin typeface="Helvetica" pitchFamily="2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(z) + F</a:t>
            </a:r>
            <a:r>
              <a:rPr lang="en-US" altLang="en-US" sz="2000" baseline="-25000">
                <a:latin typeface="Times New Roman" panose="02020603050405020304" pitchFamily="18" charset="0"/>
              </a:rPr>
              <a:t>dA</a:t>
            </a:r>
            <a:r>
              <a:rPr lang="el-GR" altLang="en-US" sz="2000" baseline="-25000">
                <a:latin typeface="Helvetica" pitchFamily="2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(z) + F</a:t>
            </a:r>
            <a:r>
              <a:rPr lang="en-US" altLang="en-US" sz="2000" baseline="3000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A</a:t>
            </a:r>
            <a:r>
              <a:rPr lang="el-GR" altLang="en-US" sz="2000" baseline="-25000">
                <a:latin typeface="Helvetica" pitchFamily="2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(z) </a:t>
            </a:r>
          </a:p>
        </p:txBody>
      </p:sp>
      <p:sp>
        <p:nvSpPr>
          <p:cNvPr id="36874" name="TextBox 3">
            <a:extLst>
              <a:ext uri="{FF2B5EF4-FFF2-40B4-BE49-F238E27FC236}">
                <a16:creationId xmlns:a16="http://schemas.microsoft.com/office/drawing/2014/main" id="{3673117B-8CA1-A37B-E653-7F0444187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522663"/>
            <a:ext cx="804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0A</a:t>
            </a:r>
            <a:r>
              <a:rPr lang="el-GR" altLang="en-US" sz="2000" baseline="-25000">
                <a:latin typeface="Helvetica" pitchFamily="2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(z) = absorbed </a:t>
            </a:r>
            <a:r>
              <a:rPr lang="en-US" altLang="en-US" sz="2000">
                <a:solidFill>
                  <a:srgbClr val="1B33F4"/>
                </a:solidFill>
                <a:latin typeface="Times New Roman" panose="02020603050405020304" pitchFamily="18" charset="0"/>
              </a:rPr>
              <a:t>uncollided </a:t>
            </a:r>
            <a:r>
              <a:rPr lang="en-US" altLang="en-US" sz="2000">
                <a:latin typeface="Times New Roman" panose="02020603050405020304" pitchFamily="18" charset="0"/>
              </a:rPr>
              <a:t>direct solar radiation at z = |</a:t>
            </a:r>
            <a:r>
              <a:rPr lang="el-GR" altLang="en-US" sz="2000">
                <a:latin typeface="Times New Roman" panose="02020603050405020304" pitchFamily="18" charset="0"/>
              </a:rPr>
              <a:t>μ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</a:rPr>
              <a:t>| I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(z) </a:t>
            </a:r>
            <a:r>
              <a:rPr lang="el-GR" altLang="en-US" sz="2000">
                <a:latin typeface="Times New Roman" panose="02020603050405020304" pitchFamily="18" charset="0"/>
              </a:rPr>
              <a:t>σ</a:t>
            </a:r>
            <a:r>
              <a:rPr lang="en-US" altLang="en-US" sz="2000" baseline="-25000">
                <a:latin typeface="Times New Roman" panose="02020603050405020304" pitchFamily="18" charset="0"/>
              </a:rPr>
              <a:t>a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6875" name="TextBox 4">
            <a:extLst>
              <a:ext uri="{FF2B5EF4-FFF2-40B4-BE49-F238E27FC236}">
                <a16:creationId xmlns:a16="http://schemas.microsoft.com/office/drawing/2014/main" id="{65F23613-EE41-B174-9934-EC5885F72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4365625"/>
            <a:ext cx="5691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dA</a:t>
            </a:r>
            <a:r>
              <a:rPr lang="el-GR" altLang="en-US" sz="2000" baseline="-25000">
                <a:latin typeface="Helvetica" pitchFamily="2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(z) = </a:t>
            </a:r>
            <a:r>
              <a:rPr lang="en-US" altLang="en-US" sz="1800">
                <a:latin typeface="Times New Roman" panose="02020603050405020304" pitchFamily="18" charset="0"/>
              </a:rPr>
              <a:t>absorbed </a:t>
            </a:r>
            <a:r>
              <a:rPr lang="en-US" altLang="en-US" sz="1800">
                <a:solidFill>
                  <a:srgbClr val="1B33F4"/>
                </a:solidFill>
                <a:latin typeface="Times New Roman" panose="02020603050405020304" pitchFamily="18" charset="0"/>
              </a:rPr>
              <a:t>uncollided diffuse </a:t>
            </a:r>
            <a:r>
              <a:rPr lang="en-US" altLang="en-US" sz="1800">
                <a:latin typeface="Times New Roman" panose="02020603050405020304" pitchFamily="18" charset="0"/>
              </a:rPr>
              <a:t>sky radiation at z  = </a:t>
            </a:r>
          </a:p>
        </p:txBody>
      </p:sp>
      <p:sp>
        <p:nvSpPr>
          <p:cNvPr id="36876" name="TextBox 17">
            <a:extLst>
              <a:ext uri="{FF2B5EF4-FFF2-40B4-BE49-F238E27FC236}">
                <a16:creationId xmlns:a16="http://schemas.microsoft.com/office/drawing/2014/main" id="{8A462D78-E637-3B91-BDD8-B4E74636A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900" y="4335463"/>
            <a:ext cx="26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36877" name="TextBox 18">
            <a:extLst>
              <a:ext uri="{FF2B5EF4-FFF2-40B4-BE49-F238E27FC236}">
                <a16:creationId xmlns:a16="http://schemas.microsoft.com/office/drawing/2014/main" id="{C3AF8FED-1F23-E175-5549-106F37D28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838" y="4365625"/>
            <a:ext cx="2903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 |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US" sz="2000">
                <a:latin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l-GR" altLang="en-US" sz="2000">
                <a:latin typeface="Times New Roman" panose="02020603050405020304" pitchFamily="18" charset="0"/>
              </a:rPr>
              <a:t>σ</a:t>
            </a:r>
            <a:r>
              <a:rPr lang="en-US" altLang="en-US" sz="2000" baseline="-25000">
                <a:latin typeface="Times New Roman" panose="02020603050405020304" pitchFamily="18" charset="0"/>
              </a:rPr>
              <a:t>a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endParaRPr lang="el-GR" altLang="en-US" sz="2000" u="sng">
              <a:latin typeface="Times New Roman" panose="02020603050405020304" pitchFamily="18" charset="0"/>
            </a:endParaRPr>
          </a:p>
        </p:txBody>
      </p:sp>
      <p:sp>
        <p:nvSpPr>
          <p:cNvPr id="36878" name="Rectangle 20">
            <a:extLst>
              <a:ext uri="{FF2B5EF4-FFF2-40B4-BE49-F238E27FC236}">
                <a16:creationId xmlns:a16="http://schemas.microsoft.com/office/drawing/2014/main" id="{4AF63C35-320E-BB60-5340-16F46CD4A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4627563"/>
            <a:ext cx="500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2π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l-GR" altLang="en-US" sz="2000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79" name="TextBox 21">
            <a:extLst>
              <a:ext uri="{FF2B5EF4-FFF2-40B4-BE49-F238E27FC236}">
                <a16:creationId xmlns:a16="http://schemas.microsoft.com/office/drawing/2014/main" id="{B1F23D87-5F29-451C-A906-EE1B34803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5337175"/>
            <a:ext cx="4654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30000">
                <a:latin typeface="Times New Roman" panose="02020603050405020304" pitchFamily="18" charset="0"/>
              </a:rPr>
              <a:t>s</a:t>
            </a:r>
            <a:r>
              <a:rPr lang="en-US" altLang="en-US" sz="2000" baseline="-25000">
                <a:latin typeface="Times New Roman" panose="02020603050405020304" pitchFamily="18" charset="0"/>
              </a:rPr>
              <a:t>A</a:t>
            </a:r>
            <a:r>
              <a:rPr lang="el-GR" altLang="en-US" sz="2000" baseline="-25000">
                <a:latin typeface="Helvetica" pitchFamily="2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(z) = absorbed </a:t>
            </a:r>
            <a:r>
              <a:rPr lang="en-US" altLang="en-US" sz="2000">
                <a:solidFill>
                  <a:srgbClr val="1B33F4"/>
                </a:solidFill>
                <a:latin typeface="Times New Roman" panose="02020603050405020304" pitchFamily="18" charset="0"/>
              </a:rPr>
              <a:t>collided</a:t>
            </a:r>
            <a:r>
              <a:rPr lang="en-US" altLang="en-US" sz="2000">
                <a:latin typeface="Times New Roman" panose="02020603050405020304" pitchFamily="18" charset="0"/>
              </a:rPr>
              <a:t> radiation at z = </a:t>
            </a:r>
          </a:p>
        </p:txBody>
      </p:sp>
      <p:sp>
        <p:nvSpPr>
          <p:cNvPr id="36880" name="TextBox 22">
            <a:extLst>
              <a:ext uri="{FF2B5EF4-FFF2-40B4-BE49-F238E27FC236}">
                <a16:creationId xmlns:a16="http://schemas.microsoft.com/office/drawing/2014/main" id="{5A46763F-3CCF-8939-EA22-2ECEEA4B6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413" y="5337175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36881" name="TextBox 23">
            <a:extLst>
              <a:ext uri="{FF2B5EF4-FFF2-40B4-BE49-F238E27FC236}">
                <a16:creationId xmlns:a16="http://schemas.microsoft.com/office/drawing/2014/main" id="{AB681661-B410-04D7-EF22-E13A0C65C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0" y="5368925"/>
            <a:ext cx="2609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 |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US" sz="2000">
                <a:latin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Times New Roman" panose="02020603050405020304" pitchFamily="18" charset="0"/>
              </a:rPr>
              <a:t>s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l-GR" altLang="en-US" sz="2000">
                <a:latin typeface="Times New Roman" panose="02020603050405020304" pitchFamily="18" charset="0"/>
              </a:rPr>
              <a:t>σ</a:t>
            </a:r>
            <a:r>
              <a:rPr lang="en-US" altLang="en-US" sz="2000" baseline="-25000">
                <a:latin typeface="Times New Roman" panose="02020603050405020304" pitchFamily="18" charset="0"/>
              </a:rPr>
              <a:t>a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endParaRPr lang="el-GR" altLang="en-US" sz="2000" u="sng">
              <a:latin typeface="Times New Roman" panose="02020603050405020304" pitchFamily="18" charset="0"/>
            </a:endParaRPr>
          </a:p>
        </p:txBody>
      </p:sp>
      <p:sp>
        <p:nvSpPr>
          <p:cNvPr id="36882" name="Rectangle 24">
            <a:extLst>
              <a:ext uri="{FF2B5EF4-FFF2-40B4-BE49-F238E27FC236}">
                <a16:creationId xmlns:a16="http://schemas.microsoft.com/office/drawing/2014/main" id="{385CE3DA-64AC-5A36-F33E-C40B7667C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888" y="5641975"/>
            <a:ext cx="44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lang="el-GR" altLang="en-US" sz="2000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83" name="TextBox 25">
            <a:extLst>
              <a:ext uri="{FF2B5EF4-FFF2-40B4-BE49-F238E27FC236}">
                <a16:creationId xmlns:a16="http://schemas.microsoft.com/office/drawing/2014/main" id="{ABEE564F-E920-ABC4-EB93-708CBE829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563" y="2141538"/>
            <a:ext cx="26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36884" name="TextBox 5">
            <a:extLst>
              <a:ext uri="{FF2B5EF4-FFF2-40B4-BE49-F238E27FC236}">
                <a16:creationId xmlns:a16="http://schemas.microsoft.com/office/drawing/2014/main" id="{9BCD4233-719C-39F6-5D5E-6168BEF1C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113" y="2449513"/>
            <a:ext cx="274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885" name="TextBox 6">
            <a:extLst>
              <a:ext uri="{FF2B5EF4-FFF2-40B4-BE49-F238E27FC236}">
                <a16:creationId xmlns:a16="http://schemas.microsoft.com/office/drawing/2014/main" id="{4BD4E88E-E2FA-419B-F424-5F7A752B8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1908175"/>
            <a:ext cx="3524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z</a:t>
            </a:r>
            <a:r>
              <a:rPr lang="en-US" altLang="en-US" sz="1400" baseline="-25000">
                <a:latin typeface="Times New Roman" panose="02020603050405020304" pitchFamily="18" charset="0"/>
              </a:rPr>
              <a:t>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8D56BD-CC1D-14BD-9335-E99B378002C3}"/>
              </a:ext>
            </a:extLst>
          </p:cNvPr>
          <p:cNvCxnSpPr>
            <a:cxnSpLocks/>
          </p:cNvCxnSpPr>
          <p:nvPr/>
        </p:nvCxnSpPr>
        <p:spPr>
          <a:xfrm>
            <a:off x="1593850" y="2757488"/>
            <a:ext cx="32845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38C9D20E-0F17-2D01-BC32-0A988FEF1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F50E6F9-20DA-546F-439B-C6D7CBBE4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C46225C-CC71-B841-B14F-B64FC5974AA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5" name="TextBox 7">
            <a:extLst>
              <a:ext uri="{FF2B5EF4-FFF2-40B4-BE49-F238E27FC236}">
                <a16:creationId xmlns:a16="http://schemas.microsoft.com/office/drawing/2014/main" id="{7195F495-5DFB-A59F-8FF5-72B039B12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3456"/>
            <a:ext cx="5489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Radiative Fluxes of Interest in Remote Sensing</a:t>
            </a:r>
          </a:p>
        </p:txBody>
      </p:sp>
      <p:sp>
        <p:nvSpPr>
          <p:cNvPr id="38916" name="TextBox 29">
            <a:extLst>
              <a:ext uri="{FF2B5EF4-FFF2-40B4-BE49-F238E27FC236}">
                <a16:creationId xmlns:a16="http://schemas.microsoft.com/office/drawing/2014/main" id="{A59D0D30-7C76-4663-4F0D-B57546A44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117725"/>
            <a:ext cx="8550275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Bi-Hemispherical Reflectance (BHR)</a:t>
            </a:r>
          </a:p>
          <a:p>
            <a:pPr>
              <a:spcBef>
                <a:spcPct val="0"/>
              </a:spcBef>
              <a:buFontTx/>
              <a:buAutoNum type="arabicParenR"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Directional-Hemispherical Reflectance (DHR)</a:t>
            </a:r>
          </a:p>
          <a:p>
            <a:pPr>
              <a:spcBef>
                <a:spcPct val="0"/>
              </a:spcBef>
              <a:buFontTx/>
              <a:buAutoNum type="arabicParenR"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Albedo</a:t>
            </a:r>
          </a:p>
          <a:p>
            <a:pPr>
              <a:spcBef>
                <a:spcPct val="0"/>
              </a:spcBef>
              <a:buFontTx/>
              <a:buAutoNum type="arabicParenR"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Fraction of Vegetation Absorbed Photosynthetically Active Radiation (FPAR)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08ED2F5C-2E68-A79E-6F02-23296306E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27D74F5-110E-A335-DAF4-543F12A6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B51AF8E-D060-3041-9C7E-46569436B9B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TextBox 7">
            <a:extLst>
              <a:ext uri="{FF2B5EF4-FFF2-40B4-BE49-F238E27FC236}">
                <a16:creationId xmlns:a16="http://schemas.microsoft.com/office/drawing/2014/main" id="{3375CFD8-BF5A-B41F-AF2E-D9EBB1BA8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39801"/>
            <a:ext cx="4356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Bi-Hemispherical Reflectance (BHR)</a:t>
            </a:r>
          </a:p>
        </p:txBody>
      </p:sp>
      <p:sp>
        <p:nvSpPr>
          <p:cNvPr id="40964" name="TextBox 29">
            <a:extLst>
              <a:ext uri="{FF2B5EF4-FFF2-40B4-BE49-F238E27FC236}">
                <a16:creationId xmlns:a16="http://schemas.microsoft.com/office/drawing/2014/main" id="{7FEA7D4C-59ED-CC57-EDF0-52A5AAF7D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995488"/>
            <a:ext cx="855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BHR = F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0965" name="TextBox 5">
            <a:extLst>
              <a:ext uri="{FF2B5EF4-FFF2-40B4-BE49-F238E27FC236}">
                <a16:creationId xmlns:a16="http://schemas.microsoft.com/office/drawing/2014/main" id="{2D4339DC-D73C-B19E-1EC4-AECD945DF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363" y="2517775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DC80AB7C-1BCE-0BF9-212E-8D38A2F96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488" y="2808288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2π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l-GR" altLang="en-US" sz="2000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7" name="TextBox 7">
            <a:extLst>
              <a:ext uri="{FF2B5EF4-FFF2-40B4-BE49-F238E27FC236}">
                <a16:creationId xmlns:a16="http://schemas.microsoft.com/office/drawing/2014/main" id="{BE70972D-13F2-7996-AD99-E4DCC9636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2547938"/>
            <a:ext cx="1835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 |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| I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endParaRPr lang="el-GR" altLang="en-US" sz="2000" u="sng">
              <a:latin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A494FD-8182-9CDF-15DF-20D2B768AF7B}"/>
              </a:ext>
            </a:extLst>
          </p:cNvPr>
          <p:cNvCxnSpPr/>
          <p:nvPr/>
        </p:nvCxnSpPr>
        <p:spPr>
          <a:xfrm>
            <a:off x="1233488" y="3208338"/>
            <a:ext cx="2122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9" name="Rectangle 9">
            <a:extLst>
              <a:ext uri="{FF2B5EF4-FFF2-40B4-BE49-F238E27FC236}">
                <a16:creationId xmlns:a16="http://schemas.microsoft.com/office/drawing/2014/main" id="{3E44D7B4-30AD-2A55-64B0-538EAE42F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3295650"/>
            <a:ext cx="118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 baseline="-25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 + F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0970" name="Rectangle 10">
            <a:extLst>
              <a:ext uri="{FF2B5EF4-FFF2-40B4-BE49-F238E27FC236}">
                <a16:creationId xmlns:a16="http://schemas.microsoft.com/office/drawing/2014/main" id="{37B2AA4A-F2F5-525B-4608-F038DC9F4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2995613"/>
            <a:ext cx="330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40971" name="Rectangle 11">
            <a:extLst>
              <a:ext uri="{FF2B5EF4-FFF2-40B4-BE49-F238E27FC236}">
                <a16:creationId xmlns:a16="http://schemas.microsoft.com/office/drawing/2014/main" id="{2D9123B8-42F1-339B-5409-691DB688A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2730500"/>
            <a:ext cx="2698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</a:p>
        </p:txBody>
      </p:sp>
      <p:sp>
        <p:nvSpPr>
          <p:cNvPr id="40972" name="TextBox 2">
            <a:extLst>
              <a:ext uri="{FF2B5EF4-FFF2-40B4-BE49-F238E27FC236}">
                <a16:creationId xmlns:a16="http://schemas.microsoft.com/office/drawing/2014/main" id="{534EC23F-9E1C-3701-F85E-39F3FEDDE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4078288"/>
            <a:ext cx="5862638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i.e. canopy reflectivity under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solar and sky illumination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Also called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white sky albedo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This is a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standard product </a:t>
            </a:r>
            <a:r>
              <a:rPr lang="en-US" altLang="en-US" sz="2000">
                <a:latin typeface="Times New Roman" panose="02020603050405020304" pitchFamily="18" charset="0"/>
              </a:rPr>
              <a:t>from MODIS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Units: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Dimensionless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6DBE0F5C-18B4-17A2-664D-9314F41ED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CBDC539-2BB2-AB2F-00D7-98462604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B616481-D8BD-E04F-9471-95668CAE64A7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TextBox 7">
            <a:extLst>
              <a:ext uri="{FF2B5EF4-FFF2-40B4-BE49-F238E27FC236}">
                <a16:creationId xmlns:a16="http://schemas.microsoft.com/office/drawing/2014/main" id="{50A68A28-8E41-5148-4C99-123F129F0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93762"/>
            <a:ext cx="5527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Directional-Hemispherical Reflectance (DHR)</a:t>
            </a:r>
          </a:p>
        </p:txBody>
      </p:sp>
      <p:sp>
        <p:nvSpPr>
          <p:cNvPr id="43012" name="TextBox 29">
            <a:extLst>
              <a:ext uri="{FF2B5EF4-FFF2-40B4-BE49-F238E27FC236}">
                <a16:creationId xmlns:a16="http://schemas.microsoft.com/office/drawing/2014/main" id="{F4979A15-7A1C-6F13-609E-A7C30D6A8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752600"/>
            <a:ext cx="855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DHR = F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3013" name="TextBox 5">
            <a:extLst>
              <a:ext uri="{FF2B5EF4-FFF2-40B4-BE49-F238E27FC236}">
                <a16:creationId xmlns:a16="http://schemas.microsoft.com/office/drawing/2014/main" id="{30773C3E-8A0F-DD52-F69B-725DBF3B0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363" y="2320925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C8824396-E526-9A0C-8658-767BC5EBF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488" y="2611438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2π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l-GR" altLang="en-US" sz="2000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5" name="TextBox 7">
            <a:extLst>
              <a:ext uri="{FF2B5EF4-FFF2-40B4-BE49-F238E27FC236}">
                <a16:creationId xmlns:a16="http://schemas.microsoft.com/office/drawing/2014/main" id="{34D594C8-BCEB-6FB6-521A-272AD5222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300" y="2352675"/>
            <a:ext cx="1835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 |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| I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endParaRPr lang="el-GR" altLang="en-US" sz="2000" u="sng">
              <a:latin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F2C524-A9B7-15F3-AA74-F481612A5524}"/>
              </a:ext>
            </a:extLst>
          </p:cNvPr>
          <p:cNvCxnSpPr/>
          <p:nvPr/>
        </p:nvCxnSpPr>
        <p:spPr>
          <a:xfrm>
            <a:off x="1233488" y="3011488"/>
            <a:ext cx="2122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7" name="Rectangle 9">
            <a:extLst>
              <a:ext uri="{FF2B5EF4-FFF2-40B4-BE49-F238E27FC236}">
                <a16:creationId xmlns:a16="http://schemas.microsoft.com/office/drawing/2014/main" id="{248D820B-2EEF-8E2A-C2A7-E4941D164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094038"/>
            <a:ext cx="495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3018" name="Rectangle 10">
            <a:extLst>
              <a:ext uri="{FF2B5EF4-FFF2-40B4-BE49-F238E27FC236}">
                <a16:creationId xmlns:a16="http://schemas.microsoft.com/office/drawing/2014/main" id="{1F08E698-26C9-D329-3DCE-5E5B7C62B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2800350"/>
            <a:ext cx="330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43019" name="Rectangle 11">
            <a:extLst>
              <a:ext uri="{FF2B5EF4-FFF2-40B4-BE49-F238E27FC236}">
                <a16:creationId xmlns:a16="http://schemas.microsoft.com/office/drawing/2014/main" id="{4E08BD1A-0091-72FC-3312-15C482C38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2535238"/>
            <a:ext cx="2698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Helvetica" pitchFamily="2" charset="0"/>
              </a:rPr>
              <a:t>λ</a:t>
            </a:r>
          </a:p>
        </p:txBody>
      </p:sp>
      <p:sp>
        <p:nvSpPr>
          <p:cNvPr id="43020" name="TextBox 2">
            <a:extLst>
              <a:ext uri="{FF2B5EF4-FFF2-40B4-BE49-F238E27FC236}">
                <a16:creationId xmlns:a16="http://schemas.microsoft.com/office/drawing/2014/main" id="{E94F542D-B982-979C-442E-C830ABD99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883025"/>
            <a:ext cx="5527675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i.e. canopy reflectivity under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solar illumination only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Also called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black sky albedo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This is a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standard product </a:t>
            </a:r>
            <a:r>
              <a:rPr lang="en-US" altLang="en-US" sz="2000">
                <a:latin typeface="Times New Roman" panose="02020603050405020304" pitchFamily="18" charset="0"/>
              </a:rPr>
              <a:t>from MODIS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Units: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Dimensionless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AFD14A9A-4B7C-0340-809D-C42E0AB7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8831E9E-D390-195A-78E2-8FC262E5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1B9E568-F53E-3E43-932F-3A46B37CE75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9EF17C70-5BC7-0C3F-3C32-0CFE37F49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652" y="860425"/>
            <a:ext cx="215836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Canopy Albedo</a:t>
            </a:r>
          </a:p>
        </p:txBody>
      </p:sp>
      <p:sp>
        <p:nvSpPr>
          <p:cNvPr id="45060" name="TextBox 29">
            <a:extLst>
              <a:ext uri="{FF2B5EF4-FFF2-40B4-BE49-F238E27FC236}">
                <a16:creationId xmlns:a16="http://schemas.microsoft.com/office/drawing/2014/main" id="{FDC469F1-8F1D-11CA-F0DF-D33FA3691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1471613"/>
            <a:ext cx="855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Albedo = total reflected flux / total incident flux 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0EA204-5980-A0D8-E904-09015C5502AE}"/>
              </a:ext>
            </a:extLst>
          </p:cNvPr>
          <p:cNvCxnSpPr/>
          <p:nvPr/>
        </p:nvCxnSpPr>
        <p:spPr>
          <a:xfrm>
            <a:off x="1411288" y="2708275"/>
            <a:ext cx="2122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2" name="Rectangle 10">
            <a:extLst>
              <a:ext uri="{FF2B5EF4-FFF2-40B4-BE49-F238E27FC236}">
                <a16:creationId xmlns:a16="http://schemas.microsoft.com/office/drawing/2014/main" id="{E3BDEFD0-F3C3-94C1-F6B8-B918386D8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2497138"/>
            <a:ext cx="328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45063" name="TextBox 2">
            <a:extLst>
              <a:ext uri="{FF2B5EF4-FFF2-40B4-BE49-F238E27FC236}">
                <a16:creationId xmlns:a16="http://schemas.microsoft.com/office/drawing/2014/main" id="{2A9082A8-5001-3C4C-0C72-86821191A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3821113"/>
            <a:ext cx="8777288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where, 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 and 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 are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wavelength limits of solar radiation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This is a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standard product </a:t>
            </a:r>
            <a:r>
              <a:rPr lang="en-US" altLang="en-US" sz="2000">
                <a:latin typeface="Times New Roman" panose="02020603050405020304" pitchFamily="18" charset="0"/>
              </a:rPr>
              <a:t>from MODIS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Because (1-Albedo) is canopy absorbed radiant flux, it is important in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energy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balance studies</a:t>
            </a:r>
            <a:r>
              <a:rPr lang="en-US" altLang="en-US" sz="200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Units: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Dimensionless</a:t>
            </a:r>
          </a:p>
        </p:txBody>
      </p:sp>
      <p:sp>
        <p:nvSpPr>
          <p:cNvPr id="45064" name="Rectangle 13">
            <a:extLst>
              <a:ext uri="{FF2B5EF4-FFF2-40B4-BE49-F238E27FC236}">
                <a16:creationId xmlns:a16="http://schemas.microsoft.com/office/drawing/2014/main" id="{7866189C-3F4B-3513-103A-BBCE0AFC2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0" y="2908300"/>
            <a:ext cx="1355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(F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 baseline="-25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 + F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45065" name="TextBox 14">
            <a:extLst>
              <a:ext uri="{FF2B5EF4-FFF2-40B4-BE49-F238E27FC236}">
                <a16:creationId xmlns:a16="http://schemas.microsoft.com/office/drawing/2014/main" id="{C8D24181-27DB-1B0E-EA3E-9163F80D3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338" y="2894013"/>
            <a:ext cx="268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45066" name="Rectangle 15">
            <a:extLst>
              <a:ext uri="{FF2B5EF4-FFF2-40B4-BE49-F238E27FC236}">
                <a16:creationId xmlns:a16="http://schemas.microsoft.com/office/drawing/2014/main" id="{172940C6-71E7-0F81-D77F-94A70BA40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175" y="3236913"/>
            <a:ext cx="3381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l-G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67" name="Rectangle 16">
            <a:extLst>
              <a:ext uri="{FF2B5EF4-FFF2-40B4-BE49-F238E27FC236}">
                <a16:creationId xmlns:a16="http://schemas.microsoft.com/office/drawing/2014/main" id="{67A4E56E-7BC0-5C86-A8CC-3F6D577BA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3225" y="2697163"/>
            <a:ext cx="3365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l-G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68" name="Rectangle 17">
            <a:extLst>
              <a:ext uri="{FF2B5EF4-FFF2-40B4-BE49-F238E27FC236}">
                <a16:creationId xmlns:a16="http://schemas.microsoft.com/office/drawing/2014/main" id="{35CD1CB3-D31E-34BC-1E89-7AAADDB45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2925763"/>
            <a:ext cx="438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45069" name="TextBox 20">
            <a:extLst>
              <a:ext uri="{FF2B5EF4-FFF2-40B4-BE49-F238E27FC236}">
                <a16:creationId xmlns:a16="http://schemas.microsoft.com/office/drawing/2014/main" id="{218D4599-9FB9-DA69-1823-D2A98F30B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50" y="2174875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45070" name="Rectangle 21">
            <a:extLst>
              <a:ext uri="{FF2B5EF4-FFF2-40B4-BE49-F238E27FC236}">
                <a16:creationId xmlns:a16="http://schemas.microsoft.com/office/drawing/2014/main" id="{5D6D7F87-587D-3548-003D-02E377675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976438"/>
            <a:ext cx="3365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l-G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71" name="Rectangle 22">
            <a:extLst>
              <a:ext uri="{FF2B5EF4-FFF2-40B4-BE49-F238E27FC236}">
                <a16:creationId xmlns:a16="http://schemas.microsoft.com/office/drawing/2014/main" id="{15DC6835-ABED-88FE-6EBE-8B7221F48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213" y="2205038"/>
            <a:ext cx="438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45072" name="Rectangle 23">
            <a:extLst>
              <a:ext uri="{FF2B5EF4-FFF2-40B4-BE49-F238E27FC236}">
                <a16:creationId xmlns:a16="http://schemas.microsoft.com/office/drawing/2014/main" id="{9B550380-EAEB-19BF-5C29-76A0879EA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413" y="2465388"/>
            <a:ext cx="3381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l-G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73" name="Rectangle 4">
            <a:extLst>
              <a:ext uri="{FF2B5EF4-FFF2-40B4-BE49-F238E27FC236}">
                <a16:creationId xmlns:a16="http://schemas.microsoft.com/office/drawing/2014/main" id="{699ED2E0-E3EF-4699-6606-DF72A2C56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2189163"/>
            <a:ext cx="1123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R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(z=0)</a:t>
            </a:r>
            <a:r>
              <a:rPr lang="en-US" altLang="en-US" sz="2000" baseline="-25000">
                <a:latin typeface="Times New Roman" panose="02020603050405020304" pitchFamily="18" charset="0"/>
              </a:rPr>
              <a:t> 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77EEDA9C-8D90-B48E-CE40-14991CAD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39AAD3E-AFED-99D0-661C-964E9FC6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8B40155-92AC-5E49-AC12-B1CA53E942F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7" name="TextBox 7">
            <a:extLst>
              <a:ext uri="{FF2B5EF4-FFF2-40B4-BE49-F238E27FC236}">
                <a16:creationId xmlns:a16="http://schemas.microsoft.com/office/drawing/2014/main" id="{6F1923F4-AB56-394A-2D8D-7D1B2448A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8" y="801688"/>
            <a:ext cx="88804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Fraction of Vegetation Absorbed Photosynthetically Active Radiation (FPAR)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08" name="TextBox 29">
            <a:extLst>
              <a:ext uri="{FF2B5EF4-FFF2-40B4-BE49-F238E27FC236}">
                <a16:creationId xmlns:a16="http://schemas.microsoft.com/office/drawing/2014/main" id="{0D013048-CEB9-95DF-77FC-A3B20C39A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379538"/>
            <a:ext cx="855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FPAR = absorbed PAR flux / incident PAR flux 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937802-3D29-008A-FAA7-4348E9DCBAC6}"/>
              </a:ext>
            </a:extLst>
          </p:cNvPr>
          <p:cNvCxnSpPr/>
          <p:nvPr/>
        </p:nvCxnSpPr>
        <p:spPr>
          <a:xfrm>
            <a:off x="1233488" y="2687638"/>
            <a:ext cx="21224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0" name="Rectangle 10">
            <a:extLst>
              <a:ext uri="{FF2B5EF4-FFF2-40B4-BE49-F238E27FC236}">
                <a16:creationId xmlns:a16="http://schemas.microsoft.com/office/drawing/2014/main" id="{E67C5E6B-D7C9-C0FC-5E3D-2380224BE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2476500"/>
            <a:ext cx="330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47111" name="TextBox 2">
            <a:extLst>
              <a:ext uri="{FF2B5EF4-FFF2-40B4-BE49-F238E27FC236}">
                <a16:creationId xmlns:a16="http://schemas.microsoft.com/office/drawing/2014/main" id="{60F05B4F-48B5-DF50-731B-5520104C2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681413"/>
            <a:ext cx="8777288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where, 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 (400 nm) and 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 (700 nm) are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wavelength limits of PAR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This is a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standard product </a:t>
            </a:r>
            <a:r>
              <a:rPr lang="en-US" altLang="en-US" sz="2000">
                <a:latin typeface="Times New Roman" panose="02020603050405020304" pitchFamily="18" charset="0"/>
              </a:rPr>
              <a:t>from MODIS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This is important quantity in most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carbon studies </a:t>
            </a:r>
            <a:r>
              <a:rPr lang="en-US" altLang="en-US" sz="2000">
                <a:latin typeface="Times New Roman" panose="02020603050405020304" pitchFamily="18" charset="0"/>
              </a:rPr>
              <a:t>because this is the energy that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drives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photosynthesis</a:t>
            </a:r>
            <a:r>
              <a:rPr lang="en-US" altLang="en-US" sz="200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Units: </a:t>
            </a: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Dimensionless</a:t>
            </a:r>
          </a:p>
        </p:txBody>
      </p:sp>
      <p:sp>
        <p:nvSpPr>
          <p:cNvPr id="47112" name="Rectangle 13">
            <a:extLst>
              <a:ext uri="{FF2B5EF4-FFF2-40B4-BE49-F238E27FC236}">
                <a16:creationId xmlns:a16="http://schemas.microsoft.com/office/drawing/2014/main" id="{018E1F48-2D75-1977-9D41-84FBA3298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50" y="2887663"/>
            <a:ext cx="1355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(F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 baseline="-25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 + F</a:t>
            </a:r>
            <a:r>
              <a:rPr lang="en-US" altLang="en-US" sz="2000" baseline="-25000">
                <a:latin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47113" name="TextBox 14">
            <a:extLst>
              <a:ext uri="{FF2B5EF4-FFF2-40B4-BE49-F238E27FC236}">
                <a16:creationId xmlns:a16="http://schemas.microsoft.com/office/drawing/2014/main" id="{38698640-0F0E-CC3A-0E6A-F277A1BCF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2874963"/>
            <a:ext cx="269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47114" name="Rectangle 15">
            <a:extLst>
              <a:ext uri="{FF2B5EF4-FFF2-40B4-BE49-F238E27FC236}">
                <a16:creationId xmlns:a16="http://schemas.microsoft.com/office/drawing/2014/main" id="{F3778C41-151F-061D-9D31-9E0961D8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963" y="3216275"/>
            <a:ext cx="3365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l-G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15" name="Rectangle 16">
            <a:extLst>
              <a:ext uri="{FF2B5EF4-FFF2-40B4-BE49-F238E27FC236}">
                <a16:creationId xmlns:a16="http://schemas.microsoft.com/office/drawing/2014/main" id="{C1C52883-F90C-557B-F087-1E94287D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425" y="2676525"/>
            <a:ext cx="3365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l-G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16" name="Rectangle 17">
            <a:extLst>
              <a:ext uri="{FF2B5EF4-FFF2-40B4-BE49-F238E27FC236}">
                <a16:creationId xmlns:a16="http://schemas.microsoft.com/office/drawing/2014/main" id="{F108BE51-617C-5ADA-7B2E-A5A299940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2905125"/>
            <a:ext cx="438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47117" name="TextBox 20">
            <a:extLst>
              <a:ext uri="{FF2B5EF4-FFF2-40B4-BE49-F238E27FC236}">
                <a16:creationId xmlns:a16="http://schemas.microsoft.com/office/drawing/2014/main" id="{0C24722A-60EC-9C08-D0DF-8335ADF77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813" y="2114550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∫</a:t>
            </a:r>
          </a:p>
        </p:txBody>
      </p:sp>
      <p:sp>
        <p:nvSpPr>
          <p:cNvPr id="47118" name="Rectangle 21">
            <a:extLst>
              <a:ext uri="{FF2B5EF4-FFF2-40B4-BE49-F238E27FC236}">
                <a16:creationId xmlns:a16="http://schemas.microsoft.com/office/drawing/2014/main" id="{AB121B7F-C48A-353D-28D4-2443DF8FB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916113"/>
            <a:ext cx="3365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l-G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19" name="Rectangle 22">
            <a:extLst>
              <a:ext uri="{FF2B5EF4-FFF2-40B4-BE49-F238E27FC236}">
                <a16:creationId xmlns:a16="http://schemas.microsoft.com/office/drawing/2014/main" id="{24F73033-3346-6646-F56A-154E62ED5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975" y="2144713"/>
            <a:ext cx="438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47120" name="Rectangle 23">
            <a:extLst>
              <a:ext uri="{FF2B5EF4-FFF2-40B4-BE49-F238E27FC236}">
                <a16:creationId xmlns:a16="http://schemas.microsoft.com/office/drawing/2014/main" id="{E85BDFE8-F771-4840-42CB-831788E7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138" y="2438400"/>
            <a:ext cx="3365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l-G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21" name="Rectangle 4">
            <a:extLst>
              <a:ext uri="{FF2B5EF4-FFF2-40B4-BE49-F238E27FC236}">
                <a16:creationId xmlns:a16="http://schemas.microsoft.com/office/drawing/2014/main" id="{84EFD59C-0EB8-BFAC-608A-A64A115A3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475" y="2128838"/>
            <a:ext cx="55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A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 baseline="-25000">
                <a:latin typeface="Times New Roman" panose="02020603050405020304" pitchFamily="18" charset="0"/>
              </a:rPr>
              <a:t> 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677182FA-7414-3E52-0177-2AFCE884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9C1ED57-4A61-AEE9-7025-0F1C1049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FB61B9D-C0DB-3C41-8E64-0EB478636D1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5" name="TextBox 7">
            <a:extLst>
              <a:ext uri="{FF2B5EF4-FFF2-40B4-BE49-F238E27FC236}">
                <a16:creationId xmlns:a16="http://schemas.microsoft.com/office/drawing/2014/main" id="{15BCBBAC-89BF-0697-3FC2-1AC9B2467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78185"/>
            <a:ext cx="7400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Directional Radiative Quantities of Interest in Remote Sensing</a:t>
            </a:r>
          </a:p>
        </p:txBody>
      </p:sp>
      <p:sp>
        <p:nvSpPr>
          <p:cNvPr id="49156" name="TextBox 29">
            <a:extLst>
              <a:ext uri="{FF2B5EF4-FFF2-40B4-BE49-F238E27FC236}">
                <a16:creationId xmlns:a16="http://schemas.microsoft.com/office/drawing/2014/main" id="{9A8C1CCC-FE36-6DA4-05BB-1F7690DA1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117725"/>
            <a:ext cx="8550275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Hemispherical-Directional Reflectance Factor (HDRF)</a:t>
            </a:r>
          </a:p>
          <a:p>
            <a:pPr>
              <a:spcBef>
                <a:spcPct val="0"/>
              </a:spcBef>
              <a:buFontTx/>
              <a:buAutoNum type="arabicParenR"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Bi-Directional Reflectance Factor (BRF)</a:t>
            </a:r>
          </a:p>
          <a:p>
            <a:pPr>
              <a:spcBef>
                <a:spcPct val="0"/>
              </a:spcBef>
              <a:buFontTx/>
              <a:buAutoNum type="arabicParenR"/>
            </a:pPr>
            <a:endParaRPr lang="en-US" altLang="en-US" sz="2000">
              <a:solidFill>
                <a:srgbClr val="152EF4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AutoNum type="arabicParenR"/>
            </a:pPr>
            <a:r>
              <a:rPr lang="en-US" altLang="en-US" sz="2000">
                <a:solidFill>
                  <a:srgbClr val="152EF4"/>
                </a:solidFill>
                <a:latin typeface="Times New Roman" panose="02020603050405020304" pitchFamily="18" charset="0"/>
              </a:rPr>
              <a:t>Bi-Directional Reflectance Distribution Funtion (BRDF)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98F2192A-4AF9-E333-BF04-224473355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0479698-56BE-50DB-2805-C23DC28A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4F4ECD0-2F29-D245-8084-B6CC6419F17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3" name="TextBox 7">
            <a:extLst>
              <a:ext uri="{FF2B5EF4-FFF2-40B4-BE49-F238E27FC236}">
                <a16:creationId xmlns:a16="http://schemas.microsoft.com/office/drawing/2014/main" id="{BA239AB0-0B78-70AB-D5A3-F727A1411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55651"/>
            <a:ext cx="630682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Hemispherical-Directional Reflectance Factor (HDRF)</a:t>
            </a:r>
          </a:p>
        </p:txBody>
      </p:sp>
      <p:sp>
        <p:nvSpPr>
          <p:cNvPr id="51204" name="TextBox 29">
            <a:extLst>
              <a:ext uri="{FF2B5EF4-FFF2-40B4-BE49-F238E27FC236}">
                <a16:creationId xmlns:a16="http://schemas.microsoft.com/office/drawing/2014/main" id="{C8FE08ED-101A-D02C-C1B2-9C40CA606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1484313"/>
            <a:ext cx="1924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HDRF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51205" name="TextBox 2">
            <a:extLst>
              <a:ext uri="{FF2B5EF4-FFF2-40B4-BE49-F238E27FC236}">
                <a16:creationId xmlns:a16="http://schemas.microsoft.com/office/drawing/2014/main" id="{29196AE5-20EC-0E3C-4D42-C6F159752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363" y="2012950"/>
            <a:ext cx="4051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Intensity exiting the canopy at the top</a:t>
            </a:r>
          </a:p>
        </p:txBody>
      </p:sp>
      <p:sp>
        <p:nvSpPr>
          <p:cNvPr id="51206" name="TextBox 3">
            <a:extLst>
              <a:ext uri="{FF2B5EF4-FFF2-40B4-BE49-F238E27FC236}">
                <a16:creationId xmlns:a16="http://schemas.microsoft.com/office/drawing/2014/main" id="{ABA566FB-3ED9-DC87-EF4C-4DB351A0C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2443163"/>
            <a:ext cx="8837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Intensity from an isotropically-reflecting conservative white panel (100% reflecting)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DFFF73-0CDA-F59E-5503-717F3F45CB6C}"/>
              </a:ext>
            </a:extLst>
          </p:cNvPr>
          <p:cNvCxnSpPr/>
          <p:nvPr/>
        </p:nvCxnSpPr>
        <p:spPr>
          <a:xfrm>
            <a:off x="279400" y="2413000"/>
            <a:ext cx="8751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08" name="TextBox 9">
            <a:extLst>
              <a:ext uri="{FF2B5EF4-FFF2-40B4-BE49-F238E27FC236}">
                <a16:creationId xmlns:a16="http://schemas.microsoft.com/office/drawing/2014/main" id="{64860F25-7B66-DE53-6AC8-277828D6F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3238" y="3343275"/>
            <a:ext cx="1922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51209" name="TextBox 10">
            <a:extLst>
              <a:ext uri="{FF2B5EF4-FFF2-40B4-BE49-F238E27FC236}">
                <a16:creationId xmlns:a16="http://schemas.microsoft.com/office/drawing/2014/main" id="{D9B746AD-5DAC-1E86-12F3-B2F2978E3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3238" y="3876675"/>
            <a:ext cx="1922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D2B75-B11B-BCFE-3752-4C3EA1522DC0}"/>
              </a:ext>
            </a:extLst>
          </p:cNvPr>
          <p:cNvCxnSpPr/>
          <p:nvPr/>
        </p:nvCxnSpPr>
        <p:spPr>
          <a:xfrm>
            <a:off x="2949575" y="3838575"/>
            <a:ext cx="18113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11" name="Rectangle 8">
            <a:extLst>
              <a:ext uri="{FF2B5EF4-FFF2-40B4-BE49-F238E27FC236}">
                <a16:creationId xmlns:a16="http://schemas.microsoft.com/office/drawing/2014/main" id="{A2BE413E-4C7F-0EC2-614F-8565207C6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700463"/>
            <a:ext cx="328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FF58E5-11F3-6681-43EA-AECC0FFF6A93}"/>
              </a:ext>
            </a:extLst>
          </p:cNvPr>
          <p:cNvSpPr txBox="1"/>
          <p:nvPr/>
        </p:nvSpPr>
        <p:spPr>
          <a:xfrm>
            <a:off x="279400" y="4600575"/>
            <a:ext cx="7658100" cy="1323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152EF4"/>
                </a:solidFill>
              </a:rPr>
              <a:t>Note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chemeClr val="tx1"/>
                </a:solidFill>
              </a:rPr>
              <a:t>Both quantities are measured under </a:t>
            </a:r>
            <a:r>
              <a:rPr lang="en-US" sz="2000" dirty="0">
                <a:solidFill>
                  <a:srgbClr val="152EF4"/>
                </a:solidFill>
              </a:rPr>
              <a:t>identical illumination conditions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chemeClr val="tx1"/>
                </a:solidFill>
              </a:rPr>
              <a:t>Illumination conditions include both </a:t>
            </a:r>
            <a:r>
              <a:rPr lang="en-US" sz="2000" dirty="0">
                <a:solidFill>
                  <a:srgbClr val="152EF4"/>
                </a:solidFill>
              </a:rPr>
              <a:t>solar and sky illumination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chemeClr val="tx1"/>
                </a:solidFill>
              </a:rPr>
              <a:t>Units: </a:t>
            </a:r>
            <a:r>
              <a:rPr lang="en-US" sz="2000" dirty="0">
                <a:solidFill>
                  <a:srgbClr val="152EF4"/>
                </a:solidFill>
              </a:rPr>
              <a:t>Dimensionless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FCFB26E4-8F04-B865-F248-5CDE20ED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A1A5AD0-FA1C-C7AD-4614-5B937F34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6527D6B-BD08-C94A-B6A6-68759049309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1" name="TextBox 7">
            <a:extLst>
              <a:ext uri="{FF2B5EF4-FFF2-40B4-BE49-F238E27FC236}">
                <a16:creationId xmlns:a16="http://schemas.microsoft.com/office/drawing/2014/main" id="{9FD3A0EA-8BA9-E307-F1AC-2D63D3B45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709" y="798513"/>
            <a:ext cx="4749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Bi-Directional Reflectance Factor (BRF)</a:t>
            </a:r>
          </a:p>
        </p:txBody>
      </p:sp>
      <p:sp>
        <p:nvSpPr>
          <p:cNvPr id="53252" name="TextBox 29">
            <a:extLst>
              <a:ext uri="{FF2B5EF4-FFF2-40B4-BE49-F238E27FC236}">
                <a16:creationId xmlns:a16="http://schemas.microsoft.com/office/drawing/2014/main" id="{1C042B3A-ADD5-6D51-BA8F-D7C373E08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1484313"/>
            <a:ext cx="6704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BRF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= HD</a:t>
            </a:r>
            <a:r>
              <a:rPr lang="en-US" altLang="en-US" sz="2000">
                <a:latin typeface="Times New Roman" panose="02020603050405020304" pitchFamily="18" charset="0"/>
              </a:rPr>
              <a:t>RF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under </a:t>
            </a:r>
            <a:r>
              <a:rPr lang="en-US" altLang="en-US" sz="2000">
                <a:solidFill>
                  <a:srgbClr val="1B3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illumination only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53253" name="TextBox 2">
            <a:extLst>
              <a:ext uri="{FF2B5EF4-FFF2-40B4-BE49-F238E27FC236}">
                <a16:creationId xmlns:a16="http://schemas.microsoft.com/office/drawing/2014/main" id="{807F396B-6DB5-E22D-DAF6-81EA6988E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2208213"/>
            <a:ext cx="4051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Intensity exiting the canopy at the top</a:t>
            </a:r>
          </a:p>
        </p:txBody>
      </p:sp>
      <p:sp>
        <p:nvSpPr>
          <p:cNvPr id="53254" name="TextBox 3">
            <a:extLst>
              <a:ext uri="{FF2B5EF4-FFF2-40B4-BE49-F238E27FC236}">
                <a16:creationId xmlns:a16="http://schemas.microsoft.com/office/drawing/2014/main" id="{DA614F5F-FC63-0706-C761-1F2D09316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2640013"/>
            <a:ext cx="8837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Intensity from an isotropically-reflecting conservative white panel (100% reflecting)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C9A83C-B82A-034B-5B8A-E8353C87F919}"/>
              </a:ext>
            </a:extLst>
          </p:cNvPr>
          <p:cNvCxnSpPr/>
          <p:nvPr/>
        </p:nvCxnSpPr>
        <p:spPr>
          <a:xfrm>
            <a:off x="258763" y="2608263"/>
            <a:ext cx="87518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56" name="TextBox 9">
            <a:extLst>
              <a:ext uri="{FF2B5EF4-FFF2-40B4-BE49-F238E27FC236}">
                <a16:creationId xmlns:a16="http://schemas.microsoft.com/office/drawing/2014/main" id="{937EF80C-2902-872A-807E-6E2F12289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3238" y="3343275"/>
            <a:ext cx="1922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53257" name="TextBox 10">
            <a:extLst>
              <a:ext uri="{FF2B5EF4-FFF2-40B4-BE49-F238E27FC236}">
                <a16:creationId xmlns:a16="http://schemas.microsoft.com/office/drawing/2014/main" id="{7C5BF190-82B4-D535-B0AA-B2CF6F408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3238" y="3876675"/>
            <a:ext cx="1922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6D0DD6-931B-A6AB-5D10-F44FEF4E00F3}"/>
              </a:ext>
            </a:extLst>
          </p:cNvPr>
          <p:cNvCxnSpPr/>
          <p:nvPr/>
        </p:nvCxnSpPr>
        <p:spPr>
          <a:xfrm>
            <a:off x="2949575" y="3838575"/>
            <a:ext cx="18113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59" name="Rectangle 8">
            <a:extLst>
              <a:ext uri="{FF2B5EF4-FFF2-40B4-BE49-F238E27FC236}">
                <a16:creationId xmlns:a16="http://schemas.microsoft.com/office/drawing/2014/main" id="{5827D273-39D5-7C38-09C2-5407A4812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629025"/>
            <a:ext cx="328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712DA8-BBEA-E1D2-503A-94EDFBAE855E}"/>
              </a:ext>
            </a:extLst>
          </p:cNvPr>
          <p:cNvSpPr txBox="1"/>
          <p:nvPr/>
        </p:nvSpPr>
        <p:spPr>
          <a:xfrm>
            <a:off x="279400" y="4600575"/>
            <a:ext cx="7658100" cy="1323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152EF4"/>
                </a:solidFill>
              </a:rPr>
              <a:t>Note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chemeClr val="tx1"/>
                </a:solidFill>
              </a:rPr>
              <a:t>Both quantities are measured under </a:t>
            </a:r>
            <a:r>
              <a:rPr lang="en-US" sz="2000" dirty="0">
                <a:solidFill>
                  <a:srgbClr val="152EF4"/>
                </a:solidFill>
              </a:rPr>
              <a:t>identical illumination conditions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chemeClr val="tx1"/>
                </a:solidFill>
              </a:rPr>
              <a:t>Illumination conditions include both </a:t>
            </a:r>
            <a:r>
              <a:rPr lang="en-US" sz="2000" dirty="0">
                <a:solidFill>
                  <a:srgbClr val="152EF4"/>
                </a:solidFill>
              </a:rPr>
              <a:t>solar illumination only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chemeClr val="tx1"/>
                </a:solidFill>
              </a:rPr>
              <a:t>Units: </a:t>
            </a:r>
            <a:r>
              <a:rPr lang="en-US" sz="2000" dirty="0">
                <a:solidFill>
                  <a:srgbClr val="152EF4"/>
                </a:solidFill>
              </a:rPr>
              <a:t>Dimensionless</a:t>
            </a:r>
          </a:p>
        </p:txBody>
      </p:sp>
      <p:sp>
        <p:nvSpPr>
          <p:cNvPr id="53261" name="TextBox 13">
            <a:extLst>
              <a:ext uri="{FF2B5EF4-FFF2-40B4-BE49-F238E27FC236}">
                <a16:creationId xmlns:a16="http://schemas.microsoft.com/office/drawing/2014/main" id="{7DB50955-3066-1C0E-154E-8120050E5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0" y="3363913"/>
            <a:ext cx="1924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53262" name="TextBox 14">
            <a:extLst>
              <a:ext uri="{FF2B5EF4-FFF2-40B4-BE49-F238E27FC236}">
                <a16:creationId xmlns:a16="http://schemas.microsoft.com/office/drawing/2014/main" id="{712CA8B6-59D3-5D25-2B36-5F64A00CC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900" y="3887788"/>
            <a:ext cx="11938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</a:rPr>
              <a:t> (1/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B7D989-CB6D-C236-08CB-3CDF18F3EFCE}"/>
              </a:ext>
            </a:extLst>
          </p:cNvPr>
          <p:cNvCxnSpPr/>
          <p:nvPr/>
        </p:nvCxnSpPr>
        <p:spPr>
          <a:xfrm>
            <a:off x="5176838" y="3859213"/>
            <a:ext cx="181133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64" name="Rectangle 16">
            <a:extLst>
              <a:ext uri="{FF2B5EF4-FFF2-40B4-BE49-F238E27FC236}">
                <a16:creationId xmlns:a16="http://schemas.microsoft.com/office/drawing/2014/main" id="{D65AA9B3-4357-0367-2522-21E086468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650" y="3649663"/>
            <a:ext cx="328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72E4CA67-5A29-A256-3AFC-7C0C8E03E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03 – Part 01: Radiative Quantities of Interest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0E5186C-3A2D-45DB-102B-C3207960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3FCFDDB-5E86-CC40-982A-B6EDC44D59B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99" name="TextBox 7">
            <a:extLst>
              <a:ext uri="{FF2B5EF4-FFF2-40B4-BE49-F238E27FC236}">
                <a16:creationId xmlns:a16="http://schemas.microsoft.com/office/drawing/2014/main" id="{0B6406AF-A056-8B6F-CAC2-E3962082D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56456"/>
            <a:ext cx="6515826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Bi-Directional Reflectance Distribution Function (BRDF)</a:t>
            </a:r>
          </a:p>
        </p:txBody>
      </p:sp>
      <p:sp>
        <p:nvSpPr>
          <p:cNvPr id="55300" name="TextBox 29">
            <a:extLst>
              <a:ext uri="{FF2B5EF4-FFF2-40B4-BE49-F238E27FC236}">
                <a16:creationId xmlns:a16="http://schemas.microsoft.com/office/drawing/2014/main" id="{CC4399BE-A4EB-0FCF-F734-A8C93E0BD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863725"/>
            <a:ext cx="1985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BRDF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55301" name="TextBox 2">
            <a:extLst>
              <a:ext uri="{FF2B5EF4-FFF2-40B4-BE49-F238E27FC236}">
                <a16:creationId xmlns:a16="http://schemas.microsoft.com/office/drawing/2014/main" id="{4EE55AAE-1A3B-6335-4D0B-337E0C4B7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863" y="1608138"/>
            <a:ext cx="4051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Intensity exiting the canopy at the top</a:t>
            </a:r>
          </a:p>
        </p:txBody>
      </p:sp>
      <p:sp>
        <p:nvSpPr>
          <p:cNvPr id="55302" name="TextBox 3">
            <a:extLst>
              <a:ext uri="{FF2B5EF4-FFF2-40B4-BE49-F238E27FC236}">
                <a16:creationId xmlns:a16="http://schemas.microsoft.com/office/drawing/2014/main" id="{3FE17CA9-4C98-4530-E500-3292D6F01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2058988"/>
            <a:ext cx="3275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Incident flux density along 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DA32E0-D9EE-EC5D-9AC3-B61C33B253FF}"/>
              </a:ext>
            </a:extLst>
          </p:cNvPr>
          <p:cNvCxnSpPr>
            <a:cxnSpLocks/>
          </p:cNvCxnSpPr>
          <p:nvPr/>
        </p:nvCxnSpPr>
        <p:spPr>
          <a:xfrm flipV="1">
            <a:off x="2201863" y="2058988"/>
            <a:ext cx="4051300" cy="190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04" name="TextBox 9">
            <a:extLst>
              <a:ext uri="{FF2B5EF4-FFF2-40B4-BE49-F238E27FC236}">
                <a16:creationId xmlns:a16="http://schemas.microsoft.com/office/drawing/2014/main" id="{32EFBCAC-C0B9-F699-3DE0-57FE5AB46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038" y="2744788"/>
            <a:ext cx="1924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</a:rPr>
              <a:t>Ω</a:t>
            </a:r>
            <a:r>
              <a:rPr lang="en-US" altLang="en-US" sz="2000">
                <a:latin typeface="Times New Roman" panose="02020603050405020304" pitchFamily="18" charset="0"/>
              </a:rPr>
              <a:t>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55305" name="TextBox 10">
            <a:extLst>
              <a:ext uri="{FF2B5EF4-FFF2-40B4-BE49-F238E27FC236}">
                <a16:creationId xmlns:a16="http://schemas.microsoft.com/office/drawing/2014/main" id="{1510A9A4-9596-C1B7-B146-DD296C873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100" y="3300413"/>
            <a:ext cx="1387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l-GR" altLang="en-US" sz="2000" baseline="-25000">
                <a:latin typeface="Times New Roman" panose="02020603050405020304" pitchFamily="18" charset="0"/>
              </a:rPr>
              <a:t>λ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(z=0,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2309D8-42E5-2F80-CFA7-BE8990CED1E5}"/>
              </a:ext>
            </a:extLst>
          </p:cNvPr>
          <p:cNvCxnSpPr/>
          <p:nvPr/>
        </p:nvCxnSpPr>
        <p:spPr>
          <a:xfrm>
            <a:off x="2239963" y="3240088"/>
            <a:ext cx="1809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07" name="Rectangle 8">
            <a:extLst>
              <a:ext uri="{FF2B5EF4-FFF2-40B4-BE49-F238E27FC236}">
                <a16:creationId xmlns:a16="http://schemas.microsoft.com/office/drawing/2014/main" id="{4A8EE81D-B401-A2C0-A15D-2ED6C4AF3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188" y="3048000"/>
            <a:ext cx="330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A3C331-A2EB-D0BA-22A0-EED0EF4748B0}"/>
              </a:ext>
            </a:extLst>
          </p:cNvPr>
          <p:cNvSpPr txBox="1"/>
          <p:nvPr/>
        </p:nvSpPr>
        <p:spPr>
          <a:xfrm>
            <a:off x="215900" y="4230688"/>
            <a:ext cx="5434013" cy="1323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152EF4"/>
                </a:solidFill>
              </a:rPr>
              <a:t>Note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chemeClr val="tx1"/>
                </a:solidFill>
              </a:rPr>
              <a:t>Mono-directional (e.g. solar) illumination only</a:t>
            </a:r>
            <a:endParaRPr lang="en-US" sz="2000" dirty="0">
              <a:solidFill>
                <a:srgbClr val="152EF4"/>
              </a:solidFill>
            </a:endParaRP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chemeClr val="tx1"/>
                </a:solidFill>
              </a:rPr>
              <a:t>BRDF</a:t>
            </a:r>
            <a:r>
              <a:rPr lang="el-GR" sz="20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λ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l-GR" sz="2000" u="sng" dirty="0">
                <a:solidFill>
                  <a:schemeClr val="tx1"/>
                </a:solidFill>
              </a:rPr>
              <a:t>Ω</a:t>
            </a:r>
            <a:r>
              <a:rPr lang="en-US" sz="2000" u="sng" dirty="0">
                <a:solidFill>
                  <a:schemeClr val="tx1"/>
                </a:solidFill>
              </a:rPr>
              <a:t>,</a:t>
            </a:r>
            <a:r>
              <a:rPr lang="el-GR" sz="2000" u="sng" dirty="0">
                <a:solidFill>
                  <a:schemeClr val="tx1"/>
                </a:solidFill>
                <a:cs typeface="Times New Roman" panose="02020603050405020304" pitchFamily="18" charset="0"/>
              </a:rPr>
              <a:t> Ω</a:t>
            </a:r>
            <a:r>
              <a:rPr lang="en-US" sz="20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) = </a:t>
            </a:r>
            <a:r>
              <a:rPr lang="en-US" sz="2000" dirty="0">
                <a:solidFill>
                  <a:schemeClr val="tx1"/>
                </a:solidFill>
              </a:rPr>
              <a:t>BRF</a:t>
            </a:r>
            <a:r>
              <a:rPr lang="el-GR" sz="20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λ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l-GR" sz="2000" u="sng" dirty="0">
                <a:solidFill>
                  <a:schemeClr val="tx1"/>
                </a:solidFill>
              </a:rPr>
              <a:t>Ω</a:t>
            </a:r>
            <a:r>
              <a:rPr lang="en-US" sz="2000" u="sng" dirty="0">
                <a:solidFill>
                  <a:schemeClr val="tx1"/>
                </a:solidFill>
              </a:rPr>
              <a:t>,</a:t>
            </a:r>
            <a:r>
              <a:rPr lang="el-GR" sz="2000" u="sng" dirty="0">
                <a:solidFill>
                  <a:schemeClr val="tx1"/>
                </a:solidFill>
                <a:cs typeface="Times New Roman" panose="02020603050405020304" pitchFamily="18" charset="0"/>
              </a:rPr>
              <a:t> Ω</a:t>
            </a:r>
            <a:r>
              <a:rPr lang="en-US" sz="20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) x </a:t>
            </a:r>
            <a:r>
              <a:rPr lang="el-GR" sz="2000" dirty="0">
                <a:solidFill>
                  <a:schemeClr val="tx1"/>
                </a:solidFill>
                <a:cs typeface="Times New Roman" panose="02020603050405020304" pitchFamily="18" charset="0"/>
              </a:rPr>
              <a:t>π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Tx/>
              <a:buAutoNum type="arabicParenR"/>
              <a:defRPr/>
            </a:pPr>
            <a:r>
              <a:rPr lang="en-US" sz="2000" dirty="0">
                <a:solidFill>
                  <a:schemeClr val="tx1"/>
                </a:solidFill>
              </a:rPr>
              <a:t>Units: </a:t>
            </a:r>
            <a:r>
              <a:rPr lang="en-US" sz="2000" dirty="0">
                <a:solidFill>
                  <a:srgbClr val="152EF4"/>
                </a:solidFill>
              </a:rPr>
              <a:t>sr</a:t>
            </a:r>
            <a:r>
              <a:rPr lang="en-US" sz="2000" baseline="30000" dirty="0">
                <a:solidFill>
                  <a:srgbClr val="152EF4"/>
                </a:solidFill>
              </a:rPr>
              <a:t>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6832</TotalTime>
  <Words>1920</Words>
  <Application>Microsoft Macintosh PowerPoint</Application>
  <PresentationFormat>On-screen Show (4:3)</PresentationFormat>
  <Paragraphs>352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Helvetica</vt:lpstr>
      <vt:lpstr>Times</vt:lpstr>
      <vt:lpstr>Times New Roman</vt:lpstr>
      <vt:lpstr>Office Theme</vt:lpstr>
      <vt:lpstr>PHYSICAL MODELS IN REMOTE SENSING Chapter 03 – Part 01: Radiative Quantities of Interest</vt:lpstr>
      <vt:lpstr>PHYSICAL MODELS IN REMOTE SENSING Chapter 03– Part 01: Radiative Quantities of Interest</vt:lpstr>
      <vt:lpstr>PHYSICAL MODELS IN REMOTE SENSING Chapter 03–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  <vt:lpstr>PHYSICAL MODELS IN REMOTE SENSING Chapter 03 – Part 01: Radiative Quantities of Interest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745</cp:revision>
  <cp:lastPrinted>2019-09-03T16:52:39Z</cp:lastPrinted>
  <dcterms:created xsi:type="dcterms:W3CDTF">2012-01-16T18:47:06Z</dcterms:created>
  <dcterms:modified xsi:type="dcterms:W3CDTF">2026-03-16T15:40:08Z</dcterms:modified>
</cp:coreProperties>
</file>