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1"/>
  </p:notesMasterIdLst>
  <p:sldIdLst>
    <p:sldId id="762" r:id="rId2"/>
    <p:sldId id="781" r:id="rId3"/>
    <p:sldId id="773" r:id="rId4"/>
    <p:sldId id="774" r:id="rId5"/>
    <p:sldId id="764" r:id="rId6"/>
    <p:sldId id="765" r:id="rId7"/>
    <p:sldId id="766" r:id="rId8"/>
    <p:sldId id="767" r:id="rId9"/>
    <p:sldId id="768" r:id="rId10"/>
    <p:sldId id="772" r:id="rId11"/>
    <p:sldId id="775" r:id="rId12"/>
    <p:sldId id="782" r:id="rId13"/>
    <p:sldId id="769" r:id="rId14"/>
    <p:sldId id="770" r:id="rId15"/>
    <p:sldId id="778" r:id="rId16"/>
    <p:sldId id="780" r:id="rId17"/>
    <p:sldId id="783" r:id="rId18"/>
    <p:sldId id="784" r:id="rId19"/>
    <p:sldId id="77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60"/>
  </p:normalViewPr>
  <p:slideViewPr>
    <p:cSldViewPr snapToGrid="0">
      <p:cViewPr varScale="1">
        <p:scale>
          <a:sx n="146" d="100"/>
          <a:sy n="146" d="100"/>
        </p:scale>
        <p:origin x="1072" y="160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E635D41A-1802-CE0D-EFA9-2A531AB407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B1878658-F211-D1F6-8324-5E67495ACF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8C6F3B2-FD94-98DC-6D8D-A7A3DDE1B4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EDC1BA18-98B7-4EF1-B171-0815697D3D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D0A244B0-60A2-A0F6-3DE4-9C19A6CDB1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EDB609B1-A2FB-8214-A30C-D3F407F6B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8CC5D91-C937-2341-9939-1337B191F5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3E13558F-E22A-58AD-BB33-70A0FEDB2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B00D716-3183-0645-9D9E-DEFE27BE4CE2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7038813-B9EC-71B3-EEEB-9589AA4E6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FAC3BB6-1215-C639-2951-B3BBA2DEF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3E5B-F7A7-60E6-4D8A-FDB9CF45B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CC9FC3B-79CA-A43A-A4D2-96F675BBE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B00D716-3183-0645-9D9E-DEFE27BE4CE2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E3DBED8-5807-C160-2486-A95243042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D89B3C6-FFEB-1035-BBB2-0A7896D05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551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E790-EE80-66EB-9698-79F8DEA4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E2EA1755-5D4F-DA10-C22D-923117E15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EE31340-B21B-074C-A38B-42D32E127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C8404DD-A4A6-6A5A-853C-986AB67FF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5475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5D9E-051D-4DBD-CAE3-9B07A67C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C1E9E62B-3967-C1CC-D501-28C82684BA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90170BD-9C17-EFE1-BC2E-80A5A3F11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D3B3E4E-BB42-C712-ED59-B09A3EF57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481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C639F4A-D56D-5382-2175-F788632B38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2F6C3D-15EB-3344-ABB7-3026DF74E3C7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111579EA-9C5B-4EFF-7ACD-E9EBF613F4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0A4D20D-7B65-B27E-C82C-7C3D429FF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E0274DC7-BE77-1A57-5D4F-F79651EC82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07F245-5509-5042-A0C9-99144145F76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3C47CB5C-1E1C-DC3C-D401-9DEED0442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4665EC8-A818-C83B-D91B-147F24FA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8979F73E-E584-E88B-F584-EE5D6DD15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A6A4C3F-AC11-5F41-9631-246D0122919B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46EEEAF-EBEE-56D9-5DD9-B1DBC1E42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B53ADD3-1155-D0D7-CF12-5F0A0915A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01A321A-8318-6E60-EF7A-10837281EE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A53F26D-FA77-D248-BB1C-EA05D81DA1E7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2A09CF1D-846A-97EA-34CD-373053EC3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386297E-0E65-1C17-33FC-424CA295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B02F73F0-D955-FB3E-9633-E817D6CDA6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D55097-5084-9740-8E14-625A51BDB36D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93B7BAE-826B-7AF5-31EA-4E84CB2A0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9E17430-4EE0-6805-843D-BBC16A609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CF336977-9F2F-213A-21C1-210F946FC7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C18937-B978-474C-AA22-6A58889788A5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4131633-C7AB-E6C6-0C84-F5712CEF32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BB34FC0-27A2-A3C9-B7E0-08A9DDC42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90F7-7FA7-E11F-F714-29A406FA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9E454F9C-D7A2-81AE-CF97-1A647E701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97722FD6-18F9-7E07-59E9-2CBB73C05C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793D3AC-2511-DE1C-13BF-34E312580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1596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60834-4B25-647E-F720-F48A57C7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AF4F49CD-2B98-F186-D05F-78D32229FA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9D00C0FB-CF98-E31C-50E0-CB8746C5A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B6B5C3B-050E-D809-206E-57F7C5E36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5482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E8F3E9C-A54B-6BFF-1EA8-79077176BF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F5FBFF-A45D-BB48-9C90-527462671874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41E4A988-45B5-1AE2-982A-190A1E67E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5585EC7-7FEA-85F3-0201-676368E66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3CB53402-DDCC-38F7-B673-867EF2FB6A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BAF6F2-3167-5243-B0D7-267D6B641266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0C0DC90-CB47-AF3A-0CF8-78A6B914D6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0F0BADC-2117-A7C2-E2BB-5FCD88DF8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FCF4-1B5E-F6CA-27CF-F000A03F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33BE1002-E668-6CA8-24D8-8C6FB5947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300FC7F-4F34-F5BC-A8E6-B21B0DCA7B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D339019-A587-51F4-66A2-C91BA758E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4203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31634-B6F5-E14D-3973-E0C3D09A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20DC4024-125C-D328-BE28-963D4B4F3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33C1D1D-6BE7-654C-2BC9-50D9DCEAE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E6DE07B-BB9D-808F-C768-957A4636F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1512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0179-E0D6-09DB-2B15-1B6CB8C8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A59AA356-F99E-FED1-69AC-B0FB4E365C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DF235565-8A0C-BA14-3A6C-DAD6898D43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E4E67E6-1990-B955-2A6D-CF78C327D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0299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7EF58-64FE-ADA1-3B62-151A18B98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4E6EC2B6-FA9B-0C50-F483-6C7DC9FCE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F73233-D816-7241-9C96-14C0EE6823CE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4689587-4908-92DD-93F5-2A4C96851E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24E21C0-0937-2599-752B-EAEDA41A1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3313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83992BB-6CEF-7CFE-4350-D9A05E43A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59EC6-89C6-384C-A821-03AAA2AEC04D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95A26DD-18E7-8C1B-44C6-2ABB62EAC2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B0234D3-2741-495F-49F3-6AF75D5C1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2833-C7A1-49C0-05D8-757A4189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4E505-AADA-C44E-A854-0B4C345F6AC8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82083-8D8C-9A70-4034-F4736FAA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881E0-CF8A-8DEE-090F-1D6716C6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EB106-8BA5-6C4C-BC1E-E066E766A8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59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E9D3F-0107-D5A6-58E8-8621F106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9BBE2-8F49-2141-A59E-FA200B37058B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E91D0-DDE8-B0E1-3A90-3A68310B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5D3B-9CD3-3085-428F-A092CB2B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AFC59-E555-974D-B617-9E1B3D0BBB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25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D3CFE-56F3-ECA1-8770-B3B1ED2B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E1283-4B06-B549-8820-41032702CEDE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E0A48-0E27-233A-9962-9FC899AB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590ED-C90E-BC04-8451-5E987EBB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056AF-A960-6049-BFAC-F02066C205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03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0AD56A-BE70-469A-A2D7-0B097E7B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DDE6E-3D75-FE4B-8AAD-3B0FDDF68D73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3C6F44-B763-4CC0-A8A7-E20C1E27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B1655B-AFDA-57A4-8377-58BFC267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11FCA-6E9D-7042-A46B-60D1C95A54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05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9B282C2-C66E-8562-C594-53A57EF4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A3A44-82AF-8742-9252-3155A2D648B9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A1C4BA9-E409-C6E5-0987-31E9318D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90C080-B105-0082-7CC3-07166CBB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D29F0-0108-1B47-9C89-4C36C586CB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73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73396A-88CA-D0DB-87FC-D0DDAC6E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3E693-38F7-DD4C-A2D3-E39172F5604E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AE2701D-7BB2-DF7B-5903-C519F2BB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8CFA2F-EB5C-2AAC-C62B-217AD61B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0A5B5-29DB-1848-A59F-764FD18430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40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90B102F-4BFA-643F-76A9-612053D9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0932-91EC-6E4D-AF06-EBF6D64CDD66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EE804D-079B-900D-C93A-D9EFA77C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E6A46F-93C5-A452-8902-F1C5313F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BB75A-BC31-3545-9B2E-6B3D50A4CF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72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CFB2D1-8101-68BC-92F8-80750A9B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6B199-65CB-1248-9FC7-AAA75DBD95C2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CAAC72-43F0-4997-0323-4766CE09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3D69A9-56D9-EEA4-9724-B2AABB91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12E72-6C1B-D644-B290-4B160ED20E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44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6F6FA3-E039-CABC-1D35-ED3CABDD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54236-0E1E-5748-8AC0-A52ADA5EE6E2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5F1AC1F-9D54-9ED0-A90C-6C2083182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9866493-E5D4-CF8C-4707-83313137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43DF8-8E1C-C647-A70D-83E693145E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311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A5FF-B096-21C5-8EC9-73E86D54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60D76-00FD-5B40-8406-43097BA95217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486B7-C552-562A-25F5-ACE44708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D87BA-17B9-FE89-1F51-A9EFD528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1EE49-4AEC-2B40-B0A1-F88682C27C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13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22D1-15BA-537F-430D-8F7D3BDC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ED0C1-9A60-7544-B214-389E1E99EC8B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66410-7C82-C873-AB93-42A36DFF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0423-72A0-8D1A-5065-AEB7507C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629A0-2C04-5448-9DCD-AEE7FC1A23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692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9CFBC04-3AB7-72CF-F080-03ACD2F983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121E83A-B830-62A6-F516-56E4B8EDBC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BC87-E95C-941F-014E-998032AEE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3114D766-EA48-444C-A229-8586A85CE075}" type="datetime1">
              <a:rPr lang="en-US"/>
              <a:pPr>
                <a:defRPr/>
              </a:pPr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63298-CCD5-CD21-50CC-CBF75733B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CB817-DC64-C4E4-C43A-2B9BE86EF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3DA09D5-450D-5848-9F4B-BB5FF7FEA4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RangaBU/EE445-645-Spr2026/blob/main/C4-P1-Uncollided-RT.p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bu.edu/cliveg/files/2026/03/C4-P2-SOS_RT_canopy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RangaBU/EE445-645-Spr2026/blob/main/C4-P2-SOS_RT_canopy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CEF6017A-E7F1-187B-0EB9-86372B9F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4D00F81-2EBC-D966-A718-673C59F2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2C9E849-4C6F-4749-8F2B-0A4F4F3DA41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600126A2-5299-7055-7CC6-C3C64342D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304" y="1391331"/>
            <a:ext cx="5556250" cy="388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into Uncollided and Collided Problems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Uncollided Problem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Successive Orders of Scattering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First-Collision Problem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the First-Collision Problem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Description of the Solution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Order Collision Problems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  <a:p>
            <a:pPr marL="285750" indent="-285750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Concluding Remarks</a:t>
            </a:r>
          </a:p>
          <a:p>
            <a:pPr marL="285750" indent="-285750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57A2-0BEB-6DE1-7F7C-25C381DF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CD01759-6096-73BE-AEAA-D933A4D7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34A5B64-B1A9-800E-8165-315861B9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2C9E849-4C6F-4749-8F2B-0A4F4F3DA41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8E5298CD-8C64-0B9E-FFFD-67AF54FD7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8953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into Collided and Uncollided Problems</a:t>
            </a: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90739632-43F7-D1CD-3960-111A219FC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1589088"/>
            <a:ext cx="8850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uncollided radiation field from the collided field</a:t>
            </a:r>
          </a:p>
        </p:txBody>
      </p:sp>
      <p:pic>
        <p:nvPicPr>
          <p:cNvPr id="14341" name="Picture 4">
            <a:extLst>
              <a:ext uri="{FF2B5EF4-FFF2-40B4-BE49-F238E27FC236}">
                <a16:creationId xmlns:a16="http://schemas.microsoft.com/office/drawing/2014/main" id="{45EAAC68-8115-2DAA-BB0A-2BD56FF07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525" y="2198688"/>
            <a:ext cx="259397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5">
            <a:extLst>
              <a:ext uri="{FF2B5EF4-FFF2-40B4-BE49-F238E27FC236}">
                <a16:creationId xmlns:a16="http://schemas.microsoft.com/office/drawing/2014/main" id="{BA452CC6-143A-3A74-68EB-979478EB2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868613"/>
            <a:ext cx="8850313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I</a:t>
            </a:r>
            <a:r>
              <a:rPr lang="en-US" altLang="en-US" sz="1800" baseline="30000"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</a:t>
            </a:r>
            <a:r>
              <a:rPr lang="en-US" altLang="en-US" sz="1800">
                <a:latin typeface="Times New Roman" panose="02020603050405020304" pitchFamily="18" charset="0"/>
              </a:rPr>
              <a:t> photons and I</a:t>
            </a:r>
            <a:r>
              <a:rPr lang="en-US" altLang="en-US" sz="1800" baseline="30000">
                <a:latin typeface="Times New Roman" panose="02020603050405020304" pitchFamily="18" charset="0"/>
              </a:rPr>
              <a:t>C</a:t>
            </a:r>
            <a:r>
              <a:rPr lang="en-US" altLang="en-US" sz="1800">
                <a:latin typeface="Times New Roman" panose="02020603050405020304" pitchFamily="18" charset="0"/>
              </a:rPr>
              <a:t> is the specific intensity of photons which experienced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collisions </a:t>
            </a:r>
            <a:r>
              <a:rPr lang="en-US" altLang="en-US" sz="1800">
                <a:latin typeface="Times New Roman" panose="02020603050405020304" pitchFamily="18" charset="0"/>
              </a:rPr>
              <a:t>with elements of the host medium.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Thus, 1D boundary value problem can be split in to an (see Part 01)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Uncollided problem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Collided problem</a:t>
            </a:r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81CCA2D0-5CAE-BB02-5DD1-8A7E687BE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5310188"/>
            <a:ext cx="8848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uncollided problem can be </a:t>
            </a:r>
            <a:r>
              <a:rPr lang="en-US" altLang="en-US" sz="180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analytically. That means </a:t>
            </a:r>
            <a:r>
              <a:rPr lang="en-US" altLang="en-US" sz="180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know </a:t>
            </a:r>
            <a:r>
              <a:rPr lang="en-US" altLang="en-US" sz="1800">
                <a:solidFill>
                  <a:srgbClr val="1425F4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solidFill>
                  <a:srgbClr val="1425F4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sz="1800">
                <a:latin typeface="Times New Roman" panose="02020603050405020304" pitchFamily="18" charset="0"/>
              </a:rPr>
              <a:t>at any depth L (between 0 and L</a:t>
            </a:r>
            <a:r>
              <a:rPr lang="en-US" altLang="en-US" sz="1800" baseline="-25000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</a:rPr>
              <a:t>) and for all directions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(see previous lecture C4-P1).</a:t>
            </a:r>
          </a:p>
        </p:txBody>
      </p:sp>
    </p:spTree>
    <p:extLst>
      <p:ext uri="{BB962C8B-B14F-4D97-AF65-F5344CB8AC3E}">
        <p14:creationId xmlns:p14="http://schemas.microsoft.com/office/powerpoint/2010/main" val="388943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3A1E-307D-9D25-22E8-EF24A8A3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ED25A35E-3B3A-4A4E-6E96-276D89ADC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09" y="1034776"/>
            <a:ext cx="8870179" cy="4270147"/>
          </a:xfrm>
          <a:prstGeom prst="rect">
            <a:avLst/>
          </a:prstGeom>
        </p:spPr>
      </p:pic>
      <p:sp>
        <p:nvSpPr>
          <p:cNvPr id="45057" name="Rectangle 2">
            <a:extLst>
              <a:ext uri="{FF2B5EF4-FFF2-40B4-BE49-F238E27FC236}">
                <a16:creationId xmlns:a16="http://schemas.microsoft.com/office/drawing/2014/main" id="{F0E235B1-7EF8-4F8C-2FCB-F53E8BB2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A1102F9-62D0-A66F-CD74-6D144F57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0A2DB7F2-F02E-1522-E263-BFB9CC65C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47C89-1712-67CA-ADDA-0FE40ECE3A9B}"/>
              </a:ext>
            </a:extLst>
          </p:cNvPr>
          <p:cNvSpPr txBox="1"/>
          <p:nvPr/>
        </p:nvSpPr>
        <p:spPr>
          <a:xfrm>
            <a:off x="451352" y="6025762"/>
            <a:ext cx="8241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will be the Fig. 04 in your report. Download the code </a:t>
            </a:r>
            <a:r>
              <a:rPr lang="en-US" dirty="0">
                <a:solidFill>
                  <a:schemeClr val="tx1"/>
                </a:solidFill>
                <a:hlinkClick r:id="rId4"/>
              </a:rPr>
              <a:t>C4-P1-Uncollided-RT.py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to help you with this figure and the next.</a:t>
            </a:r>
          </a:p>
        </p:txBody>
      </p:sp>
    </p:spTree>
    <p:extLst>
      <p:ext uri="{BB962C8B-B14F-4D97-AF65-F5344CB8AC3E}">
        <p14:creationId xmlns:p14="http://schemas.microsoft.com/office/powerpoint/2010/main" val="550913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115E-5E41-FD63-D361-A2A88E94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F5CB84DA-59F5-AEFF-B7AC-4ECB32FA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1B7F063-814E-E204-02EE-B847A7BC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C406B37B-896B-3910-A13E-FCCEC6A1C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5" name="Picture 4" descr="A graph of different types of curves&#10;&#10;AI-generated content may be incorrect.">
            <a:extLst>
              <a:ext uri="{FF2B5EF4-FFF2-40B4-BE49-F238E27FC236}">
                <a16:creationId xmlns:a16="http://schemas.microsoft.com/office/drawing/2014/main" id="{0271A0A2-51F0-CDBD-5E3D-E4618C562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4" y="1222409"/>
            <a:ext cx="9004106" cy="4334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21FA7C-1BEC-DC6F-591E-6632B618C471}"/>
              </a:ext>
            </a:extLst>
          </p:cNvPr>
          <p:cNvSpPr txBox="1"/>
          <p:nvPr/>
        </p:nvSpPr>
        <p:spPr>
          <a:xfrm>
            <a:off x="3514529" y="6025762"/>
            <a:ext cx="27167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will be the Fig. 05 in your report. </a:t>
            </a:r>
          </a:p>
        </p:txBody>
      </p:sp>
    </p:spTree>
    <p:extLst>
      <p:ext uri="{BB962C8B-B14F-4D97-AF65-F5344CB8AC3E}">
        <p14:creationId xmlns:p14="http://schemas.microsoft.com/office/powerpoint/2010/main" val="186891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C215C8F-24EF-86C0-0315-88B4CFBE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FFE3E70-524E-FC64-8C75-8B1F64C4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B3EB2BB-104F-1F40-B0BB-31AD110F8D5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CFC00032-9183-F8DE-96F2-6A0CF8201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558E8ECA-380B-327C-6E7F-34806E2F8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195388"/>
            <a:ext cx="7904162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5">
            <a:extLst>
              <a:ext uri="{FF2B5EF4-FFF2-40B4-BE49-F238E27FC236}">
                <a16:creationId xmlns:a16="http://schemas.microsoft.com/office/drawing/2014/main" id="{3ED37535-49AD-7A76-B563-4B94BDB8E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2959100"/>
            <a:ext cx="6302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where Q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first collision source </a:t>
            </a:r>
            <a:r>
              <a:rPr lang="en-US" altLang="en-US" sz="1800">
                <a:latin typeface="Times New Roman" panose="02020603050405020304" pitchFamily="18" charset="0"/>
              </a:rPr>
              <a:t>(known because </a:t>
            </a:r>
            <a:r>
              <a:rPr lang="en-US" altLang="en-US" sz="1800">
                <a:solidFill>
                  <a:srgbClr val="2A1CF4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solidFill>
                  <a:srgbClr val="2A1CF4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2A1CF4"/>
                </a:solidFill>
                <a:latin typeface="Times New Roman" panose="02020603050405020304" pitchFamily="18" charset="0"/>
              </a:rPr>
              <a:t> is known</a:t>
            </a:r>
            <a:r>
              <a:rPr lang="en-US" altLang="en-US" sz="1800">
                <a:latin typeface="Times New Roman" panose="02020603050405020304" pitchFamily="18" charset="0"/>
              </a:rPr>
              <a:t>),</a:t>
            </a:r>
          </a:p>
        </p:txBody>
      </p:sp>
      <p:pic>
        <p:nvPicPr>
          <p:cNvPr id="16390" name="Picture 7">
            <a:extLst>
              <a:ext uri="{FF2B5EF4-FFF2-40B4-BE49-F238E27FC236}">
                <a16:creationId xmlns:a16="http://schemas.microsoft.com/office/drawing/2014/main" id="{F040E607-88CF-53CA-D4F6-C610DFA1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3433763"/>
            <a:ext cx="38735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Box 10">
            <a:extLst>
              <a:ext uri="{FF2B5EF4-FFF2-40B4-BE49-F238E27FC236}">
                <a16:creationId xmlns:a16="http://schemas.microsoft.com/office/drawing/2014/main" id="{C222DCCE-253F-4313-C42B-7B0A7634B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264025"/>
            <a:ext cx="4852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and S is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</a:rPr>
              <a:t>distributed (multiple-collision) source</a:t>
            </a:r>
            <a:r>
              <a:rPr lang="en-US" altLang="en-US" sz="1800">
                <a:latin typeface="Times New Roman" panose="02020603050405020304" pitchFamily="18" charset="0"/>
              </a:rPr>
              <a:t>,</a:t>
            </a:r>
          </a:p>
        </p:txBody>
      </p:sp>
      <p:pic>
        <p:nvPicPr>
          <p:cNvPr id="16392" name="Picture 9">
            <a:extLst>
              <a:ext uri="{FF2B5EF4-FFF2-40B4-BE49-F238E27FC236}">
                <a16:creationId xmlns:a16="http://schemas.microsoft.com/office/drawing/2014/main" id="{50A798CD-ABDA-55D7-39A8-5829137AC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4686300"/>
            <a:ext cx="4094162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TextBox 9">
            <a:extLst>
              <a:ext uri="{FF2B5EF4-FFF2-40B4-BE49-F238E27FC236}">
                <a16:creationId xmlns:a16="http://schemas.microsoft.com/office/drawing/2014/main" id="{C22C1F97-2EE2-D376-D3DD-1B24B962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719763"/>
            <a:ext cx="8848725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collided problem </a:t>
            </a:r>
            <a:r>
              <a:rPr lang="en-US" altLang="en-US" sz="1800">
                <a:solidFill>
                  <a:srgbClr val="2A1C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be solved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analytically because the unknown collision intensity is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on both sides of the equation. So, we resort to numerical solutions that involve some sort of </a:t>
            </a:r>
            <a:r>
              <a:rPr lang="en-US" altLang="en-US" sz="180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E01D96A-E5C0-E061-3F17-A12CD848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DB8A167-79B8-33B4-7F05-AC0B18F1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7A5E09D-74AF-F24F-949C-9C6124FB016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402B4B48-38A1-394B-E533-84F241FC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Successive Orders Approximation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33AA6-A968-9DCC-D7F4-ABC6DB3B3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401763"/>
            <a:ext cx="8848725" cy="46910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such approximation involves splitting the collided intensity into </a:t>
            </a:r>
            <a:r>
              <a:rPr lang="en-US" altLang="en-US" sz="1800" dirty="0">
                <a:solidFill>
                  <a:srgbClr val="2A1C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successive orders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scattering intensities, that is,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…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is intensity of </a:t>
            </a:r>
            <a:r>
              <a:rPr lang="en-US" altLang="en-US" sz="1800" dirty="0">
                <a:solidFill>
                  <a:srgbClr val="2529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once-scattered photons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is intensity of </a:t>
            </a:r>
            <a:r>
              <a:rPr lang="en-US" altLang="en-US" sz="1800" dirty="0">
                <a:solidFill>
                  <a:srgbClr val="2529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twice-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solidFill>
                  <a:srgbClr val="2529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scattered photons </a:t>
            </a: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so on …</a:t>
            </a:r>
          </a:p>
          <a:p>
            <a:pPr>
              <a:defRPr/>
            </a:pP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Inserting the above into the RTE for collided Intensity (Slide 4), gives ”n” RT problems with appropriate boundary conditions. </a:t>
            </a:r>
          </a:p>
          <a:p>
            <a:pPr>
              <a:defRPr/>
            </a:pP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now solve each of them and add the solutions to get the </a:t>
            </a:r>
            <a:r>
              <a:rPr lang="en-US" sz="1800" dirty="0">
                <a:solidFill>
                  <a:srgbClr val="2529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total collided intensity</a:t>
            </a: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800" dirty="0">
                <a:solidFill>
                  <a:srgbClr val="2529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/>
            </a:pP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Let us start with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85FB8A0-34DF-1F82-72DF-F4E4E2D2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AED4C1E-986C-0F5D-E830-F25B1B68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036CAD4-AACA-3A46-953F-0F9C431C262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53067F87-97F8-72BB-4C01-E96F11129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6CA77-DEA1-A5FF-F140-017FE9DF8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285875"/>
            <a:ext cx="88487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problem is, </a:t>
            </a: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32B475FB-8205-F38D-1BA2-458A4C750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2609850"/>
            <a:ext cx="2127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(L=0,</a:t>
            </a:r>
            <a:r>
              <a:rPr lang="el-GR" altLang="en-US" sz="1800" u="sng">
                <a:latin typeface="Times New Roman" panose="02020603050405020304" pitchFamily="18" charset="0"/>
              </a:rPr>
              <a:t>Ω</a:t>
            </a:r>
            <a:r>
              <a:rPr lang="el-GR" altLang="en-US" sz="1800">
                <a:latin typeface="Times New Roman" panose="02020603050405020304" pitchFamily="18" charset="0"/>
              </a:rPr>
              <a:t>) = 0, μ &lt;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CBA55-BDCC-E391-F167-8AABAABB4BE1}"/>
              </a:ext>
            </a:extLst>
          </p:cNvPr>
          <p:cNvSpPr txBox="1"/>
          <p:nvPr/>
        </p:nvSpPr>
        <p:spPr>
          <a:xfrm>
            <a:off x="1020763" y="1928813"/>
            <a:ext cx="661352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- </a:t>
            </a:r>
            <a:r>
              <a:rPr lang="el-GR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μ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chemeClr val="tx1"/>
                </a:solidFill>
              </a:rPr>
              <a:t>∂/ ∂L) I</a:t>
            </a:r>
            <a:r>
              <a:rPr lang="en-US" sz="1800" baseline="3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+ G(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 = 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l-GR" sz="1800" dirty="0">
                <a:solidFill>
                  <a:schemeClr val="tx1"/>
                </a:solidFill>
              </a:rPr>
              <a:t> 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Γ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</a:t>
            </a:r>
            <a:r>
              <a:rPr lang="en-US" sz="1800" baseline="30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487" name="TextBox 4">
            <a:extLst>
              <a:ext uri="{FF2B5EF4-FFF2-40B4-BE49-F238E27FC236}">
                <a16:creationId xmlns:a16="http://schemas.microsoft.com/office/drawing/2014/main" id="{02C22292-BA5D-ACA8-B551-A3D6B621A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2143125"/>
            <a:ext cx="3651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65CFC-3F88-6801-347B-BB94DF2592C3}"/>
              </a:ext>
            </a:extLst>
          </p:cNvPr>
          <p:cNvSpPr txBox="1"/>
          <p:nvPr/>
        </p:nvSpPr>
        <p:spPr>
          <a:xfrm>
            <a:off x="1881188" y="3159125"/>
            <a:ext cx="58118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sz="1800" dirty="0">
                <a:solidFill>
                  <a:schemeClr val="tx1"/>
                </a:solidFill>
              </a:rPr>
              <a:t>) = 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l-GR" sz="1800" dirty="0">
                <a:solidFill>
                  <a:schemeClr val="tx1"/>
                </a:solidFill>
              </a:rPr>
              <a:t>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ρ</a:t>
            </a:r>
            <a:r>
              <a:rPr lang="en-US" sz="1800" baseline="-25000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|</a:t>
            </a:r>
            <a:r>
              <a:rPr lang="el-GR" sz="1800" dirty="0">
                <a:solidFill>
                  <a:schemeClr val="tx1"/>
                </a:solidFill>
              </a:rPr>
              <a:t>μ’</a:t>
            </a:r>
            <a:r>
              <a:rPr lang="en-US" sz="1800" dirty="0">
                <a:solidFill>
                  <a:schemeClr val="tx1"/>
                </a:solidFill>
              </a:rPr>
              <a:t>| I</a:t>
            </a:r>
            <a:r>
              <a:rPr lang="en-US" sz="1800" baseline="3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</a:t>
            </a:r>
            <a:r>
              <a:rPr lang="en-US" sz="1800" dirty="0">
                <a:solidFill>
                  <a:schemeClr val="tx1"/>
                </a:solidFill>
              </a:rPr>
              <a:t> , </a:t>
            </a:r>
            <a:r>
              <a:rPr lang="el-GR" sz="1800" dirty="0">
                <a:solidFill>
                  <a:schemeClr val="tx1"/>
                </a:solidFill>
              </a:rPr>
              <a:t>μ </a:t>
            </a:r>
            <a:r>
              <a:rPr lang="en-US" sz="1800" dirty="0">
                <a:solidFill>
                  <a:schemeClr val="tx1"/>
                </a:solidFill>
              </a:rPr>
              <a:t>&gt;</a:t>
            </a:r>
            <a:r>
              <a:rPr lang="el-GR" sz="1800" dirty="0">
                <a:solidFill>
                  <a:schemeClr val="tx1"/>
                </a:solidFill>
              </a:rPr>
              <a:t> 0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0489" name="TextBox 10">
            <a:extLst>
              <a:ext uri="{FF2B5EF4-FFF2-40B4-BE49-F238E27FC236}">
                <a16:creationId xmlns:a16="http://schemas.microsoft.com/office/drawing/2014/main" id="{4289AF3F-2FC6-DF41-5133-06E25F795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263" y="3416300"/>
            <a:ext cx="404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r>
              <a:rPr lang="en-US" altLang="en-US" sz="1400" baseline="300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57631A-B7C1-7373-B791-80F345231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962400"/>
            <a:ext cx="8848725" cy="923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of the RTE is our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 collision source term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which can be evaluated because we have already solved for the </a:t>
            </a:r>
            <a:r>
              <a:rPr lang="en-US" altLang="en-US" sz="1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uncollided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intensity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 The </a:t>
            </a:r>
            <a:r>
              <a:rPr lang="en-US" altLang="en-US" sz="1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pde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for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has an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analytical solution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</p:txBody>
      </p:sp>
      <p:pic>
        <p:nvPicPr>
          <p:cNvPr id="20491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CE6C9EB-57E3-68E3-2259-ACCECE56A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5008563"/>
            <a:ext cx="76358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C5F0DDF-22C9-87AB-6F2C-FE9F135C8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7D6D3-BAC8-6BA5-A7E6-99EB9993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0A7748F-2884-EE42-A219-C056764920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9173F6BC-6B6D-BC01-4450-1FA0DBA1E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0951D-098D-2991-5277-B8E08E0E1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293813"/>
            <a:ext cx="88487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for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is,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F5C9A-DF89-0CF6-8343-82EC756A3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292475"/>
            <a:ext cx="88487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</a:p>
        </p:txBody>
      </p:sp>
      <p:pic>
        <p:nvPicPr>
          <p:cNvPr id="22534" name="Picture 9">
            <a:extLst>
              <a:ext uri="{FF2B5EF4-FFF2-40B4-BE49-F238E27FC236}">
                <a16:creationId xmlns:a16="http://schemas.microsoft.com/office/drawing/2014/main" id="{5D4E86C7-8101-B844-3530-44135586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3660775"/>
            <a:ext cx="394335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Box 7">
            <a:extLst>
              <a:ext uri="{FF2B5EF4-FFF2-40B4-BE49-F238E27FC236}">
                <a16:creationId xmlns:a16="http://schemas.microsoft.com/office/drawing/2014/main" id="{F3F41C6B-1849-71C6-0C7F-97C4E0DAC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648200"/>
            <a:ext cx="8848725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denotes the </a:t>
            </a:r>
            <a:r>
              <a:rPr lang="en-US" altLang="en-US" sz="1800">
                <a:solidFill>
                  <a:srgbClr val="1B2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photons not experiencing collisions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while traveling along </a:t>
            </a: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between depth L1 and L2 (L2 &gt; L1).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weakly scattering media (e.g. single scattering albedo less than 0.1), a single scattering approximation may suffice.</a:t>
            </a:r>
          </a:p>
        </p:txBody>
      </p:sp>
      <p:sp>
        <p:nvSpPr>
          <p:cNvPr id="22536" name="TextBox 2">
            <a:extLst>
              <a:ext uri="{FF2B5EF4-FFF2-40B4-BE49-F238E27FC236}">
                <a16:creationId xmlns:a16="http://schemas.microsoft.com/office/drawing/2014/main" id="{B0279AA1-2A2E-73A2-8D39-F033DB6B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2624138"/>
            <a:ext cx="22717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+ I</a:t>
            </a:r>
            <a:r>
              <a:rPr lang="en-US" altLang="en-US" sz="1600" baseline="30000">
                <a:latin typeface="Times New Roman" panose="02020603050405020304" pitchFamily="18" charset="0"/>
              </a:rPr>
              <a:t>1</a:t>
            </a:r>
            <a:r>
              <a:rPr lang="en-US" altLang="en-US" sz="1600">
                <a:latin typeface="Times New Roman" panose="02020603050405020304" pitchFamily="18" charset="0"/>
              </a:rPr>
              <a:t>(L</a:t>
            </a:r>
            <a:r>
              <a:rPr lang="en-US" altLang="en-US" sz="1600" baseline="-25000">
                <a:latin typeface="Times New Roman" panose="02020603050405020304" pitchFamily="18" charset="0"/>
              </a:rPr>
              <a:t>H</a:t>
            </a:r>
            <a:r>
              <a:rPr lang="en-US" altLang="en-US" sz="1600">
                <a:latin typeface="Times New Roman" panose="02020603050405020304" pitchFamily="18" charset="0"/>
              </a:rPr>
              <a:t>,</a:t>
            </a:r>
            <a:r>
              <a:rPr lang="el-GR" altLang="en-US" sz="1600" u="sng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600">
                <a:latin typeface="Times New Roman" panose="02020603050405020304" pitchFamily="18" charset="0"/>
              </a:rPr>
              <a:t>) P[</a:t>
            </a:r>
            <a:r>
              <a:rPr lang="el-GR" altLang="en-US" sz="16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600">
                <a:latin typeface="Times New Roman" panose="02020603050405020304" pitchFamily="18" charset="0"/>
              </a:rPr>
              <a:t>,(L</a:t>
            </a:r>
            <a:r>
              <a:rPr lang="en-US" altLang="en-US" sz="1600" baseline="-25000">
                <a:latin typeface="Times New Roman" panose="02020603050405020304" pitchFamily="18" charset="0"/>
              </a:rPr>
              <a:t>H</a:t>
            </a:r>
            <a:r>
              <a:rPr lang="en-US" altLang="en-US" sz="1600">
                <a:latin typeface="Times New Roman" panose="02020603050405020304" pitchFamily="18" charset="0"/>
              </a:rPr>
              <a:t>-L)], </a:t>
            </a:r>
          </a:p>
        </p:txBody>
      </p:sp>
      <p:pic>
        <p:nvPicPr>
          <p:cNvPr id="22537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E403543-973B-5CF6-BD77-BD9DE5DC9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744663"/>
            <a:ext cx="4529138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2F3BB805-1AE2-7EC7-85DA-2E002061C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22525"/>
            <a:ext cx="3784600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FFC7F7E-E498-7357-6F1F-807E62A87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2632075"/>
            <a:ext cx="7493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77247C83-1D4F-1ABF-EEE7-CDE42138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A80A2FA-DA8A-0173-5290-09BA71CD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E9F431E-B9DD-F845-B54A-0BB316EC3CF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0F6D2022-C68E-4A2A-7070-B6D778D35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4C0DD-1C39-A60A-3BD0-12221C542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293813"/>
            <a:ext cx="88487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solidFill>
                  <a:srgbClr val="2A1C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for downward directions is evaluated as, </a:t>
            </a:r>
          </a:p>
        </p:txBody>
      </p:sp>
      <p:pic>
        <p:nvPicPr>
          <p:cNvPr id="24581" name="Picture 3">
            <a:extLst>
              <a:ext uri="{FF2B5EF4-FFF2-40B4-BE49-F238E27FC236}">
                <a16:creationId xmlns:a16="http://schemas.microsoft.com/office/drawing/2014/main" id="{C10FA209-F192-CAE2-8586-7DE4ACA43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1793875"/>
            <a:ext cx="5083175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1AD4079-C113-2678-30B3-DC6D07DF204B}"/>
              </a:ext>
            </a:extLst>
          </p:cNvPr>
          <p:cNvSpPr/>
          <p:nvPr/>
        </p:nvSpPr>
        <p:spPr>
          <a:xfrm>
            <a:off x="3375025" y="3027363"/>
            <a:ext cx="61913" cy="7143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482F86-B6B0-997D-880C-BCDF75D80681}"/>
              </a:ext>
            </a:extLst>
          </p:cNvPr>
          <p:cNvSpPr/>
          <p:nvPr/>
        </p:nvSpPr>
        <p:spPr>
          <a:xfrm>
            <a:off x="5189538" y="4440238"/>
            <a:ext cx="61912" cy="7143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4" name="TextBox 25">
            <a:extLst>
              <a:ext uri="{FF2B5EF4-FFF2-40B4-BE49-F238E27FC236}">
                <a16:creationId xmlns:a16="http://schemas.microsoft.com/office/drawing/2014/main" id="{16EF6B96-34DB-DE55-1221-8396951DB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675" y="4208463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180D0-748F-4C74-AB6F-D90747F77B8B}"/>
              </a:ext>
            </a:extLst>
          </p:cNvPr>
          <p:cNvSpPr/>
          <p:nvPr/>
        </p:nvSpPr>
        <p:spPr>
          <a:xfrm>
            <a:off x="5461000" y="4676775"/>
            <a:ext cx="37623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10AE3D-201A-EC6F-8842-9BDB6A924DCB}"/>
              </a:ext>
            </a:extLst>
          </p:cNvPr>
          <p:cNvCxnSpPr/>
          <p:nvPr/>
        </p:nvCxnSpPr>
        <p:spPr>
          <a:xfrm flipV="1">
            <a:off x="4187825" y="3630613"/>
            <a:ext cx="111125" cy="133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2C9770-353A-995F-0424-3E39D0C53974}"/>
              </a:ext>
            </a:extLst>
          </p:cNvPr>
          <p:cNvCxnSpPr/>
          <p:nvPr/>
        </p:nvCxnSpPr>
        <p:spPr>
          <a:xfrm>
            <a:off x="4160838" y="3825875"/>
            <a:ext cx="1008062" cy="747713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8" name="TextBox 35">
            <a:extLst>
              <a:ext uri="{FF2B5EF4-FFF2-40B4-BE49-F238E27FC236}">
                <a16:creationId xmlns:a16="http://schemas.microsoft.com/office/drawing/2014/main" id="{EBA2B9AA-215F-3205-E857-9A448D096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4164013"/>
            <a:ext cx="646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L-L’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855AA0-F8DB-F74E-5874-F8DB140A951C}"/>
              </a:ext>
            </a:extLst>
          </p:cNvPr>
          <p:cNvCxnSpPr/>
          <p:nvPr/>
        </p:nvCxnSpPr>
        <p:spPr>
          <a:xfrm>
            <a:off x="1874838" y="3071813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5009BA-D3EB-834D-2BDD-09A5AD2DBB23}"/>
              </a:ext>
            </a:extLst>
          </p:cNvPr>
          <p:cNvCxnSpPr/>
          <p:nvPr/>
        </p:nvCxnSpPr>
        <p:spPr>
          <a:xfrm>
            <a:off x="1852613" y="5657850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D19C70-F12E-18E5-5DDF-513655F81CB7}"/>
              </a:ext>
            </a:extLst>
          </p:cNvPr>
          <p:cNvCxnSpPr>
            <a:cxnSpLocks/>
          </p:cNvCxnSpPr>
          <p:nvPr/>
        </p:nvCxnSpPr>
        <p:spPr>
          <a:xfrm>
            <a:off x="3402013" y="3063875"/>
            <a:ext cx="2174875" cy="1704975"/>
          </a:xfrm>
          <a:prstGeom prst="straightConnector1">
            <a:avLst/>
          </a:prstGeom>
          <a:ln w="38100">
            <a:solidFill>
              <a:srgbClr val="2529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401FEBF-BA51-C087-5F68-0D4A5925AB75}"/>
              </a:ext>
            </a:extLst>
          </p:cNvPr>
          <p:cNvSpPr/>
          <p:nvPr/>
        </p:nvSpPr>
        <p:spPr>
          <a:xfrm>
            <a:off x="5975350" y="4173538"/>
            <a:ext cx="10652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</a:t>
            </a:r>
            <a:r>
              <a:rPr lang="en-US" altLang="en-US" sz="20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(L,</a:t>
            </a:r>
            <a:r>
              <a:rPr lang="en-US" alt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</a:t>
            </a:r>
            <a:endParaRPr lang="en-US" sz="20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168127F-2A31-2815-781D-1781E0286766}"/>
              </a:ext>
            </a:extLst>
          </p:cNvPr>
          <p:cNvSpPr/>
          <p:nvPr/>
        </p:nvSpPr>
        <p:spPr>
          <a:xfrm rot="7086098" flipH="1" flipV="1">
            <a:off x="4136232" y="3686969"/>
            <a:ext cx="158750" cy="10318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94" name="TextBox 31">
            <a:extLst>
              <a:ext uri="{FF2B5EF4-FFF2-40B4-BE49-F238E27FC236}">
                <a16:creationId xmlns:a16="http://schemas.microsoft.com/office/drawing/2014/main" id="{2C71B9B0-A06E-82ED-1754-EE62F76FD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2852738"/>
            <a:ext cx="733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3F35B-59D4-660A-B7E5-91E8F917EC7E}"/>
              </a:ext>
            </a:extLst>
          </p:cNvPr>
          <p:cNvSpPr/>
          <p:nvPr/>
        </p:nvSpPr>
        <p:spPr>
          <a:xfrm>
            <a:off x="3187700" y="3511550"/>
            <a:ext cx="931863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(L’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596" name="TextBox 25">
            <a:extLst>
              <a:ext uri="{FF2B5EF4-FFF2-40B4-BE49-F238E27FC236}">
                <a16:creationId xmlns:a16="http://schemas.microsoft.com/office/drawing/2014/main" id="{79EAFBD3-92FD-1323-FDBA-400E335B7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238" y="3436938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L’</a:t>
            </a:r>
          </a:p>
        </p:txBody>
      </p:sp>
      <p:pic>
        <p:nvPicPr>
          <p:cNvPr id="24597" name="Picture 9">
            <a:extLst>
              <a:ext uri="{FF2B5EF4-FFF2-40B4-BE49-F238E27FC236}">
                <a16:creationId xmlns:a16="http://schemas.microsoft.com/office/drawing/2014/main" id="{E11BB8DD-0257-D973-4326-16568A6CF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753100"/>
            <a:ext cx="375761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5D0CD20-A758-BC67-9D9E-5CCD8F1A3723}"/>
              </a:ext>
            </a:extLst>
          </p:cNvPr>
          <p:cNvSpPr txBox="1"/>
          <p:nvPr/>
        </p:nvSpPr>
        <p:spPr>
          <a:xfrm>
            <a:off x="4665663" y="5975350"/>
            <a:ext cx="41338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 = 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l-GR" sz="1800" dirty="0">
                <a:solidFill>
                  <a:schemeClr val="tx1"/>
                </a:solidFill>
              </a:rPr>
              <a:t> 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Γ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</a:t>
            </a:r>
            <a:r>
              <a:rPr lang="en-US" sz="1800" baseline="30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006CFF4-02BE-F764-9F7F-1DA72093601C}"/>
              </a:ext>
            </a:extLst>
          </p:cNvPr>
          <p:cNvCxnSpPr/>
          <p:nvPr/>
        </p:nvCxnSpPr>
        <p:spPr>
          <a:xfrm>
            <a:off x="1004888" y="3049588"/>
            <a:ext cx="0" cy="2628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0" name="TextBox 31">
            <a:extLst>
              <a:ext uri="{FF2B5EF4-FFF2-40B4-BE49-F238E27FC236}">
                <a16:creationId xmlns:a16="http://schemas.microsoft.com/office/drawing/2014/main" id="{9F1055A7-D7F9-87B0-DD64-49563B9F1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5419725"/>
            <a:ext cx="885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pic>
        <p:nvPicPr>
          <p:cNvPr id="24601" name="Picture 5">
            <a:extLst>
              <a:ext uri="{FF2B5EF4-FFF2-40B4-BE49-F238E27FC236}">
                <a16:creationId xmlns:a16="http://schemas.microsoft.com/office/drawing/2014/main" id="{D152B2CC-8E9A-D6D0-3C0C-5289A131C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0" y="6249988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7C7D5F67-962B-B158-AD10-59F6D471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0AFAF88-C4C5-C8FB-E71C-8D24DF9C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467D572-246F-424A-A800-C3FB0D1A980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D2CA9793-1522-8150-DAF5-0879E0853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D2DB3-BF56-DB21-91BC-F48837CE6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293813"/>
            <a:ext cx="8848725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solidFill>
                  <a:srgbClr val="2A1C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for upward directions is evaluated as,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B298B9-B2AC-7C13-FBDA-3A5C52F5C70D}"/>
              </a:ext>
            </a:extLst>
          </p:cNvPr>
          <p:cNvSpPr/>
          <p:nvPr/>
        </p:nvSpPr>
        <p:spPr>
          <a:xfrm flipV="1">
            <a:off x="3405188" y="5510213"/>
            <a:ext cx="61912" cy="666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3F5DBB-BA72-5933-FDA8-980DBE244C31}"/>
              </a:ext>
            </a:extLst>
          </p:cNvPr>
          <p:cNvSpPr/>
          <p:nvPr/>
        </p:nvSpPr>
        <p:spPr>
          <a:xfrm>
            <a:off x="5219700" y="4316413"/>
            <a:ext cx="61913" cy="7143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31" name="TextBox 25">
            <a:extLst>
              <a:ext uri="{FF2B5EF4-FFF2-40B4-BE49-F238E27FC236}">
                <a16:creationId xmlns:a16="http://schemas.microsoft.com/office/drawing/2014/main" id="{38EA520E-A6DF-B007-DBEA-1DCBD9992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4084638"/>
            <a:ext cx="341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6AA3BC-0320-3FB5-37C0-47744C484988}"/>
              </a:ext>
            </a:extLst>
          </p:cNvPr>
          <p:cNvSpPr/>
          <p:nvPr/>
        </p:nvSpPr>
        <p:spPr>
          <a:xfrm>
            <a:off x="5907088" y="3576638"/>
            <a:ext cx="3762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endParaRPr lang="en-US" sz="2000" dirty="0"/>
          </a:p>
        </p:txBody>
      </p:sp>
      <p:sp>
        <p:nvSpPr>
          <p:cNvPr id="26633" name="TextBox 35">
            <a:extLst>
              <a:ext uri="{FF2B5EF4-FFF2-40B4-BE49-F238E27FC236}">
                <a16:creationId xmlns:a16="http://schemas.microsoft.com/office/drawing/2014/main" id="{841F12E6-89B8-1176-FFCC-2451359B2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900" y="4075113"/>
            <a:ext cx="644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L’-L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C7307E-BF18-600B-1A36-72B98D73A872}"/>
              </a:ext>
            </a:extLst>
          </p:cNvPr>
          <p:cNvCxnSpPr/>
          <p:nvPr/>
        </p:nvCxnSpPr>
        <p:spPr>
          <a:xfrm>
            <a:off x="1738313" y="3043238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85FEFC-A03C-D793-4979-18F29C2E2661}"/>
              </a:ext>
            </a:extLst>
          </p:cNvPr>
          <p:cNvCxnSpPr/>
          <p:nvPr/>
        </p:nvCxnSpPr>
        <p:spPr>
          <a:xfrm>
            <a:off x="1882775" y="5534025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6C57B16-E66A-6945-DE09-BE0854910C9C}"/>
              </a:ext>
            </a:extLst>
          </p:cNvPr>
          <p:cNvSpPr/>
          <p:nvPr/>
        </p:nvSpPr>
        <p:spPr>
          <a:xfrm>
            <a:off x="5783263" y="4110038"/>
            <a:ext cx="1065212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I</a:t>
            </a:r>
            <a:r>
              <a:rPr lang="en-US" altLang="en-US" sz="20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(L,</a:t>
            </a:r>
            <a:r>
              <a:rPr lang="en-US" alt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en-US" sz="20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</a:t>
            </a:r>
            <a:endParaRPr lang="en-US" sz="2000" dirty="0"/>
          </a:p>
        </p:txBody>
      </p:sp>
      <p:sp>
        <p:nvSpPr>
          <p:cNvPr id="26637" name="TextBox 31">
            <a:extLst>
              <a:ext uri="{FF2B5EF4-FFF2-40B4-BE49-F238E27FC236}">
                <a16:creationId xmlns:a16="http://schemas.microsoft.com/office/drawing/2014/main" id="{3408CF32-CC46-7A71-D876-A6B0F3918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2843213"/>
            <a:ext cx="733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A48BD2-430D-5953-0542-FE0EC96C415B}"/>
              </a:ext>
            </a:extLst>
          </p:cNvPr>
          <p:cNvSpPr/>
          <p:nvPr/>
        </p:nvSpPr>
        <p:spPr>
          <a:xfrm>
            <a:off x="3248025" y="4725988"/>
            <a:ext cx="931863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(L’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6639" name="TextBox 25">
            <a:extLst>
              <a:ext uri="{FF2B5EF4-FFF2-40B4-BE49-F238E27FC236}">
                <a16:creationId xmlns:a16="http://schemas.microsoft.com/office/drawing/2014/main" id="{2E88588A-34FB-9CB1-1E49-5DF33D3B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175" y="4786313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2DD335-04EA-EC78-8BAA-4EE2BD247821}"/>
              </a:ext>
            </a:extLst>
          </p:cNvPr>
          <p:cNvSpPr txBox="1"/>
          <p:nvPr/>
        </p:nvSpPr>
        <p:spPr>
          <a:xfrm>
            <a:off x="4665663" y="5975350"/>
            <a:ext cx="41338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Q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 = 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l-GR" sz="1800" dirty="0">
                <a:solidFill>
                  <a:schemeClr val="tx1"/>
                </a:solidFill>
              </a:rPr>
              <a:t> 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Γ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</a:t>
            </a:r>
            <a:r>
              <a:rPr lang="en-US" sz="1800" baseline="30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31FE74-7231-6DD4-B9DF-E01414B60500}"/>
              </a:ext>
            </a:extLst>
          </p:cNvPr>
          <p:cNvCxnSpPr/>
          <p:nvPr/>
        </p:nvCxnSpPr>
        <p:spPr>
          <a:xfrm flipV="1">
            <a:off x="3405188" y="3917950"/>
            <a:ext cx="2532062" cy="1616075"/>
          </a:xfrm>
          <a:prstGeom prst="straightConnector1">
            <a:avLst/>
          </a:prstGeom>
          <a:ln w="38100">
            <a:solidFill>
              <a:srgbClr val="142A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368D6D9-CC84-4E04-3CA0-86BA52E01AD0}"/>
              </a:ext>
            </a:extLst>
          </p:cNvPr>
          <p:cNvSpPr/>
          <p:nvPr/>
        </p:nvSpPr>
        <p:spPr>
          <a:xfrm flipV="1">
            <a:off x="4259263" y="4919663"/>
            <a:ext cx="61912" cy="6667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6643" name="Picture 9">
            <a:extLst>
              <a:ext uri="{FF2B5EF4-FFF2-40B4-BE49-F238E27FC236}">
                <a16:creationId xmlns:a16="http://schemas.microsoft.com/office/drawing/2014/main" id="{B0B6034D-0CEF-F54E-05ED-3CD5EC396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5743575"/>
            <a:ext cx="375761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300484-6ADF-592E-EFA9-92CA946B5DAC}"/>
              </a:ext>
            </a:extLst>
          </p:cNvPr>
          <p:cNvCxnSpPr/>
          <p:nvPr/>
        </p:nvCxnSpPr>
        <p:spPr>
          <a:xfrm>
            <a:off x="1004888" y="3049588"/>
            <a:ext cx="0" cy="2628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5" name="TextBox 31">
            <a:extLst>
              <a:ext uri="{FF2B5EF4-FFF2-40B4-BE49-F238E27FC236}">
                <a16:creationId xmlns:a16="http://schemas.microsoft.com/office/drawing/2014/main" id="{18A04A64-8F71-9B87-4E36-3F6573C69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5419725"/>
            <a:ext cx="885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L = L</a:t>
            </a:r>
            <a:r>
              <a:rPr lang="en-US" altLang="en-US" sz="2000" baseline="-25000">
                <a:latin typeface="Times New Roman" panose="02020603050405020304" pitchFamily="18" charset="0"/>
              </a:rPr>
              <a:t>H</a:t>
            </a:r>
          </a:p>
        </p:txBody>
      </p:sp>
      <p:pic>
        <p:nvPicPr>
          <p:cNvPr id="26646" name="Picture 3">
            <a:extLst>
              <a:ext uri="{FF2B5EF4-FFF2-40B4-BE49-F238E27FC236}">
                <a16:creationId xmlns:a16="http://schemas.microsoft.com/office/drawing/2014/main" id="{B2E392D2-8014-A455-E1E1-29982ADD9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6288088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47" name="Picture 7">
            <a:extLst>
              <a:ext uri="{FF2B5EF4-FFF2-40B4-BE49-F238E27FC236}">
                <a16:creationId xmlns:a16="http://schemas.microsoft.com/office/drawing/2014/main" id="{93A9FD88-65E8-1F82-6DF4-C791ED03F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1889125"/>
            <a:ext cx="691515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B0E8-171D-F65A-1C1F-B6FEEE8C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127945C2-223C-9549-2985-E5870D8E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722FEE6-82DA-DC83-9E3B-600F6626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6CD68BD5-C754-DFFA-185D-FB91CE928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4" name="Picture 3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8A912294-E28E-5C98-7366-3D2952617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4" y="1404309"/>
            <a:ext cx="8680927" cy="379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3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2C37-56D9-3F58-2274-7221767F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1FE1052-6485-FB50-C41B-C3B5A75E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5C82F52-9984-0B2F-FE88-CBD6B361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5D25827A-0B49-5984-FB9B-0FEAAC6B6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7" name="Picture 6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5BF0C18B-6887-377C-49C5-98586299D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5" y="1482686"/>
            <a:ext cx="8959836" cy="391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7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7ABB8F3-3BAE-3AF4-90D9-AE8A0C52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2CCE66E-72C5-66AD-3146-DFEEF07E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4E15E3-6B75-DC44-ACB6-9D7F9CABFD6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D1C52939-452B-F259-2051-D62A3CF24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93914-AECD-3FF5-B293-0177C9AA9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454150"/>
            <a:ext cx="88487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is solved, we go for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00222359-BDE0-7DFD-C1EA-0FFF4FED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2778125"/>
            <a:ext cx="2127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(L=0,</a:t>
            </a:r>
            <a:r>
              <a:rPr lang="el-GR" altLang="en-US" sz="1800" u="sng">
                <a:latin typeface="Times New Roman" panose="02020603050405020304" pitchFamily="18" charset="0"/>
              </a:rPr>
              <a:t>Ω</a:t>
            </a:r>
            <a:r>
              <a:rPr lang="el-GR" altLang="en-US" sz="1800">
                <a:latin typeface="Times New Roman" panose="02020603050405020304" pitchFamily="18" charset="0"/>
              </a:rPr>
              <a:t>) = 0, μ &lt;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3FF2F-39CE-1A64-DF3F-044BE9BB556E}"/>
              </a:ext>
            </a:extLst>
          </p:cNvPr>
          <p:cNvSpPr txBox="1"/>
          <p:nvPr/>
        </p:nvSpPr>
        <p:spPr>
          <a:xfrm>
            <a:off x="1020763" y="2098675"/>
            <a:ext cx="66135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- </a:t>
            </a:r>
            <a:r>
              <a:rPr lang="el-GR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μ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chemeClr val="tx1"/>
                </a:solidFill>
              </a:rPr>
              <a:t>∂/ ∂L) I</a:t>
            </a:r>
            <a:r>
              <a:rPr lang="en-US" sz="1800" baseline="3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+ G(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 = 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l-GR" sz="1800" dirty="0">
                <a:solidFill>
                  <a:schemeClr val="tx1"/>
                </a:solidFill>
              </a:rPr>
              <a:t> 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Γ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</a:t>
            </a:r>
            <a:r>
              <a:rPr lang="en-US" sz="1800" baseline="3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679" name="TextBox 4">
            <a:extLst>
              <a:ext uri="{FF2B5EF4-FFF2-40B4-BE49-F238E27FC236}">
                <a16:creationId xmlns:a16="http://schemas.microsoft.com/office/drawing/2014/main" id="{3512256B-C008-2D69-A70E-B60A0BF62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2311400"/>
            <a:ext cx="365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94310-6542-7015-AEA2-5162B785D3D7}"/>
              </a:ext>
            </a:extLst>
          </p:cNvPr>
          <p:cNvSpPr txBox="1"/>
          <p:nvPr/>
        </p:nvSpPr>
        <p:spPr>
          <a:xfrm>
            <a:off x="1881188" y="3327400"/>
            <a:ext cx="5811837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sz="1800" dirty="0">
                <a:solidFill>
                  <a:schemeClr val="tx1"/>
                </a:solidFill>
              </a:rPr>
              <a:t>) = 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l-GR" sz="1800" dirty="0">
                <a:solidFill>
                  <a:schemeClr val="tx1"/>
                </a:solidFill>
              </a:rPr>
              <a:t>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ρ</a:t>
            </a:r>
            <a:r>
              <a:rPr lang="en-US" sz="1800" baseline="-25000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|</a:t>
            </a:r>
            <a:r>
              <a:rPr lang="el-GR" sz="1800" dirty="0">
                <a:solidFill>
                  <a:schemeClr val="tx1"/>
                </a:solidFill>
              </a:rPr>
              <a:t>μ’</a:t>
            </a:r>
            <a:r>
              <a:rPr lang="en-US" sz="1800" dirty="0">
                <a:solidFill>
                  <a:schemeClr val="tx1"/>
                </a:solidFill>
              </a:rPr>
              <a:t>| I</a:t>
            </a:r>
            <a:r>
              <a:rPr lang="en-US" sz="1800" baseline="3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</a:t>
            </a:r>
            <a:r>
              <a:rPr lang="en-US" sz="1800" dirty="0">
                <a:solidFill>
                  <a:schemeClr val="tx1"/>
                </a:solidFill>
              </a:rPr>
              <a:t> , </a:t>
            </a:r>
            <a:r>
              <a:rPr lang="el-GR" sz="1800" dirty="0">
                <a:solidFill>
                  <a:schemeClr val="tx1"/>
                </a:solidFill>
              </a:rPr>
              <a:t>μ </a:t>
            </a:r>
            <a:r>
              <a:rPr lang="en-US" sz="1800" dirty="0">
                <a:solidFill>
                  <a:schemeClr val="tx1"/>
                </a:solidFill>
              </a:rPr>
              <a:t>&gt;</a:t>
            </a:r>
            <a:r>
              <a:rPr lang="el-GR" sz="1800" dirty="0">
                <a:solidFill>
                  <a:schemeClr val="tx1"/>
                </a:solidFill>
              </a:rPr>
              <a:t> 0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8681" name="TextBox 10">
            <a:extLst>
              <a:ext uri="{FF2B5EF4-FFF2-40B4-BE49-F238E27FC236}">
                <a16:creationId xmlns:a16="http://schemas.microsoft.com/office/drawing/2014/main" id="{DE9C6AC2-D5A6-FA2B-B3B0-72F638ED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263" y="3584575"/>
            <a:ext cx="404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r>
              <a:rPr lang="en-US" altLang="en-US" sz="1400" baseline="300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91B79C-DD1F-C8E8-742A-F6B2AF14F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132263"/>
            <a:ext cx="8848725" cy="92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of the RTE is now the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second collision source term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which can be evaluated because we have already solved for the first order collided intensity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 The </a:t>
            </a:r>
            <a:r>
              <a:rPr lang="en-US" altLang="en-US" sz="1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pde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for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has an analytical solution, similar to that for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2BFC978B-E891-CE21-BBB1-69FB1616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89E90B5-EF76-5539-E9AF-597C6ECB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1013" y="6394450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11020F2-CE1A-6542-B3EC-19FC2955598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9F5A5FE5-9CE5-E848-B54F-6A392F286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u="sng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(L,Ω) Problem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4530F-3AEC-4A9C-44B1-6C6D3C17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165225"/>
            <a:ext cx="88487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is solved, we go for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75245B46-118B-460C-84E1-99D21DA5E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2489200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(L=0,</a:t>
            </a:r>
            <a:r>
              <a:rPr lang="el-GR" altLang="en-US" sz="1800" u="sng">
                <a:latin typeface="Times New Roman" panose="02020603050405020304" pitchFamily="18" charset="0"/>
              </a:rPr>
              <a:t>Ω</a:t>
            </a:r>
            <a:r>
              <a:rPr lang="el-GR" altLang="en-US" sz="1800">
                <a:latin typeface="Times New Roman" panose="02020603050405020304" pitchFamily="18" charset="0"/>
              </a:rPr>
              <a:t>) = 0, μ &lt;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34BC6-6B59-1969-6610-ACC9AD6955FC}"/>
              </a:ext>
            </a:extLst>
          </p:cNvPr>
          <p:cNvSpPr txBox="1"/>
          <p:nvPr/>
        </p:nvSpPr>
        <p:spPr>
          <a:xfrm>
            <a:off x="1022350" y="1809750"/>
            <a:ext cx="67405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- </a:t>
            </a:r>
            <a:r>
              <a:rPr lang="el-GR" sz="1800" dirty="0">
                <a:solidFill>
                  <a:schemeClr val="tx1"/>
                </a:solidFill>
                <a:cs typeface="Times New Roman" panose="02020603050405020304" pitchFamily="18" charset="0"/>
              </a:rPr>
              <a:t>μ</a:t>
            </a: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(</a:t>
            </a:r>
            <a:r>
              <a:rPr lang="en-US" sz="1800" dirty="0">
                <a:solidFill>
                  <a:schemeClr val="tx1"/>
                </a:solidFill>
              </a:rPr>
              <a:t>∂/ ∂L) I</a:t>
            </a:r>
            <a:r>
              <a:rPr lang="en-US" sz="1800" baseline="30000" dirty="0">
                <a:solidFill>
                  <a:schemeClr val="tx1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+ G(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</a:t>
            </a: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  = 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l-GR" sz="1800" dirty="0">
                <a:solidFill>
                  <a:schemeClr val="tx1"/>
                </a:solidFill>
              </a:rPr>
              <a:t> 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Γ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</a:t>
            </a:r>
            <a:r>
              <a:rPr lang="en-US" sz="1800" baseline="30000" dirty="0">
                <a:solidFill>
                  <a:schemeClr val="tx1"/>
                </a:solidFill>
              </a:rPr>
              <a:t>n-1</a:t>
            </a:r>
            <a:r>
              <a:rPr lang="en-US" sz="1800" dirty="0">
                <a:solidFill>
                  <a:schemeClr val="tx1"/>
                </a:solidFill>
              </a:rPr>
              <a:t>(L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0727" name="TextBox 4">
            <a:extLst>
              <a:ext uri="{FF2B5EF4-FFF2-40B4-BE49-F238E27FC236}">
                <a16:creationId xmlns:a16="http://schemas.microsoft.com/office/drawing/2014/main" id="{B84C534E-1990-BB25-48AF-82A136070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2022475"/>
            <a:ext cx="3667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4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5C297-3329-AB71-6D5D-6D290D3E3582}"/>
              </a:ext>
            </a:extLst>
          </p:cNvPr>
          <p:cNvSpPr txBox="1"/>
          <p:nvPr/>
        </p:nvSpPr>
        <p:spPr>
          <a:xfrm>
            <a:off x="1882775" y="3038475"/>
            <a:ext cx="58118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1"/>
                </a:solidFill>
              </a:rPr>
              <a:t>I</a:t>
            </a:r>
            <a:r>
              <a:rPr lang="en-US" sz="1800" baseline="30000" dirty="0">
                <a:solidFill>
                  <a:schemeClr val="tx1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sz="1800" dirty="0">
                <a:solidFill>
                  <a:schemeClr val="tx1"/>
                </a:solidFill>
              </a:rPr>
              <a:t>) = 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(1/</a:t>
            </a:r>
            <a:r>
              <a:rPr lang="el-GR" sz="1800" dirty="0">
                <a:solidFill>
                  <a:schemeClr val="tx1"/>
                </a:solidFill>
              </a:rPr>
              <a:t>π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l-GR" sz="1800" dirty="0">
                <a:solidFill>
                  <a:schemeClr val="tx1"/>
                </a:solidFill>
              </a:rPr>
              <a:t>∫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 </a:t>
            </a:r>
            <a:r>
              <a:rPr lang="el-GR" sz="1800" dirty="0">
                <a:solidFill>
                  <a:schemeClr val="tx1"/>
                </a:solidFill>
              </a:rPr>
              <a:t>ρ</a:t>
            </a:r>
            <a:r>
              <a:rPr lang="en-US" sz="1800" baseline="-25000" dirty="0">
                <a:solidFill>
                  <a:schemeClr val="tx1"/>
                </a:solidFill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</a:t>
            </a:r>
            <a:r>
              <a:rPr lang="el-GR" sz="1800" dirty="0">
                <a:solidFill>
                  <a:schemeClr val="tx1"/>
                </a:solidFill>
              </a:rPr>
              <a:t>→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altLang="en-US" sz="1800" u="sng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|</a:t>
            </a:r>
            <a:r>
              <a:rPr lang="el-GR" sz="1800" dirty="0">
                <a:solidFill>
                  <a:schemeClr val="tx1"/>
                </a:solidFill>
              </a:rPr>
              <a:t>μ’</a:t>
            </a:r>
            <a:r>
              <a:rPr lang="en-US" sz="1800" dirty="0">
                <a:solidFill>
                  <a:schemeClr val="tx1"/>
                </a:solidFill>
              </a:rPr>
              <a:t>| I</a:t>
            </a:r>
            <a:r>
              <a:rPr lang="en-US" sz="1800" baseline="30000" dirty="0">
                <a:solidFill>
                  <a:schemeClr val="tx1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(L=L</a:t>
            </a:r>
            <a:r>
              <a:rPr lang="en-US" sz="1800" baseline="-25000" dirty="0">
                <a:solidFill>
                  <a:schemeClr val="tx1"/>
                </a:solidFill>
              </a:rPr>
              <a:t>H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’)</a:t>
            </a:r>
            <a:r>
              <a:rPr lang="en-US" sz="1800" dirty="0">
                <a:solidFill>
                  <a:schemeClr val="tx1"/>
                </a:solidFill>
              </a:rPr>
              <a:t> , </a:t>
            </a:r>
            <a:r>
              <a:rPr lang="el-GR" sz="1800" dirty="0">
                <a:solidFill>
                  <a:schemeClr val="tx1"/>
                </a:solidFill>
              </a:rPr>
              <a:t>μ </a:t>
            </a:r>
            <a:r>
              <a:rPr lang="en-US" sz="1800" dirty="0">
                <a:solidFill>
                  <a:schemeClr val="tx1"/>
                </a:solidFill>
              </a:rPr>
              <a:t>&gt;</a:t>
            </a:r>
            <a:r>
              <a:rPr lang="el-GR" sz="1800" dirty="0">
                <a:solidFill>
                  <a:schemeClr val="tx1"/>
                </a:solidFill>
              </a:rPr>
              <a:t> 0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0729" name="TextBox 10">
            <a:extLst>
              <a:ext uri="{FF2B5EF4-FFF2-40B4-BE49-F238E27FC236}">
                <a16:creationId xmlns:a16="http://schemas.microsoft.com/office/drawing/2014/main" id="{DF1FF472-EF4D-1365-A697-986C2E6A0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263" y="3295650"/>
            <a:ext cx="406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</a:t>
            </a:r>
            <a:r>
              <a:rPr lang="el-GR" altLang="en-US" sz="1400">
                <a:latin typeface="Times New Roman" panose="02020603050405020304" pitchFamily="18" charset="0"/>
              </a:rPr>
              <a:t>π</a:t>
            </a:r>
            <a:r>
              <a:rPr lang="en-US" altLang="en-US" sz="1400" baseline="300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2AC2F-C58E-0F11-31B9-CB1EFBB72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841750"/>
            <a:ext cx="8848725" cy="2917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right-hand side of the RTE is now the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baseline="300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order collision source term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1800" baseline="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which can be evaluated because we have already solved for the first order collided intensity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 The </a:t>
            </a:r>
            <a:r>
              <a:rPr lang="en-US" altLang="en-US" sz="1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pde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for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has an analytical solution, similar to that for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</a:t>
            </a:r>
            <a:r>
              <a:rPr lang="en-US" altLang="en-US" sz="1800" dirty="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collided intensity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evaluated as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=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+ … + I</a:t>
            </a:r>
            <a:r>
              <a:rPr lang="en-US" altLang="en-US" sz="18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(L,</a:t>
            </a:r>
            <a:r>
              <a:rPr lang="en-US" altLang="en-US" sz="1800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, and 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total Intensity is: </a:t>
            </a:r>
          </a:p>
        </p:txBody>
      </p:sp>
      <p:pic>
        <p:nvPicPr>
          <p:cNvPr id="30731" name="Picture 4">
            <a:extLst>
              <a:ext uri="{FF2B5EF4-FFF2-40B4-BE49-F238E27FC236}">
                <a16:creationId xmlns:a16="http://schemas.microsoft.com/office/drawing/2014/main" id="{7CD83983-0507-B933-C329-A46037A86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6384925"/>
            <a:ext cx="259397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51BD-0A6A-BD09-13BD-118625DE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9C8D4BDA-C23C-8230-E7FE-DB785F2F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13EF625-AF21-3B55-63E9-DC1E2DDC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FD86790D-35DD-2205-56B8-88FBEEC1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5" name="Picture 4" descr="A collage of graphs&#10;&#10;AI-generated content may be incorrect.">
            <a:extLst>
              <a:ext uri="{FF2B5EF4-FFF2-40B4-BE49-F238E27FC236}">
                <a16:creationId xmlns:a16="http://schemas.microsoft.com/office/drawing/2014/main" id="{A6AD122A-98B0-D2A2-9C30-33CB13819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33922"/>
            <a:ext cx="6801395" cy="61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90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C9F4-4156-A12C-3FCD-35480A23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9DD5AF9B-0793-631B-CE30-8E82E3AE7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DE21181-EA77-47B5-4ABB-E6D6FF6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3192BB99-64FD-25F0-081E-3D3318C5B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5" name="Picture 4" descr="A collage of graphs&#10;&#10;AI-generated content may be incorrect.">
            <a:extLst>
              <a:ext uri="{FF2B5EF4-FFF2-40B4-BE49-F238E27FC236}">
                <a16:creationId xmlns:a16="http://schemas.microsoft.com/office/drawing/2014/main" id="{F1D8D12E-62C5-A793-98C1-36F163AFC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407" y="693738"/>
            <a:ext cx="665804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4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C47C-4230-D5C2-482B-4C2A026A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6297029E-4A75-FCA0-B701-83ECC11F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5693486-D706-590D-80C5-D8825D2B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A1189AD1-8ECA-D04E-5DCA-CF4009287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D59DE2-8141-877C-C9BD-C84527657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30433"/>
            <a:ext cx="9051925" cy="39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86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B8D6-D16F-916A-83E8-200B9E5F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2E196C06-473E-530E-56DE-CBF539EA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- 01: 1D RT Problem Setup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FE8A266-3FEB-3A1D-1AC6-150327B6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2F7D1E9-0017-6647-8A35-109A85E0DCC4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TextBox 7">
            <a:extLst>
              <a:ext uri="{FF2B5EF4-FFF2-40B4-BE49-F238E27FC236}">
                <a16:creationId xmlns:a16="http://schemas.microsoft.com/office/drawing/2014/main" id="{AF880F33-D86E-9729-40E4-EC86DEA7C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225" y="693738"/>
            <a:ext cx="885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B9E8C0-7F34-3717-632C-14767A6B9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433"/>
            <a:ext cx="9159060" cy="40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19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7F684427-A02B-9E99-D1F9-84E92D13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02: Successive Orders of Scattering Approximation 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4E5062B-A3E6-2D7D-8D52-C49AC1AD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1488" y="6303963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76F22E1-79AB-B745-8C23-F13A3994A51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76E8F7D4-4F9C-EC16-067C-B5024F6B5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765175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Positives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AA3F4-D658-2BE2-EE56-3212F1856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1165225"/>
            <a:ext cx="8848725" cy="7017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en-US" sz="1800" dirty="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endParaRPr lang="en-US" alt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Intuitive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best method for understanding the scattering process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CB24373-2963-D911-2AC7-09E134DB2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3" y="1978081"/>
            <a:ext cx="69246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Negatives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D4154-1D48-3B66-7103-F7618AD9C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2516243"/>
            <a:ext cx="8848725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en-US" sz="1800" dirty="0">
                <a:solidFill>
                  <a:srgbClr val="1425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should “N” (the number of scattering orders) be? </a:t>
            </a:r>
          </a:p>
          <a:p>
            <a:pPr marL="1028700" lvl="1"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depends on canopy depth (LAI) and the single scattering albedo (scattering strength)</a:t>
            </a:r>
          </a:p>
          <a:p>
            <a:pPr marL="1028700" lvl="1"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as large as 100 in strongly scattering deep media</a:t>
            </a:r>
          </a:p>
          <a:p>
            <a:pPr marL="1028700" lvl="1"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when further changes in collided intensity are less than some pre-set threshold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depth integrals are difficult to do. 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can, and should find, a better way to handle these integrals, as for example, use a spatial grid (</a:t>
            </a:r>
            <a:r>
              <a:rPr lang="en-US" altLang="en-US" sz="1800" dirty="0">
                <a:solidFill>
                  <a:srgbClr val="1425F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more on this later …</a:t>
            </a:r>
            <a:r>
              <a:rPr lang="en-US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9EC2856-89DF-957F-7738-559AD9247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3" y="5303072"/>
            <a:ext cx="8829675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Do</a:t>
            </a:r>
            <a:r>
              <a:rPr lang="en-US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b="1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arenR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Download a detailed description of the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SOS algorithm</a:t>
            </a: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arenR"/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code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7163</TotalTime>
  <Words>1742</Words>
  <Application>Microsoft Macintosh PowerPoint</Application>
  <PresentationFormat>On-screen Show (4:3)</PresentationFormat>
  <Paragraphs>179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</vt:lpstr>
      <vt:lpstr>Times New Roman</vt:lpstr>
      <vt:lpstr>Office Theme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02: Successive Orders of Scattering Approximation </vt:lpstr>
      <vt:lpstr>PHYSICAL MODELS IN REMOTE SENSING Chapter 04 – Part 02: Successive Orders of Scattering Approximation 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- 01: 1D RT Problem Setup</vt:lpstr>
      <vt:lpstr>PHYSICAL MODELS IN REMOTE SENSING Chapter 04 – Part 02: Successive Orders of Scattering Approximation 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808</cp:revision>
  <cp:lastPrinted>2019-09-03T16:52:39Z</cp:lastPrinted>
  <dcterms:created xsi:type="dcterms:W3CDTF">2012-01-16T18:47:06Z</dcterms:created>
  <dcterms:modified xsi:type="dcterms:W3CDTF">2026-03-21T14:43:03Z</dcterms:modified>
</cp:coreProperties>
</file>